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Private, Chicago-founded. Second-largest bicycle component manufacturer globally. Dominant in mountain bike. Seven brands, three channels.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not disclosed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461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The Connected Ecosystem (no competitor matches this breadth)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</a:t>
            </a:r>
            <a:br/>
            <a:r>
              <a:t>+ Braking</a:t>
            </a:r>
          </a:p>
        </p:txBody>
      </p:sp>
      <p:sp>
        <p:nvSpPr>
          <p:cNvPr id="26" name="Isosceles Triangle 25"/>
          <p:cNvSpPr/>
          <p:nvPr/>
        </p:nvSpPr>
        <p:spPr>
          <a:xfrm rot="5400000">
            <a:off x="244144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60603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19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19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431596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8055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1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1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</a:t>
            </a:r>
            <a:br/>
            <a:r>
              <a:t>Cockpit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619048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5507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3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</a:t>
            </a:r>
            <a:br/>
            <a:r>
              <a:t>Meters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806500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2960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6676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</a:t>
            </a:r>
            <a:br/>
            <a:r>
              <a:t>Computer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993952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1041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12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9204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7280" y="4910328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data, all controlled through one platform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1520" y="539496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" y="539496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5486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8978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Every function at SRAM has AI potential. Ordered by implementation complexity and time to return.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96012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9456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94560" y="1920240"/>
            <a:ext cx="50800" cy="96012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993392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514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7800" y="192024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514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192024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514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017520"/>
            <a:ext cx="50800" cy="96012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291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94560" y="301752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440" y="3291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3611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57800" y="301752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80" y="3291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3611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301752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291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11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114800"/>
            <a:ext cx="50800" cy="96012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438912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411480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77440" y="4389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57800" y="411480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389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40" y="4114800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0" y="4389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212079"/>
            <a:ext cx="50800" cy="96012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486399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94560" y="5212079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77440" y="54863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80643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5212079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4863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80643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5212079"/>
            <a:ext cx="29260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4863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80643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57" name="Oval 56"/>
          <p:cNvSpPr/>
          <p:nvPr/>
        </p:nvSpPr>
        <p:spPr>
          <a:xfrm>
            <a:off x="731520" y="6400800"/>
            <a:ext cx="109728" cy="109728"/>
          </a:xfrm>
          <a:prstGeom prst="ellipse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7824" y="635508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59" name="Oval 58"/>
          <p:cNvSpPr/>
          <p:nvPr/>
        </p:nvSpPr>
        <p:spPr>
          <a:xfrm>
            <a:off x="2194560" y="6400800"/>
            <a:ext cx="109728" cy="109728"/>
          </a:xfrm>
          <a:prstGeom prst="ellipse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40864" y="635508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61" name="Oval 60"/>
          <p:cNvSpPr/>
          <p:nvPr/>
        </p:nvSpPr>
        <p:spPr>
          <a:xfrm>
            <a:off x="3657600" y="6400800"/>
            <a:ext cx="109728" cy="109728"/>
          </a:xfrm>
          <a:prstGeom prst="ellipse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803904" y="635508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63" name="Oval 62"/>
          <p:cNvSpPr/>
          <p:nvPr/>
        </p:nvSpPr>
        <p:spPr>
          <a:xfrm>
            <a:off x="5120640" y="6400800"/>
            <a:ext cx="109728" cy="109728"/>
          </a:xfrm>
          <a:prstGeom prst="ellipse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66944" y="635508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Follow repeatable,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783080"/>
            <a:ext cx="365760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9202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1488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606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 2024-2025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337560"/>
            <a:ext cx="50292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474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Customer Pain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79476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Trustpilot reviews cite warranty frustration and delays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Reddit 2024-25 threads on pairing failures and shifting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App store reviews flag AXS and Hammerhead bugs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Riders explicitly stating intent to switch to Shimano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337560"/>
            <a:ext cx="54864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474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Why SRAM Can Fix This with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947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Structured knowledge base with manuals and guides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telemetry data on firmware, error codes, device state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Hammerhead ride and device diagnostic data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60-70% data-ready for AXS/Hammerhead support (per VP)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760720"/>
            <a:ext cx="1078992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760720"/>
            <a:ext cx="50800" cy="64008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85216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612648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Pilot 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drivetrain + Hammerhead device support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Dealer inbox and high-volume web forms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and firmware issues first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on all customer-facing responses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Risk Controls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for warranty and safety decisions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Answers sourced from approved docs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Weekly quality review with rollback trigger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automated warranty adjudication in Phase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603504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" y="603504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612648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62636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86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G1-G5 = SMART Goals  |  Day-45 checkpoint triggers scope review if draft acceptance &lt; 50%  |  Day-90 is the formal go/no-go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8978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Full Year-1 Phasing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00400" y="5897880"/>
            <a:ext cx="2057400" cy="22860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91840" y="58978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57800" y="5897880"/>
            <a:ext cx="2057400" cy="228600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589788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200" y="5897880"/>
            <a:ext cx="4114800" cy="228600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6640" y="5897880"/>
            <a:ext cx="3977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Phase 3: Revenue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SMART Goals (90 Days)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19072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737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7373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vs. current SLA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12140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12140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1214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1214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487168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505456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0545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AI draft acceptance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5054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50545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agents approve draft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889504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28895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88950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8895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tickets per agent/day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255264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7355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27355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satisfaction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32735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2735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CSAT holds flat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74903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Support Savings Math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0690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120 support staff x $90K avg. cost</a:t>
            </a:r>
            <a:br/>
            <a:r>
              <a:t>x 60% AI-addressable work</a:t>
            </a:r>
            <a:br/>
            <a:r>
              <a:t>x 35% productivity gain</a:t>
            </a:r>
            <a:br/>
            <a:r>
              <a:t>x 70% adoption = $1.6M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074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394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5394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 net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5394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715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5715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 net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715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035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86000" y="6035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 net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60350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connected SRAM product a rider buys increases the value of the data and the quality of the AI. No competitor can replicate this full-stack advantage.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PHASE 1  |  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Support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AI-assisted support</a:t>
            </a:r>
            <a:br/>
            <a:r>
              <a:t>for AXS + Hammerhead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335584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2  |  90-180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 Foundation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data layer</a:t>
            </a:r>
            <a:br/>
            <a:r>
              <a:t>+ demand forecasting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619048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3  |  180-365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Revenue Acceleration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OEM automation +</a:t>
            </a:r>
            <a:br/>
            <a:r>
              <a:t>part recommendations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902512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3544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4  |  Year 2+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AI-First Culture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AXS Intelligence</a:t>
            </a:r>
            <a:br/>
            <a:r>
              <a:t>+ predictive maintenance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52044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61188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88620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52044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61188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88620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75488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8463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2064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75488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48463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512064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6080760"/>
            <a:ext cx="1069848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6080760"/>
            <a:ext cx="50800" cy="3657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610819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