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286000"/>
            <a:ext cx="182880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20"/>
              </a:spcAft>
              <a:defRPr sz="4200" b="1">
                <a:solidFill>
                  <a:srgbClr val="F8FAFC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680"/>
              </a:spcAft>
              <a:defRPr sz="2800" b="0">
                <a:solidFill>
                  <a:srgbClr val="389FF5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84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Prepared for Executive Leadership</a:t>
            </a:r>
          </a:p>
          <a:p>
            <a:pPr>
              <a:spcAft>
                <a:spcPts val="84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SRAM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Private, Chicago-founded, $1B+ revenue. The second-largest bicycle component manufacturer globally. Dominant in mountain bike. Seven brands, three channels, one connected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11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56032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788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063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3,000-5,000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611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Global operations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256032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788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063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9FF5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611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56032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7889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MTB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6324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Calibri"/>
              </a:defRPr>
            </a:pPr>
            <a:r>
              <a:t>Revenue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63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SRAM RED, Force, Rival, Eagle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663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Core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983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RockShox forks and shocks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Zipp performance components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23559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Connected Products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56235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Hammerhead Karoo, Quarq power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562355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Strategic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Wear Parts + Service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5943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Chains, cassettes, pads, rotors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5943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Recurring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263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Calibri"/>
              </a:defRPr>
            </a:pPr>
            <a:r>
              <a:t>Pedals + Adjacent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263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TIME, Velocio, Ochain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Growing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0" y="4206240"/>
            <a:ext cx="3017520" cy="228600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Competitive Pressure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0" y="4800600"/>
            <a:ext cx="2468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Shimano: wireless gravel (GRX RX827)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Campagnolo: 13-speed premium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microSHIFT: value mechanical alternative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Where AI Fits Across SRAM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Four phases ordered by complexity, readiness, and time to return. Start bounded. Scale after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Immediate Wins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73152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AI coding tools for engineering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Support + warranty automation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Individual productivity (notes, email)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Low complexity, high visibility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3017520"/>
            <a:ext cx="73152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Unified data layer (no ERP today)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Demand forecasting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Customer analytics (Shopify + telemetry)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Requires data infrastructure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3017520"/>
            <a:ext cx="73152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OEM proposal automation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Compatible part recommendations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Documentation + translation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Builds on Phase 2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103120"/>
            <a:ext cx="2606040" cy="41148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2240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5603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8320" y="3017520"/>
            <a:ext cx="731520" cy="381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3200400"/>
            <a:ext cx="2240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Intelligence Platform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Generative design + R&amp;D</a:t>
            </a:r>
          </a:p>
          <a:p>
            <a:pPr>
              <a:spcAft>
                <a:spcPts val="144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AI-tuned component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53035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  <a:latin typeface="Calibri"/>
              </a:defRPr>
            </a:pPr>
            <a:r>
              <a:t>Transformation territory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▶  We recommend starting with Phase 1 Support Automation as the deep-dive pilot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BUT 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Support Problem is Visible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SRAM's churn risk is driven by support quality, not product quality. Riders love SRAM components but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F4444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Driven by warranty and support friction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28600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5146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DEALER QUESTIONS 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889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3375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Follow repeatable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286000"/>
            <a:ext cx="3749039" cy="14630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514600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TOP COMPLAINT THEMES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788920"/>
            <a:ext cx="320039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BBF24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3337560"/>
            <a:ext cx="32003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Reddit 2024-2025: shifting, updates, compatibility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14800"/>
            <a:ext cx="3200400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2976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Trustpilot: warranty frustration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Reddit: pairing + firmware failures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App store: AXS + Hammerhead complaints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Riders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114800"/>
            <a:ext cx="3200400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42976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Why Support is the Right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709160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Pain is visible and measurable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Data advantage already in place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High volume of repeatable questions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No new data collection required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114800"/>
            <a:ext cx="3749039" cy="246888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0" y="4297680"/>
            <a:ext cx="320039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SRAM's Data Advantage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0" y="4709160"/>
            <a:ext cx="320039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Structured knowledge base (manuals, guides)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telemetry (firmware, error codes)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Hammerhead device data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Compatibility rules already documented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The 90-Day Support 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TICKET ARRIVES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Dealer or rider submits via Zendesk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Zendesk AI routes and classifies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0896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Azure AI Search finds approved docs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Pulls telemetry context from AXS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4924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OpenAI generates clear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Sourced from knowledge base 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Agent approves before sending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100% human approval in pilot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920240"/>
            <a:ext cx="2057400" cy="21031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9800" y="2057400"/>
            <a:ext cx="365760" cy="36576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5146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9FF5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2834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Metrics tracked per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24612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Weekly review with rollback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97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5029200" cy="19202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8920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Bounded Starting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303520"/>
            <a:ext cx="4480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Dealer inbox + high-volume web forms only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4709160"/>
            <a:ext cx="5029200" cy="192024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8920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303520"/>
            <a:ext cx="44805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Human approval for warranty + safety decisions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Answers from approved docs only, never model knowledge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20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MEASURING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Pilot Metrics and Year-1 Financial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90-Day Pilot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D399"/>
                </a:solidFill>
                <a:latin typeface="Calibri"/>
              </a:defRPr>
            </a:pPr>
            <a:r>
              <a:t>No decline from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FAFC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92024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2148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423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92024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1488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423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D399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3832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 b="1">
                <a:solidFill>
                  <a:srgbClr val="F8FAFC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Support automation: $1.6M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Demand forecasting: $1.6M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Documentation: $0.24M</a:t>
            </a:r>
          </a:p>
          <a:p>
            <a:pPr>
              <a:spcAft>
                <a:spcPts val="480"/>
              </a:spcAft>
              <a:defRPr sz="8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 b="1">
                <a:solidFill>
                  <a:srgbClr val="F8FAFC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720"/>
              </a:spcAft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Proposal win rate: $2.5M</a:t>
            </a:r>
          </a:p>
          <a:p>
            <a:pPr>
              <a:spcAft>
                <a:spcPts val="480"/>
              </a:spcAft>
              <a:defRPr sz="800" b="0">
                <a:solidFill>
                  <a:srgbClr val="64748B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1">
                <a:solidFill>
                  <a:srgbClr val="389FF5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780"/>
              </a:spcAft>
              <a:defRPr sz="1300" b="0">
                <a:solidFill>
                  <a:srgbClr val="FBBF24"/>
                </a:solidFill>
                <a:latin typeface="Calibri"/>
              </a:defRPr>
            </a:pPr>
            <a:r>
              <a:t>Total spend: ($2.7M)</a:t>
            </a:r>
          </a:p>
          <a:p>
            <a:pPr>
              <a:spcAft>
                <a:spcPts val="780"/>
              </a:spcAft>
              <a:defRPr sz="1300" b="1">
                <a:solidFill>
                  <a:srgbClr val="34D399"/>
                </a:solidFill>
                <a:latin typeface="Calibri"/>
              </a:defRPr>
            </a:pPr>
            <a:r>
              <a:t>Net value: $10.2M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D399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SRAM 2031 - From Hardware to Intelligence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SRAM's full product stack creates a data moat no competitor can replicate. The rider who buys SRAM drivetrain, RockShox suspension, Quarq power, and Hammerhead computer gets a unified intelligence layer impossible with mixed components.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Unified rider dashboard showing power, gearing, suspension, and heart rate in one view. No competitor has the product breadth to match this.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28600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468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Connected components predict chain, cassette, and brake pad replacement before failure. Installed base becomes recurring revenue.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9768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805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D399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Suspension auto-adjusts to terrain. Shifting optimizes for rider power patterns. Products improve continuously after purchase.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297680"/>
            <a:ext cx="502920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4805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9FF5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89204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Aggregated telemetry tells dealers which parts approach end-of-life in their service area. Proactive ordering replaces reactive.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217920"/>
            <a:ext cx="10515600" cy="457200"/>
          </a:xfrm>
          <a:prstGeom prst="roundRect">
            <a:avLst>
              <a:gd name="adj" fmla="val 10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62636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  <a:latin typeface="Calibri"/>
              </a:defRPr>
            </a:pPr>
            <a:r>
              <a:t>The Flywheel: Hardware sells data access  →  Data improves performance  →  Performance sells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9FF5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13716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965960"/>
            <a:ext cx="548640" cy="5486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860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Scope it to AXS and Hammerhead dealer support. One product owner, one integration engineer. Human approval on all customer-facing outputs. Weekly quality reviews.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515600" cy="13716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389F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611880"/>
            <a:ext cx="548640" cy="548640"/>
          </a:xfrm>
          <a:prstGeom prst="ellipse">
            <a:avLst/>
          </a:prstGeom>
          <a:solidFill>
            <a:srgbClr val="389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474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9319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Initiate requirements for a unified data layer connecting Shopify, support systems, and telemetry data. This is the foundation for demand forecasting and AXS Intelligence.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37760"/>
            <a:ext cx="10515600" cy="1371600"/>
          </a:xfrm>
          <a:prstGeom prst="roundRect">
            <a:avLst>
              <a:gd name="adj" fmla="val 3000"/>
            </a:avLst>
          </a:prstGeom>
          <a:solidFill>
            <a:srgbClr val="16213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5257800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120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5778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400800"/>
            <a:ext cx="10515600" cy="914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 b="1">
                <a:solidFill>
                  <a:srgbClr val="34D399"/>
                </a:solidFill>
                <a:latin typeface="Calibri"/>
              </a:defRPr>
            </a:pPr>
            <a:r>
              <a:t>Expected Year-1 return: 3.8x  |  Downside bounded by 90-day pilot scope  |  Upside scales with SRAM's unique data advantage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