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40"/>
              </a:spcAft>
              <a:defRPr sz="4400" b="1">
                <a:solidFill>
                  <a:srgbClr val="1C1C1E"/>
                </a:solidFill>
                <a:latin typeface="Calibri"/>
              </a:defRPr>
            </a:pPr>
            <a:r>
              <a:t>SRAM LLC</a:t>
            </a:r>
          </a:p>
          <a:p>
            <a:pPr>
              <a:spcAft>
                <a:spcPts val="1560"/>
              </a:spcAft>
              <a:defRPr sz="2600" b="0">
                <a:solidFill>
                  <a:srgbClr val="767676"/>
                </a:solidFill>
                <a:latin typeface="Calibri"/>
              </a:defRPr>
            </a:pPr>
            <a:r>
              <a:t>AI Adoption Playbook</a:t>
            </a:r>
          </a:p>
          <a:p>
            <a:pPr>
              <a:spcAft>
                <a:spcPts val="72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3A3A3C"/>
                </a:solidFill>
                <a:latin typeface="Calibri"/>
              </a:defRPr>
            </a:pPr>
            <a:r>
              <a:t>Prepared for Executive Leadership</a:t>
            </a:r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AIML 950  |  Human and Machine Intelligence  |  Northwestern Kellogg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WHAT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SRAM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Calibri"/>
              </a:defRPr>
            </a:pPr>
            <a:r>
              <a:t>Private, Chicago-founded, $1B+ revenue. The second-largest bicycle component manufacturer globally. Dominant in mountain bike. Seven brands, three channels, one connected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3774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Private, not disclosed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94560"/>
            <a:ext cx="23774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3,000-5,000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Global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94560"/>
            <a:ext cx="23774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2194560"/>
            <a:ext cx="23774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331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MTB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560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Market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E"/>
                </a:solidFill>
                <a:latin typeface="Calibri"/>
              </a:defRPr>
            </a:pPr>
            <a:r>
              <a:t>Revenue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Drivetrains + Braking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7676"/>
                </a:solidFill>
                <a:latin typeface="Calibri"/>
              </a:defRPr>
            </a:pPr>
            <a:r>
              <a:t>SRAM RED, Force, Rival, Eagle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7676"/>
                </a:solidFill>
                <a:latin typeface="Calibri"/>
              </a:defRPr>
            </a:pPr>
            <a:r>
              <a:t>RockShox forks and shocks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7676"/>
                </a:solidFill>
                <a:latin typeface="Calibri"/>
              </a:defRPr>
            </a:pPr>
            <a:r>
              <a:t>Zipp performance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Connected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7676"/>
                </a:solidFill>
                <a:latin typeface="Calibri"/>
              </a:defRPr>
            </a:pPr>
            <a:r>
              <a:t>Hammerhead Karoo, Quarq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Wear Parts +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7676"/>
                </a:solidFill>
                <a:latin typeface="Calibri"/>
              </a:defRPr>
            </a:pPr>
            <a:r>
              <a:t>Chains, cassettes, pads, rotors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Pedals + Adjacent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943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7676"/>
                </a:solidFill>
                <a:latin typeface="Calibri"/>
              </a:defRPr>
            </a:pPr>
            <a:r>
              <a:t>TIME, Velocio, Ochain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6576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E"/>
                </a:solidFill>
                <a:latin typeface="Calibri"/>
              </a:defRPr>
            </a:pPr>
            <a:r>
              <a:t>Competitive Pressure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2062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Shimano: wireless gravel (GRX RX827)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Campagnolo: 13-speed premium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microSHIFT: value mechanical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AI Initiatives Across SRAM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Calibri"/>
              </a:defRPr>
            </a:pPr>
            <a:r>
              <a:t>Every function at SRAM has AI potential. The map below shows initiatives by business area and the specific problem each one solves.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AI Support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70% of dealer questions are repetitive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084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286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Warranty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606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Fraudulent and mis-filed claims cost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2011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2084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286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Compatibility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606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Riders get wrong parts, return them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27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154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3227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3749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3154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3227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3749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70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72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92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4297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39" y="4370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39" y="4572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39" y="4892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599" y="4297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9" y="4370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9" y="4572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9" y="4892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440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13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715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035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59" y="5440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39" y="5513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39" y="5715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39" y="6035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599" y="5440680"/>
            <a:ext cx="3520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79" y="55138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67676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9" y="5715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9" y="60350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6400800"/>
            <a:ext cx="10698480" cy="32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" y="6400800"/>
            <a:ext cx="50800" cy="32004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6428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C1C1E"/>
                </a:solidFill>
                <a:latin typeface="Calibri"/>
              </a:defRPr>
            </a:pPr>
            <a:r>
              <a:t>We focus on the area with the highest uplift and fastest proof: Customer and Dealer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Calibri"/>
              </a:defRPr>
            </a:pPr>
            <a:r>
              <a:t>Riders love SRAM components but struggle with firmware, compatibility, and warranty resolution. The data is clear.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Driven by warranty and support friction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DEALER QUESTIONS AUTOMATABLE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Follow repeatable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148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834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Reddit 2024-2025: shifting, updates, compatibility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E"/>
                </a:solidFill>
                <a:latin typeface="Calibri"/>
              </a:defRPr>
            </a:pPr>
            <a:r>
              <a:t>Customer Pain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Trustpilot: warranty frustration and support delays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Reddit: pairing issues, firmware failures, shifting anomalies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App stores: AXS and Hammerhead companion complaints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Riders explicitly stating intent to switch to Shimano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749039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E"/>
                </a:solidFill>
                <a:latin typeface="Calibri"/>
              </a:defRPr>
            </a:pPr>
            <a:r>
              <a:t>Why SRAM Has the Data to Fix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97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Structured knowledge base: manuals, compatibility guides, troubleshooting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telemetry: firmware versions, error codes, device state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Hammerhead ride and device data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Compatibility rules already documented and maintained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90-Day Support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0020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C1E"/>
                </a:solidFill>
                <a:latin typeface="Calibri"/>
              </a:defRPr>
            </a:pPr>
            <a:r>
              <a:t>TICKET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Calibri"/>
              </a:defRPr>
            </a:pPr>
            <a:r>
              <a:t>Dealer or rider submits via Zendesk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6304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0" y="160020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116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C1E"/>
                </a:solidFill>
                <a:latin typeface="Calibri"/>
              </a:defRPr>
            </a:pPr>
            <a:r>
              <a:t>AI RETRIEVES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Calibri"/>
              </a:defRPr>
            </a:pPr>
            <a:r>
              <a:t>Azure AI Search finds approved docs + AXS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46304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160020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116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C1E"/>
                </a:solidFill>
                <a:latin typeface="Calibri"/>
              </a:defRPr>
            </a:pPr>
            <a:r>
              <a:t>AI DRAFTS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Calibri"/>
              </a:defRPr>
            </a:pPr>
            <a:r>
              <a:t>OpenAI generates response from knowledge base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6304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0" y="160020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0116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C1E"/>
                </a:solidFill>
                <a:latin typeface="Calibri"/>
              </a:defRPr>
            </a:pPr>
            <a:r>
              <a:t>HUMAN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Calibri"/>
              </a:defRPr>
            </a:pPr>
            <a:r>
              <a:t>Agent approves before sending (100% in pilot)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46304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9800" y="160020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0116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C1E"/>
                </a:solidFill>
                <a:latin typeface="Calibri"/>
              </a:defRPr>
            </a:pPr>
            <a:r>
              <a:t>QUALITY LOGGED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A3A3C"/>
                </a:solidFill>
                <a:latin typeface="Calibri"/>
              </a:defRPr>
            </a:pPr>
            <a:r>
              <a:t>Metrics tracked; weekly review with rollback trigger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E"/>
                </a:solidFill>
                <a:latin typeface="Calibri"/>
              </a:defRPr>
            </a:pPr>
            <a:r>
              <a:t>Pilot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97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drivetrain + Hammerhead device support only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Dealer inbox and high-volume web forms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Compatibility and firmware issues first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Human approval on all customer-facing responses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9476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E"/>
                </a:solidFill>
                <a:latin typeface="Calibri"/>
              </a:defRPr>
            </a:pPr>
            <a:r>
              <a:t>Risk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297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Human approval for warranty and safety decisions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Answers sourced from approved docs only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Weekly quality review with rollback trigger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No automated warranty adjudication in Phase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MEASURING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Pilot Metrics and Year-1 Financial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E"/>
                </a:solidFill>
                <a:latin typeface="Calibri"/>
              </a:defRPr>
            </a:pPr>
            <a:r>
              <a:t>90-Day Pilot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Time-to-first-response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40%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Tickets without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15%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Agent 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25% increase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AI draft acceptance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Above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Customer 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C1E"/>
                </a:solidFill>
                <a:latin typeface="Calibri"/>
              </a:defRPr>
            </a:pPr>
            <a:r>
              <a:t>No decline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C1E"/>
                </a:solidFill>
                <a:latin typeface="Calibri"/>
              </a:defRPr>
            </a:pPr>
            <a:r>
              <a:t>Year-1 Financial Impact (All Phases)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828800"/>
            <a:ext cx="22860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965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Expected case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28800"/>
            <a:ext cx="22860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965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7676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7676"/>
                </a:solidFill>
                <a:latin typeface="Calibri"/>
              </a:defRPr>
            </a:pPr>
            <a:r>
              <a:t>On $2.7M total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004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Cost Reductions</a:t>
            </a:r>
          </a:p>
          <a:p>
            <a:pPr>
              <a:spcAft>
                <a:spcPts val="55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Support automation: $1.6M</a:t>
            </a:r>
          </a:p>
          <a:p>
            <a:pPr>
              <a:spcAft>
                <a:spcPts val="55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Demand forecasting: $1.6M</a:t>
            </a:r>
          </a:p>
          <a:p>
            <a:pPr>
              <a:spcAft>
                <a:spcPts val="55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Documentation: $0.24M</a:t>
            </a:r>
          </a:p>
          <a:p>
            <a:pPr>
              <a:spcAft>
                <a:spcPts val="300"/>
              </a:spcAft>
              <a:defRPr sz="6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Revenue Growth</a:t>
            </a:r>
          </a:p>
          <a:p>
            <a:pPr>
              <a:spcAft>
                <a:spcPts val="55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Customer retention: $3.0M</a:t>
            </a:r>
          </a:p>
          <a:p>
            <a:pPr>
              <a:spcAft>
                <a:spcPts val="55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Package size increase: $4.0M</a:t>
            </a:r>
          </a:p>
          <a:p>
            <a:pPr>
              <a:spcAft>
                <a:spcPts val="55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Proposal win rate: $2.5M</a:t>
            </a:r>
          </a:p>
          <a:p>
            <a:pPr>
              <a:spcAft>
                <a:spcPts val="300"/>
              </a:spcAft>
              <a:defRPr sz="6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1C1C1E"/>
                </a:solidFill>
                <a:latin typeface="Calibri"/>
              </a:defRPr>
            </a:pPr>
            <a:r>
              <a:t>Gross value: $12.9M</a:t>
            </a:r>
          </a:p>
          <a:p>
            <a:pPr>
              <a:spcAft>
                <a:spcPts val="600"/>
              </a:spcAft>
              <a:defRPr sz="1200" b="0">
                <a:solidFill>
                  <a:srgbClr val="767676"/>
                </a:solidFill>
                <a:latin typeface="Calibri"/>
              </a:defRPr>
            </a:pPr>
            <a:r>
              <a:t>Total spend: ($2.7M)</a:t>
            </a:r>
          </a:p>
          <a:p>
            <a:pPr>
              <a:spcAft>
                <a:spcPts val="600"/>
              </a:spcAft>
              <a:defRPr sz="1200" b="1">
                <a:solidFill>
                  <a:srgbClr val="1C1C1E"/>
                </a:solidFill>
                <a:latin typeface="Calibri"/>
              </a:defRPr>
            </a:pPr>
            <a:r>
              <a:t>Net value: $10.2M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2031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From Hardware Manufacturer to Performance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C"/>
                </a:solidFill>
                <a:latin typeface="Calibri"/>
              </a:defRPr>
            </a:pPr>
            <a:r>
              <a:t>SRAM's full product stack creates a data moat no competitor can replicate. The rider with SRAM drivetrain, RockShox suspension, Quarq power, and Hammerhead computer gets a unified intelligence layer impossible with mixed components.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Unified rider dashboard showing power, gearing, suspension, and heart rate in one view. No competitor has the product breadth to match this.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16636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C1E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Connected components predict chain, cassette, and brake pad replacement before failure. Installed base becomes a recurring revenue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6636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C1E"/>
                </a:solidFill>
                <a:latin typeface="Calibri"/>
              </a:defRPr>
            </a:pPr>
            <a:r>
              <a:t>AI-Tuned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40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Suspension auto-adjusts to terrain. Shifting optimizes for rider power patterns. Products improve continuously after purchase.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6636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1C1E"/>
                </a:solidFill>
                <a:latin typeface="Calibri"/>
              </a:defRPr>
            </a:pPr>
            <a:r>
              <a:t>Dealer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Aggregated telemetry tells dealers which parts approach end-of-life in their service area. Proactive ordering replaces reactive.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43600"/>
            <a:ext cx="106984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943600"/>
            <a:ext cx="50800" cy="4114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C1C1E"/>
                </a:solidFill>
                <a:latin typeface="Calibri"/>
              </a:defRPr>
            </a:pPr>
            <a:r>
              <a:t>Hardware sells data access  →  Data improves performance  →  Performance sells 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7676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E"/>
                </a:solidFill>
                <a:latin typeface="Calibri"/>
              </a:defRPr>
            </a:pPr>
            <a:r>
              <a:t>Three Actions for SRAM's CEO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27632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8132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E"/>
                </a:solidFill>
                <a:latin typeface="Calibri"/>
              </a:defRPr>
            </a:pPr>
            <a:r>
              <a:t>Launch the 90-Day Support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Scope it to AXS and Hammerhead dealer support. One product owner, one integration engineer. Human approval on all outputs. Weekly quality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4436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E"/>
                </a:solidFill>
                <a:latin typeface="Calibri"/>
              </a:defRPr>
            </a:pPr>
            <a:r>
              <a:t>Begin Data Infrastructure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Initiate requirements for a unified data layer connecting Shopify, support systems, and telemetry data. This is the foundation for forecasting and AXS Intelligence.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553712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0740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E"/>
                </a:solidFill>
                <a:latin typeface="Calibri"/>
              </a:defRPr>
            </a:pPr>
            <a:r>
              <a:t>Hold Sequencing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06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C"/>
                </a:solidFill>
                <a:latin typeface="Calibri"/>
              </a:defRPr>
            </a:pPr>
            <a:r>
              <a:t>Bounded, well-defined problems first. Broader transformation after measured proof. The 90-day pilot produces data to justify or redirect every subsequent investment.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97880"/>
            <a:ext cx="105156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97880"/>
            <a:ext cx="50800" cy="3657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9253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C1C1E"/>
                </a:solidFill>
                <a:latin typeface="Calibri"/>
              </a:defRPr>
            </a:pPr>
            <a:r>
              <a:t>Expected Year-1 return: 3.8x  |  Downside bounded by 90-day pilot  |  Upside scales with SRAM's unique data advantage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