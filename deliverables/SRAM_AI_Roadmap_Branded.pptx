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9402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398B7CA-5820-DB0A-3C36-A561E2E298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836" y="4939145"/>
            <a:ext cx="1051319" cy="135431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029200" y="5029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20" dirty="0">
                <a:solidFill>
                  <a:srgbClr val="FFCCCC"/>
                </a:solidFill>
              </a:rPr>
              <a:t>PREPARED FOR SRAM EXECUTIVE LEADERSHIP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20040" y="1600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50" dirty="0">
                <a:solidFill>
                  <a:srgbClr val="FFFFFF"/>
                </a:solidFill>
              </a:rPr>
              <a:t>AI STRATEGIC ROADMAP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320040" y="24871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8A8A"/>
                </a:solidFill>
              </a:rPr>
              <a:t>A Phased Approach to Building AI Capability at SRAM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" y="3017520"/>
            <a:ext cx="2103120" cy="457200"/>
          </a:xfrm>
          <a:prstGeom prst="rect">
            <a:avLst/>
          </a:prstGeom>
          <a:solidFill>
            <a:srgbClr val="008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20040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CRAWL  ·  0–12 Months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3172968"/>
            <a:ext cx="164592" cy="16459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651760" y="3017520"/>
            <a:ext cx="2103120" cy="457200"/>
          </a:xfrm>
          <a:prstGeom prst="rect">
            <a:avLst/>
          </a:prstGeom>
          <a:solidFill>
            <a:srgbClr val="0065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2651760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WALK  ·  1–3 Years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172968"/>
            <a:ext cx="164592" cy="16459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983480" y="3017520"/>
            <a:ext cx="2103120" cy="457200"/>
          </a:xfrm>
          <a:prstGeom prst="rect">
            <a:avLst/>
          </a:prstGeom>
          <a:solidFill>
            <a:srgbClr val="E51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4983480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RUN  ·  3–5 Years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0" y="3794760"/>
            <a:ext cx="9144000" cy="10515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0" y="3794760"/>
            <a:ext cx="9144000" cy="36576"/>
          </a:xfrm>
          <a:prstGeom prst="rect">
            <a:avLst/>
          </a:prstGeom>
          <a:solidFill>
            <a:srgbClr val="E51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429768" y="38404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51937"/>
                </a:solidFill>
              </a:rPr>
              <a:t>3.8×</a:t>
            </a:r>
            <a:endParaRPr lang="en-US" sz="2800" dirty="0"/>
          </a:p>
        </p:txBody>
      </p:sp>
      <p:sp>
        <p:nvSpPr>
          <p:cNvPr id="18" name="Text 13"/>
          <p:cNvSpPr/>
          <p:nvPr/>
        </p:nvSpPr>
        <p:spPr>
          <a:xfrm>
            <a:off x="429768" y="43251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8A"/>
                </a:solidFill>
              </a:rPr>
              <a:t>Expected Year-1 Return on Spend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2514600" y="3931920"/>
            <a:ext cx="0" cy="77724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2624328" y="38404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51937"/>
                </a:solidFill>
              </a:rPr>
              <a:t>$10.2M</a:t>
            </a:r>
            <a:endParaRPr lang="en-US" sz="2800" dirty="0"/>
          </a:p>
        </p:txBody>
      </p:sp>
      <p:sp>
        <p:nvSpPr>
          <p:cNvPr id="21" name="Text 16"/>
          <p:cNvSpPr/>
          <p:nvPr/>
        </p:nvSpPr>
        <p:spPr>
          <a:xfrm>
            <a:off x="2624328" y="43251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8A"/>
                </a:solidFill>
              </a:rPr>
              <a:t>Net Year-1 Value (Expected Case)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709160" y="3931920"/>
            <a:ext cx="0" cy="77724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4818888" y="38404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51937"/>
                </a:solidFill>
              </a:rPr>
              <a:t>90</a:t>
            </a:r>
            <a:endParaRPr lang="en-US" sz="2800" dirty="0"/>
          </a:p>
        </p:txBody>
      </p:sp>
      <p:sp>
        <p:nvSpPr>
          <p:cNvPr id="24" name="Text 19"/>
          <p:cNvSpPr/>
          <p:nvPr/>
        </p:nvSpPr>
        <p:spPr>
          <a:xfrm>
            <a:off x="4818888" y="43251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8A"/>
                </a:solidFill>
              </a:rPr>
              <a:t>Day Pilot to Prove Value Before Scaling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6903720" y="3931920"/>
            <a:ext cx="0" cy="77724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7013448" y="38404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51937"/>
                </a:solidFill>
              </a:rPr>
              <a:t>3</a:t>
            </a:r>
            <a:endParaRPr lang="en-US" sz="2800" dirty="0"/>
          </a:p>
        </p:txBody>
      </p:sp>
      <p:sp>
        <p:nvSpPr>
          <p:cNvPr id="27" name="Text 22"/>
          <p:cNvSpPr/>
          <p:nvPr/>
        </p:nvSpPr>
        <p:spPr>
          <a:xfrm>
            <a:off x="7013448" y="43251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8A"/>
                </a:solidFill>
              </a:rPr>
              <a:t>Phases — Sequenced &amp; Measurable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0" y="491947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44444"/>
                </a:solidFill>
              </a:rPr>
              <a:t>March 2026  ·  Confidential  ·  McKinsey &amp; Company</a:t>
            </a:r>
            <a:endParaRPr lang="en-US" sz="7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BC71738-7DF9-32BB-1C4C-010CC6B9F3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196" y="228600"/>
            <a:ext cx="2610767" cy="3363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E51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E51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SRAM HAS A RARE STRUCTURAL ADVANTAGE FOR AI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949440" y="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AAAA"/>
                </a:solidFill>
              </a:rPr>
              <a:t>The Opportunity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" y="777240"/>
            <a:ext cx="8778240" cy="868680"/>
          </a:xfrm>
          <a:prstGeom prst="rect">
            <a:avLst/>
          </a:prstGeom>
          <a:solidFill>
            <a:srgbClr val="0D0D0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2880" y="777240"/>
            <a:ext cx="54864" cy="868680"/>
          </a:xfrm>
          <a:prstGeom prst="rect">
            <a:avLst/>
          </a:prstGeom>
          <a:solidFill>
            <a:srgbClr val="E51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777240"/>
            <a:ext cx="8503920" cy="86868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</a:rPr>
              <a:t>But AI advantage requires a disciplined path — not a spray-and-pray approach. Bounded problems first. Broader transformation after measured proof.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" y="17830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E51937"/>
                </a:solidFill>
              </a:rPr>
              <a:t>SRAM'S STRUCTURAL ADVANTAGES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" y="2103120"/>
            <a:ext cx="50292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82880" y="2103120"/>
            <a:ext cx="502920" cy="54864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2194560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77240" y="2103120"/>
            <a:ext cx="4343400" cy="548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$1B+ revenue with AXS ecosystem generating telemetry data no competitor matches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82880" y="2752344"/>
            <a:ext cx="50292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82880" y="2752344"/>
            <a:ext cx="502920" cy="54864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" y="2843784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77240" y="2752344"/>
            <a:ext cx="4343400" cy="548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70% of dealer questions follow automatable patterns — immediate AI ROI available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182880" y="3401568"/>
            <a:ext cx="50292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182880" y="3401568"/>
            <a:ext cx="502920" cy="54864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888" y="3493008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77240" y="3401568"/>
            <a:ext cx="4343400" cy="548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VP Digital Products confirms: '60–70% ready' for bounded AI deployment today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182880" y="4050792"/>
            <a:ext cx="50292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182880" y="4050792"/>
            <a:ext cx="502920" cy="54864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888" y="4142232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77240" y="4050792"/>
            <a:ext cx="4343400" cy="548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Year 1 expected net value: $10.2M on $2.7M spend — a 3.8× return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394960" y="1783080"/>
            <a:ext cx="3566160" cy="3145536"/>
          </a:xfrm>
          <a:prstGeom prst="rect">
            <a:avLst/>
          </a:prstGeom>
          <a:solidFill>
            <a:srgbClr val="0D0D0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5532120" y="19019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E51937"/>
                </a:solidFill>
              </a:rPr>
              <a:t>THE FRAMEWORK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532120" y="2267712"/>
            <a:ext cx="438912" cy="438912"/>
          </a:xfrm>
          <a:prstGeom prst="rect">
            <a:avLst/>
          </a:prstGeom>
          <a:solidFill>
            <a:srgbClr val="00875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9552" y="2304288"/>
            <a:ext cx="384048" cy="38404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062472" y="22677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75A"/>
                </a:solidFill>
              </a:rPr>
              <a:t>CRAWL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6062472" y="24688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8A"/>
                </a:solidFill>
              </a:rPr>
              <a:t>0–12 months</a:t>
            </a:r>
            <a:endParaRPr lang="en-US" sz="800" dirty="0"/>
          </a:p>
        </p:txBody>
      </p:sp>
      <p:sp>
        <p:nvSpPr>
          <p:cNvPr id="32" name="Text 25"/>
          <p:cNvSpPr/>
          <p:nvPr/>
        </p:nvSpPr>
        <p:spPr>
          <a:xfrm>
            <a:off x="6062472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BBBB"/>
                </a:solidFill>
              </a:rPr>
              <a:t>Build AI literacy. Workforce productivity. Low-risk SaaS tools.</a:t>
            </a:r>
            <a:endParaRPr lang="en-US" sz="850" dirty="0"/>
          </a:p>
        </p:txBody>
      </p:sp>
      <p:sp>
        <p:nvSpPr>
          <p:cNvPr id="33" name="Shape 26"/>
          <p:cNvSpPr/>
          <p:nvPr/>
        </p:nvSpPr>
        <p:spPr>
          <a:xfrm>
            <a:off x="5532120" y="3108960"/>
            <a:ext cx="438912" cy="438912"/>
          </a:xfrm>
          <a:prstGeom prst="rect">
            <a:avLst/>
          </a:prstGeom>
          <a:solidFill>
            <a:srgbClr val="0065C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9552" y="3145536"/>
            <a:ext cx="384048" cy="38404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062472" y="31089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5CC"/>
                </a:solidFill>
              </a:rPr>
              <a:t>WALK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6062472" y="33101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8A"/>
                </a:solidFill>
              </a:rPr>
              <a:t>1–3 years</a:t>
            </a:r>
            <a:endParaRPr lang="en-US" sz="800" dirty="0"/>
          </a:p>
        </p:txBody>
      </p:sp>
      <p:sp>
        <p:nvSpPr>
          <p:cNvPr id="37" name="Text 29"/>
          <p:cNvSpPr/>
          <p:nvPr/>
        </p:nvSpPr>
        <p:spPr>
          <a:xfrm>
            <a:off x="6062472" y="34930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BBBB"/>
                </a:solidFill>
              </a:rPr>
              <a:t>Embed AI in manufacturing, supply chain, operations core.</a:t>
            </a:r>
            <a:endParaRPr lang="en-US" sz="850" dirty="0"/>
          </a:p>
        </p:txBody>
      </p:sp>
      <p:sp>
        <p:nvSpPr>
          <p:cNvPr id="38" name="Shape 30"/>
          <p:cNvSpPr/>
          <p:nvPr/>
        </p:nvSpPr>
        <p:spPr>
          <a:xfrm>
            <a:off x="5532120" y="3950208"/>
            <a:ext cx="438912" cy="438912"/>
          </a:xfrm>
          <a:prstGeom prst="rect">
            <a:avLst/>
          </a:prstGeom>
          <a:solidFill>
            <a:srgbClr val="E5193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59552" y="3986784"/>
            <a:ext cx="384048" cy="384048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062472" y="39502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1937"/>
                </a:solidFill>
              </a:rPr>
              <a:t>RUN</a:t>
            </a:r>
            <a:endParaRPr lang="en-US" sz="1200" dirty="0"/>
          </a:p>
        </p:txBody>
      </p:sp>
      <p:sp>
        <p:nvSpPr>
          <p:cNvPr id="41" name="Text 32"/>
          <p:cNvSpPr/>
          <p:nvPr/>
        </p:nvSpPr>
        <p:spPr>
          <a:xfrm>
            <a:off x="6062472" y="415137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8A"/>
                </a:solidFill>
              </a:rPr>
              <a:t>3–5 years</a:t>
            </a:r>
            <a:endParaRPr lang="en-US" sz="800" dirty="0"/>
          </a:p>
        </p:txBody>
      </p:sp>
      <p:sp>
        <p:nvSpPr>
          <p:cNvPr id="42" name="Text 33"/>
          <p:cNvSpPr/>
          <p:nvPr/>
        </p:nvSpPr>
        <p:spPr>
          <a:xfrm>
            <a:off x="6062472" y="43342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BBBB"/>
                </a:solidFill>
              </a:rPr>
              <a:t>AI-powered products. Unassailable data moat. Ecosystem.</a:t>
            </a:r>
            <a:endParaRPr lang="en-US" sz="850" dirty="0"/>
          </a:p>
        </p:txBody>
      </p:sp>
      <p:sp>
        <p:nvSpPr>
          <p:cNvPr id="44" name="Text 34"/>
          <p:cNvSpPr/>
          <p:nvPr/>
        </p:nvSpPr>
        <p:spPr>
          <a:xfrm>
            <a:off x="6858000" y="486460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150" dirty="0">
                <a:solidFill>
                  <a:srgbClr val="888888"/>
                </a:solidFill>
              </a:rPr>
              <a:t>McKINSEY &amp; COMPANY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E51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82880" y="1371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THE THREE-HORIZON ROADMAP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82880" y="530352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A8A"/>
                </a:solidFill>
              </a:rPr>
              <a:t>A sequenced journey from AI adoption to competitive moat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8321040" cy="4572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93192" y="1307592"/>
            <a:ext cx="128016" cy="128016"/>
          </a:xfrm>
          <a:prstGeom prst="ellipse">
            <a:avLst/>
          </a:prstGeom>
          <a:solidFill>
            <a:srgbClr val="E51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37160" y="14813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8A8A"/>
                </a:solidFill>
              </a:rPr>
              <a:t>Today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2084832" y="1307592"/>
            <a:ext cx="128016" cy="128016"/>
          </a:xfrm>
          <a:prstGeom prst="ellipse">
            <a:avLst/>
          </a:prstGeom>
          <a:solidFill>
            <a:srgbClr val="E51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828800" y="14813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8A8A"/>
                </a:solidFill>
              </a:rPr>
              <a:t>Year 1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3776472" y="1307592"/>
            <a:ext cx="128016" cy="128016"/>
          </a:xfrm>
          <a:prstGeom prst="ellipse">
            <a:avLst/>
          </a:prstGeom>
          <a:solidFill>
            <a:srgbClr val="E51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520440" y="14813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8A8A"/>
                </a:solidFill>
              </a:rPr>
              <a:t>Year 2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5468112" y="1307592"/>
            <a:ext cx="128016" cy="128016"/>
          </a:xfrm>
          <a:prstGeom prst="ellipse">
            <a:avLst/>
          </a:prstGeom>
          <a:solidFill>
            <a:srgbClr val="E51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212080" y="14813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8A8A"/>
                </a:solidFill>
              </a:rPr>
              <a:t>Year 3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7159752" y="1307592"/>
            <a:ext cx="128016" cy="128016"/>
          </a:xfrm>
          <a:prstGeom prst="ellipse">
            <a:avLst/>
          </a:prstGeom>
          <a:solidFill>
            <a:srgbClr val="E51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903720" y="14813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8A8A"/>
                </a:solidFill>
              </a:rPr>
              <a:t>Year 4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8714232" y="1307592"/>
            <a:ext cx="128016" cy="128016"/>
          </a:xfrm>
          <a:prstGeom prst="ellipse">
            <a:avLst/>
          </a:prstGeom>
          <a:solidFill>
            <a:srgbClr val="E51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458200" y="14813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8A8A"/>
                </a:solidFill>
              </a:rPr>
              <a:t>Year 5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457200" y="1316736"/>
            <a:ext cx="1691640" cy="118872"/>
          </a:xfrm>
          <a:prstGeom prst="rect">
            <a:avLst/>
          </a:prstGeom>
          <a:solidFill>
            <a:srgbClr val="008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82880" y="1719072"/>
            <a:ext cx="2651760" cy="3218688"/>
          </a:xfrm>
          <a:prstGeom prst="rect">
            <a:avLst/>
          </a:prstGeom>
          <a:solidFill>
            <a:srgbClr val="1A1A1A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182880" y="1719072"/>
            <a:ext cx="2651760" cy="50292"/>
          </a:xfrm>
          <a:prstGeom prst="rect">
            <a:avLst/>
          </a:prstGeom>
          <a:solidFill>
            <a:srgbClr val="008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20040" y="1847088"/>
            <a:ext cx="475488" cy="475488"/>
          </a:xfrm>
          <a:prstGeom prst="ellipse">
            <a:avLst/>
          </a:prstGeom>
          <a:solidFill>
            <a:srgbClr val="00875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874520"/>
            <a:ext cx="420624" cy="42062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68680" y="1847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75A"/>
                </a:solidFill>
              </a:rPr>
              <a:t>CRAWL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868680" y="21031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8A"/>
                </a:solidFill>
              </a:rPr>
              <a:t>0–12 Months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292608" y="2395728"/>
            <a:ext cx="2432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Workforce Productivity &amp; AI Literacy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292608" y="2871216"/>
            <a:ext cx="2432304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292608" y="2926080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20" dirty="0">
                <a:solidFill>
                  <a:srgbClr val="00875A"/>
                </a:solidFill>
              </a:rPr>
              <a:t>MILESTONES</a:t>
            </a:r>
            <a:endParaRPr lang="en-US" sz="700" dirty="0"/>
          </a:p>
        </p:txBody>
      </p:sp>
      <p:sp>
        <p:nvSpPr>
          <p:cNvPr id="29" name="Shape 25"/>
          <p:cNvSpPr/>
          <p:nvPr/>
        </p:nvSpPr>
        <p:spPr>
          <a:xfrm>
            <a:off x="292608" y="3163824"/>
            <a:ext cx="73152" cy="73152"/>
          </a:xfrm>
          <a:prstGeom prst="ellipse">
            <a:avLst/>
          </a:prstGeom>
          <a:solidFill>
            <a:srgbClr val="008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420624" y="3136392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</a:rPr>
              <a:t>Q1: AI tools deployed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292608" y="3438144"/>
            <a:ext cx="73152" cy="73152"/>
          </a:xfrm>
          <a:prstGeom prst="ellipse">
            <a:avLst/>
          </a:prstGeom>
          <a:solidFill>
            <a:srgbClr val="008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420624" y="3410712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</a:rPr>
              <a:t>Q2: Support pilot live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292608" y="3712464"/>
            <a:ext cx="73152" cy="73152"/>
          </a:xfrm>
          <a:prstGeom prst="ellipse">
            <a:avLst/>
          </a:prstGeom>
          <a:solidFill>
            <a:srgbClr val="008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420624" y="3685032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</a:rPr>
              <a:t>Q4: Org-wide adoption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182880" y="4800600"/>
            <a:ext cx="2651760" cy="13716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256032" y="4809744"/>
            <a:ext cx="2542032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66666"/>
                </a:solidFill>
              </a:rPr>
              <a:t>GitHub Copilot · Microsoft Copilot · Zendesk AI · ChatGPT Enterprise</a:t>
            </a:r>
            <a:endParaRPr lang="en-US" sz="650" dirty="0"/>
          </a:p>
        </p:txBody>
      </p:sp>
      <p:sp>
        <p:nvSpPr>
          <p:cNvPr id="37" name="Shape 33"/>
          <p:cNvSpPr/>
          <p:nvPr/>
        </p:nvSpPr>
        <p:spPr>
          <a:xfrm>
            <a:off x="2148840" y="1316736"/>
            <a:ext cx="3383280" cy="118872"/>
          </a:xfrm>
          <a:prstGeom prst="rect">
            <a:avLst/>
          </a:prstGeom>
          <a:solidFill>
            <a:srgbClr val="0065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3063240" y="1719072"/>
            <a:ext cx="2651760" cy="3218688"/>
          </a:xfrm>
          <a:prstGeom prst="rect">
            <a:avLst/>
          </a:prstGeom>
          <a:solidFill>
            <a:srgbClr val="1A1A1A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5"/>
          <p:cNvSpPr/>
          <p:nvPr/>
        </p:nvSpPr>
        <p:spPr>
          <a:xfrm>
            <a:off x="3063240" y="1719072"/>
            <a:ext cx="2651760" cy="50292"/>
          </a:xfrm>
          <a:prstGeom prst="rect">
            <a:avLst/>
          </a:prstGeom>
          <a:solidFill>
            <a:srgbClr val="0065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6"/>
          <p:cNvSpPr/>
          <p:nvPr/>
        </p:nvSpPr>
        <p:spPr>
          <a:xfrm>
            <a:off x="3200400" y="1847088"/>
            <a:ext cx="475488" cy="475488"/>
          </a:xfrm>
          <a:prstGeom prst="ellipse">
            <a:avLst/>
          </a:prstGeom>
          <a:solidFill>
            <a:srgbClr val="0065C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832" y="1874520"/>
            <a:ext cx="420624" cy="420624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3749040" y="1847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5CC"/>
                </a:solidFill>
              </a:rPr>
              <a:t>WALK</a:t>
            </a:r>
            <a:endParaRPr lang="en-US" sz="1300" dirty="0"/>
          </a:p>
        </p:txBody>
      </p:sp>
      <p:sp>
        <p:nvSpPr>
          <p:cNvPr id="43" name="Text 38"/>
          <p:cNvSpPr/>
          <p:nvPr/>
        </p:nvSpPr>
        <p:spPr>
          <a:xfrm>
            <a:off x="3749040" y="21031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8A"/>
                </a:solidFill>
              </a:rPr>
              <a:t>1–3 Years</a:t>
            </a:r>
            <a:endParaRPr lang="en-US" sz="850" dirty="0"/>
          </a:p>
        </p:txBody>
      </p:sp>
      <p:sp>
        <p:nvSpPr>
          <p:cNvPr id="44" name="Text 39"/>
          <p:cNvSpPr/>
          <p:nvPr/>
        </p:nvSpPr>
        <p:spPr>
          <a:xfrm>
            <a:off x="3172968" y="2395728"/>
            <a:ext cx="2432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Operational Efficiency &amp; Margin Expansion</a:t>
            </a:r>
            <a:endParaRPr lang="en-US" sz="1050" dirty="0"/>
          </a:p>
        </p:txBody>
      </p:sp>
      <p:sp>
        <p:nvSpPr>
          <p:cNvPr id="45" name="Shape 40"/>
          <p:cNvSpPr/>
          <p:nvPr/>
        </p:nvSpPr>
        <p:spPr>
          <a:xfrm>
            <a:off x="3172968" y="2871216"/>
            <a:ext cx="2432304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1"/>
          <p:cNvSpPr/>
          <p:nvPr/>
        </p:nvSpPr>
        <p:spPr>
          <a:xfrm>
            <a:off x="3172968" y="2926080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20" dirty="0">
                <a:solidFill>
                  <a:srgbClr val="0065CC"/>
                </a:solidFill>
              </a:rPr>
              <a:t>MILESTONES</a:t>
            </a:r>
            <a:endParaRPr lang="en-US" sz="700" dirty="0"/>
          </a:p>
        </p:txBody>
      </p:sp>
      <p:sp>
        <p:nvSpPr>
          <p:cNvPr id="47" name="Shape 42"/>
          <p:cNvSpPr/>
          <p:nvPr/>
        </p:nvSpPr>
        <p:spPr>
          <a:xfrm>
            <a:off x="3172968" y="3163824"/>
            <a:ext cx="73152" cy="73152"/>
          </a:xfrm>
          <a:prstGeom prst="ellipse">
            <a:avLst/>
          </a:prstGeom>
          <a:solidFill>
            <a:srgbClr val="0065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3"/>
          <p:cNvSpPr/>
          <p:nvPr/>
        </p:nvSpPr>
        <p:spPr>
          <a:xfrm>
            <a:off x="3300984" y="3136392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</a:rPr>
              <a:t>Y1.5: Data platform live</a:t>
            </a:r>
            <a:endParaRPr lang="en-US" sz="850" dirty="0"/>
          </a:p>
        </p:txBody>
      </p:sp>
      <p:sp>
        <p:nvSpPr>
          <p:cNvPr id="49" name="Shape 44"/>
          <p:cNvSpPr/>
          <p:nvPr/>
        </p:nvSpPr>
        <p:spPr>
          <a:xfrm>
            <a:off x="3172968" y="3438144"/>
            <a:ext cx="73152" cy="73152"/>
          </a:xfrm>
          <a:prstGeom prst="ellipse">
            <a:avLst/>
          </a:prstGeom>
          <a:solidFill>
            <a:srgbClr val="0065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5"/>
          <p:cNvSpPr/>
          <p:nvPr/>
        </p:nvSpPr>
        <p:spPr>
          <a:xfrm>
            <a:off x="3300984" y="3410712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</a:rPr>
              <a:t>Y2: Vision AI deployed</a:t>
            </a:r>
            <a:endParaRPr lang="en-US" sz="850" dirty="0"/>
          </a:p>
        </p:txBody>
      </p:sp>
      <p:sp>
        <p:nvSpPr>
          <p:cNvPr id="51" name="Shape 46"/>
          <p:cNvSpPr/>
          <p:nvPr/>
        </p:nvSpPr>
        <p:spPr>
          <a:xfrm>
            <a:off x="3172968" y="3712464"/>
            <a:ext cx="73152" cy="73152"/>
          </a:xfrm>
          <a:prstGeom prst="ellipse">
            <a:avLst/>
          </a:prstGeom>
          <a:solidFill>
            <a:srgbClr val="0065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7"/>
          <p:cNvSpPr/>
          <p:nvPr/>
        </p:nvSpPr>
        <p:spPr>
          <a:xfrm>
            <a:off x="3300984" y="3685032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</a:rPr>
              <a:t>Y3: Forecasting at scale</a:t>
            </a:r>
            <a:endParaRPr lang="en-US" sz="850" dirty="0"/>
          </a:p>
        </p:txBody>
      </p:sp>
      <p:sp>
        <p:nvSpPr>
          <p:cNvPr id="53" name="Shape 48"/>
          <p:cNvSpPr/>
          <p:nvPr/>
        </p:nvSpPr>
        <p:spPr>
          <a:xfrm>
            <a:off x="3063240" y="4800600"/>
            <a:ext cx="2651760" cy="13716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49"/>
          <p:cNvSpPr/>
          <p:nvPr/>
        </p:nvSpPr>
        <p:spPr>
          <a:xfrm>
            <a:off x="3136392" y="4809744"/>
            <a:ext cx="2542032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66666"/>
                </a:solidFill>
              </a:rPr>
              <a:t>Azure Vision · AWS SageMaker · Databricks · Snowflake</a:t>
            </a:r>
            <a:endParaRPr lang="en-US" sz="650" dirty="0"/>
          </a:p>
        </p:txBody>
      </p:sp>
      <p:sp>
        <p:nvSpPr>
          <p:cNvPr id="55" name="Shape 50"/>
          <p:cNvSpPr/>
          <p:nvPr/>
        </p:nvSpPr>
        <p:spPr>
          <a:xfrm>
            <a:off x="5532120" y="1316736"/>
            <a:ext cx="3291840" cy="118872"/>
          </a:xfrm>
          <a:prstGeom prst="rect">
            <a:avLst/>
          </a:prstGeom>
          <a:solidFill>
            <a:srgbClr val="E51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1"/>
          <p:cNvSpPr/>
          <p:nvPr/>
        </p:nvSpPr>
        <p:spPr>
          <a:xfrm>
            <a:off x="5943600" y="1719072"/>
            <a:ext cx="2834640" cy="3218688"/>
          </a:xfrm>
          <a:prstGeom prst="rect">
            <a:avLst/>
          </a:prstGeom>
          <a:solidFill>
            <a:srgbClr val="1A1A1A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52"/>
          <p:cNvSpPr/>
          <p:nvPr/>
        </p:nvSpPr>
        <p:spPr>
          <a:xfrm>
            <a:off x="5943600" y="1719072"/>
            <a:ext cx="2834640" cy="50292"/>
          </a:xfrm>
          <a:prstGeom prst="rect">
            <a:avLst/>
          </a:prstGeom>
          <a:solidFill>
            <a:srgbClr val="E51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3"/>
          <p:cNvSpPr/>
          <p:nvPr/>
        </p:nvSpPr>
        <p:spPr>
          <a:xfrm>
            <a:off x="6080760" y="1847088"/>
            <a:ext cx="475488" cy="475488"/>
          </a:xfrm>
          <a:prstGeom prst="ellipse">
            <a:avLst/>
          </a:prstGeom>
          <a:solidFill>
            <a:srgbClr val="E5193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2" y="1874520"/>
            <a:ext cx="420624" cy="420624"/>
          </a:xfrm>
          <a:prstGeom prst="rect">
            <a:avLst/>
          </a:prstGeom>
        </p:spPr>
      </p:pic>
      <p:sp>
        <p:nvSpPr>
          <p:cNvPr id="60" name="Text 54"/>
          <p:cNvSpPr/>
          <p:nvPr/>
        </p:nvSpPr>
        <p:spPr>
          <a:xfrm>
            <a:off x="6629400" y="18470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1937"/>
                </a:solidFill>
              </a:rPr>
              <a:t>RUN</a:t>
            </a:r>
            <a:endParaRPr lang="en-US" sz="1300" dirty="0"/>
          </a:p>
        </p:txBody>
      </p:sp>
      <p:sp>
        <p:nvSpPr>
          <p:cNvPr id="61" name="Text 55"/>
          <p:cNvSpPr/>
          <p:nvPr/>
        </p:nvSpPr>
        <p:spPr>
          <a:xfrm>
            <a:off x="6629400" y="21031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8A"/>
                </a:solidFill>
              </a:rPr>
              <a:t>3–5 Years</a:t>
            </a:r>
            <a:endParaRPr lang="en-US" sz="850" dirty="0"/>
          </a:p>
        </p:txBody>
      </p:sp>
      <p:sp>
        <p:nvSpPr>
          <p:cNvPr id="62" name="Text 56"/>
          <p:cNvSpPr/>
          <p:nvPr/>
        </p:nvSpPr>
        <p:spPr>
          <a:xfrm>
            <a:off x="6053328" y="2395728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AI-Powered Products &amp; Ecosystem Moat</a:t>
            </a:r>
            <a:endParaRPr lang="en-US" sz="1050" dirty="0"/>
          </a:p>
        </p:txBody>
      </p:sp>
      <p:sp>
        <p:nvSpPr>
          <p:cNvPr id="63" name="Shape 57"/>
          <p:cNvSpPr/>
          <p:nvPr/>
        </p:nvSpPr>
        <p:spPr>
          <a:xfrm>
            <a:off x="6053328" y="2871216"/>
            <a:ext cx="2615184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58"/>
          <p:cNvSpPr/>
          <p:nvPr/>
        </p:nvSpPr>
        <p:spPr>
          <a:xfrm>
            <a:off x="6053328" y="2926080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20" dirty="0">
                <a:solidFill>
                  <a:srgbClr val="E51937"/>
                </a:solidFill>
              </a:rPr>
              <a:t>MILESTONES</a:t>
            </a:r>
            <a:endParaRPr lang="en-US" sz="700" dirty="0"/>
          </a:p>
        </p:txBody>
      </p:sp>
      <p:sp>
        <p:nvSpPr>
          <p:cNvPr id="65" name="Shape 59"/>
          <p:cNvSpPr/>
          <p:nvPr/>
        </p:nvSpPr>
        <p:spPr>
          <a:xfrm>
            <a:off x="6053328" y="3163824"/>
            <a:ext cx="73152" cy="73152"/>
          </a:xfrm>
          <a:prstGeom prst="ellipse">
            <a:avLst/>
          </a:prstGeom>
          <a:solidFill>
            <a:srgbClr val="E51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0"/>
          <p:cNvSpPr/>
          <p:nvPr/>
        </p:nvSpPr>
        <p:spPr>
          <a:xfrm>
            <a:off x="6181344" y="313639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</a:rPr>
              <a:t>Y3.5: Smart shifting ships</a:t>
            </a:r>
            <a:endParaRPr lang="en-US" sz="850" dirty="0"/>
          </a:p>
        </p:txBody>
      </p:sp>
      <p:sp>
        <p:nvSpPr>
          <p:cNvPr id="67" name="Shape 61"/>
          <p:cNvSpPr/>
          <p:nvPr/>
        </p:nvSpPr>
        <p:spPr>
          <a:xfrm>
            <a:off x="6053328" y="3438144"/>
            <a:ext cx="73152" cy="73152"/>
          </a:xfrm>
          <a:prstGeom prst="ellipse">
            <a:avLst/>
          </a:prstGeom>
          <a:solidFill>
            <a:srgbClr val="E51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2"/>
          <p:cNvSpPr/>
          <p:nvPr/>
        </p:nvSpPr>
        <p:spPr>
          <a:xfrm>
            <a:off x="6181344" y="341071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</a:rPr>
              <a:t>Y4: AXS Intelligence</a:t>
            </a:r>
            <a:endParaRPr lang="en-US" sz="850" dirty="0"/>
          </a:p>
        </p:txBody>
      </p:sp>
      <p:sp>
        <p:nvSpPr>
          <p:cNvPr id="69" name="Shape 63"/>
          <p:cNvSpPr/>
          <p:nvPr/>
        </p:nvSpPr>
        <p:spPr>
          <a:xfrm>
            <a:off x="6053328" y="3712464"/>
            <a:ext cx="73152" cy="73152"/>
          </a:xfrm>
          <a:prstGeom prst="ellipse">
            <a:avLst/>
          </a:prstGeom>
          <a:solidFill>
            <a:srgbClr val="E51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4"/>
          <p:cNvSpPr/>
          <p:nvPr/>
        </p:nvSpPr>
        <p:spPr>
          <a:xfrm>
            <a:off x="6181344" y="368503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</a:rPr>
              <a:t>Y5: Data monetization</a:t>
            </a:r>
            <a:endParaRPr lang="en-US" sz="850" dirty="0"/>
          </a:p>
        </p:txBody>
      </p:sp>
      <p:sp>
        <p:nvSpPr>
          <p:cNvPr id="71" name="Shape 65"/>
          <p:cNvSpPr/>
          <p:nvPr/>
        </p:nvSpPr>
        <p:spPr>
          <a:xfrm>
            <a:off x="5943600" y="4800600"/>
            <a:ext cx="2834640" cy="13716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66"/>
          <p:cNvSpPr/>
          <p:nvPr/>
        </p:nvSpPr>
        <p:spPr>
          <a:xfrm>
            <a:off x="6016752" y="4809744"/>
            <a:ext cx="2724912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66666"/>
                </a:solidFill>
              </a:rPr>
              <a:t>Edge AI · AXS Firmware SDK · Hammerhead Karoo · Snowflake Data Sharing</a:t>
            </a:r>
            <a:endParaRPr lang="en-US" sz="650" dirty="0"/>
          </a:p>
        </p:txBody>
      </p:sp>
      <p:sp>
        <p:nvSpPr>
          <p:cNvPr id="73" name="Text 67"/>
          <p:cNvSpPr/>
          <p:nvPr/>
        </p:nvSpPr>
        <p:spPr>
          <a:xfrm>
            <a:off x="6858000" y="486460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150" dirty="0">
                <a:solidFill>
                  <a:srgbClr val="555555"/>
                </a:solidFill>
              </a:rPr>
              <a:t>McKINSEY &amp; COMPANY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8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08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CRAWL  ·  0–12 MONTHS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949440" y="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AAAA"/>
                </a:solidFill>
              </a:rPr>
              <a:t>Early Wins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" y="68580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11111"/>
                </a:solidFill>
              </a:rPr>
              <a:t>Goal: Improve workforce productivity and build AI literacy across the organization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2880" y="1024128"/>
            <a:ext cx="4251960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82880" y="1024128"/>
            <a:ext cx="50292" cy="1572768"/>
          </a:xfrm>
          <a:prstGeom prst="rect">
            <a:avLst/>
          </a:prstGeom>
          <a:solidFill>
            <a:srgbClr val="0065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92608" y="1161288"/>
            <a:ext cx="438912" cy="438912"/>
          </a:xfrm>
          <a:prstGeom prst="ellipse">
            <a:avLst/>
          </a:prstGeom>
          <a:solidFill>
            <a:srgbClr val="0065C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88720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11612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Engineering Productivity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2960" y="1499616"/>
            <a:ext cx="347472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22960" y="1591056"/>
            <a:ext cx="54864" cy="201168"/>
          </a:xfrm>
          <a:prstGeom prst="rect">
            <a:avLst/>
          </a:prstGeom>
          <a:solidFill>
            <a:srgbClr val="0065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50976" y="1572768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Summarize test results and engineering reports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22960" y="1901952"/>
            <a:ext cx="54864" cy="201168"/>
          </a:xfrm>
          <a:prstGeom prst="rect">
            <a:avLst/>
          </a:prstGeom>
          <a:solidFill>
            <a:srgbClr val="0065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50976" y="1883664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CAD exploration via natural language queries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22960" y="2212848"/>
            <a:ext cx="54864" cy="201168"/>
          </a:xfrm>
          <a:prstGeom prst="rect">
            <a:avLst/>
          </a:prstGeom>
          <a:solidFill>
            <a:srgbClr val="0065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50976" y="219456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Code review assistance for firmware teams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617720" y="1024128"/>
            <a:ext cx="4251960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617720" y="1024128"/>
            <a:ext cx="50292" cy="1572768"/>
          </a:xfrm>
          <a:prstGeom prst="rect">
            <a:avLst/>
          </a:prstGeom>
          <a:solidFill>
            <a:srgbClr val="008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727448" y="1161288"/>
            <a:ext cx="438912" cy="438912"/>
          </a:xfrm>
          <a:prstGeom prst="ellipse">
            <a:avLst/>
          </a:prstGeom>
          <a:solidFill>
            <a:srgbClr val="00875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188720"/>
            <a:ext cx="384048" cy="38404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257800" y="11612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Operations Productivity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5257800" y="1499616"/>
            <a:ext cx="347472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5257800" y="1591056"/>
            <a:ext cx="54864" cy="201168"/>
          </a:xfrm>
          <a:prstGeom prst="rect">
            <a:avLst/>
          </a:prstGeom>
          <a:solidFill>
            <a:srgbClr val="008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5385816" y="1572768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Meeting summaries and action item extraction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5257800" y="1901952"/>
            <a:ext cx="54864" cy="201168"/>
          </a:xfrm>
          <a:prstGeom prst="rect">
            <a:avLst/>
          </a:prstGeom>
          <a:solidFill>
            <a:srgbClr val="008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5385816" y="1883664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Supplier communication drafting &amp; translation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5257800" y="2212848"/>
            <a:ext cx="54864" cy="201168"/>
          </a:xfrm>
          <a:prstGeom prst="rect">
            <a:avLst/>
          </a:prstGeom>
          <a:solidFill>
            <a:srgbClr val="008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5385816" y="219456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Contract clause analysis and comparison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182880" y="2807208"/>
            <a:ext cx="4251960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182880" y="2807208"/>
            <a:ext cx="50292" cy="1572768"/>
          </a:xfrm>
          <a:prstGeom prst="rect">
            <a:avLst/>
          </a:prstGeom>
          <a:solidFill>
            <a:srgbClr val="E51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292608" y="2944368"/>
            <a:ext cx="438912" cy="438912"/>
          </a:xfrm>
          <a:prstGeom prst="ellipse">
            <a:avLst/>
          </a:prstGeom>
          <a:solidFill>
            <a:srgbClr val="E5193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971800"/>
            <a:ext cx="384048" cy="384048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822960" y="29443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Customer Service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822960" y="3282696"/>
            <a:ext cx="347472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2"/>
          <p:cNvSpPr/>
          <p:nvPr/>
        </p:nvSpPr>
        <p:spPr>
          <a:xfrm>
            <a:off x="822960" y="3374136"/>
            <a:ext cx="54864" cy="201168"/>
          </a:xfrm>
          <a:prstGeom prst="rect">
            <a:avLst/>
          </a:prstGeom>
          <a:solidFill>
            <a:srgbClr val="E51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950976" y="3355848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Dealer troubleshooting assistant (AXS/Hammerhead)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822960" y="3685032"/>
            <a:ext cx="54864" cy="201168"/>
          </a:xfrm>
          <a:prstGeom prst="rect">
            <a:avLst/>
          </a:prstGeom>
          <a:solidFill>
            <a:srgbClr val="E51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5"/>
          <p:cNvSpPr/>
          <p:nvPr/>
        </p:nvSpPr>
        <p:spPr>
          <a:xfrm>
            <a:off x="950976" y="3666744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AI-drafted support responses with human review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822960" y="3995928"/>
            <a:ext cx="54864" cy="201168"/>
          </a:xfrm>
          <a:prstGeom prst="rect">
            <a:avLst/>
          </a:prstGeom>
          <a:solidFill>
            <a:srgbClr val="E51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7"/>
          <p:cNvSpPr/>
          <p:nvPr/>
        </p:nvSpPr>
        <p:spPr>
          <a:xfrm>
            <a:off x="950976" y="397764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Knowledge base search and retrieval</a:t>
            </a:r>
            <a:endParaRPr lang="en-US" sz="950" dirty="0"/>
          </a:p>
        </p:txBody>
      </p:sp>
      <p:sp>
        <p:nvSpPr>
          <p:cNvPr id="43" name="Shape 38"/>
          <p:cNvSpPr/>
          <p:nvPr/>
        </p:nvSpPr>
        <p:spPr>
          <a:xfrm>
            <a:off x="4617720" y="2807208"/>
            <a:ext cx="4251960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39"/>
          <p:cNvSpPr/>
          <p:nvPr/>
        </p:nvSpPr>
        <p:spPr>
          <a:xfrm>
            <a:off x="4617720" y="2807208"/>
            <a:ext cx="50292" cy="1572768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0"/>
          <p:cNvSpPr/>
          <p:nvPr/>
        </p:nvSpPr>
        <p:spPr>
          <a:xfrm>
            <a:off x="4727448" y="2944368"/>
            <a:ext cx="438912" cy="438912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2971800"/>
            <a:ext cx="384048" cy="384048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5257800" y="29443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Marketing Productivity</a:t>
            </a:r>
            <a:endParaRPr lang="en-US" sz="1200" dirty="0"/>
          </a:p>
        </p:txBody>
      </p:sp>
      <p:sp>
        <p:nvSpPr>
          <p:cNvPr id="48" name="Shape 42"/>
          <p:cNvSpPr/>
          <p:nvPr/>
        </p:nvSpPr>
        <p:spPr>
          <a:xfrm>
            <a:off x="5257800" y="3282696"/>
            <a:ext cx="347472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3"/>
          <p:cNvSpPr/>
          <p:nvPr/>
        </p:nvSpPr>
        <p:spPr>
          <a:xfrm>
            <a:off x="5257800" y="3374136"/>
            <a:ext cx="54864" cy="201168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4"/>
          <p:cNvSpPr/>
          <p:nvPr/>
        </p:nvSpPr>
        <p:spPr>
          <a:xfrm>
            <a:off x="5385816" y="3355848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Product copy generation for catalogs and web</a:t>
            </a:r>
            <a:endParaRPr lang="en-US" sz="950" dirty="0"/>
          </a:p>
        </p:txBody>
      </p:sp>
      <p:sp>
        <p:nvSpPr>
          <p:cNvPr id="51" name="Shape 45"/>
          <p:cNvSpPr/>
          <p:nvPr/>
        </p:nvSpPr>
        <p:spPr>
          <a:xfrm>
            <a:off x="5257800" y="3685032"/>
            <a:ext cx="54864" cy="201168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6"/>
          <p:cNvSpPr/>
          <p:nvPr/>
        </p:nvSpPr>
        <p:spPr>
          <a:xfrm>
            <a:off x="5385816" y="3666744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Campaign brief drafting and A/B variants</a:t>
            </a:r>
            <a:endParaRPr lang="en-US" sz="950" dirty="0"/>
          </a:p>
        </p:txBody>
      </p:sp>
      <p:sp>
        <p:nvSpPr>
          <p:cNvPr id="53" name="Shape 47"/>
          <p:cNvSpPr/>
          <p:nvPr/>
        </p:nvSpPr>
        <p:spPr>
          <a:xfrm>
            <a:off x="5257800" y="3995928"/>
            <a:ext cx="54864" cy="201168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48"/>
          <p:cNvSpPr/>
          <p:nvPr/>
        </p:nvSpPr>
        <p:spPr>
          <a:xfrm>
            <a:off x="5385816" y="397764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Social media content creation and scheduling</a:t>
            </a:r>
            <a:endParaRPr lang="en-US" sz="950" dirty="0"/>
          </a:p>
        </p:txBody>
      </p:sp>
      <p:sp>
        <p:nvSpPr>
          <p:cNvPr id="55" name="Shape 49"/>
          <p:cNvSpPr/>
          <p:nvPr/>
        </p:nvSpPr>
        <p:spPr>
          <a:xfrm>
            <a:off x="182880" y="4434840"/>
            <a:ext cx="8778240" cy="45720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0"/>
          <p:cNvSpPr/>
          <p:nvPr/>
        </p:nvSpPr>
        <p:spPr>
          <a:xfrm>
            <a:off x="320040" y="4453128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</a:rPr>
              <a:t>🔧  GitHub Copilot · Claude Code · Microsoft Copilot · Notion AI · Zendesk AI · Amazon Bedrock · ChatGPT Enterprise · Adobe Firefly</a:t>
            </a:r>
            <a:endParaRPr lang="en-US" sz="850" dirty="0"/>
          </a:p>
        </p:txBody>
      </p:sp>
      <p:sp>
        <p:nvSpPr>
          <p:cNvPr id="57" name="Text 51"/>
          <p:cNvSpPr/>
          <p:nvPr/>
        </p:nvSpPr>
        <p:spPr>
          <a:xfrm>
            <a:off x="365760" y="467258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⚡  Minimal technical dependency — SaaS tools, not infrastructure builds  ·  Security governance  ·  AI usage policy  ·  Employee training (2–4 hrs/function)</a:t>
            </a:r>
            <a:endParaRPr lang="en-US" sz="800" dirty="0"/>
          </a:p>
        </p:txBody>
      </p:sp>
      <p:sp>
        <p:nvSpPr>
          <p:cNvPr id="59" name="Text 52"/>
          <p:cNvSpPr/>
          <p:nvPr/>
        </p:nvSpPr>
        <p:spPr>
          <a:xfrm>
            <a:off x="6497781" y="470916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150" dirty="0">
                <a:solidFill>
                  <a:srgbClr val="888888"/>
                </a:solidFill>
              </a:rPr>
              <a:t>McKINSEY &amp; COMPANY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65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065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WALK  ·  1–3 YEARS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949440" y="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AAAA"/>
                </a:solidFill>
              </a:rPr>
              <a:t>Strategic Implementation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" y="68580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11111"/>
                </a:solidFill>
              </a:rPr>
              <a:t>Goal: Embed AI into core operations to improve efficiency and margins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2880" y="1024128"/>
            <a:ext cx="5166360" cy="78638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82880" y="1024128"/>
            <a:ext cx="50292" cy="786384"/>
          </a:xfrm>
          <a:prstGeom prst="rect">
            <a:avLst/>
          </a:prstGeom>
          <a:solidFill>
            <a:srgbClr val="0065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384048" cy="384048"/>
          </a:xfrm>
          <a:prstGeom prst="ellipse">
            <a:avLst/>
          </a:prstGeom>
          <a:solidFill>
            <a:srgbClr val="0065C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216152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9808" y="107899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Manufacturing Quality Inspection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132588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</a:rPr>
              <a:t>Computer vision detecting machining defects in real time  ·  Automated pass/fail grading on carbon fiber layups  ·  Defect pattern analysis across production runs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182880" y="1929384"/>
            <a:ext cx="5166360" cy="78638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82880" y="1929384"/>
            <a:ext cx="50292" cy="786384"/>
          </a:xfrm>
          <a:prstGeom prst="rect">
            <a:avLst/>
          </a:prstGeom>
          <a:solidFill>
            <a:srgbClr val="008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74320" y="2093976"/>
            <a:ext cx="384048" cy="384048"/>
          </a:xfrm>
          <a:prstGeom prst="ellipse">
            <a:avLst/>
          </a:prstGeom>
          <a:solidFill>
            <a:srgbClr val="00875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" y="2121408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49808" y="198424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Predictive Maintenance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749808" y="223113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</a:rPr>
              <a:t>Sensor-based monitoring of factory machine health  ·  Failure prediction before unplanned downtime occurs  ·  Maintenance scheduling optimized by usage data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182880" y="2834640"/>
            <a:ext cx="5166360" cy="78638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182880" y="2834640"/>
            <a:ext cx="50292" cy="786384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274320" y="2999232"/>
            <a:ext cx="384048" cy="384048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" y="3026664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49808" y="288950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Supply Chain Forecasting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749808" y="3136392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</a:rPr>
              <a:t>Demand forecasting using historical + seasonal data  ·  Inventory optimization across OEM and dealers  ·  Stockout and markdown loss reduction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182880" y="3739896"/>
            <a:ext cx="5166360" cy="78638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182880" y="3739896"/>
            <a:ext cx="50292" cy="78638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274320" y="3904488"/>
            <a:ext cx="384048" cy="384048"/>
          </a:xfrm>
          <a:prstGeom prst="ellipse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52" y="3931920"/>
            <a:ext cx="329184" cy="32918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49808" y="379476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Data Infrastructure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749808" y="404164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</a:rPr>
              <a:t>Unified data layer: Shopify, support, telemetry  ·  Integration of Quarq and Hammerhead data  ·  Foundation for all Phase 3 AI-powered products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5577840" y="1024128"/>
            <a:ext cx="3383280" cy="3493008"/>
          </a:xfrm>
          <a:prstGeom prst="rect">
            <a:avLst/>
          </a:prstGeom>
          <a:solidFill>
            <a:srgbClr val="0D0D0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5742432" y="11430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E51937"/>
                </a:solidFill>
              </a:rPr>
              <a:t>TECHNOLOGY STACK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5742432" y="150876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BFFF"/>
                </a:solidFill>
              </a:rPr>
              <a:t>Vision AI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5742432" y="170992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8A"/>
                </a:solidFill>
              </a:rPr>
              <a:t>Azure Vision · AWS Rekognition</a:t>
            </a:r>
            <a:endParaRPr lang="en-US" sz="850" dirty="0"/>
          </a:p>
        </p:txBody>
      </p:sp>
      <p:sp>
        <p:nvSpPr>
          <p:cNvPr id="35" name="Shape 29"/>
          <p:cNvSpPr/>
          <p:nvPr/>
        </p:nvSpPr>
        <p:spPr>
          <a:xfrm>
            <a:off x="5742432" y="1929384"/>
            <a:ext cx="292608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5742432" y="207568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BFFF"/>
                </a:solidFill>
              </a:rPr>
              <a:t>IoT &amp; Sensors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742432" y="227685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8A"/>
                </a:solidFill>
              </a:rPr>
              <a:t>AWS IoT + SageMaker · PTC ThingWorx</a:t>
            </a:r>
            <a:endParaRPr lang="en-US" sz="850" dirty="0"/>
          </a:p>
        </p:txBody>
      </p:sp>
      <p:sp>
        <p:nvSpPr>
          <p:cNvPr id="38" name="Shape 32"/>
          <p:cNvSpPr/>
          <p:nvPr/>
        </p:nvSpPr>
        <p:spPr>
          <a:xfrm>
            <a:off x="5742432" y="2496312"/>
            <a:ext cx="292608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/>
          <p:nvPr/>
        </p:nvSpPr>
        <p:spPr>
          <a:xfrm>
            <a:off x="5742432" y="264261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BFFF"/>
                </a:solidFill>
              </a:rPr>
              <a:t>ML Platform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5742432" y="284378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8A"/>
                </a:solidFill>
              </a:rPr>
              <a:t>Databricks · Python ML stack</a:t>
            </a:r>
            <a:endParaRPr lang="en-US" sz="850" dirty="0"/>
          </a:p>
        </p:txBody>
      </p:sp>
      <p:sp>
        <p:nvSpPr>
          <p:cNvPr id="41" name="Shape 35"/>
          <p:cNvSpPr/>
          <p:nvPr/>
        </p:nvSpPr>
        <p:spPr>
          <a:xfrm>
            <a:off x="5742432" y="3063240"/>
            <a:ext cx="292608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6"/>
          <p:cNvSpPr/>
          <p:nvPr/>
        </p:nvSpPr>
        <p:spPr>
          <a:xfrm>
            <a:off x="5742432" y="320954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BFFF"/>
                </a:solidFill>
              </a:rPr>
              <a:t>Data Warehouse</a:t>
            </a:r>
            <a:endParaRPr lang="en-US" sz="1000" dirty="0"/>
          </a:p>
        </p:txBody>
      </p:sp>
      <p:sp>
        <p:nvSpPr>
          <p:cNvPr id="43" name="Text 37"/>
          <p:cNvSpPr/>
          <p:nvPr/>
        </p:nvSpPr>
        <p:spPr>
          <a:xfrm>
            <a:off x="5742432" y="341071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8A"/>
                </a:solidFill>
              </a:rPr>
              <a:t>Snowflake + ML · AWS Glue / dbt</a:t>
            </a:r>
            <a:endParaRPr lang="en-US" sz="850" dirty="0"/>
          </a:p>
        </p:txBody>
      </p:sp>
      <p:sp>
        <p:nvSpPr>
          <p:cNvPr id="44" name="Shape 38"/>
          <p:cNvSpPr/>
          <p:nvPr/>
        </p:nvSpPr>
        <p:spPr>
          <a:xfrm>
            <a:off x="5742432" y="3630168"/>
            <a:ext cx="292608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9"/>
          <p:cNvSpPr/>
          <p:nvPr/>
        </p:nvSpPr>
        <p:spPr>
          <a:xfrm>
            <a:off x="5742432" y="37764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BFFF"/>
                </a:solidFill>
              </a:rPr>
              <a:t>ERP / MES</a:t>
            </a:r>
            <a:endParaRPr lang="en-US" sz="1000" dirty="0"/>
          </a:p>
        </p:txBody>
      </p:sp>
      <p:sp>
        <p:nvSpPr>
          <p:cNvPr id="46" name="Text 40"/>
          <p:cNvSpPr/>
          <p:nvPr/>
        </p:nvSpPr>
        <p:spPr>
          <a:xfrm>
            <a:off x="5742432" y="397764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8A"/>
                </a:solidFill>
              </a:rPr>
              <a:t>SAP integration · MES APIs</a:t>
            </a:r>
            <a:endParaRPr lang="en-US" sz="850" dirty="0"/>
          </a:p>
        </p:txBody>
      </p:sp>
      <p:sp>
        <p:nvSpPr>
          <p:cNvPr id="47" name="Shape 41"/>
          <p:cNvSpPr/>
          <p:nvPr/>
        </p:nvSpPr>
        <p:spPr>
          <a:xfrm>
            <a:off x="182880" y="4553712"/>
            <a:ext cx="8778240" cy="32004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2"/>
          <p:cNvSpPr/>
          <p:nvPr/>
        </p:nvSpPr>
        <p:spPr>
          <a:xfrm>
            <a:off x="320040" y="4645152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</a:rPr>
              <a:t>⚡  KEY DEPENDENCIES:  Clean operational data  ·  Centralized data platform (Snowflake/Databricks)  ·  2–3 ML + data engineers  ·  ERP/MES integration — SRAM's biggest infrastructure gap</a:t>
            </a:r>
            <a:endParaRPr lang="en-US" sz="850" dirty="0"/>
          </a:p>
        </p:txBody>
      </p:sp>
      <p:sp>
        <p:nvSpPr>
          <p:cNvPr id="50" name="Text 43"/>
          <p:cNvSpPr/>
          <p:nvPr/>
        </p:nvSpPr>
        <p:spPr>
          <a:xfrm>
            <a:off x="6858000" y="486460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150" dirty="0">
                <a:solidFill>
                  <a:srgbClr val="888888"/>
                </a:solidFill>
              </a:rPr>
              <a:t>McKINSEY &amp; COMPANY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E5193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109728"/>
            <a:ext cx="960120" cy="3840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E51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228600" y="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RUN  ·  3–5 YEARS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949440" y="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CCCC"/>
                </a:solidFill>
              </a:rPr>
              <a:t>Competitive Advantage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82880" y="68580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8A8A"/>
                </a:solidFill>
              </a:rPr>
              <a:t>Goal: AI integrated into SRAM hardware and digital ecosystem — creating an unassailable moat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182880" y="1005840"/>
            <a:ext cx="8778240" cy="594360"/>
          </a:xfrm>
          <a:prstGeom prst="rect">
            <a:avLst/>
          </a:prstGeom>
          <a:solidFill>
            <a:srgbClr val="E51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320040" y="10058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</a:rPr>
              <a:t>SRAM becomes the intelligence layer of the connected rider — where hardware, software, and data converge into an ecosystem no competitor can replicate.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182880" y="1737360"/>
            <a:ext cx="4297680" cy="1261872"/>
          </a:xfrm>
          <a:prstGeom prst="rect">
            <a:avLst/>
          </a:prstGeom>
          <a:solidFill>
            <a:srgbClr val="1A1A1A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182880" y="1737360"/>
            <a:ext cx="4297680" cy="50292"/>
          </a:xfrm>
          <a:prstGeom prst="rect">
            <a:avLst/>
          </a:prstGeom>
          <a:solidFill>
            <a:srgbClr val="E51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20040" y="1865376"/>
            <a:ext cx="457200" cy="457200"/>
          </a:xfrm>
          <a:prstGeom prst="ellipse">
            <a:avLst/>
          </a:prstGeom>
          <a:solidFill>
            <a:srgbClr val="E5193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1892808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86968" y="1810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Smart Drivetrain Optimization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86968" y="2157984"/>
            <a:ext cx="64008" cy="64008"/>
          </a:xfrm>
          <a:prstGeom prst="ellipse">
            <a:avLst/>
          </a:prstGeom>
          <a:solidFill>
            <a:srgbClr val="E51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1005840" y="213055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BBBB"/>
                </a:solidFill>
              </a:rPr>
              <a:t>AI-adjusted shift timing based on terrain and cadence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886968" y="2414016"/>
            <a:ext cx="64008" cy="64008"/>
          </a:xfrm>
          <a:prstGeom prst="ellipse">
            <a:avLst/>
          </a:prstGeom>
          <a:solidFill>
            <a:srgbClr val="E51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1005840" y="2386584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BBBB"/>
                </a:solidFill>
              </a:rPr>
              <a:t>Predictive chain/cassette wear and replacement alerts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886968" y="2670048"/>
            <a:ext cx="64008" cy="64008"/>
          </a:xfrm>
          <a:prstGeom prst="ellipse">
            <a:avLst/>
          </a:prstGeom>
          <a:solidFill>
            <a:srgbClr val="E51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1005840" y="264261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BBBB"/>
                </a:solidFill>
              </a:rPr>
              <a:t>Personalized gear ratios for rider style and fitness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886968" y="2871216"/>
            <a:ext cx="347472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886968" y="288950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</a:rPr>
              <a:t>Edge AI · AXS Firmware SDK</a:t>
            </a:r>
            <a:endParaRPr lang="en-US" sz="750" dirty="0"/>
          </a:p>
        </p:txBody>
      </p:sp>
      <p:sp>
        <p:nvSpPr>
          <p:cNvPr id="24" name="Shape 19"/>
          <p:cNvSpPr/>
          <p:nvPr/>
        </p:nvSpPr>
        <p:spPr>
          <a:xfrm>
            <a:off x="4663440" y="1737360"/>
            <a:ext cx="4297680" cy="1261872"/>
          </a:xfrm>
          <a:prstGeom prst="rect">
            <a:avLst/>
          </a:prstGeom>
          <a:solidFill>
            <a:srgbClr val="1A1A1A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4663440" y="1737360"/>
            <a:ext cx="4297680" cy="50292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4800600" y="1865376"/>
            <a:ext cx="457200" cy="457200"/>
          </a:xfrm>
          <a:prstGeom prst="ellipse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1892808"/>
            <a:ext cx="402336" cy="40233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367528" y="1810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AI Rider Coaching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367528" y="2157984"/>
            <a:ext cx="64008" cy="64008"/>
          </a:xfrm>
          <a:prstGeom prst="ellipse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5486400" y="213055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BBBB"/>
                </a:solidFill>
              </a:rPr>
              <a:t>Unified dashboard: power, gearing, suspension, HR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5367528" y="2414016"/>
            <a:ext cx="64008" cy="64008"/>
          </a:xfrm>
          <a:prstGeom prst="ellipse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5486400" y="2386584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BBBB"/>
                </a:solidFill>
              </a:rPr>
              <a:t>Real-time ride optimization and post-ride analysis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5367528" y="2670048"/>
            <a:ext cx="64008" cy="64008"/>
          </a:xfrm>
          <a:prstGeom prst="ellipse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5486400" y="264261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BBBB"/>
                </a:solidFill>
              </a:rPr>
              <a:t>Training plan generation from multi-sensor data</a:t>
            </a:r>
            <a:endParaRPr lang="en-US" sz="850" dirty="0"/>
          </a:p>
        </p:txBody>
      </p:sp>
      <p:sp>
        <p:nvSpPr>
          <p:cNvPr id="35" name="Shape 29"/>
          <p:cNvSpPr/>
          <p:nvPr/>
        </p:nvSpPr>
        <p:spPr>
          <a:xfrm>
            <a:off x="5367528" y="2871216"/>
            <a:ext cx="347472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5367528" y="288950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</a:rPr>
              <a:t>Hammerhead Karoo · AXS Intelligence Platform</a:t>
            </a:r>
            <a:endParaRPr lang="en-US" sz="750" dirty="0"/>
          </a:p>
        </p:txBody>
      </p:sp>
      <p:sp>
        <p:nvSpPr>
          <p:cNvPr id="37" name="Shape 31"/>
          <p:cNvSpPr/>
          <p:nvPr/>
        </p:nvSpPr>
        <p:spPr>
          <a:xfrm>
            <a:off x="182880" y="3182112"/>
            <a:ext cx="4297680" cy="1261872"/>
          </a:xfrm>
          <a:prstGeom prst="rect">
            <a:avLst/>
          </a:prstGeom>
          <a:solidFill>
            <a:srgbClr val="1A1A1A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182880" y="3182112"/>
            <a:ext cx="4297680" cy="50292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3"/>
          <p:cNvSpPr/>
          <p:nvPr/>
        </p:nvSpPr>
        <p:spPr>
          <a:xfrm>
            <a:off x="320040" y="3310128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3337560"/>
            <a:ext cx="402336" cy="402336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886968" y="3255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Predictive Maintenance (B2C)</a:t>
            </a:r>
            <a:endParaRPr lang="en-US" sz="1150" dirty="0"/>
          </a:p>
        </p:txBody>
      </p:sp>
      <p:sp>
        <p:nvSpPr>
          <p:cNvPr id="42" name="Shape 35"/>
          <p:cNvSpPr/>
          <p:nvPr/>
        </p:nvSpPr>
        <p:spPr>
          <a:xfrm>
            <a:off x="886968" y="3602736"/>
            <a:ext cx="64008" cy="64008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6"/>
          <p:cNvSpPr/>
          <p:nvPr/>
        </p:nvSpPr>
        <p:spPr>
          <a:xfrm>
            <a:off x="1005840" y="3575304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BBBB"/>
                </a:solidFill>
              </a:rPr>
              <a:t>Component health monitoring for riders and fleet ops</a:t>
            </a:r>
            <a:endParaRPr lang="en-US" sz="850" dirty="0"/>
          </a:p>
        </p:txBody>
      </p:sp>
      <p:sp>
        <p:nvSpPr>
          <p:cNvPr id="44" name="Shape 37"/>
          <p:cNvSpPr/>
          <p:nvPr/>
        </p:nvSpPr>
        <p:spPr>
          <a:xfrm>
            <a:off x="886968" y="3858768"/>
            <a:ext cx="64008" cy="64008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38"/>
          <p:cNvSpPr/>
          <p:nvPr/>
        </p:nvSpPr>
        <p:spPr>
          <a:xfrm>
            <a:off x="1005840" y="383133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BBBB"/>
                </a:solidFill>
              </a:rPr>
              <a:t>Proactive dealer alerts: parts approaching end-of-life</a:t>
            </a:r>
            <a:endParaRPr lang="en-US" sz="850" dirty="0"/>
          </a:p>
        </p:txBody>
      </p:sp>
      <p:sp>
        <p:nvSpPr>
          <p:cNvPr id="46" name="Shape 39"/>
          <p:cNvSpPr/>
          <p:nvPr/>
        </p:nvSpPr>
        <p:spPr>
          <a:xfrm>
            <a:off x="886968" y="4114800"/>
            <a:ext cx="64008" cy="64008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0"/>
          <p:cNvSpPr/>
          <p:nvPr/>
        </p:nvSpPr>
        <p:spPr>
          <a:xfrm>
            <a:off x="1005840" y="4087368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BBBB"/>
                </a:solidFill>
              </a:rPr>
              <a:t>Subscription revenue from continuous monitoring</a:t>
            </a:r>
            <a:endParaRPr lang="en-US" sz="850" dirty="0"/>
          </a:p>
        </p:txBody>
      </p:sp>
      <p:sp>
        <p:nvSpPr>
          <p:cNvPr id="48" name="Shape 41"/>
          <p:cNvSpPr/>
          <p:nvPr/>
        </p:nvSpPr>
        <p:spPr>
          <a:xfrm>
            <a:off x="886968" y="4315968"/>
            <a:ext cx="347472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2"/>
          <p:cNvSpPr/>
          <p:nvPr/>
        </p:nvSpPr>
        <p:spPr>
          <a:xfrm>
            <a:off x="886968" y="433425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</a:rPr>
              <a:t>AXS Cloud · AWS IoT Greengrass</a:t>
            </a:r>
            <a:endParaRPr lang="en-US" sz="750" dirty="0"/>
          </a:p>
        </p:txBody>
      </p:sp>
      <p:sp>
        <p:nvSpPr>
          <p:cNvPr id="50" name="Shape 43"/>
          <p:cNvSpPr/>
          <p:nvPr/>
        </p:nvSpPr>
        <p:spPr>
          <a:xfrm>
            <a:off x="4663440" y="3182112"/>
            <a:ext cx="4297680" cy="1261872"/>
          </a:xfrm>
          <a:prstGeom prst="rect">
            <a:avLst/>
          </a:prstGeom>
          <a:solidFill>
            <a:srgbClr val="1A1A1A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4"/>
          <p:cNvSpPr/>
          <p:nvPr/>
        </p:nvSpPr>
        <p:spPr>
          <a:xfrm>
            <a:off x="4663440" y="3182112"/>
            <a:ext cx="4297680" cy="50292"/>
          </a:xfrm>
          <a:prstGeom prst="rect">
            <a:avLst/>
          </a:prstGeom>
          <a:solidFill>
            <a:srgbClr val="008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45"/>
          <p:cNvSpPr/>
          <p:nvPr/>
        </p:nvSpPr>
        <p:spPr>
          <a:xfrm>
            <a:off x="4800600" y="3310128"/>
            <a:ext cx="457200" cy="457200"/>
          </a:xfrm>
          <a:prstGeom prst="ellipse">
            <a:avLst/>
          </a:prstGeom>
          <a:solidFill>
            <a:srgbClr val="00875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8032" y="3337560"/>
            <a:ext cx="402336" cy="402336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5367528" y="3255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Ecosystem Data Monetization</a:t>
            </a:r>
            <a:endParaRPr lang="en-US" sz="1150" dirty="0"/>
          </a:p>
        </p:txBody>
      </p:sp>
      <p:sp>
        <p:nvSpPr>
          <p:cNvPr id="55" name="Shape 47"/>
          <p:cNvSpPr/>
          <p:nvPr/>
        </p:nvSpPr>
        <p:spPr>
          <a:xfrm>
            <a:off x="5367528" y="3602736"/>
            <a:ext cx="64008" cy="64008"/>
          </a:xfrm>
          <a:prstGeom prst="ellipse">
            <a:avLst/>
          </a:prstGeom>
          <a:solidFill>
            <a:srgbClr val="008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48"/>
          <p:cNvSpPr/>
          <p:nvPr/>
        </p:nvSpPr>
        <p:spPr>
          <a:xfrm>
            <a:off x="5486400" y="3575304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BBBB"/>
                </a:solidFill>
              </a:rPr>
              <a:t>B2B anonymized telemetry for OEMs and dealers</a:t>
            </a:r>
            <a:endParaRPr lang="en-US" sz="850" dirty="0"/>
          </a:p>
        </p:txBody>
      </p:sp>
      <p:sp>
        <p:nvSpPr>
          <p:cNvPr id="57" name="Shape 49"/>
          <p:cNvSpPr/>
          <p:nvPr/>
        </p:nvSpPr>
        <p:spPr>
          <a:xfrm>
            <a:off x="5367528" y="3858768"/>
            <a:ext cx="64008" cy="64008"/>
          </a:xfrm>
          <a:prstGeom prst="ellipse">
            <a:avLst/>
          </a:prstGeom>
          <a:solidFill>
            <a:srgbClr val="008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0"/>
          <p:cNvSpPr/>
          <p:nvPr/>
        </p:nvSpPr>
        <p:spPr>
          <a:xfrm>
            <a:off x="5486400" y="383133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BBBB"/>
                </a:solidFill>
              </a:rPr>
              <a:t>Dealer intelligence: regional demand and inventory signals</a:t>
            </a:r>
            <a:endParaRPr lang="en-US" sz="850" dirty="0"/>
          </a:p>
        </p:txBody>
      </p:sp>
      <p:sp>
        <p:nvSpPr>
          <p:cNvPr id="59" name="Shape 51"/>
          <p:cNvSpPr/>
          <p:nvPr/>
        </p:nvSpPr>
        <p:spPr>
          <a:xfrm>
            <a:off x="5367528" y="4114800"/>
            <a:ext cx="64008" cy="64008"/>
          </a:xfrm>
          <a:prstGeom prst="ellipse">
            <a:avLst/>
          </a:prstGeom>
          <a:solidFill>
            <a:srgbClr val="008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2"/>
          <p:cNvSpPr/>
          <p:nvPr/>
        </p:nvSpPr>
        <p:spPr>
          <a:xfrm>
            <a:off x="5486400" y="4087368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BBBB"/>
                </a:solidFill>
              </a:rPr>
              <a:t>Data-informed product development and testing</a:t>
            </a:r>
            <a:endParaRPr lang="en-US" sz="850" dirty="0"/>
          </a:p>
        </p:txBody>
      </p:sp>
      <p:sp>
        <p:nvSpPr>
          <p:cNvPr id="61" name="Shape 53"/>
          <p:cNvSpPr/>
          <p:nvPr/>
        </p:nvSpPr>
        <p:spPr>
          <a:xfrm>
            <a:off x="5367528" y="4315968"/>
            <a:ext cx="347472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4"/>
          <p:cNvSpPr/>
          <p:nvPr/>
        </p:nvSpPr>
        <p:spPr>
          <a:xfrm>
            <a:off x="5367528" y="433425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</a:rPr>
              <a:t>Snowflake Data Sharing · AXS API Platform</a:t>
            </a:r>
            <a:endParaRPr lang="en-US" sz="750" dirty="0"/>
          </a:p>
        </p:txBody>
      </p:sp>
      <p:sp>
        <p:nvSpPr>
          <p:cNvPr id="63" name="Text 55"/>
          <p:cNvSpPr/>
          <p:nvPr/>
        </p:nvSpPr>
        <p:spPr>
          <a:xfrm>
            <a:off x="320040" y="4708865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</a:rPr>
              <a:t>⚡  Large rider datasets  ·  Edge computing (AXS + Karoo)  ·  Product + AI engineering capacity  ·  GDPR-compliant data governance for telemetry monetization</a:t>
            </a:r>
            <a:endParaRPr lang="en-US" sz="800" dirty="0"/>
          </a:p>
        </p:txBody>
      </p:sp>
      <p:sp>
        <p:nvSpPr>
          <p:cNvPr id="64" name="Text 56"/>
          <p:cNvSpPr/>
          <p:nvPr/>
        </p:nvSpPr>
        <p:spPr>
          <a:xfrm>
            <a:off x="6858000" y="486460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150" dirty="0">
                <a:solidFill>
                  <a:srgbClr val="555555"/>
                </a:solidFill>
              </a:rPr>
              <a:t>McKINSEY &amp; COMPANY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E51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E51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THE INVESTMENT CASE IS STRONG ACROSS ALL SCENARIOS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949440" y="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AAAA"/>
                </a:solidFill>
              </a:rPr>
              <a:t>Financial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" y="68580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11111"/>
                </a:solidFill>
              </a:rPr>
              <a:t>Downside bounded by 90-day pilot scope  ·  Upside scales with SRAM's unique data moat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2880" y="987552"/>
            <a:ext cx="3108960" cy="329184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" y="987552"/>
            <a:ext cx="3108960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CATEGORY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91840" y="987552"/>
            <a:ext cx="1691640" cy="329184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1840" y="987552"/>
            <a:ext cx="1691640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D6A4F"/>
                </a:solidFill>
              </a:rPr>
              <a:t>CONSERVATIVE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983480" y="987552"/>
            <a:ext cx="1691640" cy="329184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83480" y="987552"/>
            <a:ext cx="1691640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65CC"/>
                </a:solidFill>
              </a:rPr>
              <a:t>EXPECTED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675120" y="987552"/>
            <a:ext cx="1691640" cy="329184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75120" y="987552"/>
            <a:ext cx="1691640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51937"/>
                </a:solidFill>
              </a:rPr>
              <a:t>UPSIDE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82880" y="1316736"/>
            <a:ext cx="81838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6032" y="1316736"/>
            <a:ext cx="292608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Support assistant savings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91840" y="131673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</a:rPr>
              <a:t>$0.5M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83480" y="131673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</a:rPr>
              <a:t>$1.6M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75120" y="131673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</a:rPr>
              <a:t>$4.3M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82880" y="1645920"/>
            <a:ext cx="8183880" cy="310896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56032" y="1645920"/>
            <a:ext cx="292608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Forecasting &amp; inventory savings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91840" y="164592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</a:rPr>
              <a:t>$0.7M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83480" y="164592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</a:rPr>
              <a:t>$1.6M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675120" y="164592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</a:rPr>
              <a:t>$4.5M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82880" y="1975104"/>
            <a:ext cx="81838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56032" y="1975104"/>
            <a:ext cx="292608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Documentation &amp; translation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91840" y="197510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</a:rPr>
              <a:t>$0.1M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83480" y="197510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</a:rPr>
              <a:t>$0.24M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675120" y="197510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</a:rPr>
              <a:t>$0.9M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82880" y="2304288"/>
            <a:ext cx="8183880" cy="310896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56032" y="2304288"/>
            <a:ext cx="292608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Customer retention revenue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91840" y="23042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</a:rPr>
              <a:t>$1.5M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83480" y="23042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</a:rPr>
              <a:t>$3.0M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675120" y="23042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</a:rPr>
              <a:t>$4.5M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82880" y="2633472"/>
            <a:ext cx="81838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56032" y="2633472"/>
            <a:ext cx="292608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Package size increase revenue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291840" y="263347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</a:rPr>
              <a:t>$2.0M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983480" y="263347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</a:rPr>
              <a:t>$4.0M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675120" y="263347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</a:rPr>
              <a:t>$8.0M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82880" y="2962656"/>
            <a:ext cx="8183880" cy="310896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56032" y="2962656"/>
            <a:ext cx="292608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Proposal win-rate revenue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291840" y="296265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</a:rPr>
              <a:t>$1.3M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983480" y="296265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</a:rPr>
              <a:t>$2.5M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675120" y="296265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</a:rPr>
              <a:t>$3.8M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82880" y="3291840"/>
            <a:ext cx="8183880" cy="310896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56032" y="3291840"/>
            <a:ext cx="292608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Gross Value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291840" y="329184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$6.1M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983480" y="329184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$12.9M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675120" y="329184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$26.0M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82880" y="3621024"/>
            <a:ext cx="8183880" cy="310896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56032" y="3621024"/>
            <a:ext cx="292608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Total Investment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291840" y="362102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</a:rPr>
              <a:t>($1.6M)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983480" y="362102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</a:rPr>
              <a:t>($2.7M)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675120" y="362102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</a:rPr>
              <a:t>($3.5M)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182880" y="3950208"/>
            <a:ext cx="8183880" cy="310896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56032" y="3950208"/>
            <a:ext cx="292608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Net Year-1 Value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3291840" y="395020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$4.5M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983480" y="395020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$10.2M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675120" y="395020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$22.5M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182880" y="4279392"/>
            <a:ext cx="8183880" cy="310896"/>
          </a:xfrm>
          <a:prstGeom prst="rect">
            <a:avLst/>
          </a:prstGeom>
          <a:solidFill>
            <a:srgbClr val="E51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256032" y="4279392"/>
            <a:ext cx="292608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Return on Spend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3291840" y="427939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2.8×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983480" y="427939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3.8×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675120" y="427939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6.4×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983480" y="1316736"/>
            <a:ext cx="1691640" cy="3310128"/>
          </a:xfrm>
          <a:prstGeom prst="rect">
            <a:avLst/>
          </a:prstGeom>
          <a:solidFill>
            <a:srgbClr val="0065CC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983480" y="98755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65CC"/>
                </a:solidFill>
              </a:rPr>
              <a:t>EXPECTED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182880" y="46634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88888"/>
                </a:solidFill>
              </a:rPr>
              <a:t>Expected-case support savings: 120 support staff × $90K avg cost × 60% AI-addressable × 35% productivity gain × 70% adoption = $1.6M. All projections use transparent, auditable math.</a:t>
            </a:r>
            <a:endParaRPr lang="en-US" sz="750" dirty="0"/>
          </a:p>
        </p:txBody>
      </p:sp>
      <p:sp>
        <p:nvSpPr>
          <p:cNvPr id="69" name="Text 66"/>
          <p:cNvSpPr/>
          <p:nvPr/>
        </p:nvSpPr>
        <p:spPr>
          <a:xfrm>
            <a:off x="6858000" y="486460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150" dirty="0">
                <a:solidFill>
                  <a:srgbClr val="888888"/>
                </a:solidFill>
              </a:rPr>
              <a:t>McKINSEY &amp; COMPANY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E51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E51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82880" y="0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THE ASK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82880" y="6949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</a:rPr>
              <a:t>Three Decisions to Begin SRAM's AI Transformation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82880" y="1051560"/>
            <a:ext cx="6400800" cy="1115568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82880" y="1051560"/>
            <a:ext cx="640080" cy="1115568"/>
          </a:xfrm>
          <a:prstGeom prst="rect">
            <a:avLst/>
          </a:prstGeom>
          <a:solidFill>
            <a:srgbClr val="008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82880" y="1051560"/>
            <a:ext cx="6400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1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914400" y="1143000"/>
            <a:ext cx="822960" cy="201168"/>
          </a:xfrm>
          <a:prstGeom prst="rect">
            <a:avLst/>
          </a:prstGeom>
          <a:solidFill>
            <a:srgbClr val="008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14400" y="11430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CRAWL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914400" y="13716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Launch the 90-Day Support Pilot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14400" y="1636776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Scope to AXS + Hammerhead dealer support. One product owner, one integration engineer. Human approval on all outputs. Kill criteria defined upfront: two consecutive weeks of quality drops triggers rollback.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766560" y="1051560"/>
            <a:ext cx="2194560" cy="1115568"/>
          </a:xfrm>
          <a:prstGeom prst="rect">
            <a:avLst/>
          </a:prstGeom>
          <a:solidFill>
            <a:srgbClr val="24242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766560" y="1051560"/>
            <a:ext cx="2194560" cy="50292"/>
          </a:xfrm>
          <a:prstGeom prst="rect">
            <a:avLst/>
          </a:prstGeom>
          <a:solidFill>
            <a:srgbClr val="008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858000" y="1188720"/>
            <a:ext cx="2011680" cy="8412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</a:rPr>
              <a:t>Proves value before scaling any further investment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82880" y="2313432"/>
            <a:ext cx="6400800" cy="1115568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82880" y="2313432"/>
            <a:ext cx="640080" cy="1115568"/>
          </a:xfrm>
          <a:prstGeom prst="rect">
            <a:avLst/>
          </a:prstGeom>
          <a:solidFill>
            <a:srgbClr val="0065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82880" y="2313432"/>
            <a:ext cx="6400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2</a:t>
            </a:r>
            <a:endParaRPr lang="en-US" sz="3200" dirty="0"/>
          </a:p>
        </p:txBody>
      </p:sp>
      <p:sp>
        <p:nvSpPr>
          <p:cNvPr id="20" name="Shape 17"/>
          <p:cNvSpPr/>
          <p:nvPr/>
        </p:nvSpPr>
        <p:spPr>
          <a:xfrm>
            <a:off x="914400" y="2404872"/>
            <a:ext cx="822960" cy="201168"/>
          </a:xfrm>
          <a:prstGeom prst="rect">
            <a:avLst/>
          </a:prstGeom>
          <a:solidFill>
            <a:srgbClr val="0065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14400" y="24048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WALK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914400" y="2633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Begin Data Infrastructure Planning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914400" y="2898648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Initiate requirements for a unified data layer connecting Shopify, support, and telemetry. Assign an executive sponsor with budget authority. This is the non-negotiable foundation for Walk and Run phases.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766560" y="2313432"/>
            <a:ext cx="2194560" cy="1115568"/>
          </a:xfrm>
          <a:prstGeom prst="rect">
            <a:avLst/>
          </a:prstGeom>
          <a:solidFill>
            <a:srgbClr val="24242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766560" y="2313432"/>
            <a:ext cx="2194560" cy="50292"/>
          </a:xfrm>
          <a:prstGeom prst="rect">
            <a:avLst/>
          </a:prstGeom>
          <a:solidFill>
            <a:srgbClr val="0065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858000" y="2450592"/>
            <a:ext cx="2011680" cy="8412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</a:rPr>
              <a:t>Resolves SRAM's single biggest AI bottleneck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182880" y="3575304"/>
            <a:ext cx="6400800" cy="1115568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182880" y="3575304"/>
            <a:ext cx="640080" cy="1115568"/>
          </a:xfrm>
          <a:prstGeom prst="rect">
            <a:avLst/>
          </a:prstGeom>
          <a:solidFill>
            <a:srgbClr val="E51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182880" y="3575304"/>
            <a:ext cx="6400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3</a:t>
            </a:r>
            <a:endParaRPr lang="en-US" sz="3200" dirty="0"/>
          </a:p>
        </p:txBody>
      </p:sp>
      <p:sp>
        <p:nvSpPr>
          <p:cNvPr id="30" name="Shape 27"/>
          <p:cNvSpPr/>
          <p:nvPr/>
        </p:nvSpPr>
        <p:spPr>
          <a:xfrm>
            <a:off x="914400" y="3666744"/>
            <a:ext cx="822960" cy="201168"/>
          </a:xfrm>
          <a:prstGeom prst="rect">
            <a:avLst/>
          </a:prstGeom>
          <a:solidFill>
            <a:srgbClr val="E51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914400" y="366674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ALL PHASES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914400" y="389534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Hold Sequencing Discipline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914400" y="416052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Bounded problems first. Broader transformation after measured proof. The 90-day pilot produces data to justify or redirect every subsequent investment. One failed pilot taught SRAM that moving too fast costs months of organizational buy-in.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766560" y="3575304"/>
            <a:ext cx="2194560" cy="1115568"/>
          </a:xfrm>
          <a:prstGeom prst="rect">
            <a:avLst/>
          </a:prstGeom>
          <a:solidFill>
            <a:srgbClr val="24242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6766560" y="3575304"/>
            <a:ext cx="2194560" cy="50292"/>
          </a:xfrm>
          <a:prstGeom prst="rect">
            <a:avLst/>
          </a:prstGeom>
          <a:solidFill>
            <a:srgbClr val="E51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6858000" y="3712464"/>
            <a:ext cx="2011680" cy="8412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</a:rPr>
              <a:t>De-risks the entire $10.2M expected return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51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Expected Year-1 Return: 3.8×   ·   Downside Bounded by 90-Day Pilot   ·   Upside Scales with SRAM's Unique Data Moat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1229</Words>
  <Application>Microsoft Office PowerPoint</Application>
  <PresentationFormat>On-screen Show (16:9)</PresentationFormat>
  <Paragraphs>215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SRAM AI Strategic Roadmap</dc:title>
  <dc:subject>PptxGenJS Presentation</dc:subject>
  <dc:creator>PptxGenJS</dc:creator>
  <cp:lastModifiedBy>Will Zheng</cp:lastModifiedBy>
  <cp:revision>2</cp:revision>
  <dcterms:created xsi:type="dcterms:W3CDTF">2026-03-11T00:34:09Z</dcterms:created>
  <dcterms:modified xsi:type="dcterms:W3CDTF">2026-03-11T00:42:39Z</dcterms:modified>
</cp:coreProperties>
</file>