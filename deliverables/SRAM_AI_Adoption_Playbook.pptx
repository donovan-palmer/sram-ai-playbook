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194560"/>
            <a:ext cx="109728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40"/>
              </a:spcAft>
              <a:defRPr sz="4400" b="1">
                <a:solidFill>
                  <a:srgbClr val="1C1C1E"/>
                </a:solidFill>
                <a:latin typeface="Calibri"/>
              </a:defRPr>
            </a:pPr>
            <a:r>
              <a:t>SRAM LLC</a:t>
            </a:r>
          </a:p>
          <a:p>
            <a:pPr>
              <a:spcAft>
                <a:spcPts val="1560"/>
              </a:spcAft>
              <a:defRPr sz="2600" b="0">
                <a:solidFill>
                  <a:srgbClr val="767676"/>
                </a:solidFill>
                <a:latin typeface="Calibri"/>
              </a:defRPr>
            </a:pPr>
            <a:r>
              <a:t>AI Adoption Playbook</a:t>
            </a:r>
          </a:p>
          <a:p>
            <a:pPr>
              <a:spcAft>
                <a:spcPts val="600"/>
              </a:spcAft>
              <a:defRPr sz="10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960"/>
              </a:spcAft>
              <a:defRPr sz="1600" b="0">
                <a:solidFill>
                  <a:srgbClr val="3A3A3C"/>
                </a:solidFill>
                <a:latin typeface="Calibri"/>
              </a:defRPr>
            </a:pPr>
            <a:r>
              <a:t>A $10M opportunity starting with a 90-day pilot</a:t>
            </a:r>
          </a:p>
          <a:p>
            <a:pPr>
              <a:spcAft>
                <a:spcPts val="480"/>
              </a:spcAft>
              <a:defRPr sz="8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780"/>
              </a:spcAft>
              <a:defRPr sz="1300" b="0">
                <a:solidFill>
                  <a:srgbClr val="767676"/>
                </a:solidFill>
                <a:latin typeface="Calibri"/>
              </a:defRPr>
            </a:pPr>
            <a:r>
              <a:t>Prepared for Executive Leadership  |  March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57607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AIML 950  |  Human and Machine Intelligence  |  Northwestern Kellogg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SRAM's connected ecosystem is unmatched in cycling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REVENUE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$1B+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Private, Chicago-founded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39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9039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Integrated portfolio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59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MTB SHARE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#1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Market leader globally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463040"/>
            <a:ext cx="256032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6002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182880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22860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Support-driven churn risk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SRAM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Drivetrains + Braking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2441448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60603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19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RockShox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19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Suspension</a:t>
            </a:r>
          </a:p>
        </p:txBody>
      </p:sp>
      <p:sp>
        <p:nvSpPr>
          <p:cNvPr id="28" name="Isosceles Triangle 27"/>
          <p:cNvSpPr/>
          <p:nvPr/>
        </p:nvSpPr>
        <p:spPr>
          <a:xfrm rot="5400000">
            <a:off x="431596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48055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1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Zipp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1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Wheels + Cockpit</a:t>
            </a:r>
          </a:p>
        </p:txBody>
      </p:sp>
      <p:sp>
        <p:nvSpPr>
          <p:cNvPr id="32" name="Isosceles Triangle 31"/>
          <p:cNvSpPr/>
          <p:nvPr/>
        </p:nvSpPr>
        <p:spPr>
          <a:xfrm rot="5400000">
            <a:off x="619048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55079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39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Quarq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39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Power Meters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8065007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22960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676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Hammerhead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Cycling Computer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9939528" y="329184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104120" y="3017520"/>
            <a:ext cx="16916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41280" y="3090672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TIME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3383280"/>
            <a:ext cx="1417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Pedals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" y="4114800"/>
            <a:ext cx="11064240" cy="320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4133087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AXS Wireless Ecosystem  |  All connected, all generating data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" y="4846320"/>
            <a:ext cx="1106424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1520" y="484632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1560" y="49377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“A Shimano rider uses the app to check compatibility. A Hammerhead rider uses it to train, navigate, and communicate with their component stack. That is a fundamentally different data relationship.”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5349240"/>
            <a:ext cx="10515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15468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38328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31546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383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6576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31546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3383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6576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31546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383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6576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AI opportunities exist across every function at SRAM.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15468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38328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31546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383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6576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31546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3383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6576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31546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383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6576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069080"/>
            <a:ext cx="50800" cy="822960"/>
          </a:xfrm>
          <a:prstGeom prst="rect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429768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5B8C5A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94560" y="40690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77440" y="4297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4572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57800" y="40690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40680" y="4297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4572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40" y="40690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3920" y="4297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4572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WHERE AI ADDS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12 AI initiatives across four business functions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Start where domain knowledge is high and outcomes are measurable. Support is the proving ground for everything that follows.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Quick 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Medium Effort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Long-Term Bet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801368"/>
            <a:ext cx="9189720" cy="254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11338560" y="1746504"/>
            <a:ext cx="137160" cy="128016"/>
          </a:xfrm>
          <a:prstGeom prst="triangle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920240"/>
            <a:ext cx="50800" cy="822960"/>
          </a:xfrm>
          <a:prstGeom prst="rect">
            <a:avLst/>
          </a:prstGeom>
          <a:solidFill>
            <a:srgbClr val="7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14884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A5C8A"/>
                </a:solidFill>
                <a:latin typeface="Calibri"/>
              </a:defRPr>
            </a:pPr>
            <a:r>
              <a:t>ENGINEERING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Generative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Physical testing is slow and expensive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AXS Intelligence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Telemetry data is collected but unused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92024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2148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AI-Tuned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4231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Suspension and shifting are static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154680"/>
            <a:ext cx="50800" cy="822960"/>
          </a:xfrm>
          <a:prstGeom prst="rect">
            <a:avLst/>
          </a:prstGeom>
          <a:solidFill>
            <a:srgbClr val="8B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38328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8B6D2E"/>
                </a:solidFill>
                <a:latin typeface="Calibri"/>
              </a:defRPr>
            </a:pPr>
            <a:r>
              <a:t>SALES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31546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383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OEM Proposal Automation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7440" y="36576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Proposal cycles are slow, manual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31546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40680" y="3383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Part Recommendations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6576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guided upsell at point of service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31546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0" y="33832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DTC Personalization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6576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Velocio has no targeting capability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069080"/>
            <a:ext cx="50800" cy="822960"/>
          </a:xfrm>
          <a:prstGeom prst="rect">
            <a:avLst/>
          </a:prstGeom>
          <a:solidFill>
            <a:srgbClr val="5B8C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429768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5B8C5A"/>
                </a:solidFill>
                <a:latin typeface="Calibri"/>
              </a:defRPr>
            </a:pPr>
            <a:r>
              <a:t>SUPPLY CHAIN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194560" y="40690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77440" y="4297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Demand Forecasting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4572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No forecasting system exists today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257800" y="40690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40680" y="4297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Inventory Allocation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40680" y="4572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Stockouts and rush shipping losses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40" y="40690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03920" y="4297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Customer Analytics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0" y="4572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Shopify data is siloed, unused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31520" y="4983480"/>
            <a:ext cx="50800" cy="822960"/>
          </a:xfrm>
          <a:prstGeom prst="rect">
            <a:avLst/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" y="5212080"/>
            <a:ext cx="1234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2D5F8A"/>
                </a:solidFill>
                <a:latin typeface="Calibri"/>
              </a:defRPr>
            </a:pPr>
            <a:r>
              <a:t>SUPPORT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194560" y="49834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94560" y="4983480"/>
            <a:ext cx="50800" cy="82296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77440" y="5056632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RECOMMENDED PILOT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377440" y="5212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AI Support Agent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40" y="5486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70% of dealer questions are repetitive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257800" y="49834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40680" y="5212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Warranty Automation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40680" y="5486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Fraudulent and mis-filed claims cost time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321040" y="4983480"/>
            <a:ext cx="2926080" cy="822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03920" y="5212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C1C1E"/>
                </a:solidFill>
                <a:latin typeface="Calibri"/>
              </a:defRPr>
            </a:pPr>
            <a:r>
              <a:t>Compatibility Assistant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54864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Riders get wrong parts, return them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4360" y="4910328"/>
            <a:ext cx="10927080" cy="969264"/>
          </a:xfrm>
          <a:prstGeom prst="rect">
            <a:avLst/>
          </a:prstGeom>
          <a:noFill/>
          <a:ln w="31750">
            <a:solidFill>
              <a:srgbClr val="2D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84080" y="4690872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 i="0">
                <a:solidFill>
                  <a:srgbClr val="2D5F8A"/>
                </a:solidFill>
                <a:latin typeface="Calibri"/>
              </a:defRPr>
            </a:pPr>
            <a:r>
              <a:t>START HERE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Riders love SRAM hardware. They struggle with firmware, compatibility, and warranty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Questions follow documented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Reddit, app stores, Trustpilot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Support quality drives churn, not product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Riders love SRAM hardware. They struggle with firmware, compatibility, and warranty resolution.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TRUSTPILOT RATING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1.6 / 5.0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Warranty friction and support delays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AUTOMATABLE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Questions follow documented patterns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20116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2148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TOP COMPLAINTS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7744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C43B4F"/>
                </a:solidFill>
                <a:latin typeface="Calibri"/>
              </a:defRPr>
            </a:pPr>
            <a:r>
              <a:t>Firmware + Pairing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8346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Reddit, app stores, Trustpilot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389120"/>
            <a:ext cx="1078992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4389120"/>
            <a:ext cx="50800" cy="7772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448056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“The first question I ask anyone skeptical about AI is: do you want to spend your day searching a 200-page compatibility PDF, or do you want to spend it talking to dealers?”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89204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Hartsell, VP Digital Products, SRAM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A 90-day pilot with human approval on every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TICKET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Dealer or rider</a:t>
            </a:r>
            <a:br/>
            <a:r>
              <a:t>submits via Zendesk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271576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896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Kendra</a:t>
            </a:r>
            <a:br/>
            <a:r>
              <a:t>finds approved docs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495604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4924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Bedrock</a:t>
            </a:r>
            <a:br/>
            <a:r>
              <a:t>from knowledge base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719632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6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952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Agent approves</a:t>
            </a:r>
            <a:br/>
            <a:r>
              <a:t>before sending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943660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9264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980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Metrics tracked;</a:t>
            </a:r>
            <a:br/>
            <a:r>
              <a:t>weekly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A 90-day pilot with human approval on every response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TICKET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Dealer or rider</a:t>
            </a:r>
            <a:br/>
            <a:r>
              <a:t>submits via Zendesk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271576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7180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10896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RETRIEVES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Kendra</a:t>
            </a:r>
            <a:br/>
            <a:r>
              <a:t>finds approved docs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495604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4924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AI DRAFTS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Amazon Bedrock</a:t>
            </a:r>
            <a:br/>
            <a:r>
              <a:t>from knowledge base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719632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5236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8952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HUMAN REVIEWS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Agent approves</a:t>
            </a:r>
            <a:br/>
            <a:r>
              <a:t>before sending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9436608" y="2468880"/>
            <a:ext cx="274320" cy="274320"/>
          </a:xfrm>
          <a:prstGeom prst="triangle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692640" y="164592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829800" y="1783080"/>
            <a:ext cx="365760" cy="36576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5F5F3"/>
                </a:solidFill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286000"/>
            <a:ext cx="1691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QUALITY LOGGED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2606040"/>
            <a:ext cx="1691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Metrics tracked;</a:t>
            </a:r>
            <a:br/>
            <a:r>
              <a:t>weekly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206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AXS + Hammerhead support only  |  Human approval on every response  |  Weekly quality review with rollback trigger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029200"/>
            <a:ext cx="1078992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" y="5029200"/>
            <a:ext cx="50800" cy="50292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5120640"/>
            <a:ext cx="102412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3A3A3C"/>
                </a:solidFill>
                <a:latin typeface="Calibri"/>
              </a:defRPr>
            </a:pPr>
            <a:r>
              <a:t>“I would rather shut it down and restart than defend a mistake to Ken.”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257800"/>
            <a:ext cx="10241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Jordan Hartsell on the pull-the-plug criteria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427024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233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Increase agent throughput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2062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297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Tickets handled per agent per day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Five SMART goals define pilot success at day 90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Hartsell set the bar: "One workflow measurably faster, measurably more accurate, with no regression in dealer satisfaction scores."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93852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9019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Cut first-response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874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-40%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965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SLA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271576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79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Resolve more tickets without escalation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651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+15 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743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Measured weekly vs. current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33756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349300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4564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AI draft acceptance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429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&gt;70%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20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Below 50% at day 45 triggers scope review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427024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2336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Increase agent throughput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42062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+25%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4297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Tickets handled per agent per day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892040"/>
            <a:ext cx="10698480" cy="685800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05840" y="5047488"/>
            <a:ext cx="502920" cy="365760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G5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5010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Hold customer satisfaction flat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49834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E51937"/>
                </a:solidFill>
                <a:latin typeface="Calibri"/>
              </a:defRPr>
            </a:pPr>
            <a:r>
              <a:t>No decline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5074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767676"/>
                </a:solidFill>
                <a:latin typeface="Calibri"/>
              </a:defRPr>
            </a:pPr>
            <a:r>
              <a:t>Any sustained drop triggers rollback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8521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Kill criteria: 2 weeks quality drop, any safety error reaching a dealer, or dealer opt-out above 15%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249424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2951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(AXS)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29514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71160" y="2304288"/>
            <a:ext cx="336804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62600" y="2304288"/>
            <a:ext cx="3185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AI drafts responses; agents review 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6426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(Hammerhead)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6426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2651760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651760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Expand to Hammerhead device tickets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2944368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99008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Response Time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299008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3000" y="2999232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4440" y="2999232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SLA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3375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Escalation Rate Tracking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33375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3000" y="3346704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4440" y="3346704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baseline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639312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6850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Throughput Measurement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368503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8400" y="3694176"/>
            <a:ext cx="51816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9840" y="3694176"/>
            <a:ext cx="499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Tickets/agent/day tracked weekly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03250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CSAT Monitoring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0325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53000" y="4041648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44440" y="4041648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No decline for 2 consecutive periods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90-day pilot mapped to SMART goals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84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9200" y="1280160"/>
            <a:ext cx="259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Month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2484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9200" y="1508760"/>
            <a:ext cx="12700" cy="45720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55448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Setup + Integration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609344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1609344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Zendesk + Kendra + Bedrock integration; baseline metrics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94767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Knowledge Base Indexing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1956816"/>
            <a:ext cx="1813560" cy="219456"/>
          </a:xfrm>
          <a:prstGeom prst="roundRect">
            <a:avLst>
              <a:gd name="adj" fmla="val 15000"/>
            </a:avLst>
          </a:prstGeom>
          <a:solidFill>
            <a:srgbClr val="D4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249424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29514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(AXS)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29514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71160" y="2304288"/>
            <a:ext cx="336804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62600" y="2304288"/>
            <a:ext cx="3185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AI drafts responses; agents review 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64261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AI Draft Rollout (Hammerhead)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642616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2651760"/>
            <a:ext cx="25908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651760"/>
            <a:ext cx="2407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Expand to Hammerhead device tickets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2944368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99008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Response Time Tracking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299008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3000" y="2999232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4440" y="2999232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SLA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33756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Escalation Rate Tracking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3337560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3000" y="3346704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4440" y="3346704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Weekly measurement vs. baseline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639312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68503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Throughput Measurement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368503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8400" y="3694176"/>
            <a:ext cx="51816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9840" y="3694176"/>
            <a:ext cx="4998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Tickets/agent/day tracked weekly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032504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CSAT Monitoring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03250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 i="0">
                <a:solidFill>
                  <a:srgbClr val="E51937"/>
                </a:solidFill>
                <a:latin typeface="Calibri"/>
              </a:defRPr>
            </a:pPr>
            <a:r>
              <a:t>G5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53000" y="4041648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2D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44440" y="4041648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FFFFFF"/>
                </a:solidFill>
                <a:latin typeface="Calibri"/>
              </a:defRPr>
            </a:pPr>
            <a:r>
              <a:t>No decline for 2 consecutive periods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" y="4334256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4379976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Weekly Quality Reviews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953000" y="4389120"/>
            <a:ext cx="6477000" cy="219456"/>
          </a:xfrm>
          <a:prstGeom prst="roundRect">
            <a:avLst>
              <a:gd name="adj" fmla="val 15000"/>
            </a:avLst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4440" y="4389120"/>
            <a:ext cx="6294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 i="0">
                <a:solidFill>
                  <a:srgbClr val="1C1C1E"/>
                </a:solidFill>
                <a:latin typeface="Calibri"/>
              </a:defRPr>
            </a:pPr>
            <a:r>
              <a:t>Rollback trigger if quality drops 2 weeks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727448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Day-45 Checkpoint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4736592"/>
            <a:ext cx="388620" cy="219456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31520" y="5029200"/>
            <a:ext cx="10698480" cy="347472"/>
          </a:xfrm>
          <a:prstGeom prst="roundRect">
            <a:avLst>
              <a:gd name="adj" fmla="val 1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507492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C1C1E"/>
                </a:solidFill>
                <a:latin typeface="Calibri"/>
              </a:defRPr>
            </a:pPr>
            <a:r>
              <a:t>Day-90 Go/No-Go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041380" y="5084064"/>
            <a:ext cx="388620" cy="219456"/>
          </a:xfrm>
          <a:prstGeom prst="roundRect">
            <a:avLst>
              <a:gd name="adj" fmla="val 15000"/>
            </a:avLst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557784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Day-45 checkpoint: scope review if draft acceptance &lt; 50%  |  Day-90: go / no-go decision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 net value in Year 1 on $2.7M spend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Scenario 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103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1488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2.8x ROI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34640"/>
            <a:ext cx="5029200" cy="731520"/>
          </a:xfrm>
          <a:prstGeom prst="roundRect">
            <a:avLst>
              <a:gd name="adj" fmla="val 2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9260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971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3.8x ROI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490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74904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7947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767676"/>
                </a:solidFill>
                <a:latin typeface="Calibri"/>
              </a:defRPr>
            </a:pPr>
            <a:r>
              <a:t>6.4x ROI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3258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C1C1E"/>
                </a:solidFill>
                <a:latin typeface="Calibri"/>
              </a:defRPr>
            </a:pPr>
            <a:r>
              <a:t>Year-1 Financial Impact (All Phases)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Expected case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737360"/>
            <a:ext cx="256032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18745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0">
                <a:solidFill>
                  <a:srgbClr val="767676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21031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56032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767676"/>
                </a:solidFill>
                <a:latin typeface="Calibri"/>
              </a:defRPr>
            </a:pPr>
            <a:r>
              <a:t>On $2.7M total spend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017520"/>
            <a:ext cx="5029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Cost Reductions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Support automation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Demand forecasting savings: $1.6M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Documentation and translation: $0.24M</a:t>
            </a:r>
          </a:p>
          <a:p>
            <a:pPr>
              <a:spcAft>
                <a:spcPts val="199"/>
              </a:spcAft>
              <a:defRPr sz="500" b="0">
                <a:solidFill>
                  <a:srgbClr val="767676"/>
                </a:solidFill>
                <a:latin typeface="Calibri"/>
              </a:defRPr>
            </a:pPr>
          </a:p>
          <a:p>
            <a:pPr>
              <a:spcAft>
                <a:spcPts val="51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Revenue Growth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Customer retention: $3.0M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Package size increase: $4.0M</a:t>
            </a:r>
          </a:p>
          <a:p>
            <a:pPr>
              <a:spcAft>
                <a:spcPts val="439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Proposal win rate: $2.5M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5303520"/>
            <a:ext cx="5303520" cy="7772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53492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59"/>
              </a:spcAft>
              <a:defRPr sz="1200" b="1">
                <a:solidFill>
                  <a:srgbClr val="1C1C1E"/>
                </a:solidFill>
                <a:latin typeface="Calibri"/>
              </a:defRPr>
            </a:pPr>
            <a:r>
              <a:t>Gross value: $12.9M</a:t>
            </a:r>
          </a:p>
          <a:p>
            <a:pPr>
              <a:spcAft>
                <a:spcPts val="329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Setup + operating costs: ($2.7M)</a:t>
            </a:r>
          </a:p>
          <a:p>
            <a:pPr>
              <a:spcAft>
                <a:spcPts val="389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Net value: $10.2M  |  Return: 3.8x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Proven AI pilots, strong data infrastructure, and teams that understand guardrails unlock the innovation no competitor can replicate.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137160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50800" cy="13716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THE UNLOCK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Unified rider dashboard: power, gearing, suspension, heart rate in one view. No competitor has the product breadth to build this.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WHAT COULD 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Hardware company to performance intelligence by 2031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Proven AI pilots, strong data infrastructure, and teams that understand guardrails unlock the innovation no competitor can replicate.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137160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50800" cy="13716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THE UNLOCK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945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C1C1E"/>
                </a:solidFill>
                <a:latin typeface="Calibri"/>
              </a:defRPr>
            </a:pPr>
            <a:r>
              <a:t>AXS Intelligence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6517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3A3A3C"/>
                </a:solidFill>
                <a:latin typeface="Calibri"/>
              </a:defRPr>
            </a:pPr>
            <a:r>
              <a:t>Unified rider dashboard: power, gearing, suspension, heart rate in one view. No competitor has the product breadth to build this.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657600"/>
            <a:ext cx="34290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Predictive Maintenance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114800"/>
            <a:ext cx="2971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Connected components predict chain and brake pad replacement before failure. Installed base becomes recurring revenue.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3657600"/>
            <a:ext cx="34290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AI-Tuned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4114800"/>
            <a:ext cx="2971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Suspension auto-adjusts to terrain. Shifting optimizes for rider power. Products improve continuously after purchase.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3657600"/>
            <a:ext cx="34290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3794760"/>
            <a:ext cx="2971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C1C1E"/>
                </a:solidFill>
                <a:latin typeface="Calibri"/>
              </a:defRPr>
            </a:pPr>
            <a:r>
              <a:t>Dealer Intelligence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4114800"/>
            <a:ext cx="2971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Telemetry tells dealers which parts approach end-of-life in their area. Proactive ordering replaces reactive.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303520"/>
            <a:ext cx="10698480" cy="411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5303520"/>
            <a:ext cx="50800" cy="41148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340096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Hardware sells data access  →  Data improves performance  →  Performance sells hardware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THE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Three actions for SRAM's CEO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160020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46304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Launch the 90-Day Support Pilot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288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AXS and Hammerhead dealer support. One product owner, one integration engineer. Human approval on all outputs. Weekly quality reviews with defined rollback trigger.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78892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97280" y="301752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88036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Begin Data Infrastructure Planning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24612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Unified data layer connecting Shopify, support systems, and telemetry. Foundation for Phase 2 forecasting and Phase 4 AXS Intelligence platform.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10515600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97280" y="4434840"/>
            <a:ext cx="457200" cy="457200"/>
          </a:xfrm>
          <a:prstGeom prst="ellipse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5F5F3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297680"/>
            <a:ext cx="8961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C1C1E"/>
                </a:solidFill>
                <a:latin typeface="Calibri"/>
              </a:defRPr>
            </a:pPr>
            <a:r>
              <a:t>Hold Sequencing Discipline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6634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3A3A3C"/>
                </a:solidFill>
                <a:latin typeface="Calibri"/>
              </a:defRPr>
            </a:pPr>
            <a:r>
              <a:t>Bounded, well-defined problems first. Broader transformation after measured proof. The 90-day pilot produces data to justify or redirect every subsequent investment.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715000"/>
            <a:ext cx="105156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715000"/>
            <a:ext cx="50800" cy="54864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8720" y="574243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"/>
              </a:spcAft>
              <a:defRPr sz="1300" b="1">
                <a:solidFill>
                  <a:srgbClr val="1C1C1E"/>
                </a:solidFill>
                <a:latin typeface="Calibri"/>
              </a:defRPr>
            </a:pPr>
            <a:r>
              <a:t>Expected Year-1 return: 3.8x on $2.7M spend</a:t>
            </a:r>
          </a:p>
          <a:p>
            <a:pPr>
              <a:spcAft>
                <a:spcPts val="220"/>
              </a:spcAft>
              <a:defRPr sz="1100" b="0">
                <a:solidFill>
                  <a:srgbClr val="767676"/>
                </a:solidFill>
                <a:latin typeface="Calibri"/>
              </a:defRPr>
            </a:pPr>
            <a:r>
              <a:t>Downside bounded by 90-day pilot  |  Upside scales with SRAM's data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46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SRAM AI Adoption Playbook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Financial detail across three scenarios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Conservative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Expected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1371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Upside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71907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Support assistant savings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1737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Forecasting + inventory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$1.6M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245059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Documentation + translation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$0.1M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$0.24M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24688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$0.9M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Customer retention revenue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$1.5M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$3.0M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3182112"/>
            <a:ext cx="10515600" cy="347472"/>
          </a:xfrm>
          <a:prstGeom prst="roundRect">
            <a:avLst>
              <a:gd name="adj" fmla="val 2000"/>
            </a:avLst>
          </a:prstGeom>
          <a:solidFill>
            <a:srgbClr val="F0F0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Package size increase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$2.0M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0" y="32004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$8.0M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Proposal win-rate revenue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$1.3M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$2.5M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0" y="35661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$3.8M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3931920"/>
            <a:ext cx="10515600" cy="12700"/>
          </a:xfrm>
          <a:prstGeom prst="rect">
            <a:avLst/>
          </a:prstGeom>
          <a:solidFill>
            <a:srgbClr val="E0E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Gross value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$6.1M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$12.9M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0" y="40690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$26.0M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Setup costs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($1.2M)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($2.0M)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44348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($2.5M)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C1C1E"/>
                </a:solidFill>
                <a:latin typeface="Calibri"/>
              </a:defRPr>
            </a:pPr>
            <a:r>
              <a:t>Operating costs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747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($0.4M)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($0.7M)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4800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3A3A3C"/>
                </a:solidFill>
                <a:latin typeface="Calibri"/>
              </a:defRPr>
            </a:pPr>
            <a:r>
              <a:t>($1.0M)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Net Year-1 value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$4.5M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$10.2M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5166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$22.5M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Return on spend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2.8x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3.8x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0" y="5532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C1C1E"/>
                </a:solidFill>
                <a:latin typeface="Calibri"/>
              </a:defRPr>
            </a:pPr>
            <a:r>
              <a:t>6.4x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Interview with Jordan Hartsell, VP Digital Products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767676"/>
                </a:solidFill>
                <a:latin typeface="Calibri"/>
              </a:defRPr>
            </a:pPr>
            <a:r>
              <a:t>45-minute Zoom call  |  March 2026  |  Key quotes and insights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9164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3736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DATA READINESS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94767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“We have good data in pockets and messy data everywhere else. If I wanted to build a support AI today, I could get it to work well for AXS and Hammerhead. The moment a dealer asks about a RockShox fork on a 2019 frame with a third-party brake, I start to sweat.”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20116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Validates bounded pilot scope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8036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88036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2608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ADOPTION BARRIERS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13639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“The resistance comes from customer-facing teams because they worry AI will produce confident-sounding wrong answers that damage dealer relationships they have spent years building.”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004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Human-in-the-loop is mandatory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06908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06908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11480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COMPETITIVE ADVANTAGE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32511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“A Shimano rider uses the app to check compatibility. A Hammerhead rider uses it to train, navigate, and communicate with their component stack. That is a fundamentally different data relationship.”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3891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Hammerhead is SRAM's real AI moat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25780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5257800"/>
            <a:ext cx="50800" cy="1005840"/>
          </a:xfrm>
          <a:prstGeom prst="rect">
            <a:avLst/>
          </a:prstGeom>
          <a:solidFill>
            <a:srgbClr val="767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303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767676"/>
                </a:solidFill>
                <a:latin typeface="Calibri"/>
              </a:defRPr>
            </a:pPr>
            <a:r>
              <a:t>ON SUCCESS CRITERIA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513832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3A3A3C"/>
                </a:solidFill>
                <a:latin typeface="Calibri"/>
              </a:defRPr>
            </a:pPr>
            <a:r>
              <a:t>“I want one workflow measurably faster, measurably more accurate, with no regression in dealer satisfaction scores.”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55778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1C1C1E"/>
                </a:solidFill>
                <a:latin typeface="Calibri"/>
              </a:defRPr>
            </a:pPr>
            <a:r>
              <a:t>→ Aligns with our 90-day pilot targets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767676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 i="0">
                <a:solidFill>
                  <a:srgbClr val="1C1C1E"/>
                </a:solidFill>
                <a:latin typeface="Calibri"/>
              </a:defRPr>
            </a:pPr>
            <a:r>
              <a:t>Phasing, talent, and organizational enablers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731520" cy="38100"/>
          </a:xfrm>
          <a:prstGeom prst="rect">
            <a:avLst/>
          </a:prstGeom>
          <a:solidFill>
            <a:srgbClr val="E5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DF0F2"/>
          </a:solidFill>
          <a:ln w="12700">
            <a:solidFill>
              <a:srgbClr val="E51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1: Support 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E51937"/>
                </a:solidFill>
                <a:latin typeface="Calibri"/>
              </a:defRPr>
            </a:pPr>
            <a:r>
              <a:t>0-90 days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integration engineer (internal or contractor)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1 product owner from support organization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Zendesk AI + Amazon Kendra + Bedrock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No new AI/ML hires required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37160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46304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2: Data 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69164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90-180 days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96596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Add product managers and QA capacity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Unified data layer linking CRM + inventory + telemetry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AWS SageMaker for forecasting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ERP system evaluation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3: Revenue Acceleration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180-365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Salesforce Einstein/Agentforce for OEM proposals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Compatibility rules engine for recommendations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Cross-functional product + sales alignment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Expected $2.5M from 1% win-rate improvement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840480"/>
            <a:ext cx="544068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E0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3931920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C1C1E"/>
                </a:solidFill>
                <a:latin typeface="Calibri"/>
              </a:defRPr>
            </a:pPr>
            <a:r>
              <a:t>Phase 4: AI-First Culture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160520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767676"/>
                </a:solidFill>
                <a:latin typeface="Calibri"/>
              </a:defRPr>
            </a:pPr>
            <a:r>
              <a:t>Year 2+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434840"/>
            <a:ext cx="4983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AXS Intelligence Platform development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Digital twin and generative design capability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Predictive maintenance subscription model</a:t>
            </a:r>
          </a:p>
          <a:p>
            <a:pPr>
              <a:spcAft>
                <a:spcPts val="1100"/>
              </a:spcAft>
              <a:defRPr sz="1100" b="0">
                <a:solidFill>
                  <a:srgbClr val="3A3A3C"/>
                </a:solidFill>
                <a:latin typeface="Calibri"/>
              </a:defRPr>
            </a:pPr>
            <a:r>
              <a:t>•  AI-adjusted component performance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767676"/>
                </a:solidFill>
                <a:latin typeface="Calibri"/>
              </a:defRPr>
            </a:pPr>
            <a:r>
              <a:t>APPENDIX A3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