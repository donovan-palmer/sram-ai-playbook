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5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371600" y="2194560"/>
            <a:ext cx="1097280" cy="38100"/>
          </a:xfrm>
          <a:prstGeom prst="rect">
            <a:avLst/>
          </a:prstGeom>
          <a:solidFill>
            <a:srgbClr val="E5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71600" y="2377440"/>
            <a:ext cx="91440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640"/>
              </a:spcAft>
              <a:defRPr sz="4400" b="1">
                <a:solidFill>
                  <a:srgbClr val="1C1C1E"/>
                </a:solidFill>
                <a:latin typeface="Calibri"/>
              </a:defRPr>
            </a:pPr>
            <a:r>
              <a:t>SRAM LLC</a:t>
            </a:r>
          </a:p>
          <a:p>
            <a:pPr>
              <a:spcAft>
                <a:spcPts val="1560"/>
              </a:spcAft>
              <a:defRPr sz="2600" b="0">
                <a:solidFill>
                  <a:srgbClr val="767676"/>
                </a:solidFill>
                <a:latin typeface="Calibri"/>
              </a:defRPr>
            </a:pPr>
            <a:r>
              <a:t>AI Adoption Playbook</a:t>
            </a:r>
          </a:p>
          <a:p>
            <a:pPr>
              <a:spcAft>
                <a:spcPts val="600"/>
              </a:spcAft>
              <a:defRPr sz="1000" b="0">
                <a:solidFill>
                  <a:srgbClr val="767676"/>
                </a:solidFill>
                <a:latin typeface="Calibri"/>
              </a:defRPr>
            </a:pPr>
          </a:p>
          <a:p>
            <a:pPr>
              <a:spcAft>
                <a:spcPts val="960"/>
              </a:spcAft>
              <a:defRPr sz="1600" b="0">
                <a:solidFill>
                  <a:srgbClr val="3A3A3C"/>
                </a:solidFill>
                <a:latin typeface="Calibri"/>
              </a:defRPr>
            </a:pPr>
            <a:r>
              <a:t>A $10M opportunity starting with a 90-day pilot</a:t>
            </a:r>
          </a:p>
          <a:p>
            <a:pPr>
              <a:spcAft>
                <a:spcPts val="480"/>
              </a:spcAft>
              <a:defRPr sz="800" b="0">
                <a:solidFill>
                  <a:srgbClr val="767676"/>
                </a:solidFill>
                <a:latin typeface="Calibri"/>
              </a:defRPr>
            </a:pPr>
          </a:p>
          <a:p>
            <a:pPr>
              <a:spcAft>
                <a:spcPts val="780"/>
              </a:spcAft>
              <a:defRPr sz="1300" b="0">
                <a:solidFill>
                  <a:srgbClr val="767676"/>
                </a:solidFill>
                <a:latin typeface="Calibri"/>
              </a:defRPr>
            </a:pPr>
            <a:r>
              <a:t>Prepared for Executive Leadership  |  March 2026</a:t>
            </a:r>
          </a:p>
          <a:p>
            <a:pPr>
              <a:spcAft>
                <a:spcPts val="360"/>
              </a:spcAft>
              <a:defRPr sz="600" b="0">
                <a:solidFill>
                  <a:srgbClr val="767676"/>
                </a:solidFill>
                <a:latin typeface="Calibri"/>
              </a:defRPr>
            </a:pPr>
          </a:p>
          <a:p>
            <a:pPr>
              <a:spcAft>
                <a:spcPts val="780"/>
              </a:spcAft>
              <a:defRPr sz="1300" b="0">
                <a:solidFill>
                  <a:srgbClr val="767676"/>
                </a:solidFill>
                <a:latin typeface="Calibri"/>
              </a:defRPr>
            </a:pPr>
            <a:r>
              <a:t>Donovan Palmer, Ed Kreienberg, Will Zheng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" y="576072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 i="0">
                <a:solidFill>
                  <a:srgbClr val="767676"/>
                </a:solidFill>
                <a:latin typeface="Calibri"/>
              </a:defRPr>
            </a:pPr>
            <a:r>
              <a:t>AIML 950  |  Human and Machine Intelligence  |  Northwestern Kellogg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5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5486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767676"/>
                </a:solidFill>
                <a:latin typeface="Calibri"/>
              </a:defRPr>
            </a:pPr>
            <a:r>
              <a:t>CONTEXT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548640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 i="0">
                <a:solidFill>
                  <a:srgbClr val="1C1C1E"/>
                </a:solidFill>
                <a:latin typeface="Calibri"/>
              </a:defRPr>
            </a:pPr>
            <a:r>
              <a:t>SRAM makes the parts that make bikes go, stop, and shift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051560"/>
            <a:ext cx="731520" cy="38100"/>
          </a:xfrm>
          <a:prstGeom prst="rect">
            <a:avLst/>
          </a:prstGeom>
          <a:solidFill>
            <a:srgbClr val="E5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37160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 i="0">
                <a:solidFill>
                  <a:srgbClr val="767676"/>
                </a:solidFill>
                <a:latin typeface="Calibri"/>
              </a:defRPr>
            </a:pPr>
            <a:r>
              <a:t>A $1B+ company headquartered in Chicago, powering bikes from weekend rides to the Tour de France.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2011680"/>
            <a:ext cx="1592580" cy="21945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2194560"/>
            <a:ext cx="15925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 i="0">
                <a:solidFill>
                  <a:srgbClr val="767676"/>
                </a:solidFill>
                <a:latin typeface="Calibri"/>
              </a:defRPr>
            </a:pPr>
            <a:r>
              <a:t>SRAM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514600"/>
            <a:ext cx="15925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 i="0">
                <a:solidFill>
                  <a:srgbClr val="1C1C1E"/>
                </a:solidFill>
                <a:latin typeface="Calibri"/>
              </a:defRPr>
            </a:pPr>
            <a:r>
              <a:t>Drivetrains + Braking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3108960"/>
            <a:ext cx="13182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 i="0">
                <a:solidFill>
                  <a:srgbClr val="3A3A3C"/>
                </a:solidFill>
                <a:latin typeface="Calibri"/>
              </a:defRPr>
            </a:pPr>
            <a:r>
              <a:t>Gears, chains, and disc</a:t>
            </a:r>
            <a:br/>
            <a:r>
              <a:t>brakes for every bike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552700" y="2011680"/>
            <a:ext cx="1592580" cy="21945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552700" y="2194560"/>
            <a:ext cx="15925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 i="0">
                <a:solidFill>
                  <a:srgbClr val="767676"/>
                </a:solidFill>
                <a:latin typeface="Calibri"/>
              </a:defRPr>
            </a:pPr>
            <a:r>
              <a:t>RockShox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552700" y="2514600"/>
            <a:ext cx="15925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 i="0">
                <a:solidFill>
                  <a:srgbClr val="1C1C1E"/>
                </a:solidFill>
                <a:latin typeface="Calibri"/>
              </a:defRPr>
            </a:pPr>
            <a:r>
              <a:t>Suspension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689860" y="3108960"/>
            <a:ext cx="13182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 i="0">
                <a:solidFill>
                  <a:srgbClr val="3A3A3C"/>
                </a:solidFill>
                <a:latin typeface="Calibri"/>
              </a:defRPr>
            </a:pPr>
            <a:r>
              <a:t>Forks and shocks that</a:t>
            </a:r>
            <a:br/>
            <a:r>
              <a:t>absorb trail impacts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373880" y="2011680"/>
            <a:ext cx="1592580" cy="21945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373880" y="2194560"/>
            <a:ext cx="15925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 i="0">
                <a:solidFill>
                  <a:srgbClr val="767676"/>
                </a:solidFill>
                <a:latin typeface="Calibri"/>
              </a:defRPr>
            </a:pPr>
            <a:r>
              <a:t>Zipp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373880" y="2514600"/>
            <a:ext cx="15925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 i="0">
                <a:solidFill>
                  <a:srgbClr val="1C1C1E"/>
                </a:solidFill>
                <a:latin typeface="Calibri"/>
              </a:defRPr>
            </a:pPr>
            <a:r>
              <a:t>Wheels + Cockpit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11040" y="3108960"/>
            <a:ext cx="13182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 i="0">
                <a:solidFill>
                  <a:srgbClr val="3A3A3C"/>
                </a:solidFill>
                <a:latin typeface="Calibri"/>
              </a:defRPr>
            </a:pPr>
            <a:r>
              <a:t>Aero wheels, handlebars,</a:t>
            </a:r>
            <a:br/>
            <a:r>
              <a:t>and stems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195060" y="2011680"/>
            <a:ext cx="1592580" cy="21945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195060" y="2194560"/>
            <a:ext cx="15925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 i="0">
                <a:solidFill>
                  <a:srgbClr val="767676"/>
                </a:solidFill>
                <a:latin typeface="Calibri"/>
              </a:defRPr>
            </a:pPr>
            <a:r>
              <a:t>Quarq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195060" y="2514600"/>
            <a:ext cx="15925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 i="0">
                <a:solidFill>
                  <a:srgbClr val="1C1C1E"/>
                </a:solidFill>
                <a:latin typeface="Calibri"/>
              </a:defRPr>
            </a:pPr>
            <a:r>
              <a:t>Power Meters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32220" y="3108960"/>
            <a:ext cx="13182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 i="0">
                <a:solidFill>
                  <a:srgbClr val="3A3A3C"/>
                </a:solidFill>
                <a:latin typeface="Calibri"/>
              </a:defRPr>
            </a:pPr>
            <a:r>
              <a:t>Sensors that measure</a:t>
            </a:r>
            <a:br/>
            <a:r>
              <a:t>rider output in watts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016240" y="2011680"/>
            <a:ext cx="1592580" cy="21945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016240" y="2194560"/>
            <a:ext cx="15925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 i="0">
                <a:solidFill>
                  <a:srgbClr val="767676"/>
                </a:solidFill>
                <a:latin typeface="Calibri"/>
              </a:defRPr>
            </a:pPr>
            <a:r>
              <a:t>Hammerhead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016240" y="2514600"/>
            <a:ext cx="15925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 i="0">
                <a:solidFill>
                  <a:srgbClr val="1C1C1E"/>
                </a:solidFill>
                <a:latin typeface="Calibri"/>
              </a:defRPr>
            </a:pPr>
            <a:r>
              <a:t>GPS Bike Computer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153400" y="3108960"/>
            <a:ext cx="13182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 i="0">
                <a:solidFill>
                  <a:srgbClr val="3A3A3C"/>
                </a:solidFill>
                <a:latin typeface="Calibri"/>
              </a:defRPr>
            </a:pPr>
            <a:r>
              <a:t>On-bike computer for</a:t>
            </a:r>
            <a:br/>
            <a:r>
              <a:t>navigation and training data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9837420" y="2011680"/>
            <a:ext cx="1592580" cy="21945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837420" y="2194560"/>
            <a:ext cx="15925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 i="0">
                <a:solidFill>
                  <a:srgbClr val="767676"/>
                </a:solidFill>
                <a:latin typeface="Calibri"/>
              </a:defRPr>
            </a:pPr>
            <a:r>
              <a:t>TIME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837420" y="2514600"/>
            <a:ext cx="15925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 i="0">
                <a:solidFill>
                  <a:srgbClr val="1C1C1E"/>
                </a:solidFill>
                <a:latin typeface="Calibri"/>
              </a:defRPr>
            </a:pPr>
            <a:r>
              <a:t>Pedals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974580" y="3108960"/>
            <a:ext cx="13182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 i="0">
                <a:solidFill>
                  <a:srgbClr val="3A3A3C"/>
                </a:solidFill>
                <a:latin typeface="Calibri"/>
              </a:defRPr>
            </a:pPr>
            <a:r>
              <a:t>Clip-in pedal systems</a:t>
            </a:r>
            <a:br/>
            <a:r>
              <a:t>for road and mountain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31520" y="4572000"/>
            <a:ext cx="10698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 i="0">
                <a:solidFill>
                  <a:srgbClr val="3A3A3C"/>
                </a:solidFill>
                <a:latin typeface="Calibri"/>
              </a:defRPr>
            </a:pPr>
            <a:r>
              <a:t>6 brands. 1 connected ecosystem. From weekend riders to Tour de France pros.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31520" y="644652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767676"/>
                </a:solidFill>
                <a:latin typeface="Calibri"/>
              </a:defRPr>
            </a:pPr>
            <a:r>
              <a:t>SRAM AI Adoption Playbook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515600" y="644652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 i="0">
                <a:solidFill>
                  <a:srgbClr val="767676"/>
                </a:solidFill>
                <a:latin typeface="Calibri"/>
              </a:defRPr>
            </a:pPr>
            <a:r>
              <a:t>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5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5486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767676"/>
                </a:solidFill>
                <a:latin typeface="Calibri"/>
              </a:defRPr>
            </a:pPr>
            <a:r>
              <a:t>WHAT IS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548640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 i="0">
                <a:solidFill>
                  <a:srgbClr val="1C1C1E"/>
                </a:solidFill>
                <a:latin typeface="Calibri"/>
              </a:defRPr>
            </a:pPr>
            <a:r>
              <a:t>SRAM's connected ecosystem is unmatched in cycling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051560"/>
            <a:ext cx="731520" cy="38100"/>
          </a:xfrm>
          <a:prstGeom prst="rect">
            <a:avLst/>
          </a:prstGeom>
          <a:solidFill>
            <a:srgbClr val="E5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31520" y="1463040"/>
            <a:ext cx="2560320" cy="1143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1600200"/>
            <a:ext cx="21031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 i="0">
                <a:solidFill>
                  <a:srgbClr val="767676"/>
                </a:solidFill>
                <a:latin typeface="Calibri"/>
              </a:defRPr>
            </a:pPr>
            <a:r>
              <a:t>REVENUE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0120" y="1828800"/>
            <a:ext cx="2103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 i="0">
                <a:solidFill>
                  <a:srgbClr val="1C1C1E"/>
                </a:solidFill>
                <a:latin typeface="Calibri"/>
              </a:defRPr>
            </a:pPr>
            <a:r>
              <a:t>$1B+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2286000"/>
            <a:ext cx="21031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 i="0">
                <a:solidFill>
                  <a:srgbClr val="767676"/>
                </a:solidFill>
                <a:latin typeface="Calibri"/>
              </a:defRPr>
            </a:pPr>
            <a:r>
              <a:t>Private, Chicago-founded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520439" y="1463040"/>
            <a:ext cx="2560320" cy="1143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749039" y="1600200"/>
            <a:ext cx="21031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 i="0">
                <a:solidFill>
                  <a:srgbClr val="767676"/>
                </a:solidFill>
                <a:latin typeface="Calibri"/>
              </a:defRPr>
            </a:pPr>
            <a:r>
              <a:t>BRANDS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749039" y="1828800"/>
            <a:ext cx="2103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 i="0">
                <a:solidFill>
                  <a:srgbClr val="1C1C1E"/>
                </a:solidFill>
                <a:latin typeface="Calibri"/>
              </a:defRPr>
            </a:pPr>
            <a:r>
              <a:t>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749039" y="2286000"/>
            <a:ext cx="21031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 i="0">
                <a:solidFill>
                  <a:srgbClr val="767676"/>
                </a:solidFill>
                <a:latin typeface="Calibri"/>
              </a:defRPr>
            </a:pPr>
            <a:r>
              <a:t>Integrated portfolio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309359" y="1463040"/>
            <a:ext cx="2560320" cy="1143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37959" y="1600200"/>
            <a:ext cx="21031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 i="0">
                <a:solidFill>
                  <a:srgbClr val="767676"/>
                </a:solidFill>
                <a:latin typeface="Calibri"/>
              </a:defRPr>
            </a:pPr>
            <a:r>
              <a:t>MTB SHARE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37959" y="1828800"/>
            <a:ext cx="2103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 i="0">
                <a:solidFill>
                  <a:srgbClr val="1C1C1E"/>
                </a:solidFill>
                <a:latin typeface="Calibri"/>
              </a:defRPr>
            </a:pPr>
            <a:r>
              <a:t>#1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37959" y="2286000"/>
            <a:ext cx="21031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 i="0">
                <a:solidFill>
                  <a:srgbClr val="767676"/>
                </a:solidFill>
                <a:latin typeface="Calibri"/>
              </a:defRPr>
            </a:pPr>
            <a:r>
              <a:t>Market leader globally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098280" y="1463040"/>
            <a:ext cx="2560320" cy="1143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326880" y="1600200"/>
            <a:ext cx="21031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 i="0">
                <a:solidFill>
                  <a:srgbClr val="767676"/>
                </a:solidFill>
                <a:latin typeface="Calibri"/>
              </a:defRPr>
            </a:pPr>
            <a:r>
              <a:t>TRUSTPILOT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326880" y="1828800"/>
            <a:ext cx="2103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 i="0">
                <a:solidFill>
                  <a:srgbClr val="C43B4F"/>
                </a:solidFill>
                <a:latin typeface="Calibri"/>
              </a:defRPr>
            </a:pPr>
            <a:r>
              <a:t>1.6 / 5.0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326880" y="2286000"/>
            <a:ext cx="21031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 i="0">
                <a:solidFill>
                  <a:srgbClr val="767676"/>
                </a:solidFill>
                <a:latin typeface="Calibri"/>
              </a:defRPr>
            </a:pPr>
            <a:r>
              <a:t>Support-driven churn risk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31520" y="3017520"/>
            <a:ext cx="1691640" cy="7772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68680" y="3090672"/>
            <a:ext cx="14173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 i="0">
                <a:solidFill>
                  <a:srgbClr val="1C1C1E"/>
                </a:solidFill>
                <a:latin typeface="Calibri"/>
              </a:defRPr>
            </a:pPr>
            <a:r>
              <a:t>SRAM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68680" y="3383280"/>
            <a:ext cx="1417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 i="0">
                <a:solidFill>
                  <a:srgbClr val="767676"/>
                </a:solidFill>
                <a:latin typeface="Calibri"/>
              </a:defRPr>
            </a:pPr>
            <a:r>
              <a:t>Drivetrains + Braking</a:t>
            </a:r>
          </a:p>
        </p:txBody>
      </p:sp>
      <p:sp>
        <p:nvSpPr>
          <p:cNvPr id="24" name="Isosceles Triangle 23"/>
          <p:cNvSpPr/>
          <p:nvPr/>
        </p:nvSpPr>
        <p:spPr>
          <a:xfrm rot="5400000">
            <a:off x="2441448" y="3291840"/>
            <a:ext cx="274320" cy="274320"/>
          </a:xfrm>
          <a:prstGeom prst="triangle">
            <a:avLst/>
          </a:prstGeom>
          <a:solidFill>
            <a:srgbClr val="7676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2606039" y="3017520"/>
            <a:ext cx="1691640" cy="7772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2743199" y="3090672"/>
            <a:ext cx="14173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 i="0">
                <a:solidFill>
                  <a:srgbClr val="1C1C1E"/>
                </a:solidFill>
                <a:latin typeface="Calibri"/>
              </a:defRPr>
            </a:pPr>
            <a:r>
              <a:t>RockShox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743199" y="3383280"/>
            <a:ext cx="1417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 i="0">
                <a:solidFill>
                  <a:srgbClr val="767676"/>
                </a:solidFill>
                <a:latin typeface="Calibri"/>
              </a:defRPr>
            </a:pPr>
            <a:r>
              <a:t>Suspension</a:t>
            </a:r>
          </a:p>
        </p:txBody>
      </p:sp>
      <p:sp>
        <p:nvSpPr>
          <p:cNvPr id="28" name="Isosceles Triangle 27"/>
          <p:cNvSpPr/>
          <p:nvPr/>
        </p:nvSpPr>
        <p:spPr>
          <a:xfrm rot="5400000">
            <a:off x="4315967" y="3291840"/>
            <a:ext cx="274320" cy="274320"/>
          </a:xfrm>
          <a:prstGeom prst="triangle">
            <a:avLst/>
          </a:prstGeom>
          <a:solidFill>
            <a:srgbClr val="7676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4480559" y="3017520"/>
            <a:ext cx="1691640" cy="7772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617719" y="3090672"/>
            <a:ext cx="14173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 i="0">
                <a:solidFill>
                  <a:srgbClr val="1C1C1E"/>
                </a:solidFill>
                <a:latin typeface="Calibri"/>
              </a:defRPr>
            </a:pPr>
            <a:r>
              <a:t>Zipp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617719" y="3383280"/>
            <a:ext cx="1417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 i="0">
                <a:solidFill>
                  <a:srgbClr val="767676"/>
                </a:solidFill>
                <a:latin typeface="Calibri"/>
              </a:defRPr>
            </a:pPr>
            <a:r>
              <a:t>Wheels + Cockpit</a:t>
            </a:r>
          </a:p>
        </p:txBody>
      </p:sp>
      <p:sp>
        <p:nvSpPr>
          <p:cNvPr id="32" name="Isosceles Triangle 31"/>
          <p:cNvSpPr/>
          <p:nvPr/>
        </p:nvSpPr>
        <p:spPr>
          <a:xfrm rot="5400000">
            <a:off x="6190487" y="3291840"/>
            <a:ext cx="274320" cy="274320"/>
          </a:xfrm>
          <a:prstGeom prst="triangle">
            <a:avLst/>
          </a:prstGeom>
          <a:solidFill>
            <a:srgbClr val="7676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6355079" y="3017520"/>
            <a:ext cx="1691640" cy="7772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492239" y="3090672"/>
            <a:ext cx="14173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 i="0">
                <a:solidFill>
                  <a:srgbClr val="1C1C1E"/>
                </a:solidFill>
                <a:latin typeface="Calibri"/>
              </a:defRPr>
            </a:pPr>
            <a:r>
              <a:t>Quarq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492239" y="3383280"/>
            <a:ext cx="1417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 i="0">
                <a:solidFill>
                  <a:srgbClr val="767676"/>
                </a:solidFill>
                <a:latin typeface="Calibri"/>
              </a:defRPr>
            </a:pPr>
            <a:r>
              <a:t>Power Meters</a:t>
            </a:r>
          </a:p>
        </p:txBody>
      </p:sp>
      <p:sp>
        <p:nvSpPr>
          <p:cNvPr id="36" name="Isosceles Triangle 35"/>
          <p:cNvSpPr/>
          <p:nvPr/>
        </p:nvSpPr>
        <p:spPr>
          <a:xfrm rot="5400000">
            <a:off x="8065007" y="3291840"/>
            <a:ext cx="274320" cy="274320"/>
          </a:xfrm>
          <a:prstGeom prst="triangle">
            <a:avLst/>
          </a:prstGeom>
          <a:solidFill>
            <a:srgbClr val="7676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8229600" y="3017520"/>
            <a:ext cx="1691640" cy="7772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366760" y="3090672"/>
            <a:ext cx="14173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 i="0">
                <a:solidFill>
                  <a:srgbClr val="1C1C1E"/>
                </a:solidFill>
                <a:latin typeface="Calibri"/>
              </a:defRPr>
            </a:pPr>
            <a:r>
              <a:t>Hammerhead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366760" y="3383280"/>
            <a:ext cx="1417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 i="0">
                <a:solidFill>
                  <a:srgbClr val="767676"/>
                </a:solidFill>
                <a:latin typeface="Calibri"/>
              </a:defRPr>
            </a:pPr>
            <a:r>
              <a:t>GPS Bike Computer</a:t>
            </a:r>
          </a:p>
        </p:txBody>
      </p:sp>
      <p:sp>
        <p:nvSpPr>
          <p:cNvPr id="40" name="Isosceles Triangle 39"/>
          <p:cNvSpPr/>
          <p:nvPr/>
        </p:nvSpPr>
        <p:spPr>
          <a:xfrm rot="5400000">
            <a:off x="9939528" y="3291840"/>
            <a:ext cx="274320" cy="274320"/>
          </a:xfrm>
          <a:prstGeom prst="triangle">
            <a:avLst/>
          </a:prstGeom>
          <a:solidFill>
            <a:srgbClr val="7676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10104120" y="3017520"/>
            <a:ext cx="1691640" cy="7772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10241280" y="3090672"/>
            <a:ext cx="14173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 i="0">
                <a:solidFill>
                  <a:srgbClr val="1C1C1E"/>
                </a:solidFill>
                <a:latin typeface="Calibri"/>
              </a:defRPr>
            </a:pPr>
            <a:r>
              <a:t>TIME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241280" y="3383280"/>
            <a:ext cx="1417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 i="0">
                <a:solidFill>
                  <a:srgbClr val="767676"/>
                </a:solidFill>
                <a:latin typeface="Calibri"/>
              </a:defRPr>
            </a:pPr>
            <a:r>
              <a:t>Pedals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731520" y="4114800"/>
            <a:ext cx="11064240" cy="3200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1097280" y="4133087"/>
            <a:ext cx="10332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 i="0">
                <a:solidFill>
                  <a:srgbClr val="1C1C1E"/>
                </a:solidFill>
                <a:latin typeface="Calibri"/>
              </a:defRPr>
            </a:pPr>
            <a:r>
              <a:t>AXS Wireless Ecosystem  |  All 6 brands connect wirelessly and share data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731520" y="4846320"/>
            <a:ext cx="11064240" cy="7772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731520" y="4846320"/>
            <a:ext cx="50800" cy="777240"/>
          </a:xfrm>
          <a:prstGeom prst="rect">
            <a:avLst/>
          </a:prstGeom>
          <a:solidFill>
            <a:srgbClr val="7676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1051560" y="4937760"/>
            <a:ext cx="10515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 i="1">
                <a:solidFill>
                  <a:srgbClr val="3A3A3C"/>
                </a:solidFill>
                <a:latin typeface="Calibri"/>
              </a:defRPr>
            </a:pPr>
            <a:r>
              <a:t>“A rider on Shimano [SRAM's largest competitor] uses the app to check if parts fit. A Hammerhead rider uses it to train, navigate, and talk to every component on the bike. That is a fundamentally different data relationship.”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051560" y="5349240"/>
            <a:ext cx="10515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 i="0">
                <a:solidFill>
                  <a:srgbClr val="767676"/>
                </a:solidFill>
                <a:latin typeface="Calibri"/>
              </a:defRPr>
            </a:pPr>
            <a:r>
              <a:t>Jordan Hartsell, VP Digital Products, SRAM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731520" y="5943600"/>
            <a:ext cx="10515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767676"/>
                </a:solidFill>
                <a:latin typeface="Calibri"/>
              </a:defRPr>
            </a:pPr>
            <a:r>
              <a:t>Sources: MTB share per Bicycle Retailer industry analysis; Trustpilot rating as of Feb 2026 (n=180+ reviews)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731520" y="644652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767676"/>
                </a:solidFill>
                <a:latin typeface="Calibri"/>
              </a:defRPr>
            </a:pPr>
            <a:r>
              <a:t>SRAM AI Adoption Playbook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0515600" y="644652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 i="0">
                <a:solidFill>
                  <a:srgbClr val="767676"/>
                </a:solidFill>
                <a:latin typeface="Calibri"/>
              </a:defRPr>
            </a:pPr>
            <a:r>
              <a:t>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5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5486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767676"/>
                </a:solidFill>
                <a:latin typeface="Calibri"/>
              </a:defRPr>
            </a:pPr>
            <a:r>
              <a:t>WHERE AI ADDS VALUE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548640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 i="0">
                <a:solidFill>
                  <a:srgbClr val="1C1C1E"/>
                </a:solidFill>
                <a:latin typeface="Calibri"/>
              </a:defRPr>
            </a:pPr>
            <a:r>
              <a:t>12 AI initiatives across four business functions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051560"/>
            <a:ext cx="731520" cy="38100"/>
          </a:xfrm>
          <a:prstGeom prst="rect">
            <a:avLst/>
          </a:prstGeom>
          <a:solidFill>
            <a:srgbClr val="E5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234440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 i="0">
                <a:solidFill>
                  <a:srgbClr val="3A3A3C"/>
                </a:solidFill>
                <a:latin typeface="Calibri"/>
              </a:defRPr>
            </a:pPr>
            <a:r>
              <a:t>AI opportunities exist across every function at SRAM.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194560" y="1600200"/>
            <a:ext cx="29260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 i="0">
                <a:solidFill>
                  <a:srgbClr val="767676"/>
                </a:solidFill>
                <a:latin typeface="Calibri"/>
              </a:defRPr>
            </a:pPr>
            <a:r>
              <a:t>Quick Win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257800" y="1600200"/>
            <a:ext cx="29260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 i="0">
                <a:solidFill>
                  <a:srgbClr val="767676"/>
                </a:solidFill>
                <a:latin typeface="Calibri"/>
              </a:defRPr>
            </a:pPr>
            <a:r>
              <a:t>Medium Effort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321040" y="1600200"/>
            <a:ext cx="29260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 i="0">
                <a:solidFill>
                  <a:srgbClr val="767676"/>
                </a:solidFill>
                <a:latin typeface="Calibri"/>
              </a:defRPr>
            </a:pPr>
            <a:r>
              <a:t>Long-Term Bet</a:t>
            </a:r>
          </a:p>
        </p:txBody>
      </p:sp>
      <p:sp>
        <p:nvSpPr>
          <p:cNvPr id="9" name="Rectangle 8"/>
          <p:cNvSpPr/>
          <p:nvPr/>
        </p:nvSpPr>
        <p:spPr>
          <a:xfrm>
            <a:off x="2194560" y="1801368"/>
            <a:ext cx="9189720" cy="25400"/>
          </a:xfrm>
          <a:prstGeom prst="rect">
            <a:avLst/>
          </a:prstGeom>
          <a:solidFill>
            <a:srgbClr val="E0E0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Isosceles Triangle 9"/>
          <p:cNvSpPr/>
          <p:nvPr/>
        </p:nvSpPr>
        <p:spPr>
          <a:xfrm rot="5400000">
            <a:off x="11338560" y="1746504"/>
            <a:ext cx="137160" cy="128016"/>
          </a:xfrm>
          <a:prstGeom prst="triangle">
            <a:avLst/>
          </a:prstGeom>
          <a:solidFill>
            <a:srgbClr val="E0E0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31520" y="1920240"/>
            <a:ext cx="50800" cy="822960"/>
          </a:xfrm>
          <a:prstGeom prst="rect">
            <a:avLst/>
          </a:prstGeom>
          <a:solidFill>
            <a:srgbClr val="7A5C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2148840"/>
            <a:ext cx="1234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 i="0">
                <a:solidFill>
                  <a:srgbClr val="7A5C8A"/>
                </a:solidFill>
                <a:latin typeface="Calibri"/>
              </a:defRPr>
            </a:pPr>
            <a:r>
              <a:t>ENGINEERING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194560" y="1920240"/>
            <a:ext cx="2926080" cy="8229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377440" y="2148840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 i="0">
                <a:solidFill>
                  <a:srgbClr val="1C1C1E"/>
                </a:solidFill>
                <a:latin typeface="Calibri"/>
              </a:defRPr>
            </a:pPr>
            <a:r>
              <a:t>Generative Design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377440" y="2423160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 i="0">
                <a:solidFill>
                  <a:srgbClr val="767676"/>
                </a:solidFill>
                <a:latin typeface="Calibri"/>
              </a:defRPr>
            </a:pPr>
            <a:r>
              <a:t>Physical testing is slow and expensive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257800" y="1920240"/>
            <a:ext cx="2926080" cy="8229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440680" y="2148840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 i="0">
                <a:solidFill>
                  <a:srgbClr val="1C1C1E"/>
                </a:solidFill>
                <a:latin typeface="Calibri"/>
              </a:defRPr>
            </a:pPr>
            <a:r>
              <a:t>AXS Intelligence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40680" y="2423160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 i="0">
                <a:solidFill>
                  <a:srgbClr val="767676"/>
                </a:solidFill>
                <a:latin typeface="Calibri"/>
              </a:defRPr>
            </a:pPr>
            <a:r>
              <a:t>Telemetry data is collected but unused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321040" y="1920240"/>
            <a:ext cx="2926080" cy="8229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503920" y="2148840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 i="0">
                <a:solidFill>
                  <a:srgbClr val="1C1C1E"/>
                </a:solidFill>
                <a:latin typeface="Calibri"/>
              </a:defRPr>
            </a:pPr>
            <a:r>
              <a:t>AI-Tuned Components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503920" y="2423160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 i="0">
                <a:solidFill>
                  <a:srgbClr val="767676"/>
                </a:solidFill>
                <a:latin typeface="Calibri"/>
              </a:defRPr>
            </a:pPr>
            <a:r>
              <a:t>Suspension and shifting are static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31520" y="644652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767676"/>
                </a:solidFill>
                <a:latin typeface="Calibri"/>
              </a:defRPr>
            </a:pPr>
            <a:r>
              <a:t>SRAM AI Adoption Playbook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515600" y="644652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 i="0">
                <a:solidFill>
                  <a:srgbClr val="767676"/>
                </a:solidFill>
                <a:latin typeface="Calibri"/>
              </a:defRPr>
            </a:pPr>
            <a:r>
              <a:t>3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5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5486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767676"/>
                </a:solidFill>
                <a:latin typeface="Calibri"/>
              </a:defRPr>
            </a:pPr>
            <a:r>
              <a:t>WHERE AI ADDS VALUE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548640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 i="0">
                <a:solidFill>
                  <a:srgbClr val="1C1C1E"/>
                </a:solidFill>
                <a:latin typeface="Calibri"/>
              </a:defRPr>
            </a:pPr>
            <a:r>
              <a:t>12 AI initiatives across four business functions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051560"/>
            <a:ext cx="731520" cy="38100"/>
          </a:xfrm>
          <a:prstGeom prst="rect">
            <a:avLst/>
          </a:prstGeom>
          <a:solidFill>
            <a:srgbClr val="E5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234440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 i="0">
                <a:solidFill>
                  <a:srgbClr val="3A3A3C"/>
                </a:solidFill>
                <a:latin typeface="Calibri"/>
              </a:defRPr>
            </a:pPr>
            <a:r>
              <a:t>AI opportunities exist across every function at SRAM.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194560" y="1600200"/>
            <a:ext cx="29260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 i="0">
                <a:solidFill>
                  <a:srgbClr val="767676"/>
                </a:solidFill>
                <a:latin typeface="Calibri"/>
              </a:defRPr>
            </a:pPr>
            <a:r>
              <a:t>Quick Win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257800" y="1600200"/>
            <a:ext cx="29260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 i="0">
                <a:solidFill>
                  <a:srgbClr val="767676"/>
                </a:solidFill>
                <a:latin typeface="Calibri"/>
              </a:defRPr>
            </a:pPr>
            <a:r>
              <a:t>Medium Effort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321040" y="1600200"/>
            <a:ext cx="29260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 i="0">
                <a:solidFill>
                  <a:srgbClr val="767676"/>
                </a:solidFill>
                <a:latin typeface="Calibri"/>
              </a:defRPr>
            </a:pPr>
            <a:r>
              <a:t>Long-Term Bet</a:t>
            </a:r>
          </a:p>
        </p:txBody>
      </p:sp>
      <p:sp>
        <p:nvSpPr>
          <p:cNvPr id="9" name="Rectangle 8"/>
          <p:cNvSpPr/>
          <p:nvPr/>
        </p:nvSpPr>
        <p:spPr>
          <a:xfrm>
            <a:off x="2194560" y="1801368"/>
            <a:ext cx="9189720" cy="25400"/>
          </a:xfrm>
          <a:prstGeom prst="rect">
            <a:avLst/>
          </a:prstGeom>
          <a:solidFill>
            <a:srgbClr val="E0E0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Isosceles Triangle 9"/>
          <p:cNvSpPr/>
          <p:nvPr/>
        </p:nvSpPr>
        <p:spPr>
          <a:xfrm rot="5400000">
            <a:off x="11338560" y="1746504"/>
            <a:ext cx="137160" cy="128016"/>
          </a:xfrm>
          <a:prstGeom prst="triangle">
            <a:avLst/>
          </a:prstGeom>
          <a:solidFill>
            <a:srgbClr val="E0E0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31520" y="1920240"/>
            <a:ext cx="50800" cy="822960"/>
          </a:xfrm>
          <a:prstGeom prst="rect">
            <a:avLst/>
          </a:prstGeom>
          <a:solidFill>
            <a:srgbClr val="7A5C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2148840"/>
            <a:ext cx="1234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 i="0">
                <a:solidFill>
                  <a:srgbClr val="7A5C8A"/>
                </a:solidFill>
                <a:latin typeface="Calibri"/>
              </a:defRPr>
            </a:pPr>
            <a:r>
              <a:t>ENGINEERING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194560" y="1920240"/>
            <a:ext cx="2926080" cy="8229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377440" y="2148840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 i="0">
                <a:solidFill>
                  <a:srgbClr val="1C1C1E"/>
                </a:solidFill>
                <a:latin typeface="Calibri"/>
              </a:defRPr>
            </a:pPr>
            <a:r>
              <a:t>Generative Design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377440" y="2423160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 i="0">
                <a:solidFill>
                  <a:srgbClr val="767676"/>
                </a:solidFill>
                <a:latin typeface="Calibri"/>
              </a:defRPr>
            </a:pPr>
            <a:r>
              <a:t>Physical testing is slow and expensive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257800" y="1920240"/>
            <a:ext cx="2926080" cy="8229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440680" y="2148840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 i="0">
                <a:solidFill>
                  <a:srgbClr val="1C1C1E"/>
                </a:solidFill>
                <a:latin typeface="Calibri"/>
              </a:defRPr>
            </a:pPr>
            <a:r>
              <a:t>AXS Intelligence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40680" y="2423160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 i="0">
                <a:solidFill>
                  <a:srgbClr val="767676"/>
                </a:solidFill>
                <a:latin typeface="Calibri"/>
              </a:defRPr>
            </a:pPr>
            <a:r>
              <a:t>Telemetry data is collected but unused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321040" y="1920240"/>
            <a:ext cx="2926080" cy="8229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503920" y="2148840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 i="0">
                <a:solidFill>
                  <a:srgbClr val="1C1C1E"/>
                </a:solidFill>
                <a:latin typeface="Calibri"/>
              </a:defRPr>
            </a:pPr>
            <a:r>
              <a:t>AI-Tuned Components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503920" y="2423160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 i="0">
                <a:solidFill>
                  <a:srgbClr val="767676"/>
                </a:solidFill>
                <a:latin typeface="Calibri"/>
              </a:defRPr>
            </a:pPr>
            <a:r>
              <a:t>Suspension and shifting are static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31520" y="2971800"/>
            <a:ext cx="50800" cy="822960"/>
          </a:xfrm>
          <a:prstGeom prst="rect">
            <a:avLst/>
          </a:prstGeom>
          <a:solidFill>
            <a:srgbClr val="8B6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68680" y="3200400"/>
            <a:ext cx="1234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 i="0">
                <a:solidFill>
                  <a:srgbClr val="8B6D2E"/>
                </a:solidFill>
                <a:latin typeface="Calibri"/>
              </a:defRPr>
            </a:pPr>
            <a:r>
              <a:t>SALES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2194560" y="2971800"/>
            <a:ext cx="2926080" cy="8229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377440" y="3200400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 i="0">
                <a:solidFill>
                  <a:srgbClr val="1C1C1E"/>
                </a:solidFill>
                <a:latin typeface="Calibri"/>
              </a:defRPr>
            </a:pPr>
            <a:r>
              <a:t>OEM Proposal Automation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377440" y="3474720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 i="0">
                <a:solidFill>
                  <a:srgbClr val="767676"/>
                </a:solidFill>
                <a:latin typeface="Calibri"/>
              </a:defRPr>
            </a:pPr>
            <a:r>
              <a:t>Proposal cycles are slow, manual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257800" y="2971800"/>
            <a:ext cx="2926080" cy="8229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440680" y="3200400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 i="0">
                <a:solidFill>
                  <a:srgbClr val="1C1C1E"/>
                </a:solidFill>
                <a:latin typeface="Calibri"/>
              </a:defRPr>
            </a:pPr>
            <a:r>
              <a:t>Part Recommendations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440680" y="3474720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 i="0">
                <a:solidFill>
                  <a:srgbClr val="767676"/>
                </a:solidFill>
                <a:latin typeface="Calibri"/>
              </a:defRPr>
            </a:pPr>
            <a:r>
              <a:t>No guided upsell at point of service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321040" y="2971800"/>
            <a:ext cx="2926080" cy="8229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503920" y="3200400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 i="0">
                <a:solidFill>
                  <a:srgbClr val="1C1C1E"/>
                </a:solidFill>
                <a:latin typeface="Calibri"/>
              </a:defRPr>
            </a:pPr>
            <a:r>
              <a:t>DTC Personalization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503920" y="3474720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 i="0">
                <a:solidFill>
                  <a:srgbClr val="767676"/>
                </a:solidFill>
                <a:latin typeface="Calibri"/>
              </a:defRPr>
            </a:pPr>
            <a:r>
              <a:t>Velocio has no targeting capability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31520" y="644652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767676"/>
                </a:solidFill>
                <a:latin typeface="Calibri"/>
              </a:defRPr>
            </a:pPr>
            <a:r>
              <a:t>SRAM AI Adoption Playbook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515600" y="644652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 i="0">
                <a:solidFill>
                  <a:srgbClr val="767676"/>
                </a:solidFill>
                <a:latin typeface="Calibri"/>
              </a:defRPr>
            </a:pPr>
            <a:r>
              <a:t>3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5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5486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767676"/>
                </a:solidFill>
                <a:latin typeface="Calibri"/>
              </a:defRPr>
            </a:pPr>
            <a:r>
              <a:t>WHERE AI ADDS VALUE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548640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 i="0">
                <a:solidFill>
                  <a:srgbClr val="1C1C1E"/>
                </a:solidFill>
                <a:latin typeface="Calibri"/>
              </a:defRPr>
            </a:pPr>
            <a:r>
              <a:t>12 AI initiatives across four business functions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051560"/>
            <a:ext cx="731520" cy="38100"/>
          </a:xfrm>
          <a:prstGeom prst="rect">
            <a:avLst/>
          </a:prstGeom>
          <a:solidFill>
            <a:srgbClr val="E5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234440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 i="0">
                <a:solidFill>
                  <a:srgbClr val="3A3A3C"/>
                </a:solidFill>
                <a:latin typeface="Calibri"/>
              </a:defRPr>
            </a:pPr>
            <a:r>
              <a:t>AI opportunities exist across every function at SRAM.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194560" y="1600200"/>
            <a:ext cx="29260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 i="0">
                <a:solidFill>
                  <a:srgbClr val="767676"/>
                </a:solidFill>
                <a:latin typeface="Calibri"/>
              </a:defRPr>
            </a:pPr>
            <a:r>
              <a:t>Quick Win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257800" y="1600200"/>
            <a:ext cx="29260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 i="0">
                <a:solidFill>
                  <a:srgbClr val="767676"/>
                </a:solidFill>
                <a:latin typeface="Calibri"/>
              </a:defRPr>
            </a:pPr>
            <a:r>
              <a:t>Medium Effort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321040" y="1600200"/>
            <a:ext cx="29260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 i="0">
                <a:solidFill>
                  <a:srgbClr val="767676"/>
                </a:solidFill>
                <a:latin typeface="Calibri"/>
              </a:defRPr>
            </a:pPr>
            <a:r>
              <a:t>Long-Term Bet</a:t>
            </a:r>
          </a:p>
        </p:txBody>
      </p:sp>
      <p:sp>
        <p:nvSpPr>
          <p:cNvPr id="9" name="Rectangle 8"/>
          <p:cNvSpPr/>
          <p:nvPr/>
        </p:nvSpPr>
        <p:spPr>
          <a:xfrm>
            <a:off x="2194560" y="1801368"/>
            <a:ext cx="9189720" cy="25400"/>
          </a:xfrm>
          <a:prstGeom prst="rect">
            <a:avLst/>
          </a:prstGeom>
          <a:solidFill>
            <a:srgbClr val="E0E0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Isosceles Triangle 9"/>
          <p:cNvSpPr/>
          <p:nvPr/>
        </p:nvSpPr>
        <p:spPr>
          <a:xfrm rot="5400000">
            <a:off x="11338560" y="1746504"/>
            <a:ext cx="137160" cy="128016"/>
          </a:xfrm>
          <a:prstGeom prst="triangle">
            <a:avLst/>
          </a:prstGeom>
          <a:solidFill>
            <a:srgbClr val="E0E0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31520" y="1920240"/>
            <a:ext cx="50800" cy="822960"/>
          </a:xfrm>
          <a:prstGeom prst="rect">
            <a:avLst/>
          </a:prstGeom>
          <a:solidFill>
            <a:srgbClr val="7A5C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2148840"/>
            <a:ext cx="1234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 i="0">
                <a:solidFill>
                  <a:srgbClr val="7A5C8A"/>
                </a:solidFill>
                <a:latin typeface="Calibri"/>
              </a:defRPr>
            </a:pPr>
            <a:r>
              <a:t>ENGINEERING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194560" y="1920240"/>
            <a:ext cx="2926080" cy="8229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377440" y="2148840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 i="0">
                <a:solidFill>
                  <a:srgbClr val="1C1C1E"/>
                </a:solidFill>
                <a:latin typeface="Calibri"/>
              </a:defRPr>
            </a:pPr>
            <a:r>
              <a:t>Generative Design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377440" y="2423160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 i="0">
                <a:solidFill>
                  <a:srgbClr val="767676"/>
                </a:solidFill>
                <a:latin typeface="Calibri"/>
              </a:defRPr>
            </a:pPr>
            <a:r>
              <a:t>Physical testing is slow and expensive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257800" y="1920240"/>
            <a:ext cx="2926080" cy="8229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440680" y="2148840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 i="0">
                <a:solidFill>
                  <a:srgbClr val="1C1C1E"/>
                </a:solidFill>
                <a:latin typeface="Calibri"/>
              </a:defRPr>
            </a:pPr>
            <a:r>
              <a:t>AXS Intelligence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40680" y="2423160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 i="0">
                <a:solidFill>
                  <a:srgbClr val="767676"/>
                </a:solidFill>
                <a:latin typeface="Calibri"/>
              </a:defRPr>
            </a:pPr>
            <a:r>
              <a:t>Telemetry data is collected but unused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321040" y="1920240"/>
            <a:ext cx="2926080" cy="8229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503920" y="2148840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 i="0">
                <a:solidFill>
                  <a:srgbClr val="1C1C1E"/>
                </a:solidFill>
                <a:latin typeface="Calibri"/>
              </a:defRPr>
            </a:pPr>
            <a:r>
              <a:t>AI-Tuned Components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503920" y="2423160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 i="0">
                <a:solidFill>
                  <a:srgbClr val="767676"/>
                </a:solidFill>
                <a:latin typeface="Calibri"/>
              </a:defRPr>
            </a:pPr>
            <a:r>
              <a:t>Suspension and shifting are static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31520" y="2971800"/>
            <a:ext cx="50800" cy="822960"/>
          </a:xfrm>
          <a:prstGeom prst="rect">
            <a:avLst/>
          </a:prstGeom>
          <a:solidFill>
            <a:srgbClr val="8B6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68680" y="3200400"/>
            <a:ext cx="1234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 i="0">
                <a:solidFill>
                  <a:srgbClr val="8B6D2E"/>
                </a:solidFill>
                <a:latin typeface="Calibri"/>
              </a:defRPr>
            </a:pPr>
            <a:r>
              <a:t>SALES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2194560" y="2971800"/>
            <a:ext cx="2926080" cy="8229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377440" y="3200400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 i="0">
                <a:solidFill>
                  <a:srgbClr val="1C1C1E"/>
                </a:solidFill>
                <a:latin typeface="Calibri"/>
              </a:defRPr>
            </a:pPr>
            <a:r>
              <a:t>OEM Proposal Automation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377440" y="3474720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 i="0">
                <a:solidFill>
                  <a:srgbClr val="767676"/>
                </a:solidFill>
                <a:latin typeface="Calibri"/>
              </a:defRPr>
            </a:pPr>
            <a:r>
              <a:t>Proposal cycles are slow, manual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257800" y="2971800"/>
            <a:ext cx="2926080" cy="8229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440680" y="3200400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 i="0">
                <a:solidFill>
                  <a:srgbClr val="1C1C1E"/>
                </a:solidFill>
                <a:latin typeface="Calibri"/>
              </a:defRPr>
            </a:pPr>
            <a:r>
              <a:t>Part Recommendations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440680" y="3474720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 i="0">
                <a:solidFill>
                  <a:srgbClr val="767676"/>
                </a:solidFill>
                <a:latin typeface="Calibri"/>
              </a:defRPr>
            </a:pPr>
            <a:r>
              <a:t>No guided upsell at point of service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321040" y="2971800"/>
            <a:ext cx="2926080" cy="8229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503920" y="3200400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 i="0">
                <a:solidFill>
                  <a:srgbClr val="1C1C1E"/>
                </a:solidFill>
                <a:latin typeface="Calibri"/>
              </a:defRPr>
            </a:pPr>
            <a:r>
              <a:t>DTC Personalization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503920" y="3474720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 i="0">
                <a:solidFill>
                  <a:srgbClr val="767676"/>
                </a:solidFill>
                <a:latin typeface="Calibri"/>
              </a:defRPr>
            </a:pPr>
            <a:r>
              <a:t>Velocio has no targeting capability</a:t>
            </a:r>
          </a:p>
        </p:txBody>
      </p:sp>
      <p:sp>
        <p:nvSpPr>
          <p:cNvPr id="33" name="Rectangle 32"/>
          <p:cNvSpPr/>
          <p:nvPr/>
        </p:nvSpPr>
        <p:spPr>
          <a:xfrm>
            <a:off x="731520" y="4023360"/>
            <a:ext cx="50800" cy="822960"/>
          </a:xfrm>
          <a:prstGeom prst="rect">
            <a:avLst/>
          </a:prstGeom>
          <a:solidFill>
            <a:srgbClr val="5B8C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68680" y="4251960"/>
            <a:ext cx="1234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 i="0">
                <a:solidFill>
                  <a:srgbClr val="5B8C5A"/>
                </a:solidFill>
                <a:latin typeface="Calibri"/>
              </a:defRPr>
            </a:pPr>
            <a:r>
              <a:t>SUPPLY CHAIN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2194560" y="4023360"/>
            <a:ext cx="2926080" cy="8229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2377440" y="4251960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 i="0">
                <a:solidFill>
                  <a:srgbClr val="1C1C1E"/>
                </a:solidFill>
                <a:latin typeface="Calibri"/>
              </a:defRPr>
            </a:pPr>
            <a:r>
              <a:t>Demand Forecasting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377440" y="4526280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 i="0">
                <a:solidFill>
                  <a:srgbClr val="767676"/>
                </a:solidFill>
                <a:latin typeface="Calibri"/>
              </a:defRPr>
            </a:pPr>
            <a:r>
              <a:t>No forecasting system exists today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5257800" y="4023360"/>
            <a:ext cx="2926080" cy="8229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440680" y="4251960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 i="0">
                <a:solidFill>
                  <a:srgbClr val="1C1C1E"/>
                </a:solidFill>
                <a:latin typeface="Calibri"/>
              </a:defRPr>
            </a:pPr>
            <a:r>
              <a:t>Inventory Allocation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440680" y="4526280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 i="0">
                <a:solidFill>
                  <a:srgbClr val="767676"/>
                </a:solidFill>
                <a:latin typeface="Calibri"/>
              </a:defRPr>
            </a:pPr>
            <a:r>
              <a:t>Stockouts and rush shipping losses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8321040" y="4023360"/>
            <a:ext cx="2926080" cy="8229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503920" y="4251960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 i="0">
                <a:solidFill>
                  <a:srgbClr val="1C1C1E"/>
                </a:solidFill>
                <a:latin typeface="Calibri"/>
              </a:defRPr>
            </a:pPr>
            <a:r>
              <a:t>Customer Analytics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503920" y="4526280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 i="0">
                <a:solidFill>
                  <a:srgbClr val="767676"/>
                </a:solidFill>
                <a:latin typeface="Calibri"/>
              </a:defRPr>
            </a:pPr>
            <a:r>
              <a:t>Shopify data is siloed, unused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31520" y="644652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767676"/>
                </a:solidFill>
                <a:latin typeface="Calibri"/>
              </a:defRPr>
            </a:pPr>
            <a:r>
              <a:t>SRAM AI Adoption Playbook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0515600" y="644652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 i="0">
                <a:solidFill>
                  <a:srgbClr val="767676"/>
                </a:solidFill>
                <a:latin typeface="Calibri"/>
              </a:defRPr>
            </a:pPr>
            <a:r>
              <a:t>3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5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5486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767676"/>
                </a:solidFill>
                <a:latin typeface="Calibri"/>
              </a:defRPr>
            </a:pPr>
            <a:r>
              <a:t>WHERE AI ADDS VALUE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548640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 i="0">
                <a:solidFill>
                  <a:srgbClr val="1C1C1E"/>
                </a:solidFill>
                <a:latin typeface="Calibri"/>
              </a:defRPr>
            </a:pPr>
            <a:r>
              <a:t>12 AI initiatives across four business functions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051560"/>
            <a:ext cx="731520" cy="38100"/>
          </a:xfrm>
          <a:prstGeom prst="rect">
            <a:avLst/>
          </a:prstGeom>
          <a:solidFill>
            <a:srgbClr val="E5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234440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 i="0">
                <a:solidFill>
                  <a:srgbClr val="3A3A3C"/>
                </a:solidFill>
                <a:latin typeface="Calibri"/>
              </a:defRPr>
            </a:pPr>
            <a:r>
              <a:t>Start where domain knowledge is high and outcomes are measurable. Support is the proving ground for everything that follows.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194560" y="1600200"/>
            <a:ext cx="29260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 i="0">
                <a:solidFill>
                  <a:srgbClr val="767676"/>
                </a:solidFill>
                <a:latin typeface="Calibri"/>
              </a:defRPr>
            </a:pPr>
            <a:r>
              <a:t>Quick Win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257800" y="1600200"/>
            <a:ext cx="29260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 i="0">
                <a:solidFill>
                  <a:srgbClr val="767676"/>
                </a:solidFill>
                <a:latin typeface="Calibri"/>
              </a:defRPr>
            </a:pPr>
            <a:r>
              <a:t>Medium Effort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321040" y="1600200"/>
            <a:ext cx="29260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 i="0">
                <a:solidFill>
                  <a:srgbClr val="767676"/>
                </a:solidFill>
                <a:latin typeface="Calibri"/>
              </a:defRPr>
            </a:pPr>
            <a:r>
              <a:t>Long-Term Bet</a:t>
            </a:r>
          </a:p>
        </p:txBody>
      </p:sp>
      <p:sp>
        <p:nvSpPr>
          <p:cNvPr id="9" name="Rectangle 8"/>
          <p:cNvSpPr/>
          <p:nvPr/>
        </p:nvSpPr>
        <p:spPr>
          <a:xfrm>
            <a:off x="2194560" y="1801368"/>
            <a:ext cx="9189720" cy="25400"/>
          </a:xfrm>
          <a:prstGeom prst="rect">
            <a:avLst/>
          </a:prstGeom>
          <a:solidFill>
            <a:srgbClr val="E0E0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Isosceles Triangle 9"/>
          <p:cNvSpPr/>
          <p:nvPr/>
        </p:nvSpPr>
        <p:spPr>
          <a:xfrm rot="5400000">
            <a:off x="11338560" y="1746504"/>
            <a:ext cx="137160" cy="128016"/>
          </a:xfrm>
          <a:prstGeom prst="triangle">
            <a:avLst/>
          </a:prstGeom>
          <a:solidFill>
            <a:srgbClr val="E0E0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31520" y="1920240"/>
            <a:ext cx="50800" cy="822960"/>
          </a:xfrm>
          <a:prstGeom prst="rect">
            <a:avLst/>
          </a:prstGeom>
          <a:solidFill>
            <a:srgbClr val="7A5C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2148840"/>
            <a:ext cx="1234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 i="0">
                <a:solidFill>
                  <a:srgbClr val="7A5C8A"/>
                </a:solidFill>
                <a:latin typeface="Calibri"/>
              </a:defRPr>
            </a:pPr>
            <a:r>
              <a:t>ENGINEERING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194560" y="1920240"/>
            <a:ext cx="2926080" cy="8229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377440" y="2148840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 i="0">
                <a:solidFill>
                  <a:srgbClr val="1C1C1E"/>
                </a:solidFill>
                <a:latin typeface="Calibri"/>
              </a:defRPr>
            </a:pPr>
            <a:r>
              <a:t>Generative Design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377440" y="2423160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 i="0">
                <a:solidFill>
                  <a:srgbClr val="767676"/>
                </a:solidFill>
                <a:latin typeface="Calibri"/>
              </a:defRPr>
            </a:pPr>
            <a:r>
              <a:t>Physical testing is slow and expensive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257800" y="1920240"/>
            <a:ext cx="2926080" cy="8229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440680" y="2148840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 i="0">
                <a:solidFill>
                  <a:srgbClr val="1C1C1E"/>
                </a:solidFill>
                <a:latin typeface="Calibri"/>
              </a:defRPr>
            </a:pPr>
            <a:r>
              <a:t>AXS Intelligence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40680" y="2423160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 i="0">
                <a:solidFill>
                  <a:srgbClr val="767676"/>
                </a:solidFill>
                <a:latin typeface="Calibri"/>
              </a:defRPr>
            </a:pPr>
            <a:r>
              <a:t>Telemetry data is collected but unused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321040" y="1920240"/>
            <a:ext cx="2926080" cy="8229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503920" y="2148840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 i="0">
                <a:solidFill>
                  <a:srgbClr val="1C1C1E"/>
                </a:solidFill>
                <a:latin typeface="Calibri"/>
              </a:defRPr>
            </a:pPr>
            <a:r>
              <a:t>AI-Tuned Components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503920" y="2423160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 i="0">
                <a:solidFill>
                  <a:srgbClr val="767676"/>
                </a:solidFill>
                <a:latin typeface="Calibri"/>
              </a:defRPr>
            </a:pPr>
            <a:r>
              <a:t>Suspension and shifting are static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31520" y="2971800"/>
            <a:ext cx="50800" cy="822960"/>
          </a:xfrm>
          <a:prstGeom prst="rect">
            <a:avLst/>
          </a:prstGeom>
          <a:solidFill>
            <a:srgbClr val="8B6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68680" y="3200400"/>
            <a:ext cx="1234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 i="0">
                <a:solidFill>
                  <a:srgbClr val="8B6D2E"/>
                </a:solidFill>
                <a:latin typeface="Calibri"/>
              </a:defRPr>
            </a:pPr>
            <a:r>
              <a:t>SALES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2194560" y="2971800"/>
            <a:ext cx="2926080" cy="8229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377440" y="3200400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 i="0">
                <a:solidFill>
                  <a:srgbClr val="1C1C1E"/>
                </a:solidFill>
                <a:latin typeface="Calibri"/>
              </a:defRPr>
            </a:pPr>
            <a:r>
              <a:t>OEM Proposal Automation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377440" y="3474720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 i="0">
                <a:solidFill>
                  <a:srgbClr val="767676"/>
                </a:solidFill>
                <a:latin typeface="Calibri"/>
              </a:defRPr>
            </a:pPr>
            <a:r>
              <a:t>Proposal cycles are slow, manual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257800" y="2971800"/>
            <a:ext cx="2926080" cy="8229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440680" y="3200400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 i="0">
                <a:solidFill>
                  <a:srgbClr val="1C1C1E"/>
                </a:solidFill>
                <a:latin typeface="Calibri"/>
              </a:defRPr>
            </a:pPr>
            <a:r>
              <a:t>Part Recommendations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440680" y="3474720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 i="0">
                <a:solidFill>
                  <a:srgbClr val="767676"/>
                </a:solidFill>
                <a:latin typeface="Calibri"/>
              </a:defRPr>
            </a:pPr>
            <a:r>
              <a:t>No guided upsell at point of service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321040" y="2971800"/>
            <a:ext cx="2926080" cy="8229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503920" y="3200400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 i="0">
                <a:solidFill>
                  <a:srgbClr val="1C1C1E"/>
                </a:solidFill>
                <a:latin typeface="Calibri"/>
              </a:defRPr>
            </a:pPr>
            <a:r>
              <a:t>DTC Personalization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503920" y="3474720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 i="0">
                <a:solidFill>
                  <a:srgbClr val="767676"/>
                </a:solidFill>
                <a:latin typeface="Calibri"/>
              </a:defRPr>
            </a:pPr>
            <a:r>
              <a:t>Velocio has no targeting capability</a:t>
            </a:r>
          </a:p>
        </p:txBody>
      </p:sp>
      <p:sp>
        <p:nvSpPr>
          <p:cNvPr id="33" name="Rectangle 32"/>
          <p:cNvSpPr/>
          <p:nvPr/>
        </p:nvSpPr>
        <p:spPr>
          <a:xfrm>
            <a:off x="731520" y="4023360"/>
            <a:ext cx="50800" cy="822960"/>
          </a:xfrm>
          <a:prstGeom prst="rect">
            <a:avLst/>
          </a:prstGeom>
          <a:solidFill>
            <a:srgbClr val="5B8C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68680" y="4251960"/>
            <a:ext cx="1234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 i="0">
                <a:solidFill>
                  <a:srgbClr val="5B8C5A"/>
                </a:solidFill>
                <a:latin typeface="Calibri"/>
              </a:defRPr>
            </a:pPr>
            <a:r>
              <a:t>SUPPLY CHAIN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2194560" y="4023360"/>
            <a:ext cx="2926080" cy="8229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2377440" y="4251960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 i="0">
                <a:solidFill>
                  <a:srgbClr val="1C1C1E"/>
                </a:solidFill>
                <a:latin typeface="Calibri"/>
              </a:defRPr>
            </a:pPr>
            <a:r>
              <a:t>Demand Forecasting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377440" y="4526280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 i="0">
                <a:solidFill>
                  <a:srgbClr val="767676"/>
                </a:solidFill>
                <a:latin typeface="Calibri"/>
              </a:defRPr>
            </a:pPr>
            <a:r>
              <a:t>No forecasting system exists today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5257800" y="4023360"/>
            <a:ext cx="2926080" cy="8229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440680" y="4251960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 i="0">
                <a:solidFill>
                  <a:srgbClr val="1C1C1E"/>
                </a:solidFill>
                <a:latin typeface="Calibri"/>
              </a:defRPr>
            </a:pPr>
            <a:r>
              <a:t>Inventory Allocation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440680" y="4526280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 i="0">
                <a:solidFill>
                  <a:srgbClr val="767676"/>
                </a:solidFill>
                <a:latin typeface="Calibri"/>
              </a:defRPr>
            </a:pPr>
            <a:r>
              <a:t>Stockouts and rush shipping losses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8321040" y="4023360"/>
            <a:ext cx="2926080" cy="8229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503920" y="4251960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 i="0">
                <a:solidFill>
                  <a:srgbClr val="1C1C1E"/>
                </a:solidFill>
                <a:latin typeface="Calibri"/>
              </a:defRPr>
            </a:pPr>
            <a:r>
              <a:t>Customer Analytics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503920" y="4526280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 i="0">
                <a:solidFill>
                  <a:srgbClr val="767676"/>
                </a:solidFill>
                <a:latin typeface="Calibri"/>
              </a:defRPr>
            </a:pPr>
            <a:r>
              <a:t>Shopify data is siloed, unused</a:t>
            </a:r>
          </a:p>
        </p:txBody>
      </p:sp>
      <p:sp>
        <p:nvSpPr>
          <p:cNvPr id="44" name="Rectangle 43"/>
          <p:cNvSpPr/>
          <p:nvPr/>
        </p:nvSpPr>
        <p:spPr>
          <a:xfrm>
            <a:off x="731520" y="5074919"/>
            <a:ext cx="50800" cy="822960"/>
          </a:xfrm>
          <a:prstGeom prst="rect">
            <a:avLst/>
          </a:prstGeom>
          <a:solidFill>
            <a:srgbClr val="2D5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868680" y="5303519"/>
            <a:ext cx="1234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 i="0">
                <a:solidFill>
                  <a:srgbClr val="2D5F8A"/>
                </a:solidFill>
                <a:latin typeface="Calibri"/>
              </a:defRPr>
            </a:pPr>
            <a:r>
              <a:t>SUPPORT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2194560" y="5074919"/>
            <a:ext cx="2926080" cy="822960"/>
          </a:xfrm>
          <a:prstGeom prst="roundRect">
            <a:avLst>
              <a:gd name="adj" fmla="val 4000"/>
            </a:avLst>
          </a:prstGeom>
          <a:solidFill>
            <a:srgbClr val="FDF0F2"/>
          </a:solidFill>
          <a:ln w="12700">
            <a:solidFill>
              <a:srgbClr val="E519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2194560" y="5074919"/>
            <a:ext cx="50800" cy="822960"/>
          </a:xfrm>
          <a:prstGeom prst="rect">
            <a:avLst/>
          </a:prstGeom>
          <a:solidFill>
            <a:srgbClr val="E5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2377440" y="5148071"/>
            <a:ext cx="22860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 i="0">
                <a:solidFill>
                  <a:srgbClr val="E51937"/>
                </a:solidFill>
                <a:latin typeface="Calibri"/>
              </a:defRPr>
            </a:pPr>
            <a:r>
              <a:t>RECOMMENDED PILOT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2377440" y="5303519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 i="0">
                <a:solidFill>
                  <a:srgbClr val="1C1C1E"/>
                </a:solidFill>
                <a:latin typeface="Calibri"/>
              </a:defRPr>
            </a:pPr>
            <a:r>
              <a:t>AI Support Agent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40" y="5577839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 i="0">
                <a:solidFill>
                  <a:srgbClr val="767676"/>
                </a:solidFill>
                <a:latin typeface="Calibri"/>
              </a:defRPr>
            </a:pPr>
            <a:r>
              <a:t>70% of dealer questions are repetitive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5257800" y="5074919"/>
            <a:ext cx="2926080" cy="8229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5440680" y="5303519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 i="0">
                <a:solidFill>
                  <a:srgbClr val="1C1C1E"/>
                </a:solidFill>
                <a:latin typeface="Calibri"/>
              </a:defRPr>
            </a:pPr>
            <a:r>
              <a:t>Warranty Automation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440680" y="5577839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 i="0">
                <a:solidFill>
                  <a:srgbClr val="767676"/>
                </a:solidFill>
                <a:latin typeface="Calibri"/>
              </a:defRPr>
            </a:pPr>
            <a:r>
              <a:t>Fraudulent and mis-filed claims cost time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8321040" y="5074919"/>
            <a:ext cx="2926080" cy="8229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8503920" y="5303519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 i="0">
                <a:solidFill>
                  <a:srgbClr val="1C1C1E"/>
                </a:solidFill>
                <a:latin typeface="Calibri"/>
              </a:defRPr>
            </a:pPr>
            <a:r>
              <a:t>Compatibility Assistant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8503920" y="5577839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 i="0">
                <a:solidFill>
                  <a:srgbClr val="767676"/>
                </a:solidFill>
                <a:latin typeface="Calibri"/>
              </a:defRPr>
            </a:pPr>
            <a:r>
              <a:t>Riders get wrong parts, return them</a:t>
            </a:r>
          </a:p>
        </p:txBody>
      </p:sp>
      <p:sp>
        <p:nvSpPr>
          <p:cNvPr id="57" name="Rectangle 56"/>
          <p:cNvSpPr/>
          <p:nvPr/>
        </p:nvSpPr>
        <p:spPr>
          <a:xfrm>
            <a:off x="594360" y="5001767"/>
            <a:ext cx="10927080" cy="969264"/>
          </a:xfrm>
          <a:prstGeom prst="rect">
            <a:avLst/>
          </a:prstGeom>
          <a:noFill/>
          <a:ln w="31750">
            <a:solidFill>
              <a:srgbClr val="2D5F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9784080" y="4782311"/>
            <a:ext cx="1645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1" i="0">
                <a:solidFill>
                  <a:srgbClr val="2D5F8A"/>
                </a:solidFill>
                <a:latin typeface="Calibri"/>
              </a:defRPr>
            </a:pPr>
            <a:r>
              <a:t>START HERE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31520" y="644652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767676"/>
                </a:solidFill>
                <a:latin typeface="Calibri"/>
              </a:defRPr>
            </a:pPr>
            <a:r>
              <a:t>SRAM AI Adoption Playbook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0515600" y="644652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 i="0">
                <a:solidFill>
                  <a:srgbClr val="767676"/>
                </a:solidFill>
                <a:latin typeface="Calibri"/>
              </a:defRPr>
            </a:pPr>
            <a:r>
              <a:t>3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5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5486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767676"/>
                </a:solidFill>
                <a:latin typeface="Calibri"/>
              </a:defRPr>
            </a:pPr>
            <a:r>
              <a:t>THE PROBLEM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548640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 i="0">
                <a:solidFill>
                  <a:srgbClr val="1C1C1E"/>
                </a:solidFill>
                <a:latin typeface="Calibri"/>
              </a:defRPr>
            </a:pPr>
            <a:r>
              <a:t>Support quality drives churn, not product quality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051560"/>
            <a:ext cx="731520" cy="38100"/>
          </a:xfrm>
          <a:prstGeom prst="rect">
            <a:avLst/>
          </a:prstGeom>
          <a:solidFill>
            <a:srgbClr val="E5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234440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 i="0">
                <a:solidFill>
                  <a:srgbClr val="3A3A3C"/>
                </a:solidFill>
                <a:latin typeface="Calibri"/>
              </a:defRPr>
            </a:pPr>
            <a:r>
              <a:t>Riders love SRAM hardware. They struggle with firmware updates, part compatibility, and warranty resolution.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2011680"/>
            <a:ext cx="3291840" cy="13716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2148840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 i="0">
                <a:solidFill>
                  <a:srgbClr val="767676"/>
                </a:solidFill>
                <a:latin typeface="Calibri"/>
              </a:defRPr>
            </a:pPr>
            <a:r>
              <a:t>TRUSTPILOT RATING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2377440"/>
            <a:ext cx="2834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 i="0">
                <a:solidFill>
                  <a:srgbClr val="C43B4F"/>
                </a:solidFill>
                <a:latin typeface="Calibri"/>
              </a:defRPr>
            </a:pPr>
            <a:r>
              <a:t>1.6 / 5.0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2834640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 i="0">
                <a:solidFill>
                  <a:srgbClr val="767676"/>
                </a:solidFill>
                <a:latin typeface="Calibri"/>
              </a:defRPr>
            </a:pPr>
            <a:r>
              <a:t>Warranty friction and support delays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480560" y="2011680"/>
            <a:ext cx="3291840" cy="13716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709160" y="2148840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 i="0">
                <a:solidFill>
                  <a:srgbClr val="767676"/>
                </a:solidFill>
                <a:latin typeface="Calibri"/>
              </a:defRPr>
            </a:pPr>
            <a:r>
              <a:t>AUTOMATABLE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09160" y="2377440"/>
            <a:ext cx="2834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 i="0">
                <a:solidFill>
                  <a:srgbClr val="1C1C1E"/>
                </a:solidFill>
                <a:latin typeface="Calibri"/>
              </a:defRPr>
            </a:pPr>
            <a:r>
              <a:t>~70%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709160" y="2834640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 i="0">
                <a:solidFill>
                  <a:srgbClr val="767676"/>
                </a:solidFill>
                <a:latin typeface="Calibri"/>
              </a:defRPr>
            </a:pPr>
            <a:r>
              <a:t>Questions follow documented patterns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229600" y="2011680"/>
            <a:ext cx="3291840" cy="13716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458200" y="2148840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 i="0">
                <a:solidFill>
                  <a:srgbClr val="767676"/>
                </a:solidFill>
                <a:latin typeface="Calibri"/>
              </a:defRPr>
            </a:pPr>
            <a:r>
              <a:t>TOP COMPLAINTS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458200" y="2377440"/>
            <a:ext cx="2834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 i="0">
                <a:solidFill>
                  <a:srgbClr val="C43B4F"/>
                </a:solidFill>
                <a:latin typeface="Calibri"/>
              </a:defRPr>
            </a:pPr>
            <a:r>
              <a:t>Firmware + Pairing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58200" y="2834640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 i="0">
                <a:solidFill>
                  <a:srgbClr val="767676"/>
                </a:solidFill>
                <a:latin typeface="Calibri"/>
              </a:defRPr>
            </a:pPr>
            <a:r>
              <a:t>Reddit, app stores, Trustpilot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" y="644652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767676"/>
                </a:solidFill>
                <a:latin typeface="Calibri"/>
              </a:defRPr>
            </a:pPr>
            <a:r>
              <a:t>SRAM AI Adoption Playbook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515600" y="644652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 i="0">
                <a:solidFill>
                  <a:srgbClr val="767676"/>
                </a:solidFill>
                <a:latin typeface="Calibri"/>
              </a:defRPr>
            </a:pPr>
            <a:r>
              <a:t>4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5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5486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767676"/>
                </a:solidFill>
                <a:latin typeface="Calibri"/>
              </a:defRPr>
            </a:pPr>
            <a:r>
              <a:t>THE PROBLEM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548640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 i="0">
                <a:solidFill>
                  <a:srgbClr val="1C1C1E"/>
                </a:solidFill>
                <a:latin typeface="Calibri"/>
              </a:defRPr>
            </a:pPr>
            <a:r>
              <a:t>Support quality drives churn, not product quality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051560"/>
            <a:ext cx="731520" cy="38100"/>
          </a:xfrm>
          <a:prstGeom prst="rect">
            <a:avLst/>
          </a:prstGeom>
          <a:solidFill>
            <a:srgbClr val="E5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234440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 i="0">
                <a:solidFill>
                  <a:srgbClr val="3A3A3C"/>
                </a:solidFill>
                <a:latin typeface="Calibri"/>
              </a:defRPr>
            </a:pPr>
            <a:r>
              <a:t>Riders love SRAM hardware. They struggle with firmware updates, part compatibility, and warranty resolution.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2011680"/>
            <a:ext cx="3291840" cy="13716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2148840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 i="0">
                <a:solidFill>
                  <a:srgbClr val="767676"/>
                </a:solidFill>
                <a:latin typeface="Calibri"/>
              </a:defRPr>
            </a:pPr>
            <a:r>
              <a:t>TRUSTPILOT RATING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2377440"/>
            <a:ext cx="2834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 i="0">
                <a:solidFill>
                  <a:srgbClr val="C43B4F"/>
                </a:solidFill>
                <a:latin typeface="Calibri"/>
              </a:defRPr>
            </a:pPr>
            <a:r>
              <a:t>1.6 / 5.0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2834640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 i="0">
                <a:solidFill>
                  <a:srgbClr val="767676"/>
                </a:solidFill>
                <a:latin typeface="Calibri"/>
              </a:defRPr>
            </a:pPr>
            <a:r>
              <a:t>Warranty friction and support delays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480560" y="2011680"/>
            <a:ext cx="3291840" cy="13716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709160" y="2148840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 i="0">
                <a:solidFill>
                  <a:srgbClr val="767676"/>
                </a:solidFill>
                <a:latin typeface="Calibri"/>
              </a:defRPr>
            </a:pPr>
            <a:r>
              <a:t>AUTOMATABLE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09160" y="2377440"/>
            <a:ext cx="2834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 i="0">
                <a:solidFill>
                  <a:srgbClr val="1C1C1E"/>
                </a:solidFill>
                <a:latin typeface="Calibri"/>
              </a:defRPr>
            </a:pPr>
            <a:r>
              <a:t>~70%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709160" y="2834640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 i="0">
                <a:solidFill>
                  <a:srgbClr val="767676"/>
                </a:solidFill>
                <a:latin typeface="Calibri"/>
              </a:defRPr>
            </a:pPr>
            <a:r>
              <a:t>Questions follow documented patterns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229600" y="2011680"/>
            <a:ext cx="3291840" cy="13716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458200" y="2148840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 i="0">
                <a:solidFill>
                  <a:srgbClr val="767676"/>
                </a:solidFill>
                <a:latin typeface="Calibri"/>
              </a:defRPr>
            </a:pPr>
            <a:r>
              <a:t>TOP COMPLAINTS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458200" y="2377440"/>
            <a:ext cx="2834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 i="0">
                <a:solidFill>
                  <a:srgbClr val="C43B4F"/>
                </a:solidFill>
                <a:latin typeface="Calibri"/>
              </a:defRPr>
            </a:pPr>
            <a:r>
              <a:t>Firmware + Pairing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58200" y="2834640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 i="0">
                <a:solidFill>
                  <a:srgbClr val="767676"/>
                </a:solidFill>
                <a:latin typeface="Calibri"/>
              </a:defRPr>
            </a:pPr>
            <a:r>
              <a:t>Reddit, app stores, Trustpilot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31520" y="4389120"/>
            <a:ext cx="10789920" cy="7772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731520" y="4389120"/>
            <a:ext cx="50800" cy="777240"/>
          </a:xfrm>
          <a:prstGeom prst="rect">
            <a:avLst/>
          </a:prstGeom>
          <a:solidFill>
            <a:srgbClr val="7676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51560" y="4480560"/>
            <a:ext cx="102412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 i="1">
                <a:solidFill>
                  <a:srgbClr val="3A3A3C"/>
                </a:solidFill>
                <a:latin typeface="Calibri"/>
              </a:defRPr>
            </a:pPr>
            <a:r>
              <a:t>“The first question I ask anyone skeptical about AI is: do you want to spend your day searching a 200-page compatibility PDF, or do you want to spend it talking to dealers?”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51560" y="4892040"/>
            <a:ext cx="102412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 i="0">
                <a:solidFill>
                  <a:srgbClr val="767676"/>
                </a:solidFill>
                <a:latin typeface="Calibri"/>
              </a:defRPr>
            </a:pPr>
            <a:r>
              <a:t>Jordan Hartsell, VP Digital Products, SRAM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31520" y="644652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767676"/>
                </a:solidFill>
                <a:latin typeface="Calibri"/>
              </a:defRPr>
            </a:pPr>
            <a:r>
              <a:t>SRAM AI Adoption Playbook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515600" y="644652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 i="0">
                <a:solidFill>
                  <a:srgbClr val="767676"/>
                </a:solidFill>
                <a:latin typeface="Calibri"/>
              </a:defRPr>
            </a:pPr>
            <a:r>
              <a:t>4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5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5486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767676"/>
                </a:solidFill>
                <a:latin typeface="Calibri"/>
              </a:defRPr>
            </a:pPr>
            <a:r>
              <a:t>THE SOLUTION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548640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 i="0">
                <a:solidFill>
                  <a:srgbClr val="1C1C1E"/>
                </a:solidFill>
                <a:latin typeface="Calibri"/>
              </a:defRPr>
            </a:pPr>
            <a:r>
              <a:t>AI drafts responses, humans approve them, nobody gets a wrong answer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051560"/>
            <a:ext cx="731520" cy="38100"/>
          </a:xfrm>
          <a:prstGeom prst="rect">
            <a:avLst/>
          </a:prstGeom>
          <a:solidFill>
            <a:srgbClr val="E5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371600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 i="0">
                <a:solidFill>
                  <a:srgbClr val="C43B4F"/>
                </a:solidFill>
                <a:latin typeface="Calibri"/>
              </a:defRPr>
            </a:pPr>
            <a:r>
              <a:t>TODAY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37360"/>
            <a:ext cx="5029200" cy="9144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10512"/>
            <a:ext cx="4663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 i="0">
                <a:solidFill>
                  <a:srgbClr val="1C1C1E"/>
                </a:solidFill>
                <a:latin typeface="Calibri"/>
              </a:defRPr>
            </a:pPr>
            <a:r>
              <a:t>1. Dealer emails a question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084832"/>
            <a:ext cx="46634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 i="0">
                <a:solidFill>
                  <a:srgbClr val="767676"/>
                </a:solidFill>
                <a:latin typeface="Calibri"/>
              </a:defRPr>
            </a:pPr>
            <a:r>
              <a:t>"Which AXS derailleur firmware works with my 2024 Eagle cassette?"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2788920"/>
            <a:ext cx="5029200" cy="9144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2862072"/>
            <a:ext cx="4663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 i="0">
                <a:solidFill>
                  <a:srgbClr val="1C1C1E"/>
                </a:solidFill>
                <a:latin typeface="Calibri"/>
              </a:defRPr>
            </a:pPr>
            <a:r>
              <a:t>2. Agent searches manually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3136392"/>
            <a:ext cx="46634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 i="0">
                <a:solidFill>
                  <a:srgbClr val="767676"/>
                </a:solidFill>
                <a:latin typeface="Calibri"/>
              </a:defRPr>
            </a:pPr>
            <a:r>
              <a:t>Opens a 200-page compatibility PDF.</a:t>
            </a:r>
            <a:br/>
            <a:r>
              <a:t>Searches across multiple documents and wikis.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3840480"/>
            <a:ext cx="5029200" cy="9144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14400" y="3913632"/>
            <a:ext cx="4663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 i="0">
                <a:solidFill>
                  <a:srgbClr val="1C1C1E"/>
                </a:solidFill>
                <a:latin typeface="Calibri"/>
              </a:defRPr>
            </a:pPr>
            <a:r>
              <a:t>3. Agent writes a response from scratch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4187952"/>
            <a:ext cx="46634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 i="0">
                <a:solidFill>
                  <a:srgbClr val="767676"/>
                </a:solidFill>
                <a:latin typeface="Calibri"/>
              </a:defRPr>
            </a:pPr>
            <a:r>
              <a:t>Types out the answer, double-checks part numbers,</a:t>
            </a:r>
            <a:br/>
            <a:r>
              <a:t>hopes nothing changed since last update.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31520" y="4892039"/>
            <a:ext cx="5029200" cy="9144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4400" y="4965191"/>
            <a:ext cx="4663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 i="0">
                <a:solidFill>
                  <a:srgbClr val="1C1C1E"/>
                </a:solidFill>
                <a:latin typeface="Calibri"/>
              </a:defRPr>
            </a:pPr>
            <a:r>
              <a:t>4. Dealer waits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400" y="5239511"/>
            <a:ext cx="46634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 i="0">
                <a:solidFill>
                  <a:srgbClr val="767676"/>
                </a:solidFill>
                <a:latin typeface="Calibri"/>
              </a:defRPr>
            </a:pPr>
            <a:r>
              <a:t>Average first response: ~4 hours.</a:t>
            </a:r>
            <a:br/>
            <a:r>
              <a:t>70% of questions follow the same patterns.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17920" y="1371600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 i="0">
                <a:solidFill>
                  <a:srgbClr val="2D5F8A"/>
                </a:solidFill>
                <a:latin typeface="Calibri"/>
              </a:defRPr>
            </a:pPr>
            <a:r>
              <a:t>WITH AI PILOT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217920" y="1737360"/>
            <a:ext cx="5029200" cy="9144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00800" y="1810512"/>
            <a:ext cx="4663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 i="0">
                <a:solidFill>
                  <a:srgbClr val="1C1C1E"/>
                </a:solidFill>
                <a:latin typeface="Calibri"/>
              </a:defRPr>
            </a:pPr>
            <a:r>
              <a:t>1. Same question arrives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0" y="2084832"/>
            <a:ext cx="46634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 i="0">
                <a:solidFill>
                  <a:srgbClr val="767676"/>
                </a:solidFill>
                <a:latin typeface="Calibri"/>
              </a:defRPr>
            </a:pPr>
            <a:r>
              <a:t>Dealer submits via Zendesk. Nothing changes for them.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17920" y="2788920"/>
            <a:ext cx="5029200" cy="9144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00800" y="2862072"/>
            <a:ext cx="4663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 i="0">
                <a:solidFill>
                  <a:srgbClr val="1C1C1E"/>
                </a:solidFill>
                <a:latin typeface="Calibri"/>
              </a:defRPr>
            </a:pPr>
            <a:r>
              <a:t>2. AI searches approved docs instantly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0800" y="3136392"/>
            <a:ext cx="46634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 i="0">
                <a:solidFill>
                  <a:srgbClr val="767676"/>
                </a:solidFill>
                <a:latin typeface="Calibri"/>
              </a:defRPr>
            </a:pPr>
            <a:r>
              <a:t>Amazon Kendra indexes SRAM's compatibility tables,</a:t>
            </a:r>
            <a:br/>
            <a:r>
              <a:t>firmware notes, and service bulletins.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217920" y="3840480"/>
            <a:ext cx="5029200" cy="9144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00800" y="3913632"/>
            <a:ext cx="4663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 i="0">
                <a:solidFill>
                  <a:srgbClr val="1C1C1E"/>
                </a:solidFill>
                <a:latin typeface="Calibri"/>
              </a:defRPr>
            </a:pPr>
            <a:r>
              <a:t>3. AI drafts a response for the agent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00800" y="4187952"/>
            <a:ext cx="46634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 i="0">
                <a:solidFill>
                  <a:srgbClr val="767676"/>
                </a:solidFill>
                <a:latin typeface="Calibri"/>
              </a:defRPr>
            </a:pPr>
            <a:r>
              <a:t>Amazon Bedrock generates an answer from the knowledge</a:t>
            </a:r>
            <a:br/>
            <a:r>
              <a:t>base. Agent reviews and edits before sending.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217920" y="4892039"/>
            <a:ext cx="5029200" cy="914400"/>
          </a:xfrm>
          <a:prstGeom prst="roundRect">
            <a:avLst>
              <a:gd name="adj" fmla="val 4000"/>
            </a:avLst>
          </a:prstGeom>
          <a:solidFill>
            <a:srgbClr val="FDF0F2"/>
          </a:solidFill>
          <a:ln w="12700">
            <a:solidFill>
              <a:srgbClr val="2D5F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400800" y="4965191"/>
            <a:ext cx="4663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 i="0">
                <a:solidFill>
                  <a:srgbClr val="1C1C1E"/>
                </a:solidFill>
                <a:latin typeface="Calibri"/>
              </a:defRPr>
            </a:pPr>
            <a:r>
              <a:t>4. Dealer gets a faster, verified answer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00800" y="5239511"/>
            <a:ext cx="46634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 i="0">
                <a:solidFill>
                  <a:srgbClr val="767676"/>
                </a:solidFill>
                <a:latin typeface="Calibri"/>
              </a:defRPr>
            </a:pPr>
            <a:r>
              <a:t>Target first response: ~2.5 hours.</a:t>
            </a:r>
            <a:br/>
            <a:r>
              <a:t>Agent spends time on hard problems, not repetitive ones.</a:t>
            </a:r>
          </a:p>
        </p:txBody>
      </p:sp>
      <p:sp>
        <p:nvSpPr>
          <p:cNvPr id="31" name="Isosceles Triangle 30"/>
          <p:cNvSpPr/>
          <p:nvPr/>
        </p:nvSpPr>
        <p:spPr>
          <a:xfrm rot="5400000">
            <a:off x="5806440" y="3200400"/>
            <a:ext cx="320040" cy="320040"/>
          </a:xfrm>
          <a:prstGeom prst="triangle">
            <a:avLst/>
          </a:prstGeom>
          <a:solidFill>
            <a:srgbClr val="7676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31520" y="644652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767676"/>
                </a:solidFill>
                <a:latin typeface="Calibri"/>
              </a:defRPr>
            </a:pPr>
            <a:r>
              <a:t>SRAM AI Adoption Playbook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515600" y="644652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 i="0">
                <a:solidFill>
                  <a:srgbClr val="767676"/>
                </a:solidFill>
                <a:latin typeface="Calibri"/>
              </a:defRPr>
            </a:pPr>
            <a:r>
              <a:t>5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5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5486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767676"/>
                </a:solidFill>
                <a:latin typeface="Calibri"/>
              </a:defRPr>
            </a:pPr>
            <a:r>
              <a:t>THE SOLUTION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548640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 i="0">
                <a:solidFill>
                  <a:srgbClr val="1C1C1E"/>
                </a:solidFill>
                <a:latin typeface="Calibri"/>
              </a:defRPr>
            </a:pPr>
            <a:r>
              <a:t>AI drafts responses, humans approve them, nobody gets a wrong answer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051560"/>
            <a:ext cx="731520" cy="38100"/>
          </a:xfrm>
          <a:prstGeom prst="rect">
            <a:avLst/>
          </a:prstGeom>
          <a:solidFill>
            <a:srgbClr val="E5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31520" y="1463040"/>
            <a:ext cx="3520440" cy="21945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572768"/>
            <a:ext cx="31546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 i="0">
                <a:solidFill>
                  <a:srgbClr val="2D5F8A"/>
                </a:solidFill>
                <a:latin typeface="Calibri"/>
              </a:defRPr>
            </a:pPr>
            <a:r>
              <a:t>SCOPE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1828800"/>
            <a:ext cx="3154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 i="0">
                <a:solidFill>
                  <a:srgbClr val="1C1C1E"/>
                </a:solidFill>
                <a:latin typeface="Calibri"/>
              </a:defRPr>
            </a:pPr>
            <a:r>
              <a:t>AXS + Hammerhead only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31720"/>
            <a:ext cx="3154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 i="0">
                <a:solidFill>
                  <a:srgbClr val="3A3A3C"/>
                </a:solidFill>
                <a:latin typeface="Calibri"/>
              </a:defRPr>
            </a:pPr>
            <a:r>
              <a:t>Products where SRAM's documentation</a:t>
            </a:r>
            <a:br/>
            <a:r>
              <a:t>is complete and structured.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480559" y="1463040"/>
            <a:ext cx="3520440" cy="21945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663439" y="1572768"/>
            <a:ext cx="31546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 i="0">
                <a:solidFill>
                  <a:srgbClr val="2D5F8A"/>
                </a:solidFill>
                <a:latin typeface="Calibri"/>
              </a:defRPr>
            </a:pPr>
            <a:r>
              <a:t>GUARDRAIL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63439" y="1828800"/>
            <a:ext cx="3154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 i="0">
                <a:solidFill>
                  <a:srgbClr val="1C1C1E"/>
                </a:solidFill>
                <a:latin typeface="Calibri"/>
              </a:defRPr>
            </a:pPr>
            <a:r>
              <a:t>Human approves every response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63439" y="2331720"/>
            <a:ext cx="3154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 i="0">
                <a:solidFill>
                  <a:srgbClr val="3A3A3C"/>
                </a:solidFill>
                <a:latin typeface="Calibri"/>
              </a:defRPr>
            </a:pPr>
            <a:r>
              <a:t>No AI answer reaches a dealer without</a:t>
            </a:r>
            <a:br/>
            <a:r>
              <a:t>an agent reviewing and sending it.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229599" y="1463040"/>
            <a:ext cx="3520440" cy="21945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412479" y="1572768"/>
            <a:ext cx="31546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 i="0">
                <a:solidFill>
                  <a:srgbClr val="2D5F8A"/>
                </a:solidFill>
                <a:latin typeface="Calibri"/>
              </a:defRPr>
            </a:pPr>
            <a:r>
              <a:t>KILL SWITCH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412479" y="1828800"/>
            <a:ext cx="3154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 i="0">
                <a:solidFill>
                  <a:srgbClr val="1C1C1E"/>
                </a:solidFill>
                <a:latin typeface="Calibri"/>
              </a:defRPr>
            </a:pPr>
            <a:r>
              <a:t>Weekly quality review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412479" y="2331720"/>
            <a:ext cx="3154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 i="0">
                <a:solidFill>
                  <a:srgbClr val="3A3A3C"/>
                </a:solidFill>
                <a:latin typeface="Calibri"/>
              </a:defRPr>
            </a:pPr>
            <a:r>
              <a:t>2 weeks of quality decline, any safety</a:t>
            </a:r>
            <a:br/>
            <a:r>
              <a:t>error, or 15% dealer opt-out stops the pilot.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31520" y="4206240"/>
            <a:ext cx="10789920" cy="7772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31520" y="4206240"/>
            <a:ext cx="50800" cy="777240"/>
          </a:xfrm>
          <a:prstGeom prst="rect">
            <a:avLst/>
          </a:prstGeom>
          <a:solidFill>
            <a:srgbClr val="7676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51560" y="4297680"/>
            <a:ext cx="102412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 i="1">
                <a:solidFill>
                  <a:srgbClr val="3A3A3C"/>
                </a:solidFill>
                <a:latin typeface="Calibri"/>
              </a:defRPr>
            </a:pPr>
            <a:r>
              <a:t>“I would rather shut it down and restart than defend a mistake to Ken. The first question I ask anyone skeptical about AI is: do you want to spend your day searching a 200-page compatibility PDF, or do you want to spend it talking to dealers?”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51560" y="4709160"/>
            <a:ext cx="102412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 i="0">
                <a:solidFill>
                  <a:srgbClr val="767676"/>
                </a:solidFill>
                <a:latin typeface="Calibri"/>
              </a:defRPr>
            </a:pPr>
            <a:r>
              <a:t>Jordan Hartsell, VP Digital Products, SRAM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1520" y="644652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767676"/>
                </a:solidFill>
                <a:latin typeface="Calibri"/>
              </a:defRPr>
            </a:pPr>
            <a:r>
              <a:t>SRAM AI Adoption Playbook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515600" y="644652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 i="0">
                <a:solidFill>
                  <a:srgbClr val="767676"/>
                </a:solidFill>
                <a:latin typeface="Calibri"/>
              </a:defRPr>
            </a:pPr>
            <a:r>
              <a:t>5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5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5486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767676"/>
                </a:solidFill>
                <a:latin typeface="Calibri"/>
              </a:defRPr>
            </a:pPr>
            <a:r>
              <a:t>THE GOALS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548640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 i="0">
                <a:solidFill>
                  <a:srgbClr val="1C1C1E"/>
                </a:solidFill>
                <a:latin typeface="Calibri"/>
              </a:defRPr>
            </a:pPr>
            <a:r>
              <a:t>Five SMART goals define pilot success at day 90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051560"/>
            <a:ext cx="731520" cy="38100"/>
          </a:xfrm>
          <a:prstGeom prst="rect">
            <a:avLst/>
          </a:prstGeom>
          <a:solidFill>
            <a:srgbClr val="E5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234440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 i="0">
                <a:solidFill>
                  <a:srgbClr val="3A3A3C"/>
                </a:solidFill>
                <a:latin typeface="Calibri"/>
              </a:defRPr>
            </a:pPr>
            <a:r>
              <a:t>Hartsell set the bar: "One workflow measurably faster, measurably more accurate, with no regression in dealer satisfaction scores."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10698480" cy="685800"/>
          </a:xfrm>
          <a:prstGeom prst="roundRect">
            <a:avLst>
              <a:gd name="adj" fmla="val 2000"/>
            </a:avLst>
          </a:prstGeom>
          <a:solidFill>
            <a:srgbClr val="F0F0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005840" y="1938528"/>
            <a:ext cx="502920" cy="365760"/>
          </a:xfrm>
          <a:prstGeom prst="roundRect">
            <a:avLst>
              <a:gd name="adj" fmla="val 15000"/>
            </a:avLst>
          </a:prstGeom>
          <a:solidFill>
            <a:srgbClr val="2D5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G1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737360" y="1901952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 i="0">
                <a:solidFill>
                  <a:srgbClr val="1C1C1E"/>
                </a:solidFill>
                <a:latin typeface="Calibri"/>
              </a:defRPr>
            </a:pPr>
            <a:r>
              <a:t>Cut first-response time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0" y="1874520"/>
            <a:ext cx="1828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 i="0">
                <a:solidFill>
                  <a:srgbClr val="E51937"/>
                </a:solidFill>
                <a:latin typeface="Calibri"/>
              </a:defRPr>
            </a:pPr>
            <a:r>
              <a:t>-40%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0" y="196596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767676"/>
                </a:solidFill>
                <a:latin typeface="Calibri"/>
              </a:defRPr>
            </a:pPr>
            <a:r>
              <a:t>Measured weekly vs. SLA baseline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644652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767676"/>
                </a:solidFill>
                <a:latin typeface="Calibri"/>
              </a:defRPr>
            </a:pPr>
            <a:r>
              <a:t>SRAM AI Adoption Playbook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515600" y="644652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 i="0">
                <a:solidFill>
                  <a:srgbClr val="767676"/>
                </a:solidFill>
                <a:latin typeface="Calibri"/>
              </a:defRPr>
            </a:pPr>
            <a:r>
              <a:t>6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5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5486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767676"/>
                </a:solidFill>
                <a:latin typeface="Calibri"/>
              </a:defRPr>
            </a:pPr>
            <a:r>
              <a:t>THE GOALS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548640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 i="0">
                <a:solidFill>
                  <a:srgbClr val="1C1C1E"/>
                </a:solidFill>
                <a:latin typeface="Calibri"/>
              </a:defRPr>
            </a:pPr>
            <a:r>
              <a:t>Five SMART goals define pilot success at day 90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051560"/>
            <a:ext cx="731520" cy="38100"/>
          </a:xfrm>
          <a:prstGeom prst="rect">
            <a:avLst/>
          </a:prstGeom>
          <a:solidFill>
            <a:srgbClr val="E5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234440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 i="0">
                <a:solidFill>
                  <a:srgbClr val="3A3A3C"/>
                </a:solidFill>
                <a:latin typeface="Calibri"/>
              </a:defRPr>
            </a:pPr>
            <a:r>
              <a:t>Hartsell set the bar: "One workflow measurably faster, measurably more accurate, with no regression in dealer satisfaction scores."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10698480" cy="685800"/>
          </a:xfrm>
          <a:prstGeom prst="roundRect">
            <a:avLst>
              <a:gd name="adj" fmla="val 2000"/>
            </a:avLst>
          </a:prstGeom>
          <a:solidFill>
            <a:srgbClr val="F0F0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005840" y="1938528"/>
            <a:ext cx="502920" cy="365760"/>
          </a:xfrm>
          <a:prstGeom prst="roundRect">
            <a:avLst>
              <a:gd name="adj" fmla="val 15000"/>
            </a:avLst>
          </a:prstGeom>
          <a:solidFill>
            <a:srgbClr val="2D5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G1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737360" y="1901952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 i="0">
                <a:solidFill>
                  <a:srgbClr val="1C1C1E"/>
                </a:solidFill>
                <a:latin typeface="Calibri"/>
              </a:defRPr>
            </a:pPr>
            <a:r>
              <a:t>Cut first-response time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0" y="1874520"/>
            <a:ext cx="1828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 i="0">
                <a:solidFill>
                  <a:srgbClr val="E51937"/>
                </a:solidFill>
                <a:latin typeface="Calibri"/>
              </a:defRPr>
            </a:pPr>
            <a:r>
              <a:t>-40%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0" y="196596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767676"/>
                </a:solidFill>
                <a:latin typeface="Calibri"/>
              </a:defRPr>
            </a:pPr>
            <a:r>
              <a:t>Measured weekly vs. SLA baseline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05840" y="2715768"/>
            <a:ext cx="502920" cy="365760"/>
          </a:xfrm>
          <a:prstGeom prst="roundRect">
            <a:avLst>
              <a:gd name="adj" fmla="val 15000"/>
            </a:avLst>
          </a:prstGeom>
          <a:solidFill>
            <a:srgbClr val="2D5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G2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737360" y="2679192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 i="0">
                <a:solidFill>
                  <a:srgbClr val="1C1C1E"/>
                </a:solidFill>
                <a:latin typeface="Calibri"/>
              </a:defRPr>
            </a:pPr>
            <a:r>
              <a:t>Resolve more tickets without escalation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0" y="2651760"/>
            <a:ext cx="1828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 i="0">
                <a:solidFill>
                  <a:srgbClr val="E51937"/>
                </a:solidFill>
                <a:latin typeface="Calibri"/>
              </a:defRPr>
            </a:pPr>
            <a:r>
              <a:t>+15 pts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0" y="274320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767676"/>
                </a:solidFill>
                <a:latin typeface="Calibri"/>
              </a:defRPr>
            </a:pPr>
            <a:r>
              <a:t>Measured weekly vs. current rate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644652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767676"/>
                </a:solidFill>
                <a:latin typeface="Calibri"/>
              </a:defRPr>
            </a:pPr>
            <a:r>
              <a:t>SRAM AI Adoption Playbook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515600" y="644652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 i="0">
                <a:solidFill>
                  <a:srgbClr val="767676"/>
                </a:solidFill>
                <a:latin typeface="Calibri"/>
              </a:defRPr>
            </a:pPr>
            <a:r>
              <a:t>6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5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5486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767676"/>
                </a:solidFill>
                <a:latin typeface="Calibri"/>
              </a:defRPr>
            </a:pPr>
            <a:r>
              <a:t>THE GOALS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548640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 i="0">
                <a:solidFill>
                  <a:srgbClr val="1C1C1E"/>
                </a:solidFill>
                <a:latin typeface="Calibri"/>
              </a:defRPr>
            </a:pPr>
            <a:r>
              <a:t>Five SMART goals define pilot success at day 90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051560"/>
            <a:ext cx="731520" cy="38100"/>
          </a:xfrm>
          <a:prstGeom prst="rect">
            <a:avLst/>
          </a:prstGeom>
          <a:solidFill>
            <a:srgbClr val="E5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234440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 i="0">
                <a:solidFill>
                  <a:srgbClr val="3A3A3C"/>
                </a:solidFill>
                <a:latin typeface="Calibri"/>
              </a:defRPr>
            </a:pPr>
            <a:r>
              <a:t>Hartsell set the bar: "One workflow measurably faster, measurably more accurate, with no regression in dealer satisfaction scores."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10698480" cy="685800"/>
          </a:xfrm>
          <a:prstGeom prst="roundRect">
            <a:avLst>
              <a:gd name="adj" fmla="val 2000"/>
            </a:avLst>
          </a:prstGeom>
          <a:solidFill>
            <a:srgbClr val="F0F0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005840" y="1938528"/>
            <a:ext cx="502920" cy="365760"/>
          </a:xfrm>
          <a:prstGeom prst="roundRect">
            <a:avLst>
              <a:gd name="adj" fmla="val 15000"/>
            </a:avLst>
          </a:prstGeom>
          <a:solidFill>
            <a:srgbClr val="2D5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G1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737360" y="1901952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 i="0">
                <a:solidFill>
                  <a:srgbClr val="1C1C1E"/>
                </a:solidFill>
                <a:latin typeface="Calibri"/>
              </a:defRPr>
            </a:pPr>
            <a:r>
              <a:t>Cut first-response time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0" y="1874520"/>
            <a:ext cx="1828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 i="0">
                <a:solidFill>
                  <a:srgbClr val="E51937"/>
                </a:solidFill>
                <a:latin typeface="Calibri"/>
              </a:defRPr>
            </a:pPr>
            <a:r>
              <a:t>-40%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0" y="196596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767676"/>
                </a:solidFill>
                <a:latin typeface="Calibri"/>
              </a:defRPr>
            </a:pPr>
            <a:r>
              <a:t>Measured weekly vs. SLA baseline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05840" y="2715768"/>
            <a:ext cx="502920" cy="365760"/>
          </a:xfrm>
          <a:prstGeom prst="roundRect">
            <a:avLst>
              <a:gd name="adj" fmla="val 15000"/>
            </a:avLst>
          </a:prstGeom>
          <a:solidFill>
            <a:srgbClr val="2D5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G2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737360" y="2679192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 i="0">
                <a:solidFill>
                  <a:srgbClr val="1C1C1E"/>
                </a:solidFill>
                <a:latin typeface="Calibri"/>
              </a:defRPr>
            </a:pPr>
            <a:r>
              <a:t>Resolve more tickets without escalation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0" y="2651760"/>
            <a:ext cx="1828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 i="0">
                <a:solidFill>
                  <a:srgbClr val="E51937"/>
                </a:solidFill>
                <a:latin typeface="Calibri"/>
              </a:defRPr>
            </a:pPr>
            <a:r>
              <a:t>+15 pts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0" y="274320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767676"/>
                </a:solidFill>
                <a:latin typeface="Calibri"/>
              </a:defRPr>
            </a:pPr>
            <a:r>
              <a:t>Measured weekly vs. current rate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31520" y="3337560"/>
            <a:ext cx="10698480" cy="685800"/>
          </a:xfrm>
          <a:prstGeom prst="roundRect">
            <a:avLst>
              <a:gd name="adj" fmla="val 2000"/>
            </a:avLst>
          </a:prstGeom>
          <a:solidFill>
            <a:srgbClr val="F0F0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1005840" y="3493008"/>
            <a:ext cx="502920" cy="365760"/>
          </a:xfrm>
          <a:prstGeom prst="roundRect">
            <a:avLst>
              <a:gd name="adj" fmla="val 15000"/>
            </a:avLst>
          </a:prstGeom>
          <a:solidFill>
            <a:srgbClr val="2D5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G3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737360" y="3456432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 i="0">
                <a:solidFill>
                  <a:srgbClr val="1C1C1E"/>
                </a:solidFill>
                <a:latin typeface="Calibri"/>
              </a:defRPr>
            </a:pPr>
            <a:r>
              <a:t>AI draft acceptance rate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58000" y="3429000"/>
            <a:ext cx="1828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 i="0">
                <a:solidFill>
                  <a:srgbClr val="E51937"/>
                </a:solidFill>
                <a:latin typeface="Calibri"/>
              </a:defRPr>
            </a:pPr>
            <a:r>
              <a:t>&gt;70%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0" y="352044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767676"/>
                </a:solidFill>
                <a:latin typeface="Calibri"/>
              </a:defRPr>
            </a:pPr>
            <a:r>
              <a:t>Below 50% at day 45 triggers scope review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1520" y="644652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767676"/>
                </a:solidFill>
                <a:latin typeface="Calibri"/>
              </a:defRPr>
            </a:pPr>
            <a:r>
              <a:t>SRAM AI Adoption Playbook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515600" y="644652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 i="0">
                <a:solidFill>
                  <a:srgbClr val="767676"/>
                </a:solidFill>
                <a:latin typeface="Calibri"/>
              </a:defRPr>
            </a:pPr>
            <a:r>
              <a:t>6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5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5486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767676"/>
                </a:solidFill>
                <a:latin typeface="Calibri"/>
              </a:defRPr>
            </a:pPr>
            <a:r>
              <a:t>THE GOALS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548640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 i="0">
                <a:solidFill>
                  <a:srgbClr val="1C1C1E"/>
                </a:solidFill>
                <a:latin typeface="Calibri"/>
              </a:defRPr>
            </a:pPr>
            <a:r>
              <a:t>Five SMART goals define pilot success at day 90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051560"/>
            <a:ext cx="731520" cy="38100"/>
          </a:xfrm>
          <a:prstGeom prst="rect">
            <a:avLst/>
          </a:prstGeom>
          <a:solidFill>
            <a:srgbClr val="E5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234440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 i="0">
                <a:solidFill>
                  <a:srgbClr val="3A3A3C"/>
                </a:solidFill>
                <a:latin typeface="Calibri"/>
              </a:defRPr>
            </a:pPr>
            <a:r>
              <a:t>Hartsell set the bar: "One workflow measurably faster, measurably more accurate, with no regression in dealer satisfaction scores."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10698480" cy="685800"/>
          </a:xfrm>
          <a:prstGeom prst="roundRect">
            <a:avLst>
              <a:gd name="adj" fmla="val 2000"/>
            </a:avLst>
          </a:prstGeom>
          <a:solidFill>
            <a:srgbClr val="F0F0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005840" y="1938528"/>
            <a:ext cx="502920" cy="365760"/>
          </a:xfrm>
          <a:prstGeom prst="roundRect">
            <a:avLst>
              <a:gd name="adj" fmla="val 15000"/>
            </a:avLst>
          </a:prstGeom>
          <a:solidFill>
            <a:srgbClr val="2D5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G1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737360" y="1901952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 i="0">
                <a:solidFill>
                  <a:srgbClr val="1C1C1E"/>
                </a:solidFill>
                <a:latin typeface="Calibri"/>
              </a:defRPr>
            </a:pPr>
            <a:r>
              <a:t>Cut first-response time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0" y="1874520"/>
            <a:ext cx="1828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 i="0">
                <a:solidFill>
                  <a:srgbClr val="E51937"/>
                </a:solidFill>
                <a:latin typeface="Calibri"/>
              </a:defRPr>
            </a:pPr>
            <a:r>
              <a:t>-40%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0" y="196596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767676"/>
                </a:solidFill>
                <a:latin typeface="Calibri"/>
              </a:defRPr>
            </a:pPr>
            <a:r>
              <a:t>Measured weekly vs. SLA baseline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05840" y="2715768"/>
            <a:ext cx="502920" cy="365760"/>
          </a:xfrm>
          <a:prstGeom prst="roundRect">
            <a:avLst>
              <a:gd name="adj" fmla="val 15000"/>
            </a:avLst>
          </a:prstGeom>
          <a:solidFill>
            <a:srgbClr val="2D5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G2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737360" y="2679192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 i="0">
                <a:solidFill>
                  <a:srgbClr val="1C1C1E"/>
                </a:solidFill>
                <a:latin typeface="Calibri"/>
              </a:defRPr>
            </a:pPr>
            <a:r>
              <a:t>Resolve more tickets without escalation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0" y="2651760"/>
            <a:ext cx="1828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 i="0">
                <a:solidFill>
                  <a:srgbClr val="E51937"/>
                </a:solidFill>
                <a:latin typeface="Calibri"/>
              </a:defRPr>
            </a:pPr>
            <a:r>
              <a:t>+15 pts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0" y="274320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767676"/>
                </a:solidFill>
                <a:latin typeface="Calibri"/>
              </a:defRPr>
            </a:pPr>
            <a:r>
              <a:t>Measured weekly vs. current rate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31520" y="3337560"/>
            <a:ext cx="10698480" cy="685800"/>
          </a:xfrm>
          <a:prstGeom prst="roundRect">
            <a:avLst>
              <a:gd name="adj" fmla="val 2000"/>
            </a:avLst>
          </a:prstGeom>
          <a:solidFill>
            <a:srgbClr val="F0F0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1005840" y="3493008"/>
            <a:ext cx="502920" cy="365760"/>
          </a:xfrm>
          <a:prstGeom prst="roundRect">
            <a:avLst>
              <a:gd name="adj" fmla="val 15000"/>
            </a:avLst>
          </a:prstGeom>
          <a:solidFill>
            <a:srgbClr val="2D5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G3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737360" y="3456432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 i="0">
                <a:solidFill>
                  <a:srgbClr val="1C1C1E"/>
                </a:solidFill>
                <a:latin typeface="Calibri"/>
              </a:defRPr>
            </a:pPr>
            <a:r>
              <a:t>AI draft acceptance rate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58000" y="3429000"/>
            <a:ext cx="1828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 i="0">
                <a:solidFill>
                  <a:srgbClr val="E51937"/>
                </a:solidFill>
                <a:latin typeface="Calibri"/>
              </a:defRPr>
            </a:pPr>
            <a:r>
              <a:t>&gt;70%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0" y="352044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767676"/>
                </a:solidFill>
                <a:latin typeface="Calibri"/>
              </a:defRPr>
            </a:pPr>
            <a:r>
              <a:t>Below 50% at day 45 triggers scope review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005840" y="4270248"/>
            <a:ext cx="502920" cy="365760"/>
          </a:xfrm>
          <a:prstGeom prst="roundRect">
            <a:avLst>
              <a:gd name="adj" fmla="val 15000"/>
            </a:avLst>
          </a:prstGeom>
          <a:solidFill>
            <a:srgbClr val="2D5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G4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37360" y="4233672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 i="0">
                <a:solidFill>
                  <a:srgbClr val="1C1C1E"/>
                </a:solidFill>
                <a:latin typeface="Calibri"/>
              </a:defRPr>
            </a:pPr>
            <a:r>
              <a:t>Increase agent throughput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858000" y="4206240"/>
            <a:ext cx="1828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 i="0">
                <a:solidFill>
                  <a:srgbClr val="E51937"/>
                </a:solidFill>
                <a:latin typeface="Calibri"/>
              </a:defRPr>
            </a:pPr>
            <a:r>
              <a:t>+25%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686800" y="429768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767676"/>
                </a:solidFill>
                <a:latin typeface="Calibri"/>
              </a:defRPr>
            </a:pPr>
            <a:r>
              <a:t>Tickets handled per agent per day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1520" y="644652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767676"/>
                </a:solidFill>
                <a:latin typeface="Calibri"/>
              </a:defRPr>
            </a:pPr>
            <a:r>
              <a:t>SRAM AI Adoption Playbook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515600" y="644652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 i="0">
                <a:solidFill>
                  <a:srgbClr val="767676"/>
                </a:solidFill>
                <a:latin typeface="Calibri"/>
              </a:defRPr>
            </a:pPr>
            <a:r>
              <a:t>6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5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5486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767676"/>
                </a:solidFill>
                <a:latin typeface="Calibri"/>
              </a:defRPr>
            </a:pPr>
            <a:r>
              <a:t>THE GOALS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548640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 i="0">
                <a:solidFill>
                  <a:srgbClr val="1C1C1E"/>
                </a:solidFill>
                <a:latin typeface="Calibri"/>
              </a:defRPr>
            </a:pPr>
            <a:r>
              <a:t>Five SMART goals define pilot success at day 90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051560"/>
            <a:ext cx="731520" cy="38100"/>
          </a:xfrm>
          <a:prstGeom prst="rect">
            <a:avLst/>
          </a:prstGeom>
          <a:solidFill>
            <a:srgbClr val="E5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234440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 i="0">
                <a:solidFill>
                  <a:srgbClr val="3A3A3C"/>
                </a:solidFill>
                <a:latin typeface="Calibri"/>
              </a:defRPr>
            </a:pPr>
            <a:r>
              <a:t>Hartsell set the bar: "One workflow measurably faster, measurably more accurate, with no regression in dealer satisfaction scores."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10698480" cy="685800"/>
          </a:xfrm>
          <a:prstGeom prst="roundRect">
            <a:avLst>
              <a:gd name="adj" fmla="val 2000"/>
            </a:avLst>
          </a:prstGeom>
          <a:solidFill>
            <a:srgbClr val="F0F0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005840" y="1938528"/>
            <a:ext cx="502920" cy="365760"/>
          </a:xfrm>
          <a:prstGeom prst="roundRect">
            <a:avLst>
              <a:gd name="adj" fmla="val 15000"/>
            </a:avLst>
          </a:prstGeom>
          <a:solidFill>
            <a:srgbClr val="2D5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G1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737360" y="1901952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 i="0">
                <a:solidFill>
                  <a:srgbClr val="1C1C1E"/>
                </a:solidFill>
                <a:latin typeface="Calibri"/>
              </a:defRPr>
            </a:pPr>
            <a:r>
              <a:t>Cut first-response time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0" y="1874520"/>
            <a:ext cx="1828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 i="0">
                <a:solidFill>
                  <a:srgbClr val="E51937"/>
                </a:solidFill>
                <a:latin typeface="Calibri"/>
              </a:defRPr>
            </a:pPr>
            <a:r>
              <a:t>-40%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0" y="196596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767676"/>
                </a:solidFill>
                <a:latin typeface="Calibri"/>
              </a:defRPr>
            </a:pPr>
            <a:r>
              <a:t>Measured weekly vs. SLA baseline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05840" y="2715768"/>
            <a:ext cx="502920" cy="365760"/>
          </a:xfrm>
          <a:prstGeom prst="roundRect">
            <a:avLst>
              <a:gd name="adj" fmla="val 15000"/>
            </a:avLst>
          </a:prstGeom>
          <a:solidFill>
            <a:srgbClr val="2D5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G2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737360" y="2679192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 i="0">
                <a:solidFill>
                  <a:srgbClr val="1C1C1E"/>
                </a:solidFill>
                <a:latin typeface="Calibri"/>
              </a:defRPr>
            </a:pPr>
            <a:r>
              <a:t>Resolve more tickets without escalation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0" y="2651760"/>
            <a:ext cx="1828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 i="0">
                <a:solidFill>
                  <a:srgbClr val="E51937"/>
                </a:solidFill>
                <a:latin typeface="Calibri"/>
              </a:defRPr>
            </a:pPr>
            <a:r>
              <a:t>+15 pts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0" y="274320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767676"/>
                </a:solidFill>
                <a:latin typeface="Calibri"/>
              </a:defRPr>
            </a:pPr>
            <a:r>
              <a:t>Measured weekly vs. current rate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31520" y="3337560"/>
            <a:ext cx="10698480" cy="685800"/>
          </a:xfrm>
          <a:prstGeom prst="roundRect">
            <a:avLst>
              <a:gd name="adj" fmla="val 2000"/>
            </a:avLst>
          </a:prstGeom>
          <a:solidFill>
            <a:srgbClr val="F0F0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1005840" y="3493008"/>
            <a:ext cx="502920" cy="365760"/>
          </a:xfrm>
          <a:prstGeom prst="roundRect">
            <a:avLst>
              <a:gd name="adj" fmla="val 15000"/>
            </a:avLst>
          </a:prstGeom>
          <a:solidFill>
            <a:srgbClr val="2D5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G3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737360" y="3456432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 i="0">
                <a:solidFill>
                  <a:srgbClr val="1C1C1E"/>
                </a:solidFill>
                <a:latin typeface="Calibri"/>
              </a:defRPr>
            </a:pPr>
            <a:r>
              <a:t>AI draft acceptance rate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58000" y="3429000"/>
            <a:ext cx="1828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 i="0">
                <a:solidFill>
                  <a:srgbClr val="E51937"/>
                </a:solidFill>
                <a:latin typeface="Calibri"/>
              </a:defRPr>
            </a:pPr>
            <a:r>
              <a:t>&gt;70%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0" y="352044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767676"/>
                </a:solidFill>
                <a:latin typeface="Calibri"/>
              </a:defRPr>
            </a:pPr>
            <a:r>
              <a:t>Below 50% at day 45 triggers scope review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005840" y="4270248"/>
            <a:ext cx="502920" cy="365760"/>
          </a:xfrm>
          <a:prstGeom prst="roundRect">
            <a:avLst>
              <a:gd name="adj" fmla="val 15000"/>
            </a:avLst>
          </a:prstGeom>
          <a:solidFill>
            <a:srgbClr val="2D5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G4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37360" y="4233672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 i="0">
                <a:solidFill>
                  <a:srgbClr val="1C1C1E"/>
                </a:solidFill>
                <a:latin typeface="Calibri"/>
              </a:defRPr>
            </a:pPr>
            <a:r>
              <a:t>Increase agent throughput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858000" y="4206240"/>
            <a:ext cx="1828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 i="0">
                <a:solidFill>
                  <a:srgbClr val="E51937"/>
                </a:solidFill>
                <a:latin typeface="Calibri"/>
              </a:defRPr>
            </a:pPr>
            <a:r>
              <a:t>+25%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686800" y="429768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767676"/>
                </a:solidFill>
                <a:latin typeface="Calibri"/>
              </a:defRPr>
            </a:pPr>
            <a:r>
              <a:t>Tickets handled per agent per day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31520" y="4892040"/>
            <a:ext cx="10698480" cy="685800"/>
          </a:xfrm>
          <a:prstGeom prst="roundRect">
            <a:avLst>
              <a:gd name="adj" fmla="val 2000"/>
            </a:avLst>
          </a:prstGeom>
          <a:solidFill>
            <a:srgbClr val="F0F0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1005840" y="5047488"/>
            <a:ext cx="502920" cy="365760"/>
          </a:xfrm>
          <a:prstGeom prst="roundRect">
            <a:avLst>
              <a:gd name="adj" fmla="val 15000"/>
            </a:avLst>
          </a:prstGeom>
          <a:solidFill>
            <a:srgbClr val="2D5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G5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737360" y="5010912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 i="0">
                <a:solidFill>
                  <a:srgbClr val="1C1C1E"/>
                </a:solidFill>
                <a:latin typeface="Calibri"/>
              </a:defRPr>
            </a:pPr>
            <a:r>
              <a:t>Hold customer satisfaction flat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858000" y="4983480"/>
            <a:ext cx="1828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 i="0">
                <a:solidFill>
                  <a:srgbClr val="E51937"/>
                </a:solidFill>
                <a:latin typeface="Calibri"/>
              </a:defRPr>
            </a:pPr>
            <a:r>
              <a:t>No decline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686800" y="507492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767676"/>
                </a:solidFill>
                <a:latin typeface="Calibri"/>
              </a:defRPr>
            </a:pPr>
            <a:r>
              <a:t>Any sustained drop triggers rollback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31520" y="5852160"/>
            <a:ext cx="10698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 i="0">
                <a:solidFill>
                  <a:srgbClr val="767676"/>
                </a:solidFill>
                <a:latin typeface="Calibri"/>
              </a:defRPr>
            </a:pPr>
            <a:r>
              <a:t>Kill criteria: 2 weeks quality drop, any safety error reaching a dealer, or dealer opt-out above 15%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31520" y="644652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767676"/>
                </a:solidFill>
                <a:latin typeface="Calibri"/>
              </a:defRPr>
            </a:pPr>
            <a:r>
              <a:t>SRAM AI Adoption Playbook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515600" y="644652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 i="0">
                <a:solidFill>
                  <a:srgbClr val="767676"/>
                </a:solidFill>
                <a:latin typeface="Calibri"/>
              </a:defRPr>
            </a:pPr>
            <a:r>
              <a:t>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5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5486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767676"/>
                </a:solidFill>
                <a:latin typeface="Calibri"/>
              </a:defRPr>
            </a:pPr>
            <a:r>
              <a:t>THE TIMELINE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548640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 i="0">
                <a:solidFill>
                  <a:srgbClr val="1C1C1E"/>
                </a:solidFill>
                <a:latin typeface="Calibri"/>
              </a:defRPr>
            </a:pPr>
            <a:r>
              <a:t>90-day pilot mapped to SMART goals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051560"/>
            <a:ext cx="731520" cy="38100"/>
          </a:xfrm>
          <a:prstGeom prst="rect">
            <a:avLst/>
          </a:prstGeom>
          <a:solidFill>
            <a:srgbClr val="E5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0" y="1280160"/>
            <a:ext cx="2590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 i="0">
                <a:solidFill>
                  <a:srgbClr val="767676"/>
                </a:solidFill>
                <a:latin typeface="Calibri"/>
              </a:defRPr>
            </a:pPr>
            <a:r>
              <a:t>Month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48400" y="1280160"/>
            <a:ext cx="2590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 i="0">
                <a:solidFill>
                  <a:srgbClr val="767676"/>
                </a:solidFill>
                <a:latin typeface="Calibri"/>
              </a:defRPr>
            </a:pPr>
            <a:r>
              <a:t>Month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839200" y="1280160"/>
            <a:ext cx="2590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 i="0">
                <a:solidFill>
                  <a:srgbClr val="767676"/>
                </a:solidFill>
                <a:latin typeface="Calibri"/>
              </a:defRPr>
            </a:pPr>
            <a:r>
              <a:t>Month 3</a:t>
            </a:r>
          </a:p>
        </p:txBody>
      </p:sp>
      <p:sp>
        <p:nvSpPr>
          <p:cNvPr id="8" name="Rectangle 7"/>
          <p:cNvSpPr/>
          <p:nvPr/>
        </p:nvSpPr>
        <p:spPr>
          <a:xfrm>
            <a:off x="6248400" y="1508760"/>
            <a:ext cx="12700" cy="4572000"/>
          </a:xfrm>
          <a:prstGeom prst="rect">
            <a:avLst/>
          </a:prstGeom>
          <a:solidFill>
            <a:srgbClr val="E0E0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8839200" y="1508760"/>
            <a:ext cx="12700" cy="4572000"/>
          </a:xfrm>
          <a:prstGeom prst="rect">
            <a:avLst/>
          </a:prstGeom>
          <a:solidFill>
            <a:srgbClr val="E0E0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731520" y="1554480"/>
            <a:ext cx="10698480" cy="347472"/>
          </a:xfrm>
          <a:prstGeom prst="roundRect">
            <a:avLst>
              <a:gd name="adj" fmla="val 1000"/>
            </a:avLst>
          </a:prstGeom>
          <a:solidFill>
            <a:srgbClr val="F0F0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1600200"/>
            <a:ext cx="25603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 i="0">
                <a:solidFill>
                  <a:srgbClr val="1C1C1E"/>
                </a:solidFill>
                <a:latin typeface="Calibri"/>
              </a:defRPr>
            </a:pPr>
            <a:r>
              <a:t>Setup + Integration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657600" y="1609344"/>
            <a:ext cx="2590800" cy="219456"/>
          </a:xfrm>
          <a:prstGeom prst="roundRect">
            <a:avLst>
              <a:gd name="adj" fmla="val 15000"/>
            </a:avLst>
          </a:prstGeom>
          <a:solidFill>
            <a:srgbClr val="D4E4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749040" y="1609344"/>
            <a:ext cx="2407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 i="0">
                <a:solidFill>
                  <a:srgbClr val="1C1C1E"/>
                </a:solidFill>
                <a:latin typeface="Calibri"/>
              </a:defRPr>
            </a:pPr>
            <a:r>
              <a:t>Zendesk + Kendra + Bedrock integration; baseline metrics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1947672"/>
            <a:ext cx="25603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 i="0">
                <a:solidFill>
                  <a:srgbClr val="1C1C1E"/>
                </a:solidFill>
                <a:latin typeface="Calibri"/>
              </a:defRPr>
            </a:pPr>
            <a:r>
              <a:t>Knowledge Base Indexing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657600" y="1956816"/>
            <a:ext cx="1813560" cy="219456"/>
          </a:xfrm>
          <a:prstGeom prst="roundRect">
            <a:avLst>
              <a:gd name="adj" fmla="val 15000"/>
            </a:avLst>
          </a:prstGeom>
          <a:solidFill>
            <a:srgbClr val="D4E4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1520" y="644652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767676"/>
                </a:solidFill>
                <a:latin typeface="Calibri"/>
              </a:defRPr>
            </a:pPr>
            <a:r>
              <a:t>SRAM AI Adoption Playbook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515600" y="644652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 i="0">
                <a:solidFill>
                  <a:srgbClr val="767676"/>
                </a:solidFill>
                <a:latin typeface="Calibri"/>
              </a:defRPr>
            </a:pPr>
            <a:r>
              <a:t>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5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5486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767676"/>
                </a:solidFill>
                <a:latin typeface="Calibri"/>
              </a:defRPr>
            </a:pPr>
            <a:r>
              <a:t>THE TIMELINE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548640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 i="0">
                <a:solidFill>
                  <a:srgbClr val="1C1C1E"/>
                </a:solidFill>
                <a:latin typeface="Calibri"/>
              </a:defRPr>
            </a:pPr>
            <a:r>
              <a:t>90-day pilot mapped to SMART goals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051560"/>
            <a:ext cx="731520" cy="38100"/>
          </a:xfrm>
          <a:prstGeom prst="rect">
            <a:avLst/>
          </a:prstGeom>
          <a:solidFill>
            <a:srgbClr val="E5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0" y="1280160"/>
            <a:ext cx="2590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 i="0">
                <a:solidFill>
                  <a:srgbClr val="767676"/>
                </a:solidFill>
                <a:latin typeface="Calibri"/>
              </a:defRPr>
            </a:pPr>
            <a:r>
              <a:t>Month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48400" y="1280160"/>
            <a:ext cx="2590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 i="0">
                <a:solidFill>
                  <a:srgbClr val="767676"/>
                </a:solidFill>
                <a:latin typeface="Calibri"/>
              </a:defRPr>
            </a:pPr>
            <a:r>
              <a:t>Month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839200" y="1280160"/>
            <a:ext cx="2590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 i="0">
                <a:solidFill>
                  <a:srgbClr val="767676"/>
                </a:solidFill>
                <a:latin typeface="Calibri"/>
              </a:defRPr>
            </a:pPr>
            <a:r>
              <a:t>Month 3</a:t>
            </a:r>
          </a:p>
        </p:txBody>
      </p:sp>
      <p:sp>
        <p:nvSpPr>
          <p:cNvPr id="8" name="Rectangle 7"/>
          <p:cNvSpPr/>
          <p:nvPr/>
        </p:nvSpPr>
        <p:spPr>
          <a:xfrm>
            <a:off x="6248400" y="1508760"/>
            <a:ext cx="12700" cy="4572000"/>
          </a:xfrm>
          <a:prstGeom prst="rect">
            <a:avLst/>
          </a:prstGeom>
          <a:solidFill>
            <a:srgbClr val="E0E0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8839200" y="1508760"/>
            <a:ext cx="12700" cy="4572000"/>
          </a:xfrm>
          <a:prstGeom prst="rect">
            <a:avLst/>
          </a:prstGeom>
          <a:solidFill>
            <a:srgbClr val="E0E0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731520" y="1554480"/>
            <a:ext cx="10698480" cy="347472"/>
          </a:xfrm>
          <a:prstGeom prst="roundRect">
            <a:avLst>
              <a:gd name="adj" fmla="val 1000"/>
            </a:avLst>
          </a:prstGeom>
          <a:solidFill>
            <a:srgbClr val="F0F0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1600200"/>
            <a:ext cx="25603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 i="0">
                <a:solidFill>
                  <a:srgbClr val="1C1C1E"/>
                </a:solidFill>
                <a:latin typeface="Calibri"/>
              </a:defRPr>
            </a:pPr>
            <a:r>
              <a:t>Setup + Integration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657600" y="1609344"/>
            <a:ext cx="2590800" cy="219456"/>
          </a:xfrm>
          <a:prstGeom prst="roundRect">
            <a:avLst>
              <a:gd name="adj" fmla="val 15000"/>
            </a:avLst>
          </a:prstGeom>
          <a:solidFill>
            <a:srgbClr val="D4E4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749040" y="1609344"/>
            <a:ext cx="2407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 i="0">
                <a:solidFill>
                  <a:srgbClr val="1C1C1E"/>
                </a:solidFill>
                <a:latin typeface="Calibri"/>
              </a:defRPr>
            </a:pPr>
            <a:r>
              <a:t>Zendesk + Kendra + Bedrock integration; baseline metrics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1947672"/>
            <a:ext cx="25603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 i="0">
                <a:solidFill>
                  <a:srgbClr val="1C1C1E"/>
                </a:solidFill>
                <a:latin typeface="Calibri"/>
              </a:defRPr>
            </a:pPr>
            <a:r>
              <a:t>Knowledge Base Indexing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657600" y="1956816"/>
            <a:ext cx="1813560" cy="219456"/>
          </a:xfrm>
          <a:prstGeom prst="roundRect">
            <a:avLst>
              <a:gd name="adj" fmla="val 15000"/>
            </a:avLst>
          </a:prstGeom>
          <a:solidFill>
            <a:srgbClr val="D4E4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731520" y="2249424"/>
            <a:ext cx="10698480" cy="347472"/>
          </a:xfrm>
          <a:prstGeom prst="roundRect">
            <a:avLst>
              <a:gd name="adj" fmla="val 1000"/>
            </a:avLst>
          </a:prstGeom>
          <a:solidFill>
            <a:srgbClr val="F0F0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31520" y="2295144"/>
            <a:ext cx="25603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 i="0">
                <a:solidFill>
                  <a:srgbClr val="1C1C1E"/>
                </a:solidFill>
                <a:latin typeface="Calibri"/>
              </a:defRPr>
            </a:pPr>
            <a:r>
              <a:t>AI Draft Rollout (AXS)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108960" y="2295144"/>
            <a:ext cx="457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 i="0">
                <a:solidFill>
                  <a:srgbClr val="E51937"/>
                </a:solidFill>
                <a:latin typeface="Calibri"/>
              </a:defRPr>
            </a:pPr>
            <a:r>
              <a:t>G3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471160" y="2304288"/>
            <a:ext cx="3368040" cy="219456"/>
          </a:xfrm>
          <a:prstGeom prst="roundRect">
            <a:avLst>
              <a:gd name="adj" fmla="val 15000"/>
            </a:avLst>
          </a:prstGeom>
          <a:solidFill>
            <a:srgbClr val="2D5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562600" y="2304288"/>
            <a:ext cx="31851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 i="0">
                <a:solidFill>
                  <a:srgbClr val="FFFFFF"/>
                </a:solidFill>
                <a:latin typeface="Calibri"/>
              </a:defRPr>
            </a:pPr>
            <a:r>
              <a:t>AI drafts responses; agents review 100%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1520" y="2642616"/>
            <a:ext cx="25603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 i="0">
                <a:solidFill>
                  <a:srgbClr val="1C1C1E"/>
                </a:solidFill>
                <a:latin typeface="Calibri"/>
              </a:defRPr>
            </a:pPr>
            <a:r>
              <a:t>AI Draft Rollout (Hammerhead)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108960" y="2642616"/>
            <a:ext cx="457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 i="0">
                <a:solidFill>
                  <a:srgbClr val="E51937"/>
                </a:solidFill>
                <a:latin typeface="Calibri"/>
              </a:defRPr>
            </a:pPr>
            <a:r>
              <a:t>G3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766560" y="2651760"/>
            <a:ext cx="2590800" cy="219456"/>
          </a:xfrm>
          <a:prstGeom prst="roundRect">
            <a:avLst>
              <a:gd name="adj" fmla="val 15000"/>
            </a:avLst>
          </a:prstGeom>
          <a:solidFill>
            <a:srgbClr val="2D5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858000" y="2651760"/>
            <a:ext cx="2407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 i="0">
                <a:solidFill>
                  <a:srgbClr val="FFFFFF"/>
                </a:solidFill>
                <a:latin typeface="Calibri"/>
              </a:defRPr>
            </a:pPr>
            <a:r>
              <a:t>Expand to Hammerhead device tickets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31520" y="2944368"/>
            <a:ext cx="10698480" cy="347472"/>
          </a:xfrm>
          <a:prstGeom prst="roundRect">
            <a:avLst>
              <a:gd name="adj" fmla="val 1000"/>
            </a:avLst>
          </a:prstGeom>
          <a:solidFill>
            <a:srgbClr val="F0F0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31520" y="2990088"/>
            <a:ext cx="25603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 i="0">
                <a:solidFill>
                  <a:srgbClr val="1C1C1E"/>
                </a:solidFill>
                <a:latin typeface="Calibri"/>
              </a:defRPr>
            </a:pPr>
            <a:r>
              <a:t>Response Time Tracking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108960" y="2990088"/>
            <a:ext cx="457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 i="0">
                <a:solidFill>
                  <a:srgbClr val="E51937"/>
                </a:solidFill>
                <a:latin typeface="Calibri"/>
              </a:defRPr>
            </a:pPr>
            <a:r>
              <a:t>G1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953000" y="2999232"/>
            <a:ext cx="6477000" cy="219456"/>
          </a:xfrm>
          <a:prstGeom prst="roundRect">
            <a:avLst>
              <a:gd name="adj" fmla="val 15000"/>
            </a:avLst>
          </a:prstGeom>
          <a:solidFill>
            <a:srgbClr val="2D5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044440" y="2999232"/>
            <a:ext cx="62941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 i="0">
                <a:solidFill>
                  <a:srgbClr val="FFFFFF"/>
                </a:solidFill>
                <a:latin typeface="Calibri"/>
              </a:defRPr>
            </a:pPr>
            <a:r>
              <a:t>Weekly measurement vs. SLA baseline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31520" y="3337560"/>
            <a:ext cx="25603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 i="0">
                <a:solidFill>
                  <a:srgbClr val="1C1C1E"/>
                </a:solidFill>
                <a:latin typeface="Calibri"/>
              </a:defRPr>
            </a:pPr>
            <a:r>
              <a:t>Escalation Rate Tracking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108960" y="3337560"/>
            <a:ext cx="457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 i="0">
                <a:solidFill>
                  <a:srgbClr val="E51937"/>
                </a:solidFill>
                <a:latin typeface="Calibri"/>
              </a:defRPr>
            </a:pPr>
            <a:r>
              <a:t>G2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4953000" y="3346704"/>
            <a:ext cx="6477000" cy="219456"/>
          </a:xfrm>
          <a:prstGeom prst="roundRect">
            <a:avLst>
              <a:gd name="adj" fmla="val 15000"/>
            </a:avLst>
          </a:prstGeom>
          <a:solidFill>
            <a:srgbClr val="2D5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044440" y="3346704"/>
            <a:ext cx="62941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 i="0">
                <a:solidFill>
                  <a:srgbClr val="FFFFFF"/>
                </a:solidFill>
                <a:latin typeface="Calibri"/>
              </a:defRPr>
            </a:pPr>
            <a:r>
              <a:t>Weekly measurement vs. baseline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731520" y="3639312"/>
            <a:ext cx="10698480" cy="347472"/>
          </a:xfrm>
          <a:prstGeom prst="roundRect">
            <a:avLst>
              <a:gd name="adj" fmla="val 1000"/>
            </a:avLst>
          </a:prstGeom>
          <a:solidFill>
            <a:srgbClr val="F0F0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31520" y="3685032"/>
            <a:ext cx="25603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 i="0">
                <a:solidFill>
                  <a:srgbClr val="1C1C1E"/>
                </a:solidFill>
                <a:latin typeface="Calibri"/>
              </a:defRPr>
            </a:pPr>
            <a:r>
              <a:t>Throughput Measurement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108960" y="3685032"/>
            <a:ext cx="457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 i="0">
                <a:solidFill>
                  <a:srgbClr val="E51937"/>
                </a:solidFill>
                <a:latin typeface="Calibri"/>
              </a:defRPr>
            </a:pPr>
            <a:r>
              <a:t>G4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6248400" y="3694176"/>
            <a:ext cx="5181600" cy="219456"/>
          </a:xfrm>
          <a:prstGeom prst="roundRect">
            <a:avLst>
              <a:gd name="adj" fmla="val 15000"/>
            </a:avLst>
          </a:prstGeom>
          <a:solidFill>
            <a:srgbClr val="2D5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339840" y="3694176"/>
            <a:ext cx="49987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 i="0">
                <a:solidFill>
                  <a:srgbClr val="FFFFFF"/>
                </a:solidFill>
                <a:latin typeface="Calibri"/>
              </a:defRPr>
            </a:pPr>
            <a:r>
              <a:t>Tickets/agent/day tracked weekly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31520" y="4032504"/>
            <a:ext cx="25603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 i="0">
                <a:solidFill>
                  <a:srgbClr val="1C1C1E"/>
                </a:solidFill>
                <a:latin typeface="Calibri"/>
              </a:defRPr>
            </a:pPr>
            <a:r>
              <a:t>CSAT Monitoring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108960" y="4032504"/>
            <a:ext cx="457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 i="0">
                <a:solidFill>
                  <a:srgbClr val="E51937"/>
                </a:solidFill>
                <a:latin typeface="Calibri"/>
              </a:defRPr>
            </a:pPr>
            <a:r>
              <a:t>G5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4953000" y="4041648"/>
            <a:ext cx="6477000" cy="219456"/>
          </a:xfrm>
          <a:prstGeom prst="roundRect">
            <a:avLst>
              <a:gd name="adj" fmla="val 15000"/>
            </a:avLst>
          </a:prstGeom>
          <a:solidFill>
            <a:srgbClr val="2D5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5044440" y="4041648"/>
            <a:ext cx="62941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 i="0">
                <a:solidFill>
                  <a:srgbClr val="FFFFFF"/>
                </a:solidFill>
                <a:latin typeface="Calibri"/>
              </a:defRPr>
            </a:pPr>
            <a:r>
              <a:t>No decline for 2 consecutive periods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731520" y="644652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767676"/>
                </a:solidFill>
                <a:latin typeface="Calibri"/>
              </a:defRPr>
            </a:pPr>
            <a:r>
              <a:t>SRAM AI Adoption Playbook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515600" y="644652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 i="0">
                <a:solidFill>
                  <a:srgbClr val="767676"/>
                </a:solidFill>
                <a:latin typeface="Calibri"/>
              </a:defRPr>
            </a:pPr>
            <a:r>
              <a:t>7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5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5486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767676"/>
                </a:solidFill>
                <a:latin typeface="Calibri"/>
              </a:defRPr>
            </a:pPr>
            <a:r>
              <a:t>THE TIMELINE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548640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 i="0">
                <a:solidFill>
                  <a:srgbClr val="1C1C1E"/>
                </a:solidFill>
                <a:latin typeface="Calibri"/>
              </a:defRPr>
            </a:pPr>
            <a:r>
              <a:t>90-day pilot mapped to SMART goals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051560"/>
            <a:ext cx="731520" cy="38100"/>
          </a:xfrm>
          <a:prstGeom prst="rect">
            <a:avLst/>
          </a:prstGeom>
          <a:solidFill>
            <a:srgbClr val="E5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0" y="1280160"/>
            <a:ext cx="2590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 i="0">
                <a:solidFill>
                  <a:srgbClr val="767676"/>
                </a:solidFill>
                <a:latin typeface="Calibri"/>
              </a:defRPr>
            </a:pPr>
            <a:r>
              <a:t>Month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48400" y="1280160"/>
            <a:ext cx="2590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 i="0">
                <a:solidFill>
                  <a:srgbClr val="767676"/>
                </a:solidFill>
                <a:latin typeface="Calibri"/>
              </a:defRPr>
            </a:pPr>
            <a:r>
              <a:t>Month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839200" y="1280160"/>
            <a:ext cx="2590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 i="0">
                <a:solidFill>
                  <a:srgbClr val="767676"/>
                </a:solidFill>
                <a:latin typeface="Calibri"/>
              </a:defRPr>
            </a:pPr>
            <a:r>
              <a:t>Month 3</a:t>
            </a:r>
          </a:p>
        </p:txBody>
      </p:sp>
      <p:sp>
        <p:nvSpPr>
          <p:cNvPr id="8" name="Rectangle 7"/>
          <p:cNvSpPr/>
          <p:nvPr/>
        </p:nvSpPr>
        <p:spPr>
          <a:xfrm>
            <a:off x="6248400" y="1508760"/>
            <a:ext cx="12700" cy="4572000"/>
          </a:xfrm>
          <a:prstGeom prst="rect">
            <a:avLst/>
          </a:prstGeom>
          <a:solidFill>
            <a:srgbClr val="E0E0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8839200" y="1508760"/>
            <a:ext cx="12700" cy="4572000"/>
          </a:xfrm>
          <a:prstGeom prst="rect">
            <a:avLst/>
          </a:prstGeom>
          <a:solidFill>
            <a:srgbClr val="E0E0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731520" y="1554480"/>
            <a:ext cx="10698480" cy="347472"/>
          </a:xfrm>
          <a:prstGeom prst="roundRect">
            <a:avLst>
              <a:gd name="adj" fmla="val 1000"/>
            </a:avLst>
          </a:prstGeom>
          <a:solidFill>
            <a:srgbClr val="F0F0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1600200"/>
            <a:ext cx="25603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 i="0">
                <a:solidFill>
                  <a:srgbClr val="1C1C1E"/>
                </a:solidFill>
                <a:latin typeface="Calibri"/>
              </a:defRPr>
            </a:pPr>
            <a:r>
              <a:t>Setup + Integration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657600" y="1609344"/>
            <a:ext cx="2590800" cy="219456"/>
          </a:xfrm>
          <a:prstGeom prst="roundRect">
            <a:avLst>
              <a:gd name="adj" fmla="val 15000"/>
            </a:avLst>
          </a:prstGeom>
          <a:solidFill>
            <a:srgbClr val="D4E4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749040" y="1609344"/>
            <a:ext cx="2407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 i="0">
                <a:solidFill>
                  <a:srgbClr val="1C1C1E"/>
                </a:solidFill>
                <a:latin typeface="Calibri"/>
              </a:defRPr>
            </a:pPr>
            <a:r>
              <a:t>Zendesk + Kendra + Bedrock integration; baseline metrics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1947672"/>
            <a:ext cx="25603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 i="0">
                <a:solidFill>
                  <a:srgbClr val="1C1C1E"/>
                </a:solidFill>
                <a:latin typeface="Calibri"/>
              </a:defRPr>
            </a:pPr>
            <a:r>
              <a:t>Knowledge Base Indexing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657600" y="1956816"/>
            <a:ext cx="1813560" cy="219456"/>
          </a:xfrm>
          <a:prstGeom prst="roundRect">
            <a:avLst>
              <a:gd name="adj" fmla="val 15000"/>
            </a:avLst>
          </a:prstGeom>
          <a:solidFill>
            <a:srgbClr val="D4E4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731520" y="2249424"/>
            <a:ext cx="10698480" cy="347472"/>
          </a:xfrm>
          <a:prstGeom prst="roundRect">
            <a:avLst>
              <a:gd name="adj" fmla="val 1000"/>
            </a:avLst>
          </a:prstGeom>
          <a:solidFill>
            <a:srgbClr val="F0F0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31520" y="2295144"/>
            <a:ext cx="25603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 i="0">
                <a:solidFill>
                  <a:srgbClr val="1C1C1E"/>
                </a:solidFill>
                <a:latin typeface="Calibri"/>
              </a:defRPr>
            </a:pPr>
            <a:r>
              <a:t>AI Draft Rollout (AXS)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108960" y="2295144"/>
            <a:ext cx="457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 i="0">
                <a:solidFill>
                  <a:srgbClr val="E51937"/>
                </a:solidFill>
                <a:latin typeface="Calibri"/>
              </a:defRPr>
            </a:pPr>
            <a:r>
              <a:t>G3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471160" y="2304288"/>
            <a:ext cx="3368040" cy="219456"/>
          </a:xfrm>
          <a:prstGeom prst="roundRect">
            <a:avLst>
              <a:gd name="adj" fmla="val 15000"/>
            </a:avLst>
          </a:prstGeom>
          <a:solidFill>
            <a:srgbClr val="2D5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562600" y="2304288"/>
            <a:ext cx="31851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 i="0">
                <a:solidFill>
                  <a:srgbClr val="FFFFFF"/>
                </a:solidFill>
                <a:latin typeface="Calibri"/>
              </a:defRPr>
            </a:pPr>
            <a:r>
              <a:t>AI drafts responses; agents review 100%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1520" y="2642616"/>
            <a:ext cx="25603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 i="0">
                <a:solidFill>
                  <a:srgbClr val="1C1C1E"/>
                </a:solidFill>
                <a:latin typeface="Calibri"/>
              </a:defRPr>
            </a:pPr>
            <a:r>
              <a:t>AI Draft Rollout (Hammerhead)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108960" y="2642616"/>
            <a:ext cx="457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 i="0">
                <a:solidFill>
                  <a:srgbClr val="E51937"/>
                </a:solidFill>
                <a:latin typeface="Calibri"/>
              </a:defRPr>
            </a:pPr>
            <a:r>
              <a:t>G3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766560" y="2651760"/>
            <a:ext cx="2590800" cy="219456"/>
          </a:xfrm>
          <a:prstGeom prst="roundRect">
            <a:avLst>
              <a:gd name="adj" fmla="val 15000"/>
            </a:avLst>
          </a:prstGeom>
          <a:solidFill>
            <a:srgbClr val="2D5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858000" y="2651760"/>
            <a:ext cx="2407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 i="0">
                <a:solidFill>
                  <a:srgbClr val="FFFFFF"/>
                </a:solidFill>
                <a:latin typeface="Calibri"/>
              </a:defRPr>
            </a:pPr>
            <a:r>
              <a:t>Expand to Hammerhead device tickets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31520" y="2944368"/>
            <a:ext cx="10698480" cy="347472"/>
          </a:xfrm>
          <a:prstGeom prst="roundRect">
            <a:avLst>
              <a:gd name="adj" fmla="val 1000"/>
            </a:avLst>
          </a:prstGeom>
          <a:solidFill>
            <a:srgbClr val="F0F0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31520" y="2990088"/>
            <a:ext cx="25603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 i="0">
                <a:solidFill>
                  <a:srgbClr val="1C1C1E"/>
                </a:solidFill>
                <a:latin typeface="Calibri"/>
              </a:defRPr>
            </a:pPr>
            <a:r>
              <a:t>Response Time Tracking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108960" y="2990088"/>
            <a:ext cx="457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 i="0">
                <a:solidFill>
                  <a:srgbClr val="E51937"/>
                </a:solidFill>
                <a:latin typeface="Calibri"/>
              </a:defRPr>
            </a:pPr>
            <a:r>
              <a:t>G1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953000" y="2999232"/>
            <a:ext cx="6477000" cy="219456"/>
          </a:xfrm>
          <a:prstGeom prst="roundRect">
            <a:avLst>
              <a:gd name="adj" fmla="val 15000"/>
            </a:avLst>
          </a:prstGeom>
          <a:solidFill>
            <a:srgbClr val="2D5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044440" y="2999232"/>
            <a:ext cx="62941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 i="0">
                <a:solidFill>
                  <a:srgbClr val="FFFFFF"/>
                </a:solidFill>
                <a:latin typeface="Calibri"/>
              </a:defRPr>
            </a:pPr>
            <a:r>
              <a:t>Weekly measurement vs. SLA baseline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31520" y="3337560"/>
            <a:ext cx="25603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 i="0">
                <a:solidFill>
                  <a:srgbClr val="1C1C1E"/>
                </a:solidFill>
                <a:latin typeface="Calibri"/>
              </a:defRPr>
            </a:pPr>
            <a:r>
              <a:t>Escalation Rate Tracking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108960" y="3337560"/>
            <a:ext cx="457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 i="0">
                <a:solidFill>
                  <a:srgbClr val="E51937"/>
                </a:solidFill>
                <a:latin typeface="Calibri"/>
              </a:defRPr>
            </a:pPr>
            <a:r>
              <a:t>G2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4953000" y="3346704"/>
            <a:ext cx="6477000" cy="219456"/>
          </a:xfrm>
          <a:prstGeom prst="roundRect">
            <a:avLst>
              <a:gd name="adj" fmla="val 15000"/>
            </a:avLst>
          </a:prstGeom>
          <a:solidFill>
            <a:srgbClr val="2D5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044440" y="3346704"/>
            <a:ext cx="62941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 i="0">
                <a:solidFill>
                  <a:srgbClr val="FFFFFF"/>
                </a:solidFill>
                <a:latin typeface="Calibri"/>
              </a:defRPr>
            </a:pPr>
            <a:r>
              <a:t>Weekly measurement vs. baseline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731520" y="3639312"/>
            <a:ext cx="10698480" cy="347472"/>
          </a:xfrm>
          <a:prstGeom prst="roundRect">
            <a:avLst>
              <a:gd name="adj" fmla="val 1000"/>
            </a:avLst>
          </a:prstGeom>
          <a:solidFill>
            <a:srgbClr val="F0F0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31520" y="3685032"/>
            <a:ext cx="25603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 i="0">
                <a:solidFill>
                  <a:srgbClr val="1C1C1E"/>
                </a:solidFill>
                <a:latin typeface="Calibri"/>
              </a:defRPr>
            </a:pPr>
            <a:r>
              <a:t>Throughput Measurement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108960" y="3685032"/>
            <a:ext cx="457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 i="0">
                <a:solidFill>
                  <a:srgbClr val="E51937"/>
                </a:solidFill>
                <a:latin typeface="Calibri"/>
              </a:defRPr>
            </a:pPr>
            <a:r>
              <a:t>G4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6248400" y="3694176"/>
            <a:ext cx="5181600" cy="219456"/>
          </a:xfrm>
          <a:prstGeom prst="roundRect">
            <a:avLst>
              <a:gd name="adj" fmla="val 15000"/>
            </a:avLst>
          </a:prstGeom>
          <a:solidFill>
            <a:srgbClr val="2D5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339840" y="3694176"/>
            <a:ext cx="49987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 i="0">
                <a:solidFill>
                  <a:srgbClr val="FFFFFF"/>
                </a:solidFill>
                <a:latin typeface="Calibri"/>
              </a:defRPr>
            </a:pPr>
            <a:r>
              <a:t>Tickets/agent/day tracked weekly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31520" y="4032504"/>
            <a:ext cx="25603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 i="0">
                <a:solidFill>
                  <a:srgbClr val="1C1C1E"/>
                </a:solidFill>
                <a:latin typeface="Calibri"/>
              </a:defRPr>
            </a:pPr>
            <a:r>
              <a:t>CSAT Monitoring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108960" y="4032504"/>
            <a:ext cx="457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 i="0">
                <a:solidFill>
                  <a:srgbClr val="E51937"/>
                </a:solidFill>
                <a:latin typeface="Calibri"/>
              </a:defRPr>
            </a:pPr>
            <a:r>
              <a:t>G5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4953000" y="4041648"/>
            <a:ext cx="6477000" cy="219456"/>
          </a:xfrm>
          <a:prstGeom prst="roundRect">
            <a:avLst>
              <a:gd name="adj" fmla="val 15000"/>
            </a:avLst>
          </a:prstGeom>
          <a:solidFill>
            <a:srgbClr val="2D5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5044440" y="4041648"/>
            <a:ext cx="62941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 i="0">
                <a:solidFill>
                  <a:srgbClr val="FFFFFF"/>
                </a:solidFill>
                <a:latin typeface="Calibri"/>
              </a:defRPr>
            </a:pPr>
            <a:r>
              <a:t>No decline for 2 consecutive periods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731520" y="4334256"/>
            <a:ext cx="10698480" cy="347472"/>
          </a:xfrm>
          <a:prstGeom prst="roundRect">
            <a:avLst>
              <a:gd name="adj" fmla="val 1000"/>
            </a:avLst>
          </a:prstGeom>
          <a:solidFill>
            <a:srgbClr val="F0F0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731520" y="4379976"/>
            <a:ext cx="25603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 i="0">
                <a:solidFill>
                  <a:srgbClr val="1C1C1E"/>
                </a:solidFill>
                <a:latin typeface="Calibri"/>
              </a:defRPr>
            </a:pPr>
            <a:r>
              <a:t>Weekly Quality Reviews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4953000" y="4389120"/>
            <a:ext cx="6477000" cy="219456"/>
          </a:xfrm>
          <a:prstGeom prst="roundRect">
            <a:avLst>
              <a:gd name="adj" fmla="val 15000"/>
            </a:avLst>
          </a:prstGeom>
          <a:solidFill>
            <a:srgbClr val="7676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5044440" y="4389120"/>
            <a:ext cx="62941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 i="0">
                <a:solidFill>
                  <a:srgbClr val="1C1C1E"/>
                </a:solidFill>
                <a:latin typeface="Calibri"/>
              </a:defRPr>
            </a:pPr>
            <a:r>
              <a:t>Rollback trigger if quality drops 2 weeks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31520" y="4727448"/>
            <a:ext cx="25603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 i="0">
                <a:solidFill>
                  <a:srgbClr val="1C1C1E"/>
                </a:solidFill>
                <a:latin typeface="Calibri"/>
              </a:defRPr>
            </a:pPr>
            <a:r>
              <a:t>Day-45 Checkpoint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7543800" y="4736592"/>
            <a:ext cx="388620" cy="219456"/>
          </a:xfrm>
          <a:prstGeom prst="roundRect">
            <a:avLst>
              <a:gd name="adj" fmla="val 15000"/>
            </a:avLst>
          </a:prstGeom>
          <a:solidFill>
            <a:srgbClr val="E5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ounded Rectangle 48"/>
          <p:cNvSpPr/>
          <p:nvPr/>
        </p:nvSpPr>
        <p:spPr>
          <a:xfrm>
            <a:off x="731520" y="5029200"/>
            <a:ext cx="10698480" cy="347472"/>
          </a:xfrm>
          <a:prstGeom prst="roundRect">
            <a:avLst>
              <a:gd name="adj" fmla="val 1000"/>
            </a:avLst>
          </a:prstGeom>
          <a:solidFill>
            <a:srgbClr val="F0F0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731520" y="5074920"/>
            <a:ext cx="25603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 i="0">
                <a:solidFill>
                  <a:srgbClr val="1C1C1E"/>
                </a:solidFill>
                <a:latin typeface="Calibri"/>
              </a:defRPr>
            </a:pPr>
            <a:r>
              <a:t>Day-90 Go/No-Go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11041380" y="5084064"/>
            <a:ext cx="388620" cy="219456"/>
          </a:xfrm>
          <a:prstGeom prst="roundRect">
            <a:avLst>
              <a:gd name="adj" fmla="val 15000"/>
            </a:avLst>
          </a:prstGeom>
          <a:solidFill>
            <a:srgbClr val="E5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731520" y="5577840"/>
            <a:ext cx="10058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 i="0">
                <a:solidFill>
                  <a:srgbClr val="767676"/>
                </a:solidFill>
                <a:latin typeface="Calibri"/>
              </a:defRPr>
            </a:pPr>
            <a:r>
              <a:t>Day-45 checkpoint: scope review if draft acceptance &lt; 50%  |  Day-90: go / no-go decision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731520" y="644652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767676"/>
                </a:solidFill>
                <a:latin typeface="Calibri"/>
              </a:defRPr>
            </a:pPr>
            <a:r>
              <a:t>SRAM AI Adoption Playbook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0515600" y="644652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 i="0">
                <a:solidFill>
                  <a:srgbClr val="767676"/>
                </a:solidFill>
                <a:latin typeface="Calibri"/>
              </a:defRPr>
            </a:pPr>
            <a:r>
              <a:t>7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5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5486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767676"/>
                </a:solidFill>
                <a:latin typeface="Calibri"/>
              </a:defRPr>
            </a:pPr>
            <a:r>
              <a:t>THE RETURN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548640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 i="0">
                <a:solidFill>
                  <a:srgbClr val="1C1C1E"/>
                </a:solidFill>
                <a:latin typeface="Calibri"/>
              </a:defRPr>
            </a:pPr>
            <a:r>
              <a:t>$10.2M net value in Year 1 on $2.7M spend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051560"/>
            <a:ext cx="731520" cy="38100"/>
          </a:xfrm>
          <a:prstGeom prst="rect">
            <a:avLst/>
          </a:prstGeom>
          <a:solidFill>
            <a:srgbClr val="E5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463040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 i="0">
                <a:solidFill>
                  <a:srgbClr val="1C1C1E"/>
                </a:solidFill>
                <a:latin typeface="Calibri"/>
              </a:defRPr>
            </a:pPr>
            <a:r>
              <a:t>Scenario Range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103120"/>
            <a:ext cx="1828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 i="0">
                <a:solidFill>
                  <a:srgbClr val="767676"/>
                </a:solidFill>
                <a:latin typeface="Calibri"/>
              </a:defRPr>
            </a:pPr>
            <a:r>
              <a:t>Conservative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743200" y="2103120"/>
            <a:ext cx="1645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 i="0">
                <a:solidFill>
                  <a:srgbClr val="1C1C1E"/>
                </a:solidFill>
                <a:latin typeface="Calibri"/>
              </a:defRPr>
            </a:pPr>
            <a:r>
              <a:t>$4.5M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89120" y="214884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 i="0">
                <a:solidFill>
                  <a:srgbClr val="767676"/>
                </a:solidFill>
                <a:latin typeface="Calibri"/>
              </a:defRPr>
            </a:pPr>
            <a:r>
              <a:t>2.8x ROI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2834640"/>
            <a:ext cx="5029200" cy="731520"/>
          </a:xfrm>
          <a:prstGeom prst="roundRect">
            <a:avLst>
              <a:gd name="adj" fmla="val 2000"/>
            </a:avLst>
          </a:prstGeom>
          <a:solidFill>
            <a:srgbClr val="FDF0F2"/>
          </a:solidFill>
          <a:ln w="12700">
            <a:solidFill>
              <a:srgbClr val="E519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2926080"/>
            <a:ext cx="1828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 i="0">
                <a:solidFill>
                  <a:srgbClr val="767676"/>
                </a:solidFill>
                <a:latin typeface="Calibri"/>
              </a:defRPr>
            </a:pPr>
            <a:r>
              <a:t>Expected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43200" y="2926080"/>
            <a:ext cx="1645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 i="0">
                <a:solidFill>
                  <a:srgbClr val="1C1C1E"/>
                </a:solidFill>
                <a:latin typeface="Calibri"/>
              </a:defRPr>
            </a:pPr>
            <a:r>
              <a:t>$10.2M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89120" y="297180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 i="0">
                <a:solidFill>
                  <a:srgbClr val="767676"/>
                </a:solidFill>
                <a:latin typeface="Calibri"/>
              </a:defRPr>
            </a:pPr>
            <a:r>
              <a:t>3.8x ROI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3749040"/>
            <a:ext cx="1828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 i="0">
                <a:solidFill>
                  <a:srgbClr val="767676"/>
                </a:solidFill>
                <a:latin typeface="Calibri"/>
              </a:defRPr>
            </a:pPr>
            <a:r>
              <a:t>Upside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743200" y="3749040"/>
            <a:ext cx="1645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 i="0">
                <a:solidFill>
                  <a:srgbClr val="1C1C1E"/>
                </a:solidFill>
                <a:latin typeface="Calibri"/>
              </a:defRPr>
            </a:pPr>
            <a:r>
              <a:t>$22.5M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89120" y="37947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 i="0">
                <a:solidFill>
                  <a:srgbClr val="767676"/>
                </a:solidFill>
                <a:latin typeface="Calibri"/>
              </a:defRPr>
            </a:pPr>
            <a:r>
              <a:t>6.4x ROI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0" y="1325880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 i="0">
                <a:solidFill>
                  <a:srgbClr val="1C1C1E"/>
                </a:solidFill>
                <a:latin typeface="Calibri"/>
              </a:defRPr>
            </a:pPr>
            <a:r>
              <a:t>Year-1 Financial Impact (All Phases)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0" y="1737360"/>
            <a:ext cx="2560320" cy="10972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629400" y="1874520"/>
            <a:ext cx="21031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 i="0">
                <a:solidFill>
                  <a:srgbClr val="767676"/>
                </a:solidFill>
                <a:latin typeface="Calibri"/>
              </a:defRPr>
            </a:pPr>
            <a:r>
              <a:t>NET YEAR-1 VALUE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629400" y="2103120"/>
            <a:ext cx="2103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 i="0">
                <a:solidFill>
                  <a:srgbClr val="1C1C1E"/>
                </a:solidFill>
                <a:latin typeface="Calibri"/>
              </a:defRPr>
            </a:pPr>
            <a:r>
              <a:t>$10.2M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29400" y="2560320"/>
            <a:ext cx="21031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 i="0">
                <a:solidFill>
                  <a:srgbClr val="767676"/>
                </a:solidFill>
                <a:latin typeface="Calibri"/>
              </a:defRPr>
            </a:pPr>
            <a:r>
              <a:t>Expected case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144000" y="1737360"/>
            <a:ext cx="2560320" cy="10972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372600" y="1874520"/>
            <a:ext cx="21031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 i="0">
                <a:solidFill>
                  <a:srgbClr val="767676"/>
                </a:solidFill>
                <a:latin typeface="Calibri"/>
              </a:defRPr>
            </a:pPr>
            <a:r>
              <a:t>RETURN ON SPEND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372600" y="2103120"/>
            <a:ext cx="2103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 i="0">
                <a:solidFill>
                  <a:srgbClr val="1C1C1E"/>
                </a:solidFill>
                <a:latin typeface="Calibri"/>
              </a:defRPr>
            </a:pPr>
            <a:r>
              <a:t>3.8x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372600" y="2560320"/>
            <a:ext cx="21031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 i="0">
                <a:solidFill>
                  <a:srgbClr val="767676"/>
                </a:solidFill>
                <a:latin typeface="Calibri"/>
              </a:defRPr>
            </a:pPr>
            <a:r>
              <a:t>On $2.7M total spend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0" y="3017520"/>
            <a:ext cx="502920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19"/>
              </a:spcAft>
              <a:defRPr sz="1300" b="1">
                <a:solidFill>
                  <a:srgbClr val="1C1C1E"/>
                </a:solidFill>
                <a:latin typeface="Calibri"/>
              </a:defRPr>
            </a:pPr>
            <a:r>
              <a:t>Cost Reductions</a:t>
            </a:r>
          </a:p>
          <a:p>
            <a:pPr>
              <a:spcAft>
                <a:spcPts val="439"/>
              </a:spcAft>
              <a:defRPr sz="1100" b="0">
                <a:solidFill>
                  <a:srgbClr val="3A3A3C"/>
                </a:solidFill>
                <a:latin typeface="Calibri"/>
              </a:defRPr>
            </a:pPr>
            <a:r>
              <a:t>Support automation savings: $1.6M</a:t>
            </a:r>
          </a:p>
          <a:p>
            <a:pPr>
              <a:spcAft>
                <a:spcPts val="439"/>
              </a:spcAft>
              <a:defRPr sz="1100" b="0">
                <a:solidFill>
                  <a:srgbClr val="3A3A3C"/>
                </a:solidFill>
                <a:latin typeface="Calibri"/>
              </a:defRPr>
            </a:pPr>
            <a:r>
              <a:t>Demand forecasting savings: $1.6M</a:t>
            </a:r>
          </a:p>
          <a:p>
            <a:pPr>
              <a:spcAft>
                <a:spcPts val="439"/>
              </a:spcAft>
              <a:defRPr sz="1100" b="0">
                <a:solidFill>
                  <a:srgbClr val="3A3A3C"/>
                </a:solidFill>
                <a:latin typeface="Calibri"/>
              </a:defRPr>
            </a:pPr>
            <a:r>
              <a:t>Documentation and translation: $0.24M</a:t>
            </a:r>
          </a:p>
          <a:p>
            <a:pPr>
              <a:spcAft>
                <a:spcPts val="199"/>
              </a:spcAft>
              <a:defRPr sz="500" b="0">
                <a:solidFill>
                  <a:srgbClr val="767676"/>
                </a:solidFill>
                <a:latin typeface="Calibri"/>
              </a:defRPr>
            </a:pPr>
          </a:p>
          <a:p>
            <a:pPr>
              <a:spcAft>
                <a:spcPts val="519"/>
              </a:spcAft>
              <a:defRPr sz="1300" b="1">
                <a:solidFill>
                  <a:srgbClr val="1C1C1E"/>
                </a:solidFill>
                <a:latin typeface="Calibri"/>
              </a:defRPr>
            </a:pPr>
            <a:r>
              <a:t>Revenue Growth</a:t>
            </a:r>
          </a:p>
          <a:p>
            <a:pPr>
              <a:spcAft>
                <a:spcPts val="439"/>
              </a:spcAft>
              <a:defRPr sz="1100" b="0">
                <a:solidFill>
                  <a:srgbClr val="3A3A3C"/>
                </a:solidFill>
                <a:latin typeface="Calibri"/>
              </a:defRPr>
            </a:pPr>
            <a:r>
              <a:t>Customer retention: $3.0M</a:t>
            </a:r>
          </a:p>
          <a:p>
            <a:pPr>
              <a:spcAft>
                <a:spcPts val="439"/>
              </a:spcAft>
              <a:defRPr sz="1100" b="0">
                <a:solidFill>
                  <a:srgbClr val="3A3A3C"/>
                </a:solidFill>
                <a:latin typeface="Calibri"/>
              </a:defRPr>
            </a:pPr>
            <a:r>
              <a:t>Package size increase: $4.0M</a:t>
            </a:r>
          </a:p>
          <a:p>
            <a:pPr>
              <a:spcAft>
                <a:spcPts val="439"/>
              </a:spcAft>
              <a:defRPr sz="1100" b="0">
                <a:solidFill>
                  <a:srgbClr val="3A3A3C"/>
                </a:solidFill>
                <a:latin typeface="Calibri"/>
              </a:defRPr>
            </a:pPr>
            <a:r>
              <a:t>Proposal win rate: $2.5M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400800" y="5303520"/>
            <a:ext cx="5303520" cy="777240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675120" y="5349240"/>
            <a:ext cx="47548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59"/>
              </a:spcAft>
              <a:defRPr sz="1200" b="1">
                <a:solidFill>
                  <a:srgbClr val="1C1C1E"/>
                </a:solidFill>
                <a:latin typeface="Calibri"/>
              </a:defRPr>
            </a:pPr>
            <a:r>
              <a:t>Gross value: $12.9M</a:t>
            </a:r>
          </a:p>
          <a:p>
            <a:pPr>
              <a:spcAft>
                <a:spcPts val="329"/>
              </a:spcAft>
              <a:defRPr sz="1100" b="0">
                <a:solidFill>
                  <a:srgbClr val="767676"/>
                </a:solidFill>
                <a:latin typeface="Calibri"/>
              </a:defRPr>
            </a:pPr>
            <a:r>
              <a:t>Setup + operating costs: ($2.7M)</a:t>
            </a:r>
          </a:p>
          <a:p>
            <a:pPr>
              <a:spcAft>
                <a:spcPts val="389"/>
              </a:spcAft>
              <a:defRPr sz="1300" b="1">
                <a:solidFill>
                  <a:srgbClr val="1C1C1E"/>
                </a:solidFill>
                <a:latin typeface="Calibri"/>
              </a:defRPr>
            </a:pPr>
            <a:r>
              <a:t>Net value: $10.2M  |  Return: 3.8x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31520" y="5943600"/>
            <a:ext cx="5029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767676"/>
                </a:solidFill>
                <a:latin typeface="Calibri"/>
              </a:defRPr>
            </a:pPr>
            <a:r>
              <a:t>Estimates based on industry benchmarks, interview data, and SRAM public filings. Full breakdown in Appendix A1.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31520" y="644652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767676"/>
                </a:solidFill>
                <a:latin typeface="Calibri"/>
              </a:defRPr>
            </a:pPr>
            <a:r>
              <a:t>SRAM AI Adoption Playbook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515600" y="644652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 i="0">
                <a:solidFill>
                  <a:srgbClr val="767676"/>
                </a:solidFill>
                <a:latin typeface="Calibri"/>
              </a:defRPr>
            </a:pPr>
            <a:r>
              <a:t>8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5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5486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767676"/>
                </a:solidFill>
                <a:latin typeface="Calibri"/>
              </a:defRPr>
            </a:pPr>
            <a:r>
              <a:t>WHAT COULD BE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548640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 i="0">
                <a:solidFill>
                  <a:srgbClr val="1C1C1E"/>
                </a:solidFill>
                <a:latin typeface="Calibri"/>
              </a:defRPr>
            </a:pPr>
            <a:r>
              <a:t>Hardware company to performance intelligence by 2031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051560"/>
            <a:ext cx="731520" cy="38100"/>
          </a:xfrm>
          <a:prstGeom prst="rect">
            <a:avLst/>
          </a:prstGeom>
          <a:solidFill>
            <a:srgbClr val="E5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234440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 i="0">
                <a:solidFill>
                  <a:srgbClr val="3A3A3C"/>
                </a:solidFill>
                <a:latin typeface="Calibri"/>
              </a:defRPr>
            </a:pPr>
            <a:r>
              <a:t>Each capability creates a new recurring revenue stream. SRAM's installed base of connected components becomes a platform, not a one-time sale.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828800"/>
            <a:ext cx="10698480" cy="1371600"/>
          </a:xfrm>
          <a:prstGeom prst="roundRect">
            <a:avLst>
              <a:gd name="adj" fmla="val 4000"/>
            </a:avLst>
          </a:prstGeom>
          <a:solidFill>
            <a:srgbClr val="FDF0F2"/>
          </a:solidFill>
          <a:ln w="12700">
            <a:solidFill>
              <a:srgbClr val="E519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31520" y="1828800"/>
            <a:ext cx="50800" cy="1371600"/>
          </a:xfrm>
          <a:prstGeom prst="rect">
            <a:avLst/>
          </a:prstGeom>
          <a:solidFill>
            <a:srgbClr val="E5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1938528"/>
            <a:ext cx="3657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 i="0">
                <a:solidFill>
                  <a:srgbClr val="E51937"/>
                </a:solidFill>
                <a:latin typeface="Calibri"/>
              </a:defRPr>
            </a:pPr>
            <a:r>
              <a:t>THE UNLOCK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219456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 i="0">
                <a:solidFill>
                  <a:srgbClr val="1C1C1E"/>
                </a:solidFill>
                <a:latin typeface="Calibri"/>
              </a:defRPr>
            </a:pPr>
            <a:r>
              <a:t>AXS Intelligence Platform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2651760"/>
            <a:ext cx="9601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 i="0">
                <a:solidFill>
                  <a:srgbClr val="3A3A3C"/>
                </a:solidFill>
                <a:latin typeface="Calibri"/>
              </a:defRPr>
            </a:pPr>
            <a:r>
              <a:t>Unified rider dashboard: power, gearing, suspension, heart rate in one view. No competitor has the product breadth to build this.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0" y="2194560"/>
            <a:ext cx="3840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1" i="0">
                <a:solidFill>
                  <a:srgbClr val="E51937"/>
                </a:solidFill>
                <a:latin typeface="Calibri"/>
              </a:defRPr>
            </a:pPr>
            <a:r>
              <a:t>NEW REVENUE: Premium subscription tier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644652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767676"/>
                </a:solidFill>
                <a:latin typeface="Calibri"/>
              </a:defRPr>
            </a:pPr>
            <a:r>
              <a:t>SRAM AI Adoption Playbook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15600" y="644652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 i="0">
                <a:solidFill>
                  <a:srgbClr val="767676"/>
                </a:solidFill>
                <a:latin typeface="Calibri"/>
              </a:defRPr>
            </a:pPr>
            <a:r>
              <a:t>9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5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5486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767676"/>
                </a:solidFill>
                <a:latin typeface="Calibri"/>
              </a:defRPr>
            </a:pPr>
            <a:r>
              <a:t>WHAT COULD BE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548640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 i="0">
                <a:solidFill>
                  <a:srgbClr val="1C1C1E"/>
                </a:solidFill>
                <a:latin typeface="Calibri"/>
              </a:defRPr>
            </a:pPr>
            <a:r>
              <a:t>Hardware company to performance intelligence by 2031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051560"/>
            <a:ext cx="731520" cy="38100"/>
          </a:xfrm>
          <a:prstGeom prst="rect">
            <a:avLst/>
          </a:prstGeom>
          <a:solidFill>
            <a:srgbClr val="E5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234440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 i="0">
                <a:solidFill>
                  <a:srgbClr val="3A3A3C"/>
                </a:solidFill>
                <a:latin typeface="Calibri"/>
              </a:defRPr>
            </a:pPr>
            <a:r>
              <a:t>Each capability creates a new recurring revenue stream. SRAM's installed base of connected components becomes a platform, not a one-time sale.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828800"/>
            <a:ext cx="10698480" cy="1371600"/>
          </a:xfrm>
          <a:prstGeom prst="roundRect">
            <a:avLst>
              <a:gd name="adj" fmla="val 4000"/>
            </a:avLst>
          </a:prstGeom>
          <a:solidFill>
            <a:srgbClr val="FDF0F2"/>
          </a:solidFill>
          <a:ln w="12700">
            <a:solidFill>
              <a:srgbClr val="E519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31520" y="1828800"/>
            <a:ext cx="50800" cy="1371600"/>
          </a:xfrm>
          <a:prstGeom prst="rect">
            <a:avLst/>
          </a:prstGeom>
          <a:solidFill>
            <a:srgbClr val="E5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1938528"/>
            <a:ext cx="3657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 i="0">
                <a:solidFill>
                  <a:srgbClr val="E51937"/>
                </a:solidFill>
                <a:latin typeface="Calibri"/>
              </a:defRPr>
            </a:pPr>
            <a:r>
              <a:t>THE UNLOCK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219456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 i="0">
                <a:solidFill>
                  <a:srgbClr val="1C1C1E"/>
                </a:solidFill>
                <a:latin typeface="Calibri"/>
              </a:defRPr>
            </a:pPr>
            <a:r>
              <a:t>AXS Intelligence Platform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2651760"/>
            <a:ext cx="9601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 i="0">
                <a:solidFill>
                  <a:srgbClr val="3A3A3C"/>
                </a:solidFill>
                <a:latin typeface="Calibri"/>
              </a:defRPr>
            </a:pPr>
            <a:r>
              <a:t>Unified rider dashboard: power, gearing, suspension, heart rate in one view. No competitor has the product breadth to build this.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0" y="2194560"/>
            <a:ext cx="3840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1" i="0">
                <a:solidFill>
                  <a:srgbClr val="E51937"/>
                </a:solidFill>
                <a:latin typeface="Calibri"/>
              </a:defRPr>
            </a:pPr>
            <a:r>
              <a:t>NEW REVENUE: Premium subscription tier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3657600"/>
            <a:ext cx="3429000" cy="13716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60120" y="3794760"/>
            <a:ext cx="2971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 i="0">
                <a:solidFill>
                  <a:srgbClr val="1C1C1E"/>
                </a:solidFill>
                <a:latin typeface="Calibri"/>
              </a:defRPr>
            </a:pPr>
            <a:r>
              <a:t>Predictive Maintenance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0120" y="4114800"/>
            <a:ext cx="2971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3A3A3C"/>
                </a:solidFill>
                <a:latin typeface="Calibri"/>
              </a:defRPr>
            </a:pPr>
            <a:r>
              <a:t>Connected components predict chain and brake pad replacement before failure. Installed base becomes recurring revenue.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0120" y="4709160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 i="0">
                <a:solidFill>
                  <a:srgbClr val="E51937"/>
                </a:solidFill>
                <a:latin typeface="Calibri"/>
              </a:defRPr>
            </a:pPr>
            <a:r>
              <a:t>NEW REVENUE: Per-device monitoring subscription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389120" y="3657600"/>
            <a:ext cx="3429000" cy="13716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617720" y="3794760"/>
            <a:ext cx="2971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 i="0">
                <a:solidFill>
                  <a:srgbClr val="1C1C1E"/>
                </a:solidFill>
                <a:latin typeface="Calibri"/>
              </a:defRPr>
            </a:pPr>
            <a:r>
              <a:t>AI-Tuned Performance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17720" y="4114800"/>
            <a:ext cx="2971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3A3A3C"/>
                </a:solidFill>
                <a:latin typeface="Calibri"/>
              </a:defRPr>
            </a:pPr>
            <a:r>
              <a:t>Suspension auto-adjusts to terrain. Shifting optimizes for rider power. Products improve continuously after purchase.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617720" y="4709160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 i="0">
                <a:solidFill>
                  <a:srgbClr val="E51937"/>
                </a:solidFill>
                <a:latin typeface="Calibri"/>
              </a:defRPr>
            </a:pPr>
            <a:r>
              <a:t>NEW REVENUE: Premium optimization tier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046720" y="3657600"/>
            <a:ext cx="3429000" cy="13716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75320" y="3794760"/>
            <a:ext cx="2971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 i="0">
                <a:solidFill>
                  <a:srgbClr val="1C1C1E"/>
                </a:solidFill>
                <a:latin typeface="Calibri"/>
              </a:defRPr>
            </a:pPr>
            <a:r>
              <a:t>Dealer Intelligence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75320" y="4114800"/>
            <a:ext cx="2971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3A3A3C"/>
                </a:solidFill>
                <a:latin typeface="Calibri"/>
              </a:defRPr>
            </a:pPr>
            <a:r>
              <a:t>Telemetry tells dealers which parts approach end-of-life in their area. Proactive ordering replaces reactive.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75320" y="4709160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 i="0">
                <a:solidFill>
                  <a:srgbClr val="E51937"/>
                </a:solidFill>
                <a:latin typeface="Calibri"/>
              </a:defRPr>
            </a:pPr>
            <a:r>
              <a:t>NEW REVENUE: Dealer analytics license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31520" y="5486400"/>
            <a:ext cx="10698480" cy="4114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731520" y="5486400"/>
            <a:ext cx="50800" cy="411480"/>
          </a:xfrm>
          <a:prstGeom prst="rect">
            <a:avLst/>
          </a:prstGeom>
          <a:solidFill>
            <a:srgbClr val="E5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097280" y="5522976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 i="0">
                <a:solidFill>
                  <a:srgbClr val="1C1C1E"/>
                </a:solidFill>
                <a:latin typeface="Calibri"/>
              </a:defRPr>
            </a:pPr>
            <a:r>
              <a:t>Hardware sells data access  →  Data improves performance  →  Performance sells hardware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31520" y="644652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767676"/>
                </a:solidFill>
                <a:latin typeface="Calibri"/>
              </a:defRPr>
            </a:pPr>
            <a:r>
              <a:t>SRAM AI Adoption Playbook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515600" y="644652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 i="0">
                <a:solidFill>
                  <a:srgbClr val="767676"/>
                </a:solidFill>
                <a:latin typeface="Calibri"/>
              </a:defRPr>
            </a:pPr>
            <a:r>
              <a:t>9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5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5486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767676"/>
                </a:solidFill>
                <a:latin typeface="Calibri"/>
              </a:defRPr>
            </a:pPr>
            <a:r>
              <a:t>WHAT IT TAKES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548640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 i="0">
                <a:solidFill>
                  <a:srgbClr val="1C1C1E"/>
                </a:solidFill>
                <a:latin typeface="Calibri"/>
              </a:defRPr>
            </a:pPr>
            <a:r>
              <a:t>Talent, data, and leadership required at each phase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051560"/>
            <a:ext cx="731520" cy="38100"/>
          </a:xfrm>
          <a:prstGeom prst="rect">
            <a:avLst/>
          </a:prstGeom>
          <a:solidFill>
            <a:srgbClr val="E5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371600"/>
            <a:ext cx="3429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 i="0">
                <a:solidFill>
                  <a:srgbClr val="1C1C1E"/>
                </a:solidFill>
                <a:latin typeface="Calibri"/>
              </a:defRPr>
            </a:pPr>
            <a:r>
              <a:t>TALENT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828800"/>
            <a:ext cx="3429000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938528"/>
            <a:ext cx="30632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 i="0">
                <a:solidFill>
                  <a:srgbClr val="767676"/>
                </a:solidFill>
                <a:latin typeface="Calibri"/>
              </a:defRPr>
            </a:pPr>
            <a:r>
              <a:t>PHASE 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194560"/>
            <a:ext cx="306324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3A3A3C"/>
                </a:solidFill>
                <a:latin typeface="Calibri"/>
              </a:defRPr>
            </a:pPr>
            <a:r>
              <a:t>1 integration engineer + 1 product owner.</a:t>
            </a:r>
            <a:br/>
            <a:r>
              <a:t>No new AI/ML hires. 250-400 existing engineers</a:t>
            </a:r>
            <a:br/>
            <a:r>
              <a:t>have capacity with AI-assisted tooling.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3840480"/>
            <a:ext cx="3429000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950208"/>
            <a:ext cx="30632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 i="0">
                <a:solidFill>
                  <a:srgbClr val="767676"/>
                </a:solidFill>
                <a:latin typeface="Calibri"/>
              </a:defRPr>
            </a:pPr>
            <a:r>
              <a:t>PHASE 2+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4206240"/>
            <a:ext cx="306324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3A3A3C"/>
                </a:solidFill>
                <a:latin typeface="Calibri"/>
              </a:defRPr>
            </a:pPr>
            <a:r>
              <a:t>Add product managers and QA capacity.</a:t>
            </a:r>
            <a:br/>
            <a:r>
              <a:t>The constraint is PM and QA, not developers.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43400" y="1371600"/>
            <a:ext cx="3429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 i="0">
                <a:solidFill>
                  <a:srgbClr val="1C1C1E"/>
                </a:solidFill>
                <a:latin typeface="Calibri"/>
              </a:defRPr>
            </a:pPr>
            <a:r>
              <a:t>DATA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343400" y="1828800"/>
            <a:ext cx="3429000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26280" y="1938528"/>
            <a:ext cx="30632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 i="0">
                <a:solidFill>
                  <a:srgbClr val="767676"/>
                </a:solidFill>
                <a:latin typeface="Calibri"/>
              </a:defRPr>
            </a:pPr>
            <a:r>
              <a:t>TODAY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26280" y="2194560"/>
            <a:ext cx="306324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3A3A3C"/>
                </a:solidFill>
                <a:latin typeface="Calibri"/>
              </a:defRPr>
            </a:pPr>
            <a:r>
              <a:t>Good data in pockets, messy data everywhere</a:t>
            </a:r>
            <a:br/>
            <a:r>
              <a:t>else. 18 months of consolidation underway.</a:t>
            </a:r>
            <a:br/>
            <a:r>
              <a:t>AXS + Hammerhead data is pilot-ready.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343400" y="3840480"/>
            <a:ext cx="3429000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26280" y="3950208"/>
            <a:ext cx="30632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 i="0">
                <a:solidFill>
                  <a:srgbClr val="767676"/>
                </a:solidFill>
                <a:latin typeface="Calibri"/>
              </a:defRPr>
            </a:pPr>
            <a:r>
              <a:t>NEEDED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26280" y="4206240"/>
            <a:ext cx="306324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3A3A3C"/>
                </a:solidFill>
                <a:latin typeface="Calibri"/>
              </a:defRPr>
            </a:pPr>
            <a:r>
              <a:t>Unified data layer linking CRM, inventory,</a:t>
            </a:r>
            <a:br/>
            <a:r>
              <a:t>and telemetry. Foundation for Phase 2-4.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955280" y="1371600"/>
            <a:ext cx="3429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 i="0">
                <a:solidFill>
                  <a:srgbClr val="1C1C1E"/>
                </a:solidFill>
                <a:latin typeface="Calibri"/>
              </a:defRPr>
            </a:pPr>
            <a:r>
              <a:t>LEADERSHIP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955280" y="1828800"/>
            <a:ext cx="3429000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138160" y="1938528"/>
            <a:ext cx="30632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 i="0">
                <a:solidFill>
                  <a:srgbClr val="767676"/>
                </a:solidFill>
                <a:latin typeface="Calibri"/>
              </a:defRPr>
            </a:pPr>
            <a:r>
              <a:t>PHASE 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138160" y="2194560"/>
            <a:ext cx="306324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3A3A3C"/>
                </a:solidFill>
                <a:latin typeface="Calibri"/>
              </a:defRPr>
            </a:pPr>
            <a:r>
              <a:t>CEO assigns one accountable business owner</a:t>
            </a:r>
            <a:br/>
            <a:r>
              <a:t>with authority over scope and tooling decisions.</a:t>
            </a:r>
            <a:br/>
            <a:r>
              <a:t>Weekly quality reviews.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955280" y="3840480"/>
            <a:ext cx="3429000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138160" y="3950208"/>
            <a:ext cx="30632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 i="0">
                <a:solidFill>
                  <a:srgbClr val="767676"/>
                </a:solidFill>
                <a:latin typeface="Calibri"/>
              </a:defRPr>
            </a:pPr>
            <a:r>
              <a:t>OPEN QUESTION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138160" y="4206240"/>
            <a:ext cx="306324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3A3A3C"/>
                </a:solidFill>
                <a:latin typeface="Calibri"/>
              </a:defRPr>
            </a:pPr>
            <a:r>
              <a:t>No confirmed executive sponsor above</a:t>
            </a:r>
            <a:br/>
            <a:r>
              <a:t>Hartsell for the data consolidation roadmap.</a:t>
            </a:r>
            <a:br/>
            <a:r>
              <a:t>Resolving this is a prerequisite for Phase 2.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31520" y="5760720"/>
            <a:ext cx="10698480" cy="6400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731520" y="5760720"/>
            <a:ext cx="50800" cy="640080"/>
          </a:xfrm>
          <a:prstGeom prst="rect">
            <a:avLst/>
          </a:prstGeom>
          <a:solidFill>
            <a:srgbClr val="7676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051560" y="5852160"/>
            <a:ext cx="10149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 i="1">
                <a:solidFill>
                  <a:srgbClr val="3A3A3C"/>
                </a:solidFill>
                <a:latin typeface="Calibri"/>
              </a:defRPr>
            </a:pPr>
            <a:r>
              <a:t>“We are 60 to 70 percent of the way to deploying a bounded support assistant for AXS and Hammerhead products.”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51560" y="6126480"/>
            <a:ext cx="101498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 i="0">
                <a:solidFill>
                  <a:srgbClr val="767676"/>
                </a:solidFill>
                <a:latin typeface="Calibri"/>
              </a:defRPr>
            </a:pPr>
            <a:r>
              <a:t>Jordan Hartsell, VP Digital Products, SRAM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31520" y="644652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767676"/>
                </a:solidFill>
                <a:latin typeface="Calibri"/>
              </a:defRPr>
            </a:pPr>
            <a:r>
              <a:t>SRAM AI Adoption Playbook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515600" y="644652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 i="0">
                <a:solidFill>
                  <a:srgbClr val="767676"/>
                </a:solidFill>
                <a:latin typeface="Calibri"/>
              </a:defRPr>
            </a:pPr>
            <a:r>
              <a:t>10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5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5486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767676"/>
                </a:solidFill>
                <a:latin typeface="Calibri"/>
              </a:defRPr>
            </a:pPr>
            <a:r>
              <a:t>THE TRADE-OFFS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548640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 i="0">
                <a:solidFill>
                  <a:srgbClr val="1C1C1E"/>
                </a:solidFill>
                <a:latin typeface="Calibri"/>
              </a:defRPr>
            </a:pPr>
            <a:r>
              <a:t>Three risks worth naming before the decision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051560"/>
            <a:ext cx="731520" cy="38100"/>
          </a:xfrm>
          <a:prstGeom prst="rect">
            <a:avLst/>
          </a:prstGeom>
          <a:solidFill>
            <a:srgbClr val="E5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31520" y="1371600"/>
            <a:ext cx="10515600" cy="13716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31520" y="1371600"/>
            <a:ext cx="50800" cy="1371600"/>
          </a:xfrm>
          <a:prstGeom prst="rect">
            <a:avLst/>
          </a:prstGeom>
          <a:solidFill>
            <a:srgbClr val="C43B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97280" y="1463040"/>
            <a:ext cx="9601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 i="0">
                <a:solidFill>
                  <a:srgbClr val="1C1C1E"/>
                </a:solidFill>
                <a:latin typeface="Calibri"/>
              </a:defRPr>
            </a:pPr>
            <a:r>
              <a:t>Dealer trust is fragile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1783080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3A3A3C"/>
                </a:solidFill>
                <a:latin typeface="Calibri"/>
              </a:defRPr>
            </a:pPr>
            <a:r>
              <a:t>One confident wrong answer from the AI reaches a dealer, and the support team loses credibility it spent years building. Human-in-the-loop and weekly quality reviews mitigate this, but they also slow throughput gains.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2377440"/>
            <a:ext cx="9601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 i="0">
                <a:solidFill>
                  <a:srgbClr val="767676"/>
                </a:solidFill>
                <a:latin typeface="Calibri"/>
              </a:defRPr>
            </a:pPr>
            <a:r>
              <a:t>MITIGATION: Kill criteria trigger rollback at first safety error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2971800"/>
            <a:ext cx="10515600" cy="13716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31520" y="2971800"/>
            <a:ext cx="50800" cy="1371600"/>
          </a:xfrm>
          <a:prstGeom prst="rect">
            <a:avLst/>
          </a:prstGeom>
          <a:solidFill>
            <a:srgbClr val="C43B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97280" y="3063240"/>
            <a:ext cx="9601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 i="0">
                <a:solidFill>
                  <a:srgbClr val="1C1C1E"/>
                </a:solidFill>
                <a:latin typeface="Calibri"/>
              </a:defRPr>
            </a:pPr>
            <a:r>
              <a:t>Data consolidation has no executive sponsor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" y="3383280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3A3A3C"/>
                </a:solidFill>
                <a:latin typeface="Calibri"/>
              </a:defRPr>
            </a:pPr>
            <a:r>
              <a:t>Hartsell owns digital products but not the CRM, ERP, or inventory systems. Phase 2 requires a unified data layer across those systems. Without a senior sponsor, data integration stalls and the pilot stays isolated.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97280" y="3977640"/>
            <a:ext cx="9601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 i="0">
                <a:solidFill>
                  <a:srgbClr val="767676"/>
                </a:solidFill>
                <a:latin typeface="Calibri"/>
              </a:defRPr>
            </a:pPr>
            <a:r>
              <a:t>MITIGATION: CEO assigns cross-functional data owner in parallel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31520" y="4572000"/>
            <a:ext cx="10515600" cy="13716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31520" y="4572000"/>
            <a:ext cx="50800" cy="1371600"/>
          </a:xfrm>
          <a:prstGeom prst="rect">
            <a:avLst/>
          </a:prstGeom>
          <a:solidFill>
            <a:srgbClr val="C43B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97280" y="4663440"/>
            <a:ext cx="9601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 i="0">
                <a:solidFill>
                  <a:srgbClr val="1C1C1E"/>
                </a:solidFill>
                <a:latin typeface="Calibri"/>
              </a:defRPr>
            </a:pPr>
            <a:r>
              <a:t>AI hype creates unrealistic internal expectations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97280" y="4983480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3A3A3C"/>
                </a:solidFill>
                <a:latin typeface="Calibri"/>
              </a:defRPr>
            </a:pPr>
            <a:r>
              <a:t>SRAM's engineering culture values precision. If leadership frames AI as a silver bullet rather than a tool, early imperfections will fuel skepticism and internal resistance to future phases.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7280" y="5577840"/>
            <a:ext cx="9601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 i="0">
                <a:solidFill>
                  <a:srgbClr val="767676"/>
                </a:solidFill>
                <a:latin typeface="Calibri"/>
              </a:defRPr>
            </a:pPr>
            <a:r>
              <a:t>MITIGATION: Frame pilot as experiment with defined success and failure criteria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1520" y="644652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767676"/>
                </a:solidFill>
                <a:latin typeface="Calibri"/>
              </a:defRPr>
            </a:pPr>
            <a:r>
              <a:t>SRAM AI Adoption Playbook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515600" y="644652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 i="0">
                <a:solidFill>
                  <a:srgbClr val="767676"/>
                </a:solidFill>
                <a:latin typeface="Calibri"/>
              </a:defRPr>
            </a:pPr>
            <a:r>
              <a:t>11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5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5486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767676"/>
                </a:solidFill>
                <a:latin typeface="Calibri"/>
              </a:defRPr>
            </a:pPr>
            <a:r>
              <a:t>THE DECISION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548640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 i="0">
                <a:solidFill>
                  <a:srgbClr val="1C1C1E"/>
                </a:solidFill>
                <a:latin typeface="Calibri"/>
              </a:defRPr>
            </a:pPr>
            <a:r>
              <a:t>Three actions for SRAM's CEO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051560"/>
            <a:ext cx="731520" cy="38100"/>
          </a:xfrm>
          <a:prstGeom prst="rect">
            <a:avLst/>
          </a:prstGeom>
          <a:solidFill>
            <a:srgbClr val="E5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31520" y="1371600"/>
            <a:ext cx="10515600" cy="11887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097280" y="1600200"/>
            <a:ext cx="457200" cy="457200"/>
          </a:xfrm>
          <a:prstGeom prst="ellipse">
            <a:avLst/>
          </a:prstGeom>
          <a:solidFill>
            <a:srgbClr val="1C1C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800" b="1">
                <a:solidFill>
                  <a:srgbClr val="F5F5F3"/>
                </a:solidFill>
              </a:defRPr>
            </a:pPr>
            <a: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828800" y="1463040"/>
            <a:ext cx="8961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 i="0">
                <a:solidFill>
                  <a:srgbClr val="1C1C1E"/>
                </a:solidFill>
                <a:latin typeface="Calibri"/>
              </a:defRPr>
            </a:pPr>
            <a:r>
              <a:t>Launch the 90-Day Support Pilot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28800" y="1828800"/>
            <a:ext cx="8961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 i="0">
                <a:solidFill>
                  <a:srgbClr val="3A3A3C"/>
                </a:solidFill>
                <a:latin typeface="Calibri"/>
              </a:defRPr>
            </a:pPr>
            <a:r>
              <a:t>AXS and Hammerhead dealer support. One product owner, one integration engineer. Human approval on all outputs. Weekly quality reviews with defined rollback trigger.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2788920"/>
            <a:ext cx="10515600" cy="11887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097280" y="3017520"/>
            <a:ext cx="457200" cy="457200"/>
          </a:xfrm>
          <a:prstGeom prst="ellipse">
            <a:avLst/>
          </a:prstGeom>
          <a:solidFill>
            <a:srgbClr val="1C1C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800" b="1">
                <a:solidFill>
                  <a:srgbClr val="F5F5F3"/>
                </a:solidFill>
              </a:defRPr>
            </a:pPr>
            <a: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28800" y="2880360"/>
            <a:ext cx="8961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 i="0">
                <a:solidFill>
                  <a:srgbClr val="1C1C1E"/>
                </a:solidFill>
                <a:latin typeface="Calibri"/>
              </a:defRPr>
            </a:pPr>
            <a:r>
              <a:t>Begin Data Infrastructure Planning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28800" y="3246120"/>
            <a:ext cx="8961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 i="0">
                <a:solidFill>
                  <a:srgbClr val="3A3A3C"/>
                </a:solidFill>
                <a:latin typeface="Calibri"/>
              </a:defRPr>
            </a:pPr>
            <a:r>
              <a:t>Unified data layer connecting Shopify, support systems, and telemetry. Foundation for Phase 2 forecasting and Phase 4 AXS Intelligence platform.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4206240"/>
            <a:ext cx="10515600" cy="11887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097280" y="4434840"/>
            <a:ext cx="457200" cy="457200"/>
          </a:xfrm>
          <a:prstGeom prst="ellipse">
            <a:avLst/>
          </a:prstGeom>
          <a:solidFill>
            <a:srgbClr val="1C1C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800" b="1">
                <a:solidFill>
                  <a:srgbClr val="F5F5F3"/>
                </a:solidFill>
              </a:defRPr>
            </a:pPr>
            <a: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828800" y="4297680"/>
            <a:ext cx="8961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 i="0">
                <a:solidFill>
                  <a:srgbClr val="1C1C1E"/>
                </a:solidFill>
                <a:latin typeface="Calibri"/>
              </a:defRPr>
            </a:pPr>
            <a:r>
              <a:t>Hold Sequencing Discipline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828800" y="4663440"/>
            <a:ext cx="8961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 i="0">
                <a:solidFill>
                  <a:srgbClr val="3A3A3C"/>
                </a:solidFill>
                <a:latin typeface="Calibri"/>
              </a:defRPr>
            </a:pPr>
            <a:r>
              <a:t>Bounded, well-defined problems first. Broader transformation after measured proof. The 90-day pilot produces data to justify or redirect every subsequent investment.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31520" y="5715000"/>
            <a:ext cx="10515600" cy="5486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31520" y="5715000"/>
            <a:ext cx="50800" cy="548640"/>
          </a:xfrm>
          <a:prstGeom prst="rect">
            <a:avLst/>
          </a:prstGeom>
          <a:solidFill>
            <a:srgbClr val="E5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188720" y="5742432"/>
            <a:ext cx="96012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60"/>
              </a:spcAft>
              <a:defRPr sz="1300" b="1">
                <a:solidFill>
                  <a:srgbClr val="1C1C1E"/>
                </a:solidFill>
                <a:latin typeface="Calibri"/>
              </a:defRPr>
            </a:pPr>
            <a:r>
              <a:t>Expected Year-1 return: 3.8x on $2.7M spend</a:t>
            </a:r>
          </a:p>
          <a:p>
            <a:pPr>
              <a:spcAft>
                <a:spcPts val="220"/>
              </a:spcAft>
              <a:defRPr sz="1100" b="0">
                <a:solidFill>
                  <a:srgbClr val="767676"/>
                </a:solidFill>
                <a:latin typeface="Calibri"/>
              </a:defRPr>
            </a:pPr>
            <a:r>
              <a:t>Downside bounded by 90-day pilot  |  Upside scales with SRAM's data advantage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1520" y="644652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767676"/>
                </a:solidFill>
                <a:latin typeface="Calibri"/>
              </a:defRPr>
            </a:pPr>
            <a:r>
              <a:t>SRAM AI Adoption Playbook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515600" y="644652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 i="0">
                <a:solidFill>
                  <a:srgbClr val="767676"/>
                </a:solidFill>
                <a:latin typeface="Calibri"/>
              </a:defRPr>
            </a:pPr>
            <a:r>
              <a:t>12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5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5486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767676"/>
                </a:solidFill>
                <a:latin typeface="Calibri"/>
              </a:defRPr>
            </a:pPr>
            <a:r>
              <a:t>APPENDIX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548640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 i="0">
                <a:solidFill>
                  <a:srgbClr val="1C1C1E"/>
                </a:solidFill>
                <a:latin typeface="Calibri"/>
              </a:defRPr>
            </a:pPr>
            <a:r>
              <a:t>Financial detail across three scenarios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051560"/>
            <a:ext cx="731520" cy="38100"/>
          </a:xfrm>
          <a:prstGeom prst="rect">
            <a:avLst/>
          </a:prstGeom>
          <a:solidFill>
            <a:srgbClr val="E5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37160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767676"/>
                </a:solidFill>
                <a:latin typeface="Calibri"/>
              </a:defRPr>
            </a:pPr>
            <a:r>
              <a:t>Category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474720" y="137160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767676"/>
                </a:solidFill>
                <a:latin typeface="Calibri"/>
              </a:defRPr>
            </a:pPr>
            <a:r>
              <a:t>Conservative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137160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767676"/>
                </a:solidFill>
                <a:latin typeface="Calibri"/>
              </a:defRPr>
            </a:pPr>
            <a:r>
              <a:t>Expected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961120" y="137160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767676"/>
                </a:solidFill>
                <a:latin typeface="Calibri"/>
              </a:defRPr>
            </a:pPr>
            <a:r>
              <a:t>Upside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1719072"/>
            <a:ext cx="10515600" cy="347472"/>
          </a:xfrm>
          <a:prstGeom prst="roundRect">
            <a:avLst>
              <a:gd name="adj" fmla="val 2000"/>
            </a:avLst>
          </a:prstGeom>
          <a:solidFill>
            <a:srgbClr val="F0F0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173736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3A3A3C"/>
                </a:solidFill>
                <a:latin typeface="Calibri"/>
              </a:defRPr>
            </a:pPr>
            <a:r>
              <a:t>Support assistant savings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474720" y="173736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3A3A3C"/>
                </a:solidFill>
                <a:latin typeface="Calibri"/>
              </a:defRPr>
            </a:pPr>
            <a:r>
              <a:t>$0.5M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0" y="173736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1C1C1E"/>
                </a:solidFill>
                <a:latin typeface="Calibri"/>
              </a:defRPr>
            </a:pPr>
            <a:r>
              <a:t>$1.6M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961120" y="173736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3A3A3C"/>
                </a:solidFill>
                <a:latin typeface="Calibri"/>
              </a:defRPr>
            </a:pPr>
            <a:r>
              <a:t>$4.3M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210312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3A3A3C"/>
                </a:solidFill>
                <a:latin typeface="Calibri"/>
              </a:defRPr>
            </a:pPr>
            <a:r>
              <a:t>Forecasting + inventory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74720" y="210312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3A3A3C"/>
                </a:solidFill>
                <a:latin typeface="Calibri"/>
              </a:defRPr>
            </a:pPr>
            <a:r>
              <a:t>$0.7M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17920" y="210312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1C1C1E"/>
                </a:solidFill>
                <a:latin typeface="Calibri"/>
              </a:defRPr>
            </a:pPr>
            <a:r>
              <a:t>$1.6M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961120" y="210312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3A3A3C"/>
                </a:solidFill>
                <a:latin typeface="Calibri"/>
              </a:defRPr>
            </a:pPr>
            <a:r>
              <a:t>$4.5M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31520" y="2450592"/>
            <a:ext cx="10515600" cy="347472"/>
          </a:xfrm>
          <a:prstGeom prst="roundRect">
            <a:avLst>
              <a:gd name="adj" fmla="val 2000"/>
            </a:avLst>
          </a:prstGeom>
          <a:solidFill>
            <a:srgbClr val="F0F0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31520" y="246888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3A3A3C"/>
                </a:solidFill>
                <a:latin typeface="Calibri"/>
              </a:defRPr>
            </a:pPr>
            <a:r>
              <a:t>Documentation + translation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474720" y="246888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3A3A3C"/>
                </a:solidFill>
                <a:latin typeface="Calibri"/>
              </a:defRPr>
            </a:pPr>
            <a:r>
              <a:t>$0.1M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17920" y="246888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1C1C1E"/>
                </a:solidFill>
                <a:latin typeface="Calibri"/>
              </a:defRPr>
            </a:pPr>
            <a:r>
              <a:t>$0.24M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961120" y="246888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3A3A3C"/>
                </a:solidFill>
                <a:latin typeface="Calibri"/>
              </a:defRPr>
            </a:pPr>
            <a:r>
              <a:t>$0.9M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1520" y="283464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3A3A3C"/>
                </a:solidFill>
                <a:latin typeface="Calibri"/>
              </a:defRPr>
            </a:pPr>
            <a:r>
              <a:t>Customer retention revenue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474720" y="283464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3A3A3C"/>
                </a:solidFill>
                <a:latin typeface="Calibri"/>
              </a:defRPr>
            </a:pPr>
            <a:r>
              <a:t>$1.5M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217920" y="283464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1C1C1E"/>
                </a:solidFill>
                <a:latin typeface="Calibri"/>
              </a:defRPr>
            </a:pPr>
            <a:r>
              <a:t>$3.0M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961120" y="283464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3A3A3C"/>
                </a:solidFill>
                <a:latin typeface="Calibri"/>
              </a:defRPr>
            </a:pPr>
            <a:r>
              <a:t>$4.5M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31520" y="3182112"/>
            <a:ext cx="10515600" cy="347472"/>
          </a:xfrm>
          <a:prstGeom prst="roundRect">
            <a:avLst>
              <a:gd name="adj" fmla="val 2000"/>
            </a:avLst>
          </a:prstGeom>
          <a:solidFill>
            <a:srgbClr val="F0F0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31520" y="320040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3A3A3C"/>
                </a:solidFill>
                <a:latin typeface="Calibri"/>
              </a:defRPr>
            </a:pPr>
            <a:r>
              <a:t>Package size increase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474720" y="320040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3A3A3C"/>
                </a:solidFill>
                <a:latin typeface="Calibri"/>
              </a:defRPr>
            </a:pPr>
            <a:r>
              <a:t>$2.0M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217920" y="320040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1C1C1E"/>
                </a:solidFill>
                <a:latin typeface="Calibri"/>
              </a:defRPr>
            </a:pPr>
            <a:r>
              <a:t>$4.0M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961120" y="320040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3A3A3C"/>
                </a:solidFill>
                <a:latin typeface="Calibri"/>
              </a:defRPr>
            </a:pPr>
            <a:r>
              <a:t>$8.0M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31520" y="356616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3A3A3C"/>
                </a:solidFill>
                <a:latin typeface="Calibri"/>
              </a:defRPr>
            </a:pPr>
            <a:r>
              <a:t>Proposal win-rate revenue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474720" y="356616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3A3A3C"/>
                </a:solidFill>
                <a:latin typeface="Calibri"/>
              </a:defRPr>
            </a:pPr>
            <a:r>
              <a:t>$1.3M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217920" y="356616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1C1C1E"/>
                </a:solidFill>
                <a:latin typeface="Calibri"/>
              </a:defRPr>
            </a:pPr>
            <a:r>
              <a:t>$2.5M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961120" y="356616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3A3A3C"/>
                </a:solidFill>
                <a:latin typeface="Calibri"/>
              </a:defRPr>
            </a:pPr>
            <a:r>
              <a:t>$3.8M</a:t>
            </a:r>
          </a:p>
        </p:txBody>
      </p:sp>
      <p:sp>
        <p:nvSpPr>
          <p:cNvPr id="36" name="Rectangle 35"/>
          <p:cNvSpPr/>
          <p:nvPr/>
        </p:nvSpPr>
        <p:spPr>
          <a:xfrm>
            <a:off x="731520" y="3931920"/>
            <a:ext cx="10515600" cy="12700"/>
          </a:xfrm>
          <a:prstGeom prst="rect">
            <a:avLst/>
          </a:prstGeom>
          <a:solidFill>
            <a:srgbClr val="E0E0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31520" y="406908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1C1C1E"/>
                </a:solidFill>
                <a:latin typeface="Calibri"/>
              </a:defRPr>
            </a:pPr>
            <a:r>
              <a:t>Gross value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474720" y="406908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3A3A3C"/>
                </a:solidFill>
                <a:latin typeface="Calibri"/>
              </a:defRPr>
            </a:pPr>
            <a:r>
              <a:t>$6.1M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217920" y="406908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1C1C1E"/>
                </a:solidFill>
                <a:latin typeface="Calibri"/>
              </a:defRPr>
            </a:pPr>
            <a:r>
              <a:t>$12.9M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961120" y="406908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3A3A3C"/>
                </a:solidFill>
                <a:latin typeface="Calibri"/>
              </a:defRPr>
            </a:pPr>
            <a:r>
              <a:t>$26.0M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31520" y="443484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1C1C1E"/>
                </a:solidFill>
                <a:latin typeface="Calibri"/>
              </a:defRPr>
            </a:pPr>
            <a:r>
              <a:t>Setup costs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474720" y="443484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3A3A3C"/>
                </a:solidFill>
                <a:latin typeface="Calibri"/>
              </a:defRPr>
            </a:pPr>
            <a:r>
              <a:t>($1.2M)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217920" y="443484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1C1C1E"/>
                </a:solidFill>
                <a:latin typeface="Calibri"/>
              </a:defRPr>
            </a:pPr>
            <a:r>
              <a:t>($2.0M)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961120" y="443484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3A3A3C"/>
                </a:solidFill>
                <a:latin typeface="Calibri"/>
              </a:defRPr>
            </a:pPr>
            <a:r>
              <a:t>($2.5M)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31520" y="480060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1C1C1E"/>
                </a:solidFill>
                <a:latin typeface="Calibri"/>
              </a:defRPr>
            </a:pPr>
            <a:r>
              <a:t>Operating costs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474720" y="480060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3A3A3C"/>
                </a:solidFill>
                <a:latin typeface="Calibri"/>
              </a:defRPr>
            </a:pPr>
            <a:r>
              <a:t>($0.4M)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217920" y="480060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1C1C1E"/>
                </a:solidFill>
                <a:latin typeface="Calibri"/>
              </a:defRPr>
            </a:pPr>
            <a:r>
              <a:t>($0.7M)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961120" y="480060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3A3A3C"/>
                </a:solidFill>
                <a:latin typeface="Calibri"/>
              </a:defRPr>
            </a:pPr>
            <a:r>
              <a:t>($1.0M)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31520" y="516636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1C1C1E"/>
                </a:solidFill>
                <a:latin typeface="Calibri"/>
              </a:defRPr>
            </a:pPr>
            <a:r>
              <a:t>Net Year-1 value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3474720" y="516636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1C1C1E"/>
                </a:solidFill>
                <a:latin typeface="Calibri"/>
              </a:defRPr>
            </a:pPr>
            <a:r>
              <a:t>$4.5M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217920" y="516636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1C1C1E"/>
                </a:solidFill>
                <a:latin typeface="Calibri"/>
              </a:defRPr>
            </a:pPr>
            <a:r>
              <a:t>$10.2M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8961120" y="516636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1C1C1E"/>
                </a:solidFill>
                <a:latin typeface="Calibri"/>
              </a:defRPr>
            </a:pPr>
            <a:r>
              <a:t>$22.5M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731520" y="553212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1C1C1E"/>
                </a:solidFill>
                <a:latin typeface="Calibri"/>
              </a:defRPr>
            </a:pPr>
            <a:r>
              <a:t>Return on spend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3474720" y="553212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1C1C1E"/>
                </a:solidFill>
                <a:latin typeface="Calibri"/>
              </a:defRPr>
            </a:pPr>
            <a:r>
              <a:t>2.8x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6217920" y="553212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1C1C1E"/>
                </a:solidFill>
                <a:latin typeface="Calibri"/>
              </a:defRPr>
            </a:pPr>
            <a:r>
              <a:t>3.8x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8961120" y="553212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1C1C1E"/>
                </a:solidFill>
                <a:latin typeface="Calibri"/>
              </a:defRPr>
            </a:pPr>
            <a:r>
              <a:t>6.4x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731520" y="6400800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767676"/>
                </a:solidFill>
                <a:latin typeface="Calibri"/>
              </a:defRPr>
            </a:pPr>
            <a:r>
              <a:t>APPENDIX A1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5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5486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767676"/>
                </a:solidFill>
                <a:latin typeface="Calibri"/>
              </a:defRPr>
            </a:pPr>
            <a:r>
              <a:t>APPENDIX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548640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 i="0">
                <a:solidFill>
                  <a:srgbClr val="1C1C1E"/>
                </a:solidFill>
                <a:latin typeface="Calibri"/>
              </a:defRPr>
            </a:pPr>
            <a:r>
              <a:t>Interview with Jordan Hartsell, VP Digital Products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051560"/>
            <a:ext cx="731520" cy="38100"/>
          </a:xfrm>
          <a:prstGeom prst="rect">
            <a:avLst/>
          </a:prstGeom>
          <a:solidFill>
            <a:srgbClr val="E5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234440"/>
            <a:ext cx="10058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 i="0">
                <a:solidFill>
                  <a:srgbClr val="767676"/>
                </a:solidFill>
                <a:latin typeface="Calibri"/>
              </a:defRPr>
            </a:pPr>
            <a:r>
              <a:t>45-minute Zoom call  |  March 2026  |  Key quotes and insights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691640"/>
            <a:ext cx="10789920" cy="10058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31520" y="1691640"/>
            <a:ext cx="50800" cy="1005840"/>
          </a:xfrm>
          <a:prstGeom prst="rect">
            <a:avLst/>
          </a:prstGeom>
          <a:solidFill>
            <a:srgbClr val="7676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1737360"/>
            <a:ext cx="18288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 i="0">
                <a:solidFill>
                  <a:srgbClr val="767676"/>
                </a:solidFill>
                <a:latin typeface="Calibri"/>
              </a:defRPr>
            </a:pPr>
            <a:r>
              <a:t>ON DATA READINESS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1947672"/>
            <a:ext cx="7315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1">
                <a:solidFill>
                  <a:srgbClr val="3A3A3C"/>
                </a:solidFill>
                <a:latin typeface="Calibri"/>
              </a:defRPr>
            </a:pPr>
            <a:r>
              <a:t>“We have good data in pockets and messy data everywhere else. If I wanted to build a support AI today, I could get it to work well for AXS and Hammerhead. The moment a dealer asks about a RockShox fork on a 2019 frame with a third-party brake, I start to sweat.”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0" y="2011680"/>
            <a:ext cx="2560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 i="0">
                <a:solidFill>
                  <a:srgbClr val="1C1C1E"/>
                </a:solidFill>
                <a:latin typeface="Calibri"/>
              </a:defRPr>
            </a:pPr>
            <a:r>
              <a:t>→ Validates bounded pilot scope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2880360"/>
            <a:ext cx="10789920" cy="10058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31520" y="2880360"/>
            <a:ext cx="50800" cy="1005840"/>
          </a:xfrm>
          <a:prstGeom prst="rect">
            <a:avLst/>
          </a:prstGeom>
          <a:solidFill>
            <a:srgbClr val="7676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97280" y="2926080"/>
            <a:ext cx="18288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 i="0">
                <a:solidFill>
                  <a:srgbClr val="767676"/>
                </a:solidFill>
                <a:latin typeface="Calibri"/>
              </a:defRPr>
            </a:pPr>
            <a:r>
              <a:t>ON ADOPTION BARRIERS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97280" y="3136392"/>
            <a:ext cx="7315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1">
                <a:solidFill>
                  <a:srgbClr val="3A3A3C"/>
                </a:solidFill>
                <a:latin typeface="Calibri"/>
              </a:defRPr>
            </a:pPr>
            <a:r>
              <a:t>“The resistance comes from customer-facing teams because they worry AI will produce confident-sounding wrong answers that damage dealer relationships they have spent years building.”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86800" y="3200400"/>
            <a:ext cx="2560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 i="0">
                <a:solidFill>
                  <a:srgbClr val="1C1C1E"/>
                </a:solidFill>
                <a:latin typeface="Calibri"/>
              </a:defRPr>
            </a:pPr>
            <a:r>
              <a:t>→ Human-in-the-loop is mandatory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31520" y="4069080"/>
            <a:ext cx="10789920" cy="10058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731520" y="4069080"/>
            <a:ext cx="50800" cy="1005840"/>
          </a:xfrm>
          <a:prstGeom prst="rect">
            <a:avLst/>
          </a:prstGeom>
          <a:solidFill>
            <a:srgbClr val="7676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97280" y="4114800"/>
            <a:ext cx="18288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 i="0">
                <a:solidFill>
                  <a:srgbClr val="767676"/>
                </a:solidFill>
                <a:latin typeface="Calibri"/>
              </a:defRPr>
            </a:pPr>
            <a:r>
              <a:t>ON COMPETITIVE ADVANTAGE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7280" y="4325112"/>
            <a:ext cx="7315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1">
                <a:solidFill>
                  <a:srgbClr val="3A3A3C"/>
                </a:solidFill>
                <a:latin typeface="Calibri"/>
              </a:defRPr>
            </a:pPr>
            <a:r>
              <a:t>“A rider on Shimano [SRAM's largest competitor] uses the app to check if parts fit. A Hammerhead rider uses it to train, navigate, and talk to every component on the bike. That is a fundamentally different data relationship.”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686800" y="4389120"/>
            <a:ext cx="2560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 i="0">
                <a:solidFill>
                  <a:srgbClr val="1C1C1E"/>
                </a:solidFill>
                <a:latin typeface="Calibri"/>
              </a:defRPr>
            </a:pPr>
            <a:r>
              <a:t>→ Hammerhead is SRAM's real AI moat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31520" y="5257800"/>
            <a:ext cx="10789920" cy="10058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31520" y="5257800"/>
            <a:ext cx="50800" cy="1005840"/>
          </a:xfrm>
          <a:prstGeom prst="rect">
            <a:avLst/>
          </a:prstGeom>
          <a:solidFill>
            <a:srgbClr val="7676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97280" y="5303520"/>
            <a:ext cx="18288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 i="0">
                <a:solidFill>
                  <a:srgbClr val="767676"/>
                </a:solidFill>
                <a:latin typeface="Calibri"/>
              </a:defRPr>
            </a:pPr>
            <a:r>
              <a:t>ON SUCCESS CRITERIA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97280" y="5513832"/>
            <a:ext cx="7315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1">
                <a:solidFill>
                  <a:srgbClr val="3A3A3C"/>
                </a:solidFill>
                <a:latin typeface="Calibri"/>
              </a:defRPr>
            </a:pPr>
            <a:r>
              <a:t>“I want one workflow measurably faster, measurably more accurate, with no regression in dealer satisfaction scores.”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686800" y="5577840"/>
            <a:ext cx="2560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 i="0">
                <a:solidFill>
                  <a:srgbClr val="1C1C1E"/>
                </a:solidFill>
                <a:latin typeface="Calibri"/>
              </a:defRPr>
            </a:pPr>
            <a:r>
              <a:t>→ Aligns with our 90-day pilot targets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31520" y="6400800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767676"/>
                </a:solidFill>
                <a:latin typeface="Calibri"/>
              </a:defRPr>
            </a:pPr>
            <a:r>
              <a:t>APPENDIX A2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5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5486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767676"/>
                </a:solidFill>
                <a:latin typeface="Calibri"/>
              </a:defRPr>
            </a:pPr>
            <a:r>
              <a:t>APPENDIX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548640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 i="0">
                <a:solidFill>
                  <a:srgbClr val="1C1C1E"/>
                </a:solidFill>
                <a:latin typeface="Calibri"/>
              </a:defRPr>
            </a:pPr>
            <a:r>
              <a:t>Phasing, talent, and organizational enablers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051560"/>
            <a:ext cx="731520" cy="38100"/>
          </a:xfrm>
          <a:prstGeom prst="rect">
            <a:avLst/>
          </a:prstGeom>
          <a:solidFill>
            <a:srgbClr val="E5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31520" y="1371600"/>
            <a:ext cx="5440680" cy="2240280"/>
          </a:xfrm>
          <a:prstGeom prst="roundRect">
            <a:avLst>
              <a:gd name="adj" fmla="val 4000"/>
            </a:avLst>
          </a:prstGeom>
          <a:solidFill>
            <a:srgbClr val="FDF0F2"/>
          </a:solidFill>
          <a:ln w="12700">
            <a:solidFill>
              <a:srgbClr val="E519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1463040"/>
            <a:ext cx="4983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 i="0">
                <a:solidFill>
                  <a:srgbClr val="1C1C1E"/>
                </a:solidFill>
                <a:latin typeface="Calibri"/>
              </a:defRPr>
            </a:pPr>
            <a:r>
              <a:t>Phase 1: Support Pilot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0120" y="1691640"/>
            <a:ext cx="18288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 i="0">
                <a:solidFill>
                  <a:srgbClr val="E51937"/>
                </a:solidFill>
                <a:latin typeface="Calibri"/>
              </a:defRPr>
            </a:pPr>
            <a:r>
              <a:t>0-90 days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1965960"/>
            <a:ext cx="498348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00"/>
              </a:spcAft>
              <a:defRPr sz="1100" b="0">
                <a:solidFill>
                  <a:srgbClr val="3A3A3C"/>
                </a:solidFill>
                <a:latin typeface="Calibri"/>
              </a:defRPr>
            </a:pPr>
            <a:r>
              <a:t>•  1 integration engineer (internal or contractor)</a:t>
            </a:r>
          </a:p>
          <a:p>
            <a:pPr>
              <a:spcAft>
                <a:spcPts val="1100"/>
              </a:spcAft>
              <a:defRPr sz="1100" b="0">
                <a:solidFill>
                  <a:srgbClr val="3A3A3C"/>
                </a:solidFill>
                <a:latin typeface="Calibri"/>
              </a:defRPr>
            </a:pPr>
            <a:r>
              <a:t>•  1 product owner from support organization</a:t>
            </a:r>
          </a:p>
          <a:p>
            <a:pPr>
              <a:spcAft>
                <a:spcPts val="1100"/>
              </a:spcAft>
              <a:defRPr sz="1100" b="0">
                <a:solidFill>
                  <a:srgbClr val="3A3A3C"/>
                </a:solidFill>
                <a:latin typeface="Calibri"/>
              </a:defRPr>
            </a:pPr>
            <a:r>
              <a:t>•  Zendesk AI + Amazon Kendra + Bedrock</a:t>
            </a:r>
          </a:p>
          <a:p>
            <a:pPr>
              <a:spcAft>
                <a:spcPts val="1100"/>
              </a:spcAft>
              <a:defRPr sz="1100" b="0">
                <a:solidFill>
                  <a:srgbClr val="3A3A3C"/>
                </a:solidFill>
                <a:latin typeface="Calibri"/>
              </a:defRPr>
            </a:pPr>
            <a:r>
              <a:t>•  No new AI/ML hires required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0" y="1371600"/>
            <a:ext cx="5440680" cy="22402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629400" y="1463040"/>
            <a:ext cx="4983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 i="0">
                <a:solidFill>
                  <a:srgbClr val="1C1C1E"/>
                </a:solidFill>
                <a:latin typeface="Calibri"/>
              </a:defRPr>
            </a:pPr>
            <a:r>
              <a:t>Phase 2: Data Foundation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29400" y="1691640"/>
            <a:ext cx="18288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 i="0">
                <a:solidFill>
                  <a:srgbClr val="767676"/>
                </a:solidFill>
                <a:latin typeface="Calibri"/>
              </a:defRPr>
            </a:pPr>
            <a:r>
              <a:t>90-180 days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29400" y="1965960"/>
            <a:ext cx="498348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00"/>
              </a:spcAft>
              <a:defRPr sz="1100" b="0">
                <a:solidFill>
                  <a:srgbClr val="3A3A3C"/>
                </a:solidFill>
                <a:latin typeface="Calibri"/>
              </a:defRPr>
            </a:pPr>
            <a:r>
              <a:t>•  Add product managers and QA capacity</a:t>
            </a:r>
          </a:p>
          <a:p>
            <a:pPr>
              <a:spcAft>
                <a:spcPts val="1100"/>
              </a:spcAft>
              <a:defRPr sz="1100" b="0">
                <a:solidFill>
                  <a:srgbClr val="3A3A3C"/>
                </a:solidFill>
                <a:latin typeface="Calibri"/>
              </a:defRPr>
            </a:pPr>
            <a:r>
              <a:t>•  Unified data layer linking CRM + inventory + telemetry</a:t>
            </a:r>
          </a:p>
          <a:p>
            <a:pPr>
              <a:spcAft>
                <a:spcPts val="1100"/>
              </a:spcAft>
              <a:defRPr sz="1100" b="0">
                <a:solidFill>
                  <a:srgbClr val="3A3A3C"/>
                </a:solidFill>
                <a:latin typeface="Calibri"/>
              </a:defRPr>
            </a:pPr>
            <a:r>
              <a:t>•  AWS SageMaker for forecasting</a:t>
            </a:r>
          </a:p>
          <a:p>
            <a:pPr>
              <a:spcAft>
                <a:spcPts val="1100"/>
              </a:spcAft>
              <a:defRPr sz="1100" b="0">
                <a:solidFill>
                  <a:srgbClr val="3A3A3C"/>
                </a:solidFill>
                <a:latin typeface="Calibri"/>
              </a:defRPr>
            </a:pPr>
            <a:r>
              <a:t>•  ERP system evaluation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3840480"/>
            <a:ext cx="5440680" cy="22402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60120" y="3931920"/>
            <a:ext cx="4983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 i="0">
                <a:solidFill>
                  <a:srgbClr val="1C1C1E"/>
                </a:solidFill>
                <a:latin typeface="Calibri"/>
              </a:defRPr>
            </a:pPr>
            <a:r>
              <a:t>Phase 3: Revenue Acceleration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0120" y="4160520"/>
            <a:ext cx="18288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 i="0">
                <a:solidFill>
                  <a:srgbClr val="767676"/>
                </a:solidFill>
                <a:latin typeface="Calibri"/>
              </a:defRPr>
            </a:pPr>
            <a:r>
              <a:t>180-365 days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60120" y="4434840"/>
            <a:ext cx="498348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00"/>
              </a:spcAft>
              <a:defRPr sz="1100" b="0">
                <a:solidFill>
                  <a:srgbClr val="3A3A3C"/>
                </a:solidFill>
                <a:latin typeface="Calibri"/>
              </a:defRPr>
            </a:pPr>
            <a:r>
              <a:t>•  Salesforce Einstein/Agentforce for OEM proposals</a:t>
            </a:r>
          </a:p>
          <a:p>
            <a:pPr>
              <a:spcAft>
                <a:spcPts val="1100"/>
              </a:spcAft>
              <a:defRPr sz="1100" b="0">
                <a:solidFill>
                  <a:srgbClr val="3A3A3C"/>
                </a:solidFill>
                <a:latin typeface="Calibri"/>
              </a:defRPr>
            </a:pPr>
            <a:r>
              <a:t>•  Compatibility rules engine for recommendations</a:t>
            </a:r>
          </a:p>
          <a:p>
            <a:pPr>
              <a:spcAft>
                <a:spcPts val="1100"/>
              </a:spcAft>
              <a:defRPr sz="1100" b="0">
                <a:solidFill>
                  <a:srgbClr val="3A3A3C"/>
                </a:solidFill>
                <a:latin typeface="Calibri"/>
              </a:defRPr>
            </a:pPr>
            <a:r>
              <a:t>•  Cross-functional product + sales alignment</a:t>
            </a:r>
          </a:p>
          <a:p>
            <a:pPr>
              <a:spcAft>
                <a:spcPts val="1100"/>
              </a:spcAft>
              <a:defRPr sz="1100" b="0">
                <a:solidFill>
                  <a:srgbClr val="3A3A3C"/>
                </a:solidFill>
                <a:latin typeface="Calibri"/>
              </a:defRPr>
            </a:pPr>
            <a:r>
              <a:t>•  Expected $2.5M from 1% win-rate improvement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0" y="3840480"/>
            <a:ext cx="5440680" cy="22402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629400" y="3931920"/>
            <a:ext cx="4983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 i="0">
                <a:solidFill>
                  <a:srgbClr val="1C1C1E"/>
                </a:solidFill>
                <a:latin typeface="Calibri"/>
              </a:defRPr>
            </a:pPr>
            <a:r>
              <a:t>Phase 4: AI-First Culture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629400" y="4160520"/>
            <a:ext cx="18288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 i="0">
                <a:solidFill>
                  <a:srgbClr val="767676"/>
                </a:solidFill>
                <a:latin typeface="Calibri"/>
              </a:defRPr>
            </a:pPr>
            <a:r>
              <a:t>Year 2+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29400" y="4434840"/>
            <a:ext cx="498348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00"/>
              </a:spcAft>
              <a:defRPr sz="1100" b="0">
                <a:solidFill>
                  <a:srgbClr val="3A3A3C"/>
                </a:solidFill>
                <a:latin typeface="Calibri"/>
              </a:defRPr>
            </a:pPr>
            <a:r>
              <a:t>•  AXS Intelligence Platform development</a:t>
            </a:r>
          </a:p>
          <a:p>
            <a:pPr>
              <a:spcAft>
                <a:spcPts val="1100"/>
              </a:spcAft>
              <a:defRPr sz="1100" b="0">
                <a:solidFill>
                  <a:srgbClr val="3A3A3C"/>
                </a:solidFill>
                <a:latin typeface="Calibri"/>
              </a:defRPr>
            </a:pPr>
            <a:r>
              <a:t>•  Digital twin and generative design capability</a:t>
            </a:r>
          </a:p>
          <a:p>
            <a:pPr>
              <a:spcAft>
                <a:spcPts val="1100"/>
              </a:spcAft>
              <a:defRPr sz="1100" b="0">
                <a:solidFill>
                  <a:srgbClr val="3A3A3C"/>
                </a:solidFill>
                <a:latin typeface="Calibri"/>
              </a:defRPr>
            </a:pPr>
            <a:r>
              <a:t>•  Predictive maintenance subscription model</a:t>
            </a:r>
          </a:p>
          <a:p>
            <a:pPr>
              <a:spcAft>
                <a:spcPts val="1100"/>
              </a:spcAft>
              <a:defRPr sz="1100" b="0">
                <a:solidFill>
                  <a:srgbClr val="3A3A3C"/>
                </a:solidFill>
                <a:latin typeface="Calibri"/>
              </a:defRPr>
            </a:pPr>
            <a:r>
              <a:t>•  AI-adjusted component performance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1520" y="6400800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767676"/>
                </a:solidFill>
                <a:latin typeface="Calibri"/>
              </a:defRPr>
            </a:pPr>
            <a:r>
              <a:t>APPENDIX A3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