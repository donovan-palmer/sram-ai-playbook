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Rectangle 1"/>
          <p:cNvSpPr/>
          <p:nvPr/>
        </p:nvSpPr>
        <p:spPr>
          <a:xfrm>
            <a:off x="1371600" y="2194560"/>
            <a:ext cx="109728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377440"/>
            <a:ext cx="9144000" cy="2286000"/>
          </a:xfrm>
          <a:prstGeom prst="rect">
            <a:avLst/>
          </a:prstGeom>
          <a:noFill/>
        </p:spPr>
        <p:txBody>
          <a:bodyPr wrap="square">
            <a:spAutoFit/>
          </a:bodyPr>
          <a:lstStyle/>
          <a:p>
            <a:pPr>
              <a:spcAft>
                <a:spcPts val="2640"/>
              </a:spcAft>
              <a:defRPr sz="4400" b="1">
                <a:solidFill>
                  <a:srgbClr val="1C1C1E"/>
                </a:solidFill>
                <a:latin typeface="Calibri"/>
              </a:defRPr>
            </a:pPr>
            <a:r>
              <a:t>SRAM LLC</a:t>
            </a:r>
          </a:p>
          <a:p>
            <a:pPr>
              <a:spcAft>
                <a:spcPts val="1560"/>
              </a:spcAft>
              <a:defRPr sz="2600" b="0">
                <a:solidFill>
                  <a:srgbClr val="767676"/>
                </a:solidFill>
                <a:latin typeface="Calibri"/>
              </a:defRPr>
            </a:pPr>
            <a:r>
              <a:t>AI Adoption Playbook</a:t>
            </a:r>
          </a:p>
          <a:p>
            <a:pPr>
              <a:spcAft>
                <a:spcPts val="600"/>
              </a:spcAft>
              <a:defRPr sz="1000" b="0">
                <a:solidFill>
                  <a:srgbClr val="767676"/>
                </a:solidFill>
                <a:latin typeface="Calibri"/>
              </a:defRPr>
            </a:pPr>
          </a:p>
          <a:p>
            <a:pPr>
              <a:spcAft>
                <a:spcPts val="960"/>
              </a:spcAft>
              <a:defRPr sz="1600" b="0">
                <a:solidFill>
                  <a:srgbClr val="3A3A3C"/>
                </a:solidFill>
                <a:latin typeface="Calibri"/>
              </a:defRPr>
            </a:pPr>
            <a:r>
              <a:t>A $10M opportunity starting with a 90-day pilot</a:t>
            </a:r>
          </a:p>
          <a:p>
            <a:pPr>
              <a:spcAft>
                <a:spcPts val="480"/>
              </a:spcAft>
              <a:defRPr sz="800" b="0">
                <a:solidFill>
                  <a:srgbClr val="767676"/>
                </a:solidFill>
                <a:latin typeface="Calibri"/>
              </a:defRPr>
            </a:pPr>
          </a:p>
          <a:p>
            <a:pPr>
              <a:spcAft>
                <a:spcPts val="780"/>
              </a:spcAft>
              <a:defRPr sz="1300" b="0">
                <a:solidFill>
                  <a:srgbClr val="767676"/>
                </a:solidFill>
                <a:latin typeface="Calibri"/>
              </a:defRPr>
            </a:pPr>
            <a:r>
              <a:t>Prepared for Executive Leadership  |  March 2026</a:t>
            </a:r>
          </a:p>
          <a:p>
            <a:pPr>
              <a:spcAft>
                <a:spcPts val="360"/>
              </a:spcAft>
              <a:defRPr sz="600" b="0">
                <a:solidFill>
                  <a:srgbClr val="767676"/>
                </a:solidFill>
                <a:latin typeface="Calibri"/>
              </a:defRPr>
            </a:pPr>
          </a:p>
          <a:p>
            <a:pPr>
              <a:spcAft>
                <a:spcPts val="780"/>
              </a:spcAft>
              <a:defRPr sz="1300" b="0">
                <a:solidFill>
                  <a:srgbClr val="767676"/>
                </a:solidFill>
                <a:latin typeface="Calibri"/>
              </a:defRPr>
            </a:pPr>
            <a:r>
              <a:t>Donovan Palmer, Ed Kreienberg, Will Zheng</a:t>
            </a:r>
          </a:p>
        </p:txBody>
      </p:sp>
      <p:sp>
        <p:nvSpPr>
          <p:cNvPr id="4" name="TextBox 3"/>
          <p:cNvSpPr txBox="1"/>
          <p:nvPr/>
        </p:nvSpPr>
        <p:spPr>
          <a:xfrm>
            <a:off x="1371600" y="5760720"/>
            <a:ext cx="9144000" cy="365760"/>
          </a:xfrm>
          <a:prstGeom prst="rect">
            <a:avLst/>
          </a:prstGeom>
          <a:noFill/>
        </p:spPr>
        <p:txBody>
          <a:bodyPr wrap="square">
            <a:spAutoFit/>
          </a:bodyPr>
          <a:lstStyle/>
          <a:p>
            <a:pPr algn="l">
              <a:defRPr sz="1000" b="0" i="0">
                <a:solidFill>
                  <a:srgbClr val="767676"/>
                </a:solidFill>
                <a:latin typeface="Calibri"/>
              </a:defRPr>
            </a:pPr>
            <a:r>
              <a:t>AIML 950  |  Human and Machine Intelligence  |  Northwestern Kellogg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CONTEXT</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SRAM makes the parts that make bikes go, stop, and shift</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058400" cy="457200"/>
          </a:xfrm>
          <a:prstGeom prst="rect">
            <a:avLst/>
          </a:prstGeom>
          <a:noFill/>
        </p:spPr>
        <p:txBody>
          <a:bodyPr wrap="square">
            <a:spAutoFit/>
          </a:bodyPr>
          <a:lstStyle/>
          <a:p>
            <a:pPr algn="l">
              <a:defRPr sz="1400" b="0" i="0">
                <a:solidFill>
                  <a:srgbClr val="767676"/>
                </a:solidFill>
                <a:latin typeface="Calibri"/>
              </a:defRPr>
            </a:pPr>
            <a:r>
              <a:t>A $1B+ company headquartered in Chicago, powering bikes from weekend rides to the Tour de France.</a:t>
            </a:r>
          </a:p>
        </p:txBody>
      </p:sp>
      <p:sp>
        <p:nvSpPr>
          <p:cNvPr id="6" name="Rounded Rectangle 5"/>
          <p:cNvSpPr/>
          <p:nvPr/>
        </p:nvSpPr>
        <p:spPr>
          <a:xfrm>
            <a:off x="73152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94560"/>
            <a:ext cx="1592580" cy="228600"/>
          </a:xfrm>
          <a:prstGeom prst="rect">
            <a:avLst/>
          </a:prstGeom>
          <a:noFill/>
        </p:spPr>
        <p:txBody>
          <a:bodyPr wrap="square">
            <a:spAutoFit/>
          </a:bodyPr>
          <a:lstStyle/>
          <a:p>
            <a:pPr algn="ctr">
              <a:defRPr sz="1000" b="1" i="0">
                <a:solidFill>
                  <a:srgbClr val="767676"/>
                </a:solidFill>
                <a:latin typeface="Calibri"/>
              </a:defRPr>
            </a:pPr>
            <a:r>
              <a:t>SRAM</a:t>
            </a:r>
          </a:p>
        </p:txBody>
      </p:sp>
      <p:sp>
        <p:nvSpPr>
          <p:cNvPr id="8" name="TextBox 7"/>
          <p:cNvSpPr txBox="1"/>
          <p:nvPr/>
        </p:nvSpPr>
        <p:spPr>
          <a:xfrm>
            <a:off x="731520" y="2514600"/>
            <a:ext cx="1592580" cy="457200"/>
          </a:xfrm>
          <a:prstGeom prst="rect">
            <a:avLst/>
          </a:prstGeom>
          <a:noFill/>
        </p:spPr>
        <p:txBody>
          <a:bodyPr wrap="square">
            <a:spAutoFit/>
          </a:bodyPr>
          <a:lstStyle/>
          <a:p>
            <a:pPr algn="ctr">
              <a:defRPr sz="1600" b="1" i="0">
                <a:solidFill>
                  <a:srgbClr val="1C1C1E"/>
                </a:solidFill>
                <a:latin typeface="Calibri"/>
              </a:defRPr>
            </a:pPr>
            <a:r>
              <a:t>Drivetrains + Braking</a:t>
            </a:r>
          </a:p>
        </p:txBody>
      </p:sp>
      <p:sp>
        <p:nvSpPr>
          <p:cNvPr id="9" name="TextBox 8"/>
          <p:cNvSpPr txBox="1"/>
          <p:nvPr/>
        </p:nvSpPr>
        <p:spPr>
          <a:xfrm>
            <a:off x="868680" y="3108960"/>
            <a:ext cx="1318260" cy="914400"/>
          </a:xfrm>
          <a:prstGeom prst="rect">
            <a:avLst/>
          </a:prstGeom>
          <a:noFill/>
        </p:spPr>
        <p:txBody>
          <a:bodyPr wrap="square">
            <a:spAutoFit/>
          </a:bodyPr>
          <a:lstStyle/>
          <a:p>
            <a:pPr algn="ctr">
              <a:defRPr sz="1100" b="0" i="0">
                <a:solidFill>
                  <a:srgbClr val="3A3A3C"/>
                </a:solidFill>
                <a:latin typeface="Calibri"/>
              </a:defRPr>
            </a:pPr>
            <a:r>
              <a:t>Gears, chains, and disc</a:t>
            </a:r>
            <a:br/>
            <a:r>
              <a:t>brakes for every bike</a:t>
            </a:r>
          </a:p>
        </p:txBody>
      </p:sp>
      <p:sp>
        <p:nvSpPr>
          <p:cNvPr id="10" name="Rounded Rectangle 9"/>
          <p:cNvSpPr/>
          <p:nvPr/>
        </p:nvSpPr>
        <p:spPr>
          <a:xfrm>
            <a:off x="255270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2700" y="2194560"/>
            <a:ext cx="1592580" cy="228600"/>
          </a:xfrm>
          <a:prstGeom prst="rect">
            <a:avLst/>
          </a:prstGeom>
          <a:noFill/>
        </p:spPr>
        <p:txBody>
          <a:bodyPr wrap="square">
            <a:spAutoFit/>
          </a:bodyPr>
          <a:lstStyle/>
          <a:p>
            <a:pPr algn="ctr">
              <a:defRPr sz="1000" b="1" i="0">
                <a:solidFill>
                  <a:srgbClr val="767676"/>
                </a:solidFill>
                <a:latin typeface="Calibri"/>
              </a:defRPr>
            </a:pPr>
            <a:r>
              <a:t>RockShox</a:t>
            </a:r>
          </a:p>
        </p:txBody>
      </p:sp>
      <p:sp>
        <p:nvSpPr>
          <p:cNvPr id="12" name="TextBox 11"/>
          <p:cNvSpPr txBox="1"/>
          <p:nvPr/>
        </p:nvSpPr>
        <p:spPr>
          <a:xfrm>
            <a:off x="2552700" y="2514600"/>
            <a:ext cx="1592580" cy="457200"/>
          </a:xfrm>
          <a:prstGeom prst="rect">
            <a:avLst/>
          </a:prstGeom>
          <a:noFill/>
        </p:spPr>
        <p:txBody>
          <a:bodyPr wrap="square">
            <a:spAutoFit/>
          </a:bodyPr>
          <a:lstStyle/>
          <a:p>
            <a:pPr algn="ctr">
              <a:defRPr sz="1600" b="1" i="0">
                <a:solidFill>
                  <a:srgbClr val="1C1C1E"/>
                </a:solidFill>
                <a:latin typeface="Calibri"/>
              </a:defRPr>
            </a:pPr>
            <a:r>
              <a:t>Suspension</a:t>
            </a:r>
          </a:p>
        </p:txBody>
      </p:sp>
      <p:sp>
        <p:nvSpPr>
          <p:cNvPr id="13" name="TextBox 12"/>
          <p:cNvSpPr txBox="1"/>
          <p:nvPr/>
        </p:nvSpPr>
        <p:spPr>
          <a:xfrm>
            <a:off x="2689860" y="3108960"/>
            <a:ext cx="1318260" cy="914400"/>
          </a:xfrm>
          <a:prstGeom prst="rect">
            <a:avLst/>
          </a:prstGeom>
          <a:noFill/>
        </p:spPr>
        <p:txBody>
          <a:bodyPr wrap="square">
            <a:spAutoFit/>
          </a:bodyPr>
          <a:lstStyle/>
          <a:p>
            <a:pPr algn="ctr">
              <a:defRPr sz="1100" b="0" i="0">
                <a:solidFill>
                  <a:srgbClr val="3A3A3C"/>
                </a:solidFill>
                <a:latin typeface="Calibri"/>
              </a:defRPr>
            </a:pPr>
            <a:r>
              <a:t>Forks and shocks that</a:t>
            </a:r>
            <a:br/>
            <a:r>
              <a:t>absorb trail impacts</a:t>
            </a:r>
          </a:p>
        </p:txBody>
      </p:sp>
      <p:sp>
        <p:nvSpPr>
          <p:cNvPr id="14" name="Rounded Rectangle 13"/>
          <p:cNvSpPr/>
          <p:nvPr/>
        </p:nvSpPr>
        <p:spPr>
          <a:xfrm>
            <a:off x="437388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3880" y="2194560"/>
            <a:ext cx="1592580" cy="228600"/>
          </a:xfrm>
          <a:prstGeom prst="rect">
            <a:avLst/>
          </a:prstGeom>
          <a:noFill/>
        </p:spPr>
        <p:txBody>
          <a:bodyPr wrap="square">
            <a:spAutoFit/>
          </a:bodyPr>
          <a:lstStyle/>
          <a:p>
            <a:pPr algn="ctr">
              <a:defRPr sz="1000" b="1" i="0">
                <a:solidFill>
                  <a:srgbClr val="767676"/>
                </a:solidFill>
                <a:latin typeface="Calibri"/>
              </a:defRPr>
            </a:pPr>
            <a:r>
              <a:t>Zipp</a:t>
            </a:r>
          </a:p>
        </p:txBody>
      </p:sp>
      <p:sp>
        <p:nvSpPr>
          <p:cNvPr id="16" name="TextBox 15"/>
          <p:cNvSpPr txBox="1"/>
          <p:nvPr/>
        </p:nvSpPr>
        <p:spPr>
          <a:xfrm>
            <a:off x="4373880" y="2514600"/>
            <a:ext cx="1592580" cy="457200"/>
          </a:xfrm>
          <a:prstGeom prst="rect">
            <a:avLst/>
          </a:prstGeom>
          <a:noFill/>
        </p:spPr>
        <p:txBody>
          <a:bodyPr wrap="square">
            <a:spAutoFit/>
          </a:bodyPr>
          <a:lstStyle/>
          <a:p>
            <a:pPr algn="ctr">
              <a:defRPr sz="1600" b="1" i="0">
                <a:solidFill>
                  <a:srgbClr val="1C1C1E"/>
                </a:solidFill>
                <a:latin typeface="Calibri"/>
              </a:defRPr>
            </a:pPr>
            <a:r>
              <a:t>Wheels + Cockpit</a:t>
            </a:r>
          </a:p>
        </p:txBody>
      </p:sp>
      <p:sp>
        <p:nvSpPr>
          <p:cNvPr id="17" name="TextBox 16"/>
          <p:cNvSpPr txBox="1"/>
          <p:nvPr/>
        </p:nvSpPr>
        <p:spPr>
          <a:xfrm>
            <a:off x="4511040" y="3108960"/>
            <a:ext cx="1318260" cy="914400"/>
          </a:xfrm>
          <a:prstGeom prst="rect">
            <a:avLst/>
          </a:prstGeom>
          <a:noFill/>
        </p:spPr>
        <p:txBody>
          <a:bodyPr wrap="square">
            <a:spAutoFit/>
          </a:bodyPr>
          <a:lstStyle/>
          <a:p>
            <a:pPr algn="ctr">
              <a:defRPr sz="1100" b="0" i="0">
                <a:solidFill>
                  <a:srgbClr val="3A3A3C"/>
                </a:solidFill>
                <a:latin typeface="Calibri"/>
              </a:defRPr>
            </a:pPr>
            <a:r>
              <a:t>Aero wheels, handlebars,</a:t>
            </a:r>
            <a:br/>
            <a:r>
              <a:t>and stems</a:t>
            </a:r>
          </a:p>
        </p:txBody>
      </p:sp>
      <p:sp>
        <p:nvSpPr>
          <p:cNvPr id="18" name="Rounded Rectangle 17"/>
          <p:cNvSpPr/>
          <p:nvPr/>
        </p:nvSpPr>
        <p:spPr>
          <a:xfrm>
            <a:off x="619506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5060" y="2194560"/>
            <a:ext cx="1592580" cy="228600"/>
          </a:xfrm>
          <a:prstGeom prst="rect">
            <a:avLst/>
          </a:prstGeom>
          <a:noFill/>
        </p:spPr>
        <p:txBody>
          <a:bodyPr wrap="square">
            <a:spAutoFit/>
          </a:bodyPr>
          <a:lstStyle/>
          <a:p>
            <a:pPr algn="ctr">
              <a:defRPr sz="1000" b="1" i="0">
                <a:solidFill>
                  <a:srgbClr val="767676"/>
                </a:solidFill>
                <a:latin typeface="Calibri"/>
              </a:defRPr>
            </a:pPr>
            <a:r>
              <a:t>Quarq</a:t>
            </a:r>
          </a:p>
        </p:txBody>
      </p:sp>
      <p:sp>
        <p:nvSpPr>
          <p:cNvPr id="20" name="TextBox 19"/>
          <p:cNvSpPr txBox="1"/>
          <p:nvPr/>
        </p:nvSpPr>
        <p:spPr>
          <a:xfrm>
            <a:off x="6195060" y="2514600"/>
            <a:ext cx="1592580" cy="457200"/>
          </a:xfrm>
          <a:prstGeom prst="rect">
            <a:avLst/>
          </a:prstGeom>
          <a:noFill/>
        </p:spPr>
        <p:txBody>
          <a:bodyPr wrap="square">
            <a:spAutoFit/>
          </a:bodyPr>
          <a:lstStyle/>
          <a:p>
            <a:pPr algn="ctr">
              <a:defRPr sz="1600" b="1" i="0">
                <a:solidFill>
                  <a:srgbClr val="1C1C1E"/>
                </a:solidFill>
                <a:latin typeface="Calibri"/>
              </a:defRPr>
            </a:pPr>
            <a:r>
              <a:t>Power Meters</a:t>
            </a:r>
          </a:p>
        </p:txBody>
      </p:sp>
      <p:sp>
        <p:nvSpPr>
          <p:cNvPr id="21" name="TextBox 20"/>
          <p:cNvSpPr txBox="1"/>
          <p:nvPr/>
        </p:nvSpPr>
        <p:spPr>
          <a:xfrm>
            <a:off x="6332220" y="3108960"/>
            <a:ext cx="1318260" cy="914400"/>
          </a:xfrm>
          <a:prstGeom prst="rect">
            <a:avLst/>
          </a:prstGeom>
          <a:noFill/>
        </p:spPr>
        <p:txBody>
          <a:bodyPr wrap="square">
            <a:spAutoFit/>
          </a:bodyPr>
          <a:lstStyle/>
          <a:p>
            <a:pPr algn="ctr">
              <a:defRPr sz="1100" b="0" i="0">
                <a:solidFill>
                  <a:srgbClr val="3A3A3C"/>
                </a:solidFill>
                <a:latin typeface="Calibri"/>
              </a:defRPr>
            </a:pPr>
            <a:r>
              <a:t>Sensors that measure</a:t>
            </a:r>
            <a:br/>
            <a:r>
              <a:t>rider output in watts</a:t>
            </a:r>
          </a:p>
        </p:txBody>
      </p:sp>
      <p:sp>
        <p:nvSpPr>
          <p:cNvPr id="22" name="Rounded Rectangle 21"/>
          <p:cNvSpPr/>
          <p:nvPr/>
        </p:nvSpPr>
        <p:spPr>
          <a:xfrm>
            <a:off x="801624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16240" y="2194560"/>
            <a:ext cx="1592580" cy="228600"/>
          </a:xfrm>
          <a:prstGeom prst="rect">
            <a:avLst/>
          </a:prstGeom>
          <a:noFill/>
        </p:spPr>
        <p:txBody>
          <a:bodyPr wrap="square">
            <a:spAutoFit/>
          </a:bodyPr>
          <a:lstStyle/>
          <a:p>
            <a:pPr algn="ctr">
              <a:defRPr sz="1000" b="1" i="0">
                <a:solidFill>
                  <a:srgbClr val="767676"/>
                </a:solidFill>
                <a:latin typeface="Calibri"/>
              </a:defRPr>
            </a:pPr>
            <a:r>
              <a:t>Hammerhead</a:t>
            </a:r>
          </a:p>
        </p:txBody>
      </p:sp>
      <p:sp>
        <p:nvSpPr>
          <p:cNvPr id="24" name="TextBox 23"/>
          <p:cNvSpPr txBox="1"/>
          <p:nvPr/>
        </p:nvSpPr>
        <p:spPr>
          <a:xfrm>
            <a:off x="8016240" y="2514600"/>
            <a:ext cx="1592580" cy="457200"/>
          </a:xfrm>
          <a:prstGeom prst="rect">
            <a:avLst/>
          </a:prstGeom>
          <a:noFill/>
        </p:spPr>
        <p:txBody>
          <a:bodyPr wrap="square">
            <a:spAutoFit/>
          </a:bodyPr>
          <a:lstStyle/>
          <a:p>
            <a:pPr algn="ctr">
              <a:defRPr sz="1600" b="1" i="0">
                <a:solidFill>
                  <a:srgbClr val="1C1C1E"/>
                </a:solidFill>
                <a:latin typeface="Calibri"/>
              </a:defRPr>
            </a:pPr>
            <a:r>
              <a:t>GPS Bike Computer</a:t>
            </a:r>
          </a:p>
        </p:txBody>
      </p:sp>
      <p:sp>
        <p:nvSpPr>
          <p:cNvPr id="25" name="TextBox 24"/>
          <p:cNvSpPr txBox="1"/>
          <p:nvPr/>
        </p:nvSpPr>
        <p:spPr>
          <a:xfrm>
            <a:off x="8153400" y="3108960"/>
            <a:ext cx="1318260" cy="914400"/>
          </a:xfrm>
          <a:prstGeom prst="rect">
            <a:avLst/>
          </a:prstGeom>
          <a:noFill/>
        </p:spPr>
        <p:txBody>
          <a:bodyPr wrap="square">
            <a:spAutoFit/>
          </a:bodyPr>
          <a:lstStyle/>
          <a:p>
            <a:pPr algn="ctr">
              <a:defRPr sz="1100" b="0" i="0">
                <a:solidFill>
                  <a:srgbClr val="3A3A3C"/>
                </a:solidFill>
                <a:latin typeface="Calibri"/>
              </a:defRPr>
            </a:pPr>
            <a:r>
              <a:t>On-bike computer for</a:t>
            </a:r>
            <a:br/>
            <a:r>
              <a:t>navigation and training data</a:t>
            </a:r>
          </a:p>
        </p:txBody>
      </p:sp>
      <p:sp>
        <p:nvSpPr>
          <p:cNvPr id="26" name="Rounded Rectangle 25"/>
          <p:cNvSpPr/>
          <p:nvPr/>
        </p:nvSpPr>
        <p:spPr>
          <a:xfrm>
            <a:off x="983742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37420" y="2194560"/>
            <a:ext cx="1592580" cy="228600"/>
          </a:xfrm>
          <a:prstGeom prst="rect">
            <a:avLst/>
          </a:prstGeom>
          <a:noFill/>
        </p:spPr>
        <p:txBody>
          <a:bodyPr wrap="square">
            <a:spAutoFit/>
          </a:bodyPr>
          <a:lstStyle/>
          <a:p>
            <a:pPr algn="ctr">
              <a:defRPr sz="1000" b="1" i="0">
                <a:solidFill>
                  <a:srgbClr val="767676"/>
                </a:solidFill>
                <a:latin typeface="Calibri"/>
              </a:defRPr>
            </a:pPr>
            <a:r>
              <a:t>TIME</a:t>
            </a:r>
          </a:p>
        </p:txBody>
      </p:sp>
      <p:sp>
        <p:nvSpPr>
          <p:cNvPr id="28" name="TextBox 27"/>
          <p:cNvSpPr txBox="1"/>
          <p:nvPr/>
        </p:nvSpPr>
        <p:spPr>
          <a:xfrm>
            <a:off x="9837420" y="2514600"/>
            <a:ext cx="1592580" cy="457200"/>
          </a:xfrm>
          <a:prstGeom prst="rect">
            <a:avLst/>
          </a:prstGeom>
          <a:noFill/>
        </p:spPr>
        <p:txBody>
          <a:bodyPr wrap="square">
            <a:spAutoFit/>
          </a:bodyPr>
          <a:lstStyle/>
          <a:p>
            <a:pPr algn="ctr">
              <a:defRPr sz="1600" b="1" i="0">
                <a:solidFill>
                  <a:srgbClr val="1C1C1E"/>
                </a:solidFill>
                <a:latin typeface="Calibri"/>
              </a:defRPr>
            </a:pPr>
            <a:r>
              <a:t>Pedals</a:t>
            </a:r>
          </a:p>
        </p:txBody>
      </p:sp>
      <p:sp>
        <p:nvSpPr>
          <p:cNvPr id="29" name="TextBox 28"/>
          <p:cNvSpPr txBox="1"/>
          <p:nvPr/>
        </p:nvSpPr>
        <p:spPr>
          <a:xfrm>
            <a:off x="9974580" y="3108960"/>
            <a:ext cx="1318260" cy="914400"/>
          </a:xfrm>
          <a:prstGeom prst="rect">
            <a:avLst/>
          </a:prstGeom>
          <a:noFill/>
        </p:spPr>
        <p:txBody>
          <a:bodyPr wrap="square">
            <a:spAutoFit/>
          </a:bodyPr>
          <a:lstStyle/>
          <a:p>
            <a:pPr algn="ctr">
              <a:defRPr sz="1100" b="0" i="0">
                <a:solidFill>
                  <a:srgbClr val="3A3A3C"/>
                </a:solidFill>
                <a:latin typeface="Calibri"/>
              </a:defRPr>
            </a:pPr>
            <a:r>
              <a:t>Clip-in pedal systems</a:t>
            </a:r>
            <a:br/>
            <a:r>
              <a:t>for road and mountain</a:t>
            </a:r>
          </a:p>
        </p:txBody>
      </p:sp>
      <p:sp>
        <p:nvSpPr>
          <p:cNvPr id="30" name="TextBox 29"/>
          <p:cNvSpPr txBox="1"/>
          <p:nvPr/>
        </p:nvSpPr>
        <p:spPr>
          <a:xfrm>
            <a:off x="731520" y="4572000"/>
            <a:ext cx="10698480" cy="457200"/>
          </a:xfrm>
          <a:prstGeom prst="rect">
            <a:avLst/>
          </a:prstGeom>
          <a:noFill/>
        </p:spPr>
        <p:txBody>
          <a:bodyPr wrap="square">
            <a:spAutoFit/>
          </a:bodyPr>
          <a:lstStyle/>
          <a:p>
            <a:pPr algn="ctr">
              <a:defRPr sz="1400" b="1" i="0">
                <a:solidFill>
                  <a:srgbClr val="3A3A3C"/>
                </a:solidFill>
                <a:latin typeface="Calibri"/>
              </a:defRPr>
            </a:pPr>
            <a:r>
              <a:t>6 brands. 1 connected ecosystem. From weekend riders to Tour de France pros.</a:t>
            </a:r>
          </a:p>
        </p:txBody>
      </p:sp>
      <p:sp>
        <p:nvSpPr>
          <p:cNvPr id="31" name="TextBox 3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2" name="TextBox 3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IS</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SRAM's connected ecosystem is unmatched in cycling</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00200"/>
            <a:ext cx="2103120" cy="228600"/>
          </a:xfrm>
          <a:prstGeom prst="rect">
            <a:avLst/>
          </a:prstGeom>
          <a:noFill/>
        </p:spPr>
        <p:txBody>
          <a:bodyPr wrap="square">
            <a:spAutoFit/>
          </a:bodyPr>
          <a:lstStyle/>
          <a:p>
            <a:pPr algn="l">
              <a:defRPr sz="1000" b="0" i="0">
                <a:solidFill>
                  <a:srgbClr val="767676"/>
                </a:solidFill>
                <a:latin typeface="Calibri"/>
              </a:defRPr>
            </a:pPr>
            <a:r>
              <a:t>REVENUE</a:t>
            </a:r>
          </a:p>
        </p:txBody>
      </p:sp>
      <p:sp>
        <p:nvSpPr>
          <p:cNvPr id="7" name="TextBox 6"/>
          <p:cNvSpPr txBox="1"/>
          <p:nvPr/>
        </p:nvSpPr>
        <p:spPr>
          <a:xfrm>
            <a:off x="960120" y="1828800"/>
            <a:ext cx="2103120" cy="411480"/>
          </a:xfrm>
          <a:prstGeom prst="rect">
            <a:avLst/>
          </a:prstGeom>
          <a:noFill/>
        </p:spPr>
        <p:txBody>
          <a:bodyPr wrap="square">
            <a:spAutoFit/>
          </a:bodyPr>
          <a:lstStyle/>
          <a:p>
            <a:pPr algn="l">
              <a:defRPr sz="2600" b="1" i="0">
                <a:solidFill>
                  <a:srgbClr val="1C1C1E"/>
                </a:solidFill>
                <a:latin typeface="Calibri"/>
              </a:defRPr>
            </a:pPr>
            <a:r>
              <a:t>$1B+</a:t>
            </a:r>
          </a:p>
        </p:txBody>
      </p:sp>
      <p:sp>
        <p:nvSpPr>
          <p:cNvPr id="8" name="TextBox 7"/>
          <p:cNvSpPr txBox="1"/>
          <p:nvPr/>
        </p:nvSpPr>
        <p:spPr>
          <a:xfrm>
            <a:off x="960120" y="2286000"/>
            <a:ext cx="2103120" cy="228600"/>
          </a:xfrm>
          <a:prstGeom prst="rect">
            <a:avLst/>
          </a:prstGeom>
          <a:noFill/>
        </p:spPr>
        <p:txBody>
          <a:bodyPr wrap="square">
            <a:spAutoFit/>
          </a:bodyPr>
          <a:lstStyle/>
          <a:p>
            <a:pPr algn="l">
              <a:defRPr sz="900" b="0" i="0">
                <a:solidFill>
                  <a:srgbClr val="767676"/>
                </a:solidFill>
                <a:latin typeface="Calibri"/>
              </a:defRPr>
            </a:pPr>
            <a:r>
              <a:t>Private, Chicago-founded</a:t>
            </a:r>
          </a:p>
        </p:txBody>
      </p:sp>
      <p:sp>
        <p:nvSpPr>
          <p:cNvPr id="9" name="Rounded Rectangle 8"/>
          <p:cNvSpPr/>
          <p:nvPr/>
        </p:nvSpPr>
        <p:spPr>
          <a:xfrm>
            <a:off x="3520439"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9039" y="1600200"/>
            <a:ext cx="2103120" cy="228600"/>
          </a:xfrm>
          <a:prstGeom prst="rect">
            <a:avLst/>
          </a:prstGeom>
          <a:noFill/>
        </p:spPr>
        <p:txBody>
          <a:bodyPr wrap="square">
            <a:spAutoFit/>
          </a:bodyPr>
          <a:lstStyle/>
          <a:p>
            <a:pPr algn="l">
              <a:defRPr sz="1000" b="0" i="0">
                <a:solidFill>
                  <a:srgbClr val="767676"/>
                </a:solidFill>
                <a:latin typeface="Calibri"/>
              </a:defRPr>
            </a:pPr>
            <a:r>
              <a:t>BRANDS</a:t>
            </a:r>
          </a:p>
        </p:txBody>
      </p:sp>
      <p:sp>
        <p:nvSpPr>
          <p:cNvPr id="11" name="TextBox 10"/>
          <p:cNvSpPr txBox="1"/>
          <p:nvPr/>
        </p:nvSpPr>
        <p:spPr>
          <a:xfrm>
            <a:off x="3749039" y="1828800"/>
            <a:ext cx="2103120" cy="411480"/>
          </a:xfrm>
          <a:prstGeom prst="rect">
            <a:avLst/>
          </a:prstGeom>
          <a:noFill/>
        </p:spPr>
        <p:txBody>
          <a:bodyPr wrap="square">
            <a:spAutoFit/>
          </a:bodyPr>
          <a:lstStyle/>
          <a:p>
            <a:pPr algn="l">
              <a:defRPr sz="2600" b="1" i="0">
                <a:solidFill>
                  <a:srgbClr val="1C1C1E"/>
                </a:solidFill>
                <a:latin typeface="Calibri"/>
              </a:defRPr>
            </a:pPr>
            <a:r>
              <a:t>6</a:t>
            </a:r>
          </a:p>
        </p:txBody>
      </p:sp>
      <p:sp>
        <p:nvSpPr>
          <p:cNvPr id="12" name="TextBox 11"/>
          <p:cNvSpPr txBox="1"/>
          <p:nvPr/>
        </p:nvSpPr>
        <p:spPr>
          <a:xfrm>
            <a:off x="3749039" y="2286000"/>
            <a:ext cx="2103120" cy="228600"/>
          </a:xfrm>
          <a:prstGeom prst="rect">
            <a:avLst/>
          </a:prstGeom>
          <a:noFill/>
        </p:spPr>
        <p:txBody>
          <a:bodyPr wrap="square">
            <a:spAutoFit/>
          </a:bodyPr>
          <a:lstStyle/>
          <a:p>
            <a:pPr algn="l">
              <a:defRPr sz="900" b="0" i="0">
                <a:solidFill>
                  <a:srgbClr val="767676"/>
                </a:solidFill>
                <a:latin typeface="Calibri"/>
              </a:defRPr>
            </a:pPr>
            <a:r>
              <a:t>Integrated portfolio</a:t>
            </a:r>
          </a:p>
        </p:txBody>
      </p:sp>
      <p:sp>
        <p:nvSpPr>
          <p:cNvPr id="13" name="Rounded Rectangle 12"/>
          <p:cNvSpPr/>
          <p:nvPr/>
        </p:nvSpPr>
        <p:spPr>
          <a:xfrm>
            <a:off x="6309359"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59" y="1600200"/>
            <a:ext cx="2103120" cy="228600"/>
          </a:xfrm>
          <a:prstGeom prst="rect">
            <a:avLst/>
          </a:prstGeom>
          <a:noFill/>
        </p:spPr>
        <p:txBody>
          <a:bodyPr wrap="square">
            <a:spAutoFit/>
          </a:bodyPr>
          <a:lstStyle/>
          <a:p>
            <a:pPr algn="l">
              <a:defRPr sz="1000" b="0" i="0">
                <a:solidFill>
                  <a:srgbClr val="767676"/>
                </a:solidFill>
                <a:latin typeface="Calibri"/>
              </a:defRPr>
            </a:pPr>
            <a:r>
              <a:t>MTB SHARE</a:t>
            </a:r>
          </a:p>
        </p:txBody>
      </p:sp>
      <p:sp>
        <p:nvSpPr>
          <p:cNvPr id="15" name="TextBox 14"/>
          <p:cNvSpPr txBox="1"/>
          <p:nvPr/>
        </p:nvSpPr>
        <p:spPr>
          <a:xfrm>
            <a:off x="6537959" y="1828800"/>
            <a:ext cx="2103120" cy="411480"/>
          </a:xfrm>
          <a:prstGeom prst="rect">
            <a:avLst/>
          </a:prstGeom>
          <a:noFill/>
        </p:spPr>
        <p:txBody>
          <a:bodyPr wrap="square">
            <a:spAutoFit/>
          </a:bodyPr>
          <a:lstStyle/>
          <a:p>
            <a:pPr algn="l">
              <a:defRPr sz="2600" b="1" i="0">
                <a:solidFill>
                  <a:srgbClr val="1C1C1E"/>
                </a:solidFill>
                <a:latin typeface="Calibri"/>
              </a:defRPr>
            </a:pPr>
            <a:r>
              <a:t>#1</a:t>
            </a:r>
          </a:p>
        </p:txBody>
      </p:sp>
      <p:sp>
        <p:nvSpPr>
          <p:cNvPr id="16" name="TextBox 15"/>
          <p:cNvSpPr txBox="1"/>
          <p:nvPr/>
        </p:nvSpPr>
        <p:spPr>
          <a:xfrm>
            <a:off x="6537959" y="2286000"/>
            <a:ext cx="2103120" cy="228600"/>
          </a:xfrm>
          <a:prstGeom prst="rect">
            <a:avLst/>
          </a:prstGeom>
          <a:noFill/>
        </p:spPr>
        <p:txBody>
          <a:bodyPr wrap="square">
            <a:spAutoFit/>
          </a:bodyPr>
          <a:lstStyle/>
          <a:p>
            <a:pPr algn="l">
              <a:defRPr sz="900" b="0" i="0">
                <a:solidFill>
                  <a:srgbClr val="767676"/>
                </a:solidFill>
                <a:latin typeface="Calibri"/>
              </a:defRPr>
            </a:pPr>
            <a:r>
              <a:t>Market leader globally</a:t>
            </a:r>
          </a:p>
        </p:txBody>
      </p:sp>
      <p:sp>
        <p:nvSpPr>
          <p:cNvPr id="17" name="Rounded Rectangle 16"/>
          <p:cNvSpPr/>
          <p:nvPr/>
        </p:nvSpPr>
        <p:spPr>
          <a:xfrm>
            <a:off x="9098280"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1600200"/>
            <a:ext cx="2103120" cy="228600"/>
          </a:xfrm>
          <a:prstGeom prst="rect">
            <a:avLst/>
          </a:prstGeom>
          <a:noFill/>
        </p:spPr>
        <p:txBody>
          <a:bodyPr wrap="square">
            <a:spAutoFit/>
          </a:bodyPr>
          <a:lstStyle/>
          <a:p>
            <a:pPr algn="l">
              <a:defRPr sz="1000" b="0" i="0">
                <a:solidFill>
                  <a:srgbClr val="767676"/>
                </a:solidFill>
                <a:latin typeface="Calibri"/>
              </a:defRPr>
            </a:pPr>
            <a:r>
              <a:t>TRUSTPILOT</a:t>
            </a:r>
          </a:p>
        </p:txBody>
      </p:sp>
      <p:sp>
        <p:nvSpPr>
          <p:cNvPr id="19" name="TextBox 18"/>
          <p:cNvSpPr txBox="1"/>
          <p:nvPr/>
        </p:nvSpPr>
        <p:spPr>
          <a:xfrm>
            <a:off x="9326880" y="1828800"/>
            <a:ext cx="2103120" cy="411480"/>
          </a:xfrm>
          <a:prstGeom prst="rect">
            <a:avLst/>
          </a:prstGeom>
          <a:noFill/>
        </p:spPr>
        <p:txBody>
          <a:bodyPr wrap="square">
            <a:spAutoFit/>
          </a:bodyPr>
          <a:lstStyle/>
          <a:p>
            <a:pPr algn="l">
              <a:defRPr sz="2600" b="1" i="0">
                <a:solidFill>
                  <a:srgbClr val="C43B4F"/>
                </a:solidFill>
                <a:latin typeface="Calibri"/>
              </a:defRPr>
            </a:pPr>
            <a:r>
              <a:t>1.6 / 5.0</a:t>
            </a:r>
          </a:p>
        </p:txBody>
      </p:sp>
      <p:sp>
        <p:nvSpPr>
          <p:cNvPr id="20" name="TextBox 19"/>
          <p:cNvSpPr txBox="1"/>
          <p:nvPr/>
        </p:nvSpPr>
        <p:spPr>
          <a:xfrm>
            <a:off x="9326880" y="2286000"/>
            <a:ext cx="2103120" cy="228600"/>
          </a:xfrm>
          <a:prstGeom prst="rect">
            <a:avLst/>
          </a:prstGeom>
          <a:noFill/>
        </p:spPr>
        <p:txBody>
          <a:bodyPr wrap="square">
            <a:spAutoFit/>
          </a:bodyPr>
          <a:lstStyle/>
          <a:p>
            <a:pPr algn="l">
              <a:defRPr sz="900" b="0" i="0">
                <a:solidFill>
                  <a:srgbClr val="767676"/>
                </a:solidFill>
                <a:latin typeface="Calibri"/>
              </a:defRPr>
            </a:pPr>
            <a:r>
              <a:t>Support-driven churn risk</a:t>
            </a:r>
          </a:p>
        </p:txBody>
      </p:sp>
      <p:sp>
        <p:nvSpPr>
          <p:cNvPr id="21" name="Rounded Rectangle 20"/>
          <p:cNvSpPr/>
          <p:nvPr/>
        </p:nvSpPr>
        <p:spPr>
          <a:xfrm>
            <a:off x="73152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090672"/>
            <a:ext cx="1417320" cy="228600"/>
          </a:xfrm>
          <a:prstGeom prst="rect">
            <a:avLst/>
          </a:prstGeom>
          <a:noFill/>
        </p:spPr>
        <p:txBody>
          <a:bodyPr wrap="square">
            <a:spAutoFit/>
          </a:bodyPr>
          <a:lstStyle/>
          <a:p>
            <a:pPr algn="l">
              <a:defRPr sz="1200" b="1" i="0">
                <a:solidFill>
                  <a:srgbClr val="1C1C1E"/>
                </a:solidFill>
                <a:latin typeface="Calibri"/>
              </a:defRPr>
            </a:pPr>
            <a:r>
              <a:t>SRAM</a:t>
            </a:r>
          </a:p>
        </p:txBody>
      </p:sp>
      <p:sp>
        <p:nvSpPr>
          <p:cNvPr id="23" name="TextBox 22"/>
          <p:cNvSpPr txBox="1"/>
          <p:nvPr/>
        </p:nvSpPr>
        <p:spPr>
          <a:xfrm>
            <a:off x="868680" y="3383280"/>
            <a:ext cx="1417320" cy="320040"/>
          </a:xfrm>
          <a:prstGeom prst="rect">
            <a:avLst/>
          </a:prstGeom>
          <a:noFill/>
        </p:spPr>
        <p:txBody>
          <a:bodyPr wrap="square">
            <a:spAutoFit/>
          </a:bodyPr>
          <a:lstStyle/>
          <a:p>
            <a:pPr algn="l">
              <a:defRPr sz="1000" b="0" i="0">
                <a:solidFill>
                  <a:srgbClr val="767676"/>
                </a:solidFill>
                <a:latin typeface="Calibri"/>
              </a:defRPr>
            </a:pPr>
            <a:r>
              <a:t>Drivetrains + Braking</a:t>
            </a:r>
          </a:p>
        </p:txBody>
      </p:sp>
      <p:sp>
        <p:nvSpPr>
          <p:cNvPr id="24" name="Isosceles Triangle 23"/>
          <p:cNvSpPr/>
          <p:nvPr/>
        </p:nvSpPr>
        <p:spPr>
          <a:xfrm rot="5400000">
            <a:off x="2441448"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60603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199" y="3090672"/>
            <a:ext cx="1417320" cy="228600"/>
          </a:xfrm>
          <a:prstGeom prst="rect">
            <a:avLst/>
          </a:prstGeom>
          <a:noFill/>
        </p:spPr>
        <p:txBody>
          <a:bodyPr wrap="square">
            <a:spAutoFit/>
          </a:bodyPr>
          <a:lstStyle/>
          <a:p>
            <a:pPr algn="l">
              <a:defRPr sz="1200" b="1" i="0">
                <a:solidFill>
                  <a:srgbClr val="1C1C1E"/>
                </a:solidFill>
                <a:latin typeface="Calibri"/>
              </a:defRPr>
            </a:pPr>
            <a:r>
              <a:t>RockShox</a:t>
            </a:r>
          </a:p>
        </p:txBody>
      </p:sp>
      <p:sp>
        <p:nvSpPr>
          <p:cNvPr id="27" name="TextBox 26"/>
          <p:cNvSpPr txBox="1"/>
          <p:nvPr/>
        </p:nvSpPr>
        <p:spPr>
          <a:xfrm>
            <a:off x="2743199" y="3383280"/>
            <a:ext cx="1417320" cy="320040"/>
          </a:xfrm>
          <a:prstGeom prst="rect">
            <a:avLst/>
          </a:prstGeom>
          <a:noFill/>
        </p:spPr>
        <p:txBody>
          <a:bodyPr wrap="square">
            <a:spAutoFit/>
          </a:bodyPr>
          <a:lstStyle/>
          <a:p>
            <a:pPr algn="l">
              <a:defRPr sz="1000" b="0" i="0">
                <a:solidFill>
                  <a:srgbClr val="767676"/>
                </a:solidFill>
                <a:latin typeface="Calibri"/>
              </a:defRPr>
            </a:pPr>
            <a:r>
              <a:t>Suspension</a:t>
            </a:r>
          </a:p>
        </p:txBody>
      </p:sp>
      <p:sp>
        <p:nvSpPr>
          <p:cNvPr id="28" name="Isosceles Triangle 27"/>
          <p:cNvSpPr/>
          <p:nvPr/>
        </p:nvSpPr>
        <p:spPr>
          <a:xfrm rot="5400000">
            <a:off x="431596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48055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17719" y="3090672"/>
            <a:ext cx="1417320" cy="228600"/>
          </a:xfrm>
          <a:prstGeom prst="rect">
            <a:avLst/>
          </a:prstGeom>
          <a:noFill/>
        </p:spPr>
        <p:txBody>
          <a:bodyPr wrap="square">
            <a:spAutoFit/>
          </a:bodyPr>
          <a:lstStyle/>
          <a:p>
            <a:pPr algn="l">
              <a:defRPr sz="1200" b="1" i="0">
                <a:solidFill>
                  <a:srgbClr val="1C1C1E"/>
                </a:solidFill>
                <a:latin typeface="Calibri"/>
              </a:defRPr>
            </a:pPr>
            <a:r>
              <a:t>Zipp</a:t>
            </a:r>
          </a:p>
        </p:txBody>
      </p:sp>
      <p:sp>
        <p:nvSpPr>
          <p:cNvPr id="31" name="TextBox 30"/>
          <p:cNvSpPr txBox="1"/>
          <p:nvPr/>
        </p:nvSpPr>
        <p:spPr>
          <a:xfrm>
            <a:off x="4617719" y="3383280"/>
            <a:ext cx="1417320" cy="320040"/>
          </a:xfrm>
          <a:prstGeom prst="rect">
            <a:avLst/>
          </a:prstGeom>
          <a:noFill/>
        </p:spPr>
        <p:txBody>
          <a:bodyPr wrap="square">
            <a:spAutoFit/>
          </a:bodyPr>
          <a:lstStyle/>
          <a:p>
            <a:pPr algn="l">
              <a:defRPr sz="1000" b="0" i="0">
                <a:solidFill>
                  <a:srgbClr val="767676"/>
                </a:solidFill>
                <a:latin typeface="Calibri"/>
              </a:defRPr>
            </a:pPr>
            <a:r>
              <a:t>Wheels + Cockpit</a:t>
            </a:r>
          </a:p>
        </p:txBody>
      </p:sp>
      <p:sp>
        <p:nvSpPr>
          <p:cNvPr id="32" name="Isosceles Triangle 31"/>
          <p:cNvSpPr/>
          <p:nvPr/>
        </p:nvSpPr>
        <p:spPr>
          <a:xfrm rot="5400000">
            <a:off x="619048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5507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39" y="3090672"/>
            <a:ext cx="1417320" cy="228600"/>
          </a:xfrm>
          <a:prstGeom prst="rect">
            <a:avLst/>
          </a:prstGeom>
          <a:noFill/>
        </p:spPr>
        <p:txBody>
          <a:bodyPr wrap="square">
            <a:spAutoFit/>
          </a:bodyPr>
          <a:lstStyle/>
          <a:p>
            <a:pPr algn="l">
              <a:defRPr sz="1200" b="1" i="0">
                <a:solidFill>
                  <a:srgbClr val="1C1C1E"/>
                </a:solidFill>
                <a:latin typeface="Calibri"/>
              </a:defRPr>
            </a:pPr>
            <a:r>
              <a:t>Quarq</a:t>
            </a:r>
          </a:p>
        </p:txBody>
      </p:sp>
      <p:sp>
        <p:nvSpPr>
          <p:cNvPr id="35" name="TextBox 34"/>
          <p:cNvSpPr txBox="1"/>
          <p:nvPr/>
        </p:nvSpPr>
        <p:spPr>
          <a:xfrm>
            <a:off x="6492239" y="3383280"/>
            <a:ext cx="1417320" cy="320040"/>
          </a:xfrm>
          <a:prstGeom prst="rect">
            <a:avLst/>
          </a:prstGeom>
          <a:noFill/>
        </p:spPr>
        <p:txBody>
          <a:bodyPr wrap="square">
            <a:spAutoFit/>
          </a:bodyPr>
          <a:lstStyle/>
          <a:p>
            <a:pPr algn="l">
              <a:defRPr sz="1000" b="0" i="0">
                <a:solidFill>
                  <a:srgbClr val="767676"/>
                </a:solidFill>
                <a:latin typeface="Calibri"/>
              </a:defRPr>
            </a:pPr>
            <a:r>
              <a:t>Power Meters</a:t>
            </a:r>
          </a:p>
        </p:txBody>
      </p:sp>
      <p:sp>
        <p:nvSpPr>
          <p:cNvPr id="36" name="Isosceles Triangle 35"/>
          <p:cNvSpPr/>
          <p:nvPr/>
        </p:nvSpPr>
        <p:spPr>
          <a:xfrm rot="5400000">
            <a:off x="806500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22960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66760" y="3090672"/>
            <a:ext cx="1417320" cy="228600"/>
          </a:xfrm>
          <a:prstGeom prst="rect">
            <a:avLst/>
          </a:prstGeom>
          <a:noFill/>
        </p:spPr>
        <p:txBody>
          <a:bodyPr wrap="square">
            <a:spAutoFit/>
          </a:bodyPr>
          <a:lstStyle/>
          <a:p>
            <a:pPr algn="l">
              <a:defRPr sz="1200" b="1" i="0">
                <a:solidFill>
                  <a:srgbClr val="1C1C1E"/>
                </a:solidFill>
                <a:latin typeface="Calibri"/>
              </a:defRPr>
            </a:pPr>
            <a:r>
              <a:t>Hammerhead</a:t>
            </a:r>
          </a:p>
        </p:txBody>
      </p:sp>
      <p:sp>
        <p:nvSpPr>
          <p:cNvPr id="39" name="TextBox 38"/>
          <p:cNvSpPr txBox="1"/>
          <p:nvPr/>
        </p:nvSpPr>
        <p:spPr>
          <a:xfrm>
            <a:off x="8366760" y="3383280"/>
            <a:ext cx="1417320" cy="320040"/>
          </a:xfrm>
          <a:prstGeom prst="rect">
            <a:avLst/>
          </a:prstGeom>
          <a:noFill/>
        </p:spPr>
        <p:txBody>
          <a:bodyPr wrap="square">
            <a:spAutoFit/>
          </a:bodyPr>
          <a:lstStyle/>
          <a:p>
            <a:pPr algn="l">
              <a:defRPr sz="1000" b="0" i="0">
                <a:solidFill>
                  <a:srgbClr val="767676"/>
                </a:solidFill>
                <a:latin typeface="Calibri"/>
              </a:defRPr>
            </a:pPr>
            <a:r>
              <a:t>GPS Bike Computer</a:t>
            </a:r>
          </a:p>
        </p:txBody>
      </p:sp>
      <p:sp>
        <p:nvSpPr>
          <p:cNvPr id="40" name="Isosceles Triangle 39"/>
          <p:cNvSpPr/>
          <p:nvPr/>
        </p:nvSpPr>
        <p:spPr>
          <a:xfrm rot="5400000">
            <a:off x="9939528"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10412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41280" y="3090672"/>
            <a:ext cx="1417320" cy="228600"/>
          </a:xfrm>
          <a:prstGeom prst="rect">
            <a:avLst/>
          </a:prstGeom>
          <a:noFill/>
        </p:spPr>
        <p:txBody>
          <a:bodyPr wrap="square">
            <a:spAutoFit/>
          </a:bodyPr>
          <a:lstStyle/>
          <a:p>
            <a:pPr algn="l">
              <a:defRPr sz="1200" b="1" i="0">
                <a:solidFill>
                  <a:srgbClr val="1C1C1E"/>
                </a:solidFill>
                <a:latin typeface="Calibri"/>
              </a:defRPr>
            </a:pPr>
            <a:r>
              <a:t>TIME</a:t>
            </a:r>
          </a:p>
        </p:txBody>
      </p:sp>
      <p:sp>
        <p:nvSpPr>
          <p:cNvPr id="43" name="TextBox 42"/>
          <p:cNvSpPr txBox="1"/>
          <p:nvPr/>
        </p:nvSpPr>
        <p:spPr>
          <a:xfrm>
            <a:off x="10241280" y="3383280"/>
            <a:ext cx="1417320" cy="320040"/>
          </a:xfrm>
          <a:prstGeom prst="rect">
            <a:avLst/>
          </a:prstGeom>
          <a:noFill/>
        </p:spPr>
        <p:txBody>
          <a:bodyPr wrap="square">
            <a:spAutoFit/>
          </a:bodyPr>
          <a:lstStyle/>
          <a:p>
            <a:pPr algn="l">
              <a:defRPr sz="1000" b="0" i="0">
                <a:solidFill>
                  <a:srgbClr val="767676"/>
                </a:solidFill>
                <a:latin typeface="Calibri"/>
              </a:defRPr>
            </a:pPr>
            <a:r>
              <a:t>Pedals</a:t>
            </a:r>
          </a:p>
        </p:txBody>
      </p:sp>
      <p:sp>
        <p:nvSpPr>
          <p:cNvPr id="44" name="Rounded Rectangle 43"/>
          <p:cNvSpPr/>
          <p:nvPr/>
        </p:nvSpPr>
        <p:spPr>
          <a:xfrm>
            <a:off x="731520" y="4114800"/>
            <a:ext cx="11064240" cy="32004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4133087"/>
            <a:ext cx="10332720" cy="274320"/>
          </a:xfrm>
          <a:prstGeom prst="rect">
            <a:avLst/>
          </a:prstGeom>
          <a:noFill/>
        </p:spPr>
        <p:txBody>
          <a:bodyPr wrap="square">
            <a:spAutoFit/>
          </a:bodyPr>
          <a:lstStyle/>
          <a:p>
            <a:pPr algn="ctr">
              <a:defRPr sz="1100" b="1" i="0">
                <a:solidFill>
                  <a:srgbClr val="1C1C1E"/>
                </a:solidFill>
                <a:latin typeface="Calibri"/>
              </a:defRPr>
            </a:pPr>
            <a:r>
              <a:t>AXS Wireless Ecosystem  |  All 6 brands connect wirelessly and share data</a:t>
            </a:r>
          </a:p>
        </p:txBody>
      </p:sp>
      <p:sp>
        <p:nvSpPr>
          <p:cNvPr id="46" name="Rounded Rectangle 45"/>
          <p:cNvSpPr/>
          <p:nvPr/>
        </p:nvSpPr>
        <p:spPr>
          <a:xfrm>
            <a:off x="731520" y="4846320"/>
            <a:ext cx="110642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1520" y="4846320"/>
            <a:ext cx="50800" cy="7772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51560" y="4937760"/>
            <a:ext cx="10515600" cy="411480"/>
          </a:xfrm>
          <a:prstGeom prst="rect">
            <a:avLst/>
          </a:prstGeom>
          <a:noFill/>
        </p:spPr>
        <p:txBody>
          <a:bodyPr wrap="square">
            <a:spAutoFit/>
          </a:bodyPr>
          <a:lstStyle/>
          <a:p>
            <a:pPr algn="l">
              <a:defRPr sz="1200" b="0" i="1">
                <a:solidFill>
                  <a:srgbClr val="3A3A3C"/>
                </a:solidFill>
                <a:latin typeface="Calibri"/>
              </a:defRPr>
            </a:pPr>
            <a:r>
              <a:t>“Shimano riders use an app to check compatibility. Our riders use an ecosystem to train, navigate, tune their suspension, and monitor their entire component stack in real time. That is a fundamentally different level of engagement.”</a:t>
            </a:r>
          </a:p>
        </p:txBody>
      </p:sp>
      <p:sp>
        <p:nvSpPr>
          <p:cNvPr id="49" name="TextBox 48"/>
          <p:cNvSpPr txBox="1"/>
          <p:nvPr/>
        </p:nvSpPr>
        <p:spPr>
          <a:xfrm>
            <a:off x="1051560" y="5349240"/>
            <a:ext cx="1051560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50" name="TextBox 49"/>
          <p:cNvSpPr txBox="1"/>
          <p:nvPr/>
        </p:nvSpPr>
        <p:spPr>
          <a:xfrm>
            <a:off x="731520" y="5943600"/>
            <a:ext cx="10515600" cy="228600"/>
          </a:xfrm>
          <a:prstGeom prst="rect">
            <a:avLst/>
          </a:prstGeom>
          <a:noFill/>
        </p:spPr>
        <p:txBody>
          <a:bodyPr wrap="square">
            <a:spAutoFit/>
          </a:bodyPr>
          <a:lstStyle/>
          <a:p>
            <a:pPr algn="l">
              <a:defRPr sz="800" b="0" i="0">
                <a:solidFill>
                  <a:srgbClr val="767676"/>
                </a:solidFill>
                <a:latin typeface="Calibri"/>
              </a:defRPr>
            </a:pPr>
            <a:r>
              <a:t>Sources: MTB share per Bicycle Retailer industry analysis; Trustpilot rating as of Feb 2026 (n=180+ reviews)</a:t>
            </a:r>
          </a:p>
        </p:txBody>
      </p:sp>
      <p:sp>
        <p:nvSpPr>
          <p:cNvPr id="51" name="TextBox 5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52" name="TextBox 5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6" name="TextBox 5"/>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7" name="TextBox 6"/>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8" name="TextBox 7"/>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9" name="Rectangle 8"/>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Isosceles Triangle 9"/>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3" name="Rounded Rectangle 12"/>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5" name="TextBox 14"/>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6" name="Rounded Rectangle 15"/>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8" name="TextBox 17"/>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19" name="Rounded Rectangle 18"/>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1" name="TextBox 20"/>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2" name="TextBox 2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3" name="TextBox 2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6" name="TextBox 5"/>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7" name="TextBox 6"/>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8" name="TextBox 7"/>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9" name="Rectangle 8"/>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Isosceles Triangle 9"/>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3" name="Rounded Rectangle 12"/>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5" name="TextBox 14"/>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6" name="Rounded Rectangle 15"/>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8" name="TextBox 17"/>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19" name="Rounded Rectangle 18"/>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1" name="TextBox 20"/>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2" name="Rectangle 21"/>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4" name="Rounded Rectangle 23"/>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6" name="TextBox 25"/>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7" name="Rounded Rectangle 26"/>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29" name="TextBox 28"/>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0" name="Rounded Rectangle 29"/>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2" name="TextBox 31"/>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3" name="TextBox 3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4" name="TextBox 3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6" name="TextBox 5"/>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7" name="TextBox 6"/>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8" name="TextBox 7"/>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9" name="Rectangle 8"/>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Isosceles Triangle 9"/>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3" name="Rounded Rectangle 12"/>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5" name="TextBox 14"/>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6" name="Rounded Rectangle 15"/>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8" name="TextBox 17"/>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19" name="Rounded Rectangle 18"/>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1" name="TextBox 20"/>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2" name="Rectangle 21"/>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4" name="Rounded Rectangle 23"/>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6" name="TextBox 25"/>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7" name="Rounded Rectangle 26"/>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29" name="TextBox 28"/>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0" name="Rounded Rectangle 29"/>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2" name="TextBox 31"/>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3" name="Rectangle 32"/>
          <p:cNvSpPr/>
          <p:nvPr/>
        </p:nvSpPr>
        <p:spPr>
          <a:xfrm>
            <a:off x="731520" y="4023360"/>
            <a:ext cx="50800" cy="822960"/>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4251960"/>
            <a:ext cx="1234440" cy="365760"/>
          </a:xfrm>
          <a:prstGeom prst="rect">
            <a:avLst/>
          </a:prstGeom>
          <a:noFill/>
        </p:spPr>
        <p:txBody>
          <a:bodyPr wrap="square">
            <a:spAutoFit/>
          </a:bodyPr>
          <a:lstStyle/>
          <a:p>
            <a:pPr algn="l">
              <a:defRPr sz="900" b="1" i="0">
                <a:solidFill>
                  <a:srgbClr val="5B8C5A"/>
                </a:solidFill>
                <a:latin typeface="Calibri"/>
              </a:defRPr>
            </a:pPr>
            <a:r>
              <a:t>SUPPLY CHAIN</a:t>
            </a:r>
          </a:p>
        </p:txBody>
      </p:sp>
      <p:sp>
        <p:nvSpPr>
          <p:cNvPr id="35" name="Rounded Rectangle 34"/>
          <p:cNvSpPr/>
          <p:nvPr/>
        </p:nvSpPr>
        <p:spPr>
          <a:xfrm>
            <a:off x="219456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377440" y="4251960"/>
            <a:ext cx="2560320" cy="274320"/>
          </a:xfrm>
          <a:prstGeom prst="rect">
            <a:avLst/>
          </a:prstGeom>
          <a:noFill/>
        </p:spPr>
        <p:txBody>
          <a:bodyPr wrap="square">
            <a:spAutoFit/>
          </a:bodyPr>
          <a:lstStyle/>
          <a:p>
            <a:pPr algn="l">
              <a:defRPr sz="1200" b="1" i="0">
                <a:solidFill>
                  <a:srgbClr val="1C1C1E"/>
                </a:solidFill>
                <a:latin typeface="Calibri"/>
              </a:defRPr>
            </a:pPr>
            <a:r>
              <a:t>Demand Forecasting</a:t>
            </a:r>
          </a:p>
        </p:txBody>
      </p:sp>
      <p:sp>
        <p:nvSpPr>
          <p:cNvPr id="37" name="TextBox 36"/>
          <p:cNvSpPr txBox="1"/>
          <p:nvPr/>
        </p:nvSpPr>
        <p:spPr>
          <a:xfrm>
            <a:off x="2377440" y="4526280"/>
            <a:ext cx="2560320" cy="274320"/>
          </a:xfrm>
          <a:prstGeom prst="rect">
            <a:avLst/>
          </a:prstGeom>
          <a:noFill/>
        </p:spPr>
        <p:txBody>
          <a:bodyPr wrap="square">
            <a:spAutoFit/>
          </a:bodyPr>
          <a:lstStyle/>
          <a:p>
            <a:pPr algn="l">
              <a:defRPr sz="900" b="0" i="0">
                <a:solidFill>
                  <a:srgbClr val="767676"/>
                </a:solidFill>
                <a:latin typeface="Calibri"/>
              </a:defRPr>
            </a:pPr>
            <a:r>
              <a:t>No forecasting system exists today</a:t>
            </a:r>
          </a:p>
        </p:txBody>
      </p:sp>
      <p:sp>
        <p:nvSpPr>
          <p:cNvPr id="38" name="Rounded Rectangle 37"/>
          <p:cNvSpPr/>
          <p:nvPr/>
        </p:nvSpPr>
        <p:spPr>
          <a:xfrm>
            <a:off x="525780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40680" y="4251960"/>
            <a:ext cx="2560320" cy="274320"/>
          </a:xfrm>
          <a:prstGeom prst="rect">
            <a:avLst/>
          </a:prstGeom>
          <a:noFill/>
        </p:spPr>
        <p:txBody>
          <a:bodyPr wrap="square">
            <a:spAutoFit/>
          </a:bodyPr>
          <a:lstStyle/>
          <a:p>
            <a:pPr algn="l">
              <a:defRPr sz="1200" b="1" i="0">
                <a:solidFill>
                  <a:srgbClr val="1C1C1E"/>
                </a:solidFill>
                <a:latin typeface="Calibri"/>
              </a:defRPr>
            </a:pPr>
            <a:r>
              <a:t>Inventory Allocation</a:t>
            </a:r>
          </a:p>
        </p:txBody>
      </p:sp>
      <p:sp>
        <p:nvSpPr>
          <p:cNvPr id="40" name="TextBox 39"/>
          <p:cNvSpPr txBox="1"/>
          <p:nvPr/>
        </p:nvSpPr>
        <p:spPr>
          <a:xfrm>
            <a:off x="5440680" y="4526280"/>
            <a:ext cx="2560320" cy="274320"/>
          </a:xfrm>
          <a:prstGeom prst="rect">
            <a:avLst/>
          </a:prstGeom>
          <a:noFill/>
        </p:spPr>
        <p:txBody>
          <a:bodyPr wrap="square">
            <a:spAutoFit/>
          </a:bodyPr>
          <a:lstStyle/>
          <a:p>
            <a:pPr algn="l">
              <a:defRPr sz="900" b="0" i="0">
                <a:solidFill>
                  <a:srgbClr val="767676"/>
                </a:solidFill>
                <a:latin typeface="Calibri"/>
              </a:defRPr>
            </a:pPr>
            <a:r>
              <a:t>Stockouts and rush shipping losses</a:t>
            </a:r>
          </a:p>
        </p:txBody>
      </p:sp>
      <p:sp>
        <p:nvSpPr>
          <p:cNvPr id="41" name="Rounded Rectangle 40"/>
          <p:cNvSpPr/>
          <p:nvPr/>
        </p:nvSpPr>
        <p:spPr>
          <a:xfrm>
            <a:off x="832104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03920" y="4251960"/>
            <a:ext cx="2560320" cy="274320"/>
          </a:xfrm>
          <a:prstGeom prst="rect">
            <a:avLst/>
          </a:prstGeom>
          <a:noFill/>
        </p:spPr>
        <p:txBody>
          <a:bodyPr wrap="square">
            <a:spAutoFit/>
          </a:bodyPr>
          <a:lstStyle/>
          <a:p>
            <a:pPr algn="l">
              <a:defRPr sz="1200" b="1" i="0">
                <a:solidFill>
                  <a:srgbClr val="1C1C1E"/>
                </a:solidFill>
                <a:latin typeface="Calibri"/>
              </a:defRPr>
            </a:pPr>
            <a:r>
              <a:t>Customer Analytics</a:t>
            </a:r>
          </a:p>
        </p:txBody>
      </p:sp>
      <p:sp>
        <p:nvSpPr>
          <p:cNvPr id="43" name="TextBox 42"/>
          <p:cNvSpPr txBox="1"/>
          <p:nvPr/>
        </p:nvSpPr>
        <p:spPr>
          <a:xfrm>
            <a:off x="8503920" y="4526280"/>
            <a:ext cx="2560320" cy="274320"/>
          </a:xfrm>
          <a:prstGeom prst="rect">
            <a:avLst/>
          </a:prstGeom>
          <a:noFill/>
        </p:spPr>
        <p:txBody>
          <a:bodyPr wrap="square">
            <a:spAutoFit/>
          </a:bodyPr>
          <a:lstStyle/>
          <a:p>
            <a:pPr algn="l">
              <a:defRPr sz="900" b="0" i="0">
                <a:solidFill>
                  <a:srgbClr val="767676"/>
                </a:solidFill>
                <a:latin typeface="Calibri"/>
              </a:defRPr>
            </a:pPr>
            <a:r>
              <a:t>Shopify data is siloed, unused</a:t>
            </a:r>
          </a:p>
        </p:txBody>
      </p:sp>
      <p:sp>
        <p:nvSpPr>
          <p:cNvPr id="44" name="TextBox 4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5" name="TextBox 4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Start where domain knowledge is high and outcomes are measurable. Support is the proving ground for everything that follows.</a:t>
            </a:r>
          </a:p>
        </p:txBody>
      </p:sp>
      <p:sp>
        <p:nvSpPr>
          <p:cNvPr id="6" name="TextBox 5"/>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7" name="TextBox 6"/>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8" name="TextBox 7"/>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9" name="Rectangle 8"/>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Isosceles Triangle 9"/>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3" name="Rounded Rectangle 12"/>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5" name="TextBox 14"/>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6" name="Rounded Rectangle 15"/>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8" name="TextBox 17"/>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19" name="Rounded Rectangle 18"/>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1" name="TextBox 20"/>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2" name="Rectangle 21"/>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4" name="Rounded Rectangle 23"/>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6" name="TextBox 25"/>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7" name="Rounded Rectangle 26"/>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29" name="TextBox 28"/>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0" name="Rounded Rectangle 29"/>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2" name="TextBox 31"/>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3" name="Rectangle 32"/>
          <p:cNvSpPr/>
          <p:nvPr/>
        </p:nvSpPr>
        <p:spPr>
          <a:xfrm>
            <a:off x="731520" y="4023360"/>
            <a:ext cx="50800" cy="822960"/>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4251960"/>
            <a:ext cx="1234440" cy="365760"/>
          </a:xfrm>
          <a:prstGeom prst="rect">
            <a:avLst/>
          </a:prstGeom>
          <a:noFill/>
        </p:spPr>
        <p:txBody>
          <a:bodyPr wrap="square">
            <a:spAutoFit/>
          </a:bodyPr>
          <a:lstStyle/>
          <a:p>
            <a:pPr algn="l">
              <a:defRPr sz="900" b="1" i="0">
                <a:solidFill>
                  <a:srgbClr val="5B8C5A"/>
                </a:solidFill>
                <a:latin typeface="Calibri"/>
              </a:defRPr>
            </a:pPr>
            <a:r>
              <a:t>SUPPLY CHAIN</a:t>
            </a:r>
          </a:p>
        </p:txBody>
      </p:sp>
      <p:sp>
        <p:nvSpPr>
          <p:cNvPr id="35" name="Rounded Rectangle 34"/>
          <p:cNvSpPr/>
          <p:nvPr/>
        </p:nvSpPr>
        <p:spPr>
          <a:xfrm>
            <a:off x="219456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377440" y="4251960"/>
            <a:ext cx="2560320" cy="274320"/>
          </a:xfrm>
          <a:prstGeom prst="rect">
            <a:avLst/>
          </a:prstGeom>
          <a:noFill/>
        </p:spPr>
        <p:txBody>
          <a:bodyPr wrap="square">
            <a:spAutoFit/>
          </a:bodyPr>
          <a:lstStyle/>
          <a:p>
            <a:pPr algn="l">
              <a:defRPr sz="1200" b="1" i="0">
                <a:solidFill>
                  <a:srgbClr val="1C1C1E"/>
                </a:solidFill>
                <a:latin typeface="Calibri"/>
              </a:defRPr>
            </a:pPr>
            <a:r>
              <a:t>Demand Forecasting</a:t>
            </a:r>
          </a:p>
        </p:txBody>
      </p:sp>
      <p:sp>
        <p:nvSpPr>
          <p:cNvPr id="37" name="TextBox 36"/>
          <p:cNvSpPr txBox="1"/>
          <p:nvPr/>
        </p:nvSpPr>
        <p:spPr>
          <a:xfrm>
            <a:off x="2377440" y="4526280"/>
            <a:ext cx="2560320" cy="274320"/>
          </a:xfrm>
          <a:prstGeom prst="rect">
            <a:avLst/>
          </a:prstGeom>
          <a:noFill/>
        </p:spPr>
        <p:txBody>
          <a:bodyPr wrap="square">
            <a:spAutoFit/>
          </a:bodyPr>
          <a:lstStyle/>
          <a:p>
            <a:pPr algn="l">
              <a:defRPr sz="900" b="0" i="0">
                <a:solidFill>
                  <a:srgbClr val="767676"/>
                </a:solidFill>
                <a:latin typeface="Calibri"/>
              </a:defRPr>
            </a:pPr>
            <a:r>
              <a:t>No forecasting system exists today</a:t>
            </a:r>
          </a:p>
        </p:txBody>
      </p:sp>
      <p:sp>
        <p:nvSpPr>
          <p:cNvPr id="38" name="Rounded Rectangle 37"/>
          <p:cNvSpPr/>
          <p:nvPr/>
        </p:nvSpPr>
        <p:spPr>
          <a:xfrm>
            <a:off x="525780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40680" y="4251960"/>
            <a:ext cx="2560320" cy="274320"/>
          </a:xfrm>
          <a:prstGeom prst="rect">
            <a:avLst/>
          </a:prstGeom>
          <a:noFill/>
        </p:spPr>
        <p:txBody>
          <a:bodyPr wrap="square">
            <a:spAutoFit/>
          </a:bodyPr>
          <a:lstStyle/>
          <a:p>
            <a:pPr algn="l">
              <a:defRPr sz="1200" b="1" i="0">
                <a:solidFill>
                  <a:srgbClr val="1C1C1E"/>
                </a:solidFill>
                <a:latin typeface="Calibri"/>
              </a:defRPr>
            </a:pPr>
            <a:r>
              <a:t>Inventory Allocation</a:t>
            </a:r>
          </a:p>
        </p:txBody>
      </p:sp>
      <p:sp>
        <p:nvSpPr>
          <p:cNvPr id="40" name="TextBox 39"/>
          <p:cNvSpPr txBox="1"/>
          <p:nvPr/>
        </p:nvSpPr>
        <p:spPr>
          <a:xfrm>
            <a:off x="5440680" y="4526280"/>
            <a:ext cx="2560320" cy="274320"/>
          </a:xfrm>
          <a:prstGeom prst="rect">
            <a:avLst/>
          </a:prstGeom>
          <a:noFill/>
        </p:spPr>
        <p:txBody>
          <a:bodyPr wrap="square">
            <a:spAutoFit/>
          </a:bodyPr>
          <a:lstStyle/>
          <a:p>
            <a:pPr algn="l">
              <a:defRPr sz="900" b="0" i="0">
                <a:solidFill>
                  <a:srgbClr val="767676"/>
                </a:solidFill>
                <a:latin typeface="Calibri"/>
              </a:defRPr>
            </a:pPr>
            <a:r>
              <a:t>Stockouts and rush shipping losses</a:t>
            </a:r>
          </a:p>
        </p:txBody>
      </p:sp>
      <p:sp>
        <p:nvSpPr>
          <p:cNvPr id="41" name="Rounded Rectangle 40"/>
          <p:cNvSpPr/>
          <p:nvPr/>
        </p:nvSpPr>
        <p:spPr>
          <a:xfrm>
            <a:off x="832104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03920" y="4251960"/>
            <a:ext cx="2560320" cy="274320"/>
          </a:xfrm>
          <a:prstGeom prst="rect">
            <a:avLst/>
          </a:prstGeom>
          <a:noFill/>
        </p:spPr>
        <p:txBody>
          <a:bodyPr wrap="square">
            <a:spAutoFit/>
          </a:bodyPr>
          <a:lstStyle/>
          <a:p>
            <a:pPr algn="l">
              <a:defRPr sz="1200" b="1" i="0">
                <a:solidFill>
                  <a:srgbClr val="1C1C1E"/>
                </a:solidFill>
                <a:latin typeface="Calibri"/>
              </a:defRPr>
            </a:pPr>
            <a:r>
              <a:t>Customer Analytics</a:t>
            </a:r>
          </a:p>
        </p:txBody>
      </p:sp>
      <p:sp>
        <p:nvSpPr>
          <p:cNvPr id="43" name="TextBox 42"/>
          <p:cNvSpPr txBox="1"/>
          <p:nvPr/>
        </p:nvSpPr>
        <p:spPr>
          <a:xfrm>
            <a:off x="8503920" y="4526280"/>
            <a:ext cx="2560320" cy="274320"/>
          </a:xfrm>
          <a:prstGeom prst="rect">
            <a:avLst/>
          </a:prstGeom>
          <a:noFill/>
        </p:spPr>
        <p:txBody>
          <a:bodyPr wrap="square">
            <a:spAutoFit/>
          </a:bodyPr>
          <a:lstStyle/>
          <a:p>
            <a:pPr algn="l">
              <a:defRPr sz="900" b="0" i="0">
                <a:solidFill>
                  <a:srgbClr val="767676"/>
                </a:solidFill>
                <a:latin typeface="Calibri"/>
              </a:defRPr>
            </a:pPr>
            <a:r>
              <a:t>Shopify data is siloed, unused</a:t>
            </a:r>
          </a:p>
        </p:txBody>
      </p:sp>
      <p:sp>
        <p:nvSpPr>
          <p:cNvPr id="44" name="Rectangle 43"/>
          <p:cNvSpPr/>
          <p:nvPr/>
        </p:nvSpPr>
        <p:spPr>
          <a:xfrm>
            <a:off x="731520" y="5074919"/>
            <a:ext cx="50800" cy="82296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5303519"/>
            <a:ext cx="1234440" cy="365760"/>
          </a:xfrm>
          <a:prstGeom prst="rect">
            <a:avLst/>
          </a:prstGeom>
          <a:noFill/>
        </p:spPr>
        <p:txBody>
          <a:bodyPr wrap="square">
            <a:spAutoFit/>
          </a:bodyPr>
          <a:lstStyle/>
          <a:p>
            <a:pPr algn="l">
              <a:defRPr sz="900" b="1" i="0">
                <a:solidFill>
                  <a:srgbClr val="2D5F8A"/>
                </a:solidFill>
                <a:latin typeface="Calibri"/>
              </a:defRPr>
            </a:pPr>
            <a:r>
              <a:t>SUPPORT</a:t>
            </a:r>
          </a:p>
        </p:txBody>
      </p:sp>
      <p:sp>
        <p:nvSpPr>
          <p:cNvPr id="46" name="Rounded Rectangle 45"/>
          <p:cNvSpPr/>
          <p:nvPr/>
        </p:nvSpPr>
        <p:spPr>
          <a:xfrm>
            <a:off x="2194560" y="5074919"/>
            <a:ext cx="2926080" cy="82296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194560" y="5074919"/>
            <a:ext cx="50800" cy="82296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77440" y="5148071"/>
            <a:ext cx="2286000" cy="182880"/>
          </a:xfrm>
          <a:prstGeom prst="rect">
            <a:avLst/>
          </a:prstGeom>
          <a:noFill/>
        </p:spPr>
        <p:txBody>
          <a:bodyPr wrap="square">
            <a:spAutoFit/>
          </a:bodyPr>
          <a:lstStyle/>
          <a:p>
            <a:pPr algn="l">
              <a:defRPr sz="800" b="1" i="0">
                <a:solidFill>
                  <a:srgbClr val="E51937"/>
                </a:solidFill>
                <a:latin typeface="Calibri"/>
              </a:defRPr>
            </a:pPr>
            <a:r>
              <a:t>RECOMMENDED PILOT</a:t>
            </a:r>
          </a:p>
        </p:txBody>
      </p:sp>
      <p:sp>
        <p:nvSpPr>
          <p:cNvPr id="49" name="TextBox 48"/>
          <p:cNvSpPr txBox="1"/>
          <p:nvPr/>
        </p:nvSpPr>
        <p:spPr>
          <a:xfrm>
            <a:off x="2377440" y="5303519"/>
            <a:ext cx="2560320" cy="274320"/>
          </a:xfrm>
          <a:prstGeom prst="rect">
            <a:avLst/>
          </a:prstGeom>
          <a:noFill/>
        </p:spPr>
        <p:txBody>
          <a:bodyPr wrap="square">
            <a:spAutoFit/>
          </a:bodyPr>
          <a:lstStyle/>
          <a:p>
            <a:pPr algn="l">
              <a:defRPr sz="1200" b="1" i="0">
                <a:solidFill>
                  <a:srgbClr val="1C1C1E"/>
                </a:solidFill>
                <a:latin typeface="Calibri"/>
              </a:defRPr>
            </a:pPr>
            <a:r>
              <a:t>AI Support Agent</a:t>
            </a:r>
          </a:p>
        </p:txBody>
      </p:sp>
      <p:sp>
        <p:nvSpPr>
          <p:cNvPr id="50" name="TextBox 49"/>
          <p:cNvSpPr txBox="1"/>
          <p:nvPr/>
        </p:nvSpPr>
        <p:spPr>
          <a:xfrm>
            <a:off x="2377440" y="5577839"/>
            <a:ext cx="2560320" cy="274320"/>
          </a:xfrm>
          <a:prstGeom prst="rect">
            <a:avLst/>
          </a:prstGeom>
          <a:noFill/>
        </p:spPr>
        <p:txBody>
          <a:bodyPr wrap="square">
            <a:spAutoFit/>
          </a:bodyPr>
          <a:lstStyle/>
          <a:p>
            <a:pPr algn="l">
              <a:defRPr sz="900" b="0" i="0">
                <a:solidFill>
                  <a:srgbClr val="767676"/>
                </a:solidFill>
                <a:latin typeface="Calibri"/>
              </a:defRPr>
            </a:pPr>
            <a:r>
              <a:t>70% of dealer questions are repetitive</a:t>
            </a:r>
          </a:p>
        </p:txBody>
      </p:sp>
      <p:sp>
        <p:nvSpPr>
          <p:cNvPr id="51" name="Rounded Rectangle 50"/>
          <p:cNvSpPr/>
          <p:nvPr/>
        </p:nvSpPr>
        <p:spPr>
          <a:xfrm>
            <a:off x="5257800" y="5074919"/>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40680" y="5303519"/>
            <a:ext cx="2560320" cy="274320"/>
          </a:xfrm>
          <a:prstGeom prst="rect">
            <a:avLst/>
          </a:prstGeom>
          <a:noFill/>
        </p:spPr>
        <p:txBody>
          <a:bodyPr wrap="square">
            <a:spAutoFit/>
          </a:bodyPr>
          <a:lstStyle/>
          <a:p>
            <a:pPr algn="l">
              <a:defRPr sz="1200" b="1" i="0">
                <a:solidFill>
                  <a:srgbClr val="1C1C1E"/>
                </a:solidFill>
                <a:latin typeface="Calibri"/>
              </a:defRPr>
            </a:pPr>
            <a:r>
              <a:t>Warranty Automation</a:t>
            </a:r>
          </a:p>
        </p:txBody>
      </p:sp>
      <p:sp>
        <p:nvSpPr>
          <p:cNvPr id="53" name="TextBox 52"/>
          <p:cNvSpPr txBox="1"/>
          <p:nvPr/>
        </p:nvSpPr>
        <p:spPr>
          <a:xfrm>
            <a:off x="5440680" y="5577839"/>
            <a:ext cx="2560320" cy="274320"/>
          </a:xfrm>
          <a:prstGeom prst="rect">
            <a:avLst/>
          </a:prstGeom>
          <a:noFill/>
        </p:spPr>
        <p:txBody>
          <a:bodyPr wrap="square">
            <a:spAutoFit/>
          </a:bodyPr>
          <a:lstStyle/>
          <a:p>
            <a:pPr algn="l">
              <a:defRPr sz="900" b="0" i="0">
                <a:solidFill>
                  <a:srgbClr val="767676"/>
                </a:solidFill>
                <a:latin typeface="Calibri"/>
              </a:defRPr>
            </a:pPr>
            <a:r>
              <a:t>Fraudulent and mis-filed claims cost time</a:t>
            </a:r>
          </a:p>
        </p:txBody>
      </p:sp>
      <p:sp>
        <p:nvSpPr>
          <p:cNvPr id="54" name="Rounded Rectangle 53"/>
          <p:cNvSpPr/>
          <p:nvPr/>
        </p:nvSpPr>
        <p:spPr>
          <a:xfrm>
            <a:off x="8321040" y="5074919"/>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503920" y="5303519"/>
            <a:ext cx="2560320" cy="274320"/>
          </a:xfrm>
          <a:prstGeom prst="rect">
            <a:avLst/>
          </a:prstGeom>
          <a:noFill/>
        </p:spPr>
        <p:txBody>
          <a:bodyPr wrap="square">
            <a:spAutoFit/>
          </a:bodyPr>
          <a:lstStyle/>
          <a:p>
            <a:pPr algn="l">
              <a:defRPr sz="1200" b="1" i="0">
                <a:solidFill>
                  <a:srgbClr val="1C1C1E"/>
                </a:solidFill>
                <a:latin typeface="Calibri"/>
              </a:defRPr>
            </a:pPr>
            <a:r>
              <a:t>Compatibility Assistant</a:t>
            </a:r>
          </a:p>
        </p:txBody>
      </p:sp>
      <p:sp>
        <p:nvSpPr>
          <p:cNvPr id="56" name="TextBox 55"/>
          <p:cNvSpPr txBox="1"/>
          <p:nvPr/>
        </p:nvSpPr>
        <p:spPr>
          <a:xfrm>
            <a:off x="8503920" y="5577839"/>
            <a:ext cx="2560320" cy="274320"/>
          </a:xfrm>
          <a:prstGeom prst="rect">
            <a:avLst/>
          </a:prstGeom>
          <a:noFill/>
        </p:spPr>
        <p:txBody>
          <a:bodyPr wrap="square">
            <a:spAutoFit/>
          </a:bodyPr>
          <a:lstStyle/>
          <a:p>
            <a:pPr algn="l">
              <a:defRPr sz="900" b="0" i="0">
                <a:solidFill>
                  <a:srgbClr val="767676"/>
                </a:solidFill>
                <a:latin typeface="Calibri"/>
              </a:defRPr>
            </a:pPr>
            <a:r>
              <a:t>Riders get wrong parts, return them</a:t>
            </a:r>
          </a:p>
        </p:txBody>
      </p:sp>
      <p:sp>
        <p:nvSpPr>
          <p:cNvPr id="57" name="Rectangle 56"/>
          <p:cNvSpPr/>
          <p:nvPr/>
        </p:nvSpPr>
        <p:spPr>
          <a:xfrm>
            <a:off x="594360" y="5001767"/>
            <a:ext cx="10927080" cy="969264"/>
          </a:xfrm>
          <a:prstGeom prst="rect">
            <a:avLst/>
          </a:prstGeom>
          <a:noFill/>
          <a:ln w="3175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784080" y="4782311"/>
            <a:ext cx="1645920" cy="201168"/>
          </a:xfrm>
          <a:prstGeom prst="rect">
            <a:avLst/>
          </a:prstGeom>
          <a:noFill/>
        </p:spPr>
        <p:txBody>
          <a:bodyPr wrap="square">
            <a:spAutoFit/>
          </a:bodyPr>
          <a:lstStyle/>
          <a:p>
            <a:pPr algn="r">
              <a:defRPr sz="1000" b="1" i="0">
                <a:solidFill>
                  <a:srgbClr val="2D5F8A"/>
                </a:solidFill>
                <a:latin typeface="Calibri"/>
              </a:defRPr>
            </a:pPr>
            <a:r>
              <a:t>START HERE</a:t>
            </a:r>
          </a:p>
        </p:txBody>
      </p:sp>
      <p:sp>
        <p:nvSpPr>
          <p:cNvPr id="59" name="TextBox 58"/>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60" name="TextBox 59"/>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PROBLEM</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Support quality drives churn, not product quality</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Riders love SRAM hardware. They struggle with firmware updates, part compatibility, and warranty resolution.</a:t>
            </a:r>
          </a:p>
        </p:txBody>
      </p:sp>
      <p:sp>
        <p:nvSpPr>
          <p:cNvPr id="6" name="Rounded Rectangle 5"/>
          <p:cNvSpPr/>
          <p:nvPr/>
        </p:nvSpPr>
        <p:spPr>
          <a:xfrm>
            <a:off x="73152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48840"/>
            <a:ext cx="2834640" cy="228600"/>
          </a:xfrm>
          <a:prstGeom prst="rect">
            <a:avLst/>
          </a:prstGeom>
          <a:noFill/>
        </p:spPr>
        <p:txBody>
          <a:bodyPr wrap="square">
            <a:spAutoFit/>
          </a:bodyPr>
          <a:lstStyle/>
          <a:p>
            <a:pPr algn="l">
              <a:defRPr sz="1000" b="0" i="0">
                <a:solidFill>
                  <a:srgbClr val="767676"/>
                </a:solidFill>
                <a:latin typeface="Calibri"/>
              </a:defRPr>
            </a:pPr>
            <a:r>
              <a:t>TRUSTPILOT RATING</a:t>
            </a:r>
          </a:p>
        </p:txBody>
      </p:sp>
      <p:sp>
        <p:nvSpPr>
          <p:cNvPr id="8" name="TextBox 7"/>
          <p:cNvSpPr txBox="1"/>
          <p:nvPr/>
        </p:nvSpPr>
        <p:spPr>
          <a:xfrm>
            <a:off x="960120" y="2377440"/>
            <a:ext cx="2834640" cy="411480"/>
          </a:xfrm>
          <a:prstGeom prst="rect">
            <a:avLst/>
          </a:prstGeom>
          <a:noFill/>
        </p:spPr>
        <p:txBody>
          <a:bodyPr wrap="square">
            <a:spAutoFit/>
          </a:bodyPr>
          <a:lstStyle/>
          <a:p>
            <a:pPr algn="l">
              <a:defRPr sz="2600" b="1" i="0">
                <a:solidFill>
                  <a:srgbClr val="C43B4F"/>
                </a:solidFill>
                <a:latin typeface="Calibri"/>
              </a:defRPr>
            </a:pPr>
            <a:r>
              <a:t>1.6 / 5.0</a:t>
            </a:r>
          </a:p>
        </p:txBody>
      </p:sp>
      <p:sp>
        <p:nvSpPr>
          <p:cNvPr id="9" name="TextBox 8"/>
          <p:cNvSpPr txBox="1"/>
          <p:nvPr/>
        </p:nvSpPr>
        <p:spPr>
          <a:xfrm>
            <a:off x="960120" y="2834640"/>
            <a:ext cx="2834640" cy="228600"/>
          </a:xfrm>
          <a:prstGeom prst="rect">
            <a:avLst/>
          </a:prstGeom>
          <a:noFill/>
        </p:spPr>
        <p:txBody>
          <a:bodyPr wrap="square">
            <a:spAutoFit/>
          </a:bodyPr>
          <a:lstStyle/>
          <a:p>
            <a:pPr algn="l">
              <a:defRPr sz="900" b="0" i="0">
                <a:solidFill>
                  <a:srgbClr val="767676"/>
                </a:solidFill>
                <a:latin typeface="Calibri"/>
              </a:defRPr>
            </a:pPr>
            <a:r>
              <a:t>Warranty friction and support delays</a:t>
            </a:r>
          </a:p>
        </p:txBody>
      </p:sp>
      <p:sp>
        <p:nvSpPr>
          <p:cNvPr id="10" name="Rounded Rectangle 9"/>
          <p:cNvSpPr/>
          <p:nvPr/>
        </p:nvSpPr>
        <p:spPr>
          <a:xfrm>
            <a:off x="448056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2148840"/>
            <a:ext cx="2834640" cy="228600"/>
          </a:xfrm>
          <a:prstGeom prst="rect">
            <a:avLst/>
          </a:prstGeom>
          <a:noFill/>
        </p:spPr>
        <p:txBody>
          <a:bodyPr wrap="square">
            <a:spAutoFit/>
          </a:bodyPr>
          <a:lstStyle/>
          <a:p>
            <a:pPr algn="l">
              <a:defRPr sz="1000" b="0" i="0">
                <a:solidFill>
                  <a:srgbClr val="767676"/>
                </a:solidFill>
                <a:latin typeface="Calibri"/>
              </a:defRPr>
            </a:pPr>
            <a:r>
              <a:t>AUTOMATABLE</a:t>
            </a:r>
          </a:p>
        </p:txBody>
      </p:sp>
      <p:sp>
        <p:nvSpPr>
          <p:cNvPr id="12" name="TextBox 11"/>
          <p:cNvSpPr txBox="1"/>
          <p:nvPr/>
        </p:nvSpPr>
        <p:spPr>
          <a:xfrm>
            <a:off x="4709160" y="2377440"/>
            <a:ext cx="2834640" cy="411480"/>
          </a:xfrm>
          <a:prstGeom prst="rect">
            <a:avLst/>
          </a:prstGeom>
          <a:noFill/>
        </p:spPr>
        <p:txBody>
          <a:bodyPr wrap="square">
            <a:spAutoFit/>
          </a:bodyPr>
          <a:lstStyle/>
          <a:p>
            <a:pPr algn="l">
              <a:defRPr sz="2600" b="1" i="0">
                <a:solidFill>
                  <a:srgbClr val="1C1C1E"/>
                </a:solidFill>
                <a:latin typeface="Calibri"/>
              </a:defRPr>
            </a:pPr>
            <a:r>
              <a:t>~70%</a:t>
            </a:r>
          </a:p>
        </p:txBody>
      </p:sp>
      <p:sp>
        <p:nvSpPr>
          <p:cNvPr id="13" name="TextBox 12"/>
          <p:cNvSpPr txBox="1"/>
          <p:nvPr/>
        </p:nvSpPr>
        <p:spPr>
          <a:xfrm>
            <a:off x="4709160" y="2834640"/>
            <a:ext cx="2834640" cy="228600"/>
          </a:xfrm>
          <a:prstGeom prst="rect">
            <a:avLst/>
          </a:prstGeom>
          <a:noFill/>
        </p:spPr>
        <p:txBody>
          <a:bodyPr wrap="square">
            <a:spAutoFit/>
          </a:bodyPr>
          <a:lstStyle/>
          <a:p>
            <a:pPr algn="l">
              <a:defRPr sz="900" b="0" i="0">
                <a:solidFill>
                  <a:srgbClr val="767676"/>
                </a:solidFill>
                <a:latin typeface="Calibri"/>
              </a:defRPr>
            </a:pPr>
            <a:r>
              <a:t>Questions follow documented patterns</a:t>
            </a:r>
          </a:p>
        </p:txBody>
      </p:sp>
      <p:sp>
        <p:nvSpPr>
          <p:cNvPr id="14" name="Rounded Rectangle 13"/>
          <p:cNvSpPr/>
          <p:nvPr/>
        </p:nvSpPr>
        <p:spPr>
          <a:xfrm>
            <a:off x="822960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2148840"/>
            <a:ext cx="2834640" cy="228600"/>
          </a:xfrm>
          <a:prstGeom prst="rect">
            <a:avLst/>
          </a:prstGeom>
          <a:noFill/>
        </p:spPr>
        <p:txBody>
          <a:bodyPr wrap="square">
            <a:spAutoFit/>
          </a:bodyPr>
          <a:lstStyle/>
          <a:p>
            <a:pPr algn="l">
              <a:defRPr sz="1000" b="0" i="0">
                <a:solidFill>
                  <a:srgbClr val="767676"/>
                </a:solidFill>
                <a:latin typeface="Calibri"/>
              </a:defRPr>
            </a:pPr>
            <a:r>
              <a:t>TOP COMPLAINTS</a:t>
            </a:r>
          </a:p>
        </p:txBody>
      </p:sp>
      <p:sp>
        <p:nvSpPr>
          <p:cNvPr id="16" name="TextBox 15"/>
          <p:cNvSpPr txBox="1"/>
          <p:nvPr/>
        </p:nvSpPr>
        <p:spPr>
          <a:xfrm>
            <a:off x="8458200" y="2377440"/>
            <a:ext cx="2834640" cy="411480"/>
          </a:xfrm>
          <a:prstGeom prst="rect">
            <a:avLst/>
          </a:prstGeom>
          <a:noFill/>
        </p:spPr>
        <p:txBody>
          <a:bodyPr wrap="square">
            <a:spAutoFit/>
          </a:bodyPr>
          <a:lstStyle/>
          <a:p>
            <a:pPr algn="l">
              <a:defRPr sz="2600" b="1" i="0">
                <a:solidFill>
                  <a:srgbClr val="C43B4F"/>
                </a:solidFill>
                <a:latin typeface="Calibri"/>
              </a:defRPr>
            </a:pPr>
            <a:r>
              <a:t>Firmware + Pairing</a:t>
            </a:r>
          </a:p>
        </p:txBody>
      </p:sp>
      <p:sp>
        <p:nvSpPr>
          <p:cNvPr id="17" name="TextBox 16"/>
          <p:cNvSpPr txBox="1"/>
          <p:nvPr/>
        </p:nvSpPr>
        <p:spPr>
          <a:xfrm>
            <a:off x="8458200" y="2834640"/>
            <a:ext cx="2834640" cy="228600"/>
          </a:xfrm>
          <a:prstGeom prst="rect">
            <a:avLst/>
          </a:prstGeom>
          <a:noFill/>
        </p:spPr>
        <p:txBody>
          <a:bodyPr wrap="square">
            <a:spAutoFit/>
          </a:bodyPr>
          <a:lstStyle/>
          <a:p>
            <a:pPr algn="l">
              <a:defRPr sz="900" b="0" i="0">
                <a:solidFill>
                  <a:srgbClr val="767676"/>
                </a:solidFill>
                <a:latin typeface="Calibri"/>
              </a:defRPr>
            </a:pPr>
            <a:r>
              <a:t>Reddit, app stores, Trustpilot</a:t>
            </a:r>
          </a:p>
        </p:txBody>
      </p:sp>
      <p:sp>
        <p:nvSpPr>
          <p:cNvPr id="18" name="TextBox 17"/>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19" name="TextBox 18"/>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PROBLEM</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Support quality drives churn, not product quality</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Riders love SRAM hardware. They struggle with firmware updates, part compatibility, and warranty resolution.</a:t>
            </a:r>
          </a:p>
        </p:txBody>
      </p:sp>
      <p:sp>
        <p:nvSpPr>
          <p:cNvPr id="6" name="Rounded Rectangle 5"/>
          <p:cNvSpPr/>
          <p:nvPr/>
        </p:nvSpPr>
        <p:spPr>
          <a:xfrm>
            <a:off x="73152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48840"/>
            <a:ext cx="2834640" cy="228600"/>
          </a:xfrm>
          <a:prstGeom prst="rect">
            <a:avLst/>
          </a:prstGeom>
          <a:noFill/>
        </p:spPr>
        <p:txBody>
          <a:bodyPr wrap="square">
            <a:spAutoFit/>
          </a:bodyPr>
          <a:lstStyle/>
          <a:p>
            <a:pPr algn="l">
              <a:defRPr sz="1000" b="0" i="0">
                <a:solidFill>
                  <a:srgbClr val="767676"/>
                </a:solidFill>
                <a:latin typeface="Calibri"/>
              </a:defRPr>
            </a:pPr>
            <a:r>
              <a:t>TRUSTPILOT RATING</a:t>
            </a:r>
          </a:p>
        </p:txBody>
      </p:sp>
      <p:sp>
        <p:nvSpPr>
          <p:cNvPr id="8" name="TextBox 7"/>
          <p:cNvSpPr txBox="1"/>
          <p:nvPr/>
        </p:nvSpPr>
        <p:spPr>
          <a:xfrm>
            <a:off x="960120" y="2377440"/>
            <a:ext cx="2834640" cy="411480"/>
          </a:xfrm>
          <a:prstGeom prst="rect">
            <a:avLst/>
          </a:prstGeom>
          <a:noFill/>
        </p:spPr>
        <p:txBody>
          <a:bodyPr wrap="square">
            <a:spAutoFit/>
          </a:bodyPr>
          <a:lstStyle/>
          <a:p>
            <a:pPr algn="l">
              <a:defRPr sz="2600" b="1" i="0">
                <a:solidFill>
                  <a:srgbClr val="C43B4F"/>
                </a:solidFill>
                <a:latin typeface="Calibri"/>
              </a:defRPr>
            </a:pPr>
            <a:r>
              <a:t>1.6 / 5.0</a:t>
            </a:r>
          </a:p>
        </p:txBody>
      </p:sp>
      <p:sp>
        <p:nvSpPr>
          <p:cNvPr id="9" name="TextBox 8"/>
          <p:cNvSpPr txBox="1"/>
          <p:nvPr/>
        </p:nvSpPr>
        <p:spPr>
          <a:xfrm>
            <a:off x="960120" y="2834640"/>
            <a:ext cx="2834640" cy="228600"/>
          </a:xfrm>
          <a:prstGeom prst="rect">
            <a:avLst/>
          </a:prstGeom>
          <a:noFill/>
        </p:spPr>
        <p:txBody>
          <a:bodyPr wrap="square">
            <a:spAutoFit/>
          </a:bodyPr>
          <a:lstStyle/>
          <a:p>
            <a:pPr algn="l">
              <a:defRPr sz="900" b="0" i="0">
                <a:solidFill>
                  <a:srgbClr val="767676"/>
                </a:solidFill>
                <a:latin typeface="Calibri"/>
              </a:defRPr>
            </a:pPr>
            <a:r>
              <a:t>Warranty friction and support delays</a:t>
            </a:r>
          </a:p>
        </p:txBody>
      </p:sp>
      <p:sp>
        <p:nvSpPr>
          <p:cNvPr id="10" name="Rounded Rectangle 9"/>
          <p:cNvSpPr/>
          <p:nvPr/>
        </p:nvSpPr>
        <p:spPr>
          <a:xfrm>
            <a:off x="448056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2148840"/>
            <a:ext cx="2834640" cy="228600"/>
          </a:xfrm>
          <a:prstGeom prst="rect">
            <a:avLst/>
          </a:prstGeom>
          <a:noFill/>
        </p:spPr>
        <p:txBody>
          <a:bodyPr wrap="square">
            <a:spAutoFit/>
          </a:bodyPr>
          <a:lstStyle/>
          <a:p>
            <a:pPr algn="l">
              <a:defRPr sz="1000" b="0" i="0">
                <a:solidFill>
                  <a:srgbClr val="767676"/>
                </a:solidFill>
                <a:latin typeface="Calibri"/>
              </a:defRPr>
            </a:pPr>
            <a:r>
              <a:t>AUTOMATABLE</a:t>
            </a:r>
          </a:p>
        </p:txBody>
      </p:sp>
      <p:sp>
        <p:nvSpPr>
          <p:cNvPr id="12" name="TextBox 11"/>
          <p:cNvSpPr txBox="1"/>
          <p:nvPr/>
        </p:nvSpPr>
        <p:spPr>
          <a:xfrm>
            <a:off x="4709160" y="2377440"/>
            <a:ext cx="2834640" cy="411480"/>
          </a:xfrm>
          <a:prstGeom prst="rect">
            <a:avLst/>
          </a:prstGeom>
          <a:noFill/>
        </p:spPr>
        <p:txBody>
          <a:bodyPr wrap="square">
            <a:spAutoFit/>
          </a:bodyPr>
          <a:lstStyle/>
          <a:p>
            <a:pPr algn="l">
              <a:defRPr sz="2600" b="1" i="0">
                <a:solidFill>
                  <a:srgbClr val="1C1C1E"/>
                </a:solidFill>
                <a:latin typeface="Calibri"/>
              </a:defRPr>
            </a:pPr>
            <a:r>
              <a:t>~70%</a:t>
            </a:r>
          </a:p>
        </p:txBody>
      </p:sp>
      <p:sp>
        <p:nvSpPr>
          <p:cNvPr id="13" name="TextBox 12"/>
          <p:cNvSpPr txBox="1"/>
          <p:nvPr/>
        </p:nvSpPr>
        <p:spPr>
          <a:xfrm>
            <a:off x="4709160" y="2834640"/>
            <a:ext cx="2834640" cy="228600"/>
          </a:xfrm>
          <a:prstGeom prst="rect">
            <a:avLst/>
          </a:prstGeom>
          <a:noFill/>
        </p:spPr>
        <p:txBody>
          <a:bodyPr wrap="square">
            <a:spAutoFit/>
          </a:bodyPr>
          <a:lstStyle/>
          <a:p>
            <a:pPr algn="l">
              <a:defRPr sz="900" b="0" i="0">
                <a:solidFill>
                  <a:srgbClr val="767676"/>
                </a:solidFill>
                <a:latin typeface="Calibri"/>
              </a:defRPr>
            </a:pPr>
            <a:r>
              <a:t>Questions follow documented patterns</a:t>
            </a:r>
          </a:p>
        </p:txBody>
      </p:sp>
      <p:sp>
        <p:nvSpPr>
          <p:cNvPr id="14" name="Rounded Rectangle 13"/>
          <p:cNvSpPr/>
          <p:nvPr/>
        </p:nvSpPr>
        <p:spPr>
          <a:xfrm>
            <a:off x="822960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2148840"/>
            <a:ext cx="2834640" cy="228600"/>
          </a:xfrm>
          <a:prstGeom prst="rect">
            <a:avLst/>
          </a:prstGeom>
          <a:noFill/>
        </p:spPr>
        <p:txBody>
          <a:bodyPr wrap="square">
            <a:spAutoFit/>
          </a:bodyPr>
          <a:lstStyle/>
          <a:p>
            <a:pPr algn="l">
              <a:defRPr sz="1000" b="0" i="0">
                <a:solidFill>
                  <a:srgbClr val="767676"/>
                </a:solidFill>
                <a:latin typeface="Calibri"/>
              </a:defRPr>
            </a:pPr>
            <a:r>
              <a:t>TOP COMPLAINTS</a:t>
            </a:r>
          </a:p>
        </p:txBody>
      </p:sp>
      <p:sp>
        <p:nvSpPr>
          <p:cNvPr id="16" name="TextBox 15"/>
          <p:cNvSpPr txBox="1"/>
          <p:nvPr/>
        </p:nvSpPr>
        <p:spPr>
          <a:xfrm>
            <a:off x="8458200" y="2377440"/>
            <a:ext cx="2834640" cy="411480"/>
          </a:xfrm>
          <a:prstGeom prst="rect">
            <a:avLst/>
          </a:prstGeom>
          <a:noFill/>
        </p:spPr>
        <p:txBody>
          <a:bodyPr wrap="square">
            <a:spAutoFit/>
          </a:bodyPr>
          <a:lstStyle/>
          <a:p>
            <a:pPr algn="l">
              <a:defRPr sz="2600" b="1" i="0">
                <a:solidFill>
                  <a:srgbClr val="C43B4F"/>
                </a:solidFill>
                <a:latin typeface="Calibri"/>
              </a:defRPr>
            </a:pPr>
            <a:r>
              <a:t>Firmware + Pairing</a:t>
            </a:r>
          </a:p>
        </p:txBody>
      </p:sp>
      <p:sp>
        <p:nvSpPr>
          <p:cNvPr id="17" name="TextBox 16"/>
          <p:cNvSpPr txBox="1"/>
          <p:nvPr/>
        </p:nvSpPr>
        <p:spPr>
          <a:xfrm>
            <a:off x="8458200" y="2834640"/>
            <a:ext cx="2834640" cy="228600"/>
          </a:xfrm>
          <a:prstGeom prst="rect">
            <a:avLst/>
          </a:prstGeom>
          <a:noFill/>
        </p:spPr>
        <p:txBody>
          <a:bodyPr wrap="square">
            <a:spAutoFit/>
          </a:bodyPr>
          <a:lstStyle/>
          <a:p>
            <a:pPr algn="l">
              <a:defRPr sz="900" b="0" i="0">
                <a:solidFill>
                  <a:srgbClr val="767676"/>
                </a:solidFill>
                <a:latin typeface="Calibri"/>
              </a:defRPr>
            </a:pPr>
            <a:r>
              <a:t>Reddit, app stores, Trustpilot</a:t>
            </a:r>
          </a:p>
        </p:txBody>
      </p:sp>
      <p:sp>
        <p:nvSpPr>
          <p:cNvPr id="18" name="Rounded Rectangle 17"/>
          <p:cNvSpPr/>
          <p:nvPr/>
        </p:nvSpPr>
        <p:spPr>
          <a:xfrm>
            <a:off x="731520" y="4389120"/>
            <a:ext cx="1078992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4389120"/>
            <a:ext cx="50800" cy="7772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80560"/>
            <a:ext cx="10241280" cy="411480"/>
          </a:xfrm>
          <a:prstGeom prst="rect">
            <a:avLst/>
          </a:prstGeom>
          <a:noFill/>
        </p:spPr>
        <p:txBody>
          <a:bodyPr wrap="square">
            <a:spAutoFit/>
          </a:bodyPr>
          <a:lstStyle/>
          <a:p>
            <a:pPr algn="l">
              <a:defRPr sz="1200" b="0" i="1">
                <a:solidFill>
                  <a:srgbClr val="3A3A3C"/>
                </a:solidFill>
                <a:latin typeface="Calibri"/>
              </a:defRPr>
            </a:pPr>
            <a:r>
              <a:t>“The first question I ask anyone skeptical about AI is: do you want to spend your day searching a 200-page compatibility PDF, or do you want to spend it talking to dealers?”</a:t>
            </a:r>
          </a:p>
        </p:txBody>
      </p:sp>
      <p:sp>
        <p:nvSpPr>
          <p:cNvPr id="21" name="TextBox 20"/>
          <p:cNvSpPr txBox="1"/>
          <p:nvPr/>
        </p:nvSpPr>
        <p:spPr>
          <a:xfrm>
            <a:off x="1051560" y="4892040"/>
            <a:ext cx="1024128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22" name="TextBox 2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3" name="TextBox 2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SOLUTION</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AI drafts responses, humans approve them, nobody gets a wrong answer</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29200" cy="274320"/>
          </a:xfrm>
          <a:prstGeom prst="rect">
            <a:avLst/>
          </a:prstGeom>
          <a:noFill/>
        </p:spPr>
        <p:txBody>
          <a:bodyPr wrap="square">
            <a:spAutoFit/>
          </a:bodyPr>
          <a:lstStyle/>
          <a:p>
            <a:pPr algn="l">
              <a:defRPr sz="1400" b="1" i="0">
                <a:solidFill>
                  <a:srgbClr val="C43B4F"/>
                </a:solidFill>
                <a:latin typeface="Calibri"/>
              </a:defRPr>
            </a:pPr>
            <a:r>
              <a:t>TODAY</a:t>
            </a:r>
          </a:p>
        </p:txBody>
      </p:sp>
      <p:sp>
        <p:nvSpPr>
          <p:cNvPr id="6" name="Rounded Rectangle 5"/>
          <p:cNvSpPr/>
          <p:nvPr/>
        </p:nvSpPr>
        <p:spPr>
          <a:xfrm>
            <a:off x="731520" y="173736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10512"/>
            <a:ext cx="4663440" cy="228600"/>
          </a:xfrm>
          <a:prstGeom prst="rect">
            <a:avLst/>
          </a:prstGeom>
          <a:noFill/>
        </p:spPr>
        <p:txBody>
          <a:bodyPr wrap="square">
            <a:spAutoFit/>
          </a:bodyPr>
          <a:lstStyle/>
          <a:p>
            <a:pPr algn="l">
              <a:defRPr sz="1200" b="1" i="0">
                <a:solidFill>
                  <a:srgbClr val="1C1C1E"/>
                </a:solidFill>
                <a:latin typeface="Calibri"/>
              </a:defRPr>
            </a:pPr>
            <a:r>
              <a:t>1. Dealer emails a question</a:t>
            </a:r>
          </a:p>
        </p:txBody>
      </p:sp>
      <p:sp>
        <p:nvSpPr>
          <p:cNvPr id="8" name="TextBox 7"/>
          <p:cNvSpPr txBox="1"/>
          <p:nvPr/>
        </p:nvSpPr>
        <p:spPr>
          <a:xfrm>
            <a:off x="914400" y="2084832"/>
            <a:ext cx="4663440" cy="502920"/>
          </a:xfrm>
          <a:prstGeom prst="rect">
            <a:avLst/>
          </a:prstGeom>
          <a:noFill/>
        </p:spPr>
        <p:txBody>
          <a:bodyPr wrap="square">
            <a:spAutoFit/>
          </a:bodyPr>
          <a:lstStyle/>
          <a:p>
            <a:pPr algn="l">
              <a:defRPr sz="1000" b="0" i="0">
                <a:solidFill>
                  <a:srgbClr val="767676"/>
                </a:solidFill>
                <a:latin typeface="Calibri"/>
              </a:defRPr>
            </a:pPr>
            <a:r>
              <a:t>"Which AXS derailleur firmware works with my 2024 Eagle cassette?"</a:t>
            </a:r>
          </a:p>
        </p:txBody>
      </p:sp>
      <p:sp>
        <p:nvSpPr>
          <p:cNvPr id="9" name="Rounded Rectangle 8"/>
          <p:cNvSpPr/>
          <p:nvPr/>
        </p:nvSpPr>
        <p:spPr>
          <a:xfrm>
            <a:off x="731520" y="278892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62072"/>
            <a:ext cx="4663440" cy="228600"/>
          </a:xfrm>
          <a:prstGeom prst="rect">
            <a:avLst/>
          </a:prstGeom>
          <a:noFill/>
        </p:spPr>
        <p:txBody>
          <a:bodyPr wrap="square">
            <a:spAutoFit/>
          </a:bodyPr>
          <a:lstStyle/>
          <a:p>
            <a:pPr algn="l">
              <a:defRPr sz="1200" b="1" i="0">
                <a:solidFill>
                  <a:srgbClr val="1C1C1E"/>
                </a:solidFill>
                <a:latin typeface="Calibri"/>
              </a:defRPr>
            </a:pPr>
            <a:r>
              <a:t>2. Agent searches manually</a:t>
            </a:r>
          </a:p>
        </p:txBody>
      </p:sp>
      <p:sp>
        <p:nvSpPr>
          <p:cNvPr id="11" name="TextBox 10"/>
          <p:cNvSpPr txBox="1"/>
          <p:nvPr/>
        </p:nvSpPr>
        <p:spPr>
          <a:xfrm>
            <a:off x="914400" y="3136392"/>
            <a:ext cx="4663440" cy="502920"/>
          </a:xfrm>
          <a:prstGeom prst="rect">
            <a:avLst/>
          </a:prstGeom>
          <a:noFill/>
        </p:spPr>
        <p:txBody>
          <a:bodyPr wrap="square">
            <a:spAutoFit/>
          </a:bodyPr>
          <a:lstStyle/>
          <a:p>
            <a:pPr algn="l">
              <a:defRPr sz="1000" b="0" i="0">
                <a:solidFill>
                  <a:srgbClr val="767676"/>
                </a:solidFill>
                <a:latin typeface="Calibri"/>
              </a:defRPr>
            </a:pPr>
            <a:r>
              <a:t>Opens a 200-page compatibility PDF.</a:t>
            </a:r>
            <a:br/>
            <a:r>
              <a:t>Searches across multiple documents and wikis.</a:t>
            </a:r>
          </a:p>
        </p:txBody>
      </p:sp>
      <p:sp>
        <p:nvSpPr>
          <p:cNvPr id="12" name="Rounded Rectangle 11"/>
          <p:cNvSpPr/>
          <p:nvPr/>
        </p:nvSpPr>
        <p:spPr>
          <a:xfrm>
            <a:off x="731520" y="384048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13632"/>
            <a:ext cx="4663440" cy="228600"/>
          </a:xfrm>
          <a:prstGeom prst="rect">
            <a:avLst/>
          </a:prstGeom>
          <a:noFill/>
        </p:spPr>
        <p:txBody>
          <a:bodyPr wrap="square">
            <a:spAutoFit/>
          </a:bodyPr>
          <a:lstStyle/>
          <a:p>
            <a:pPr algn="l">
              <a:defRPr sz="1200" b="1" i="0">
                <a:solidFill>
                  <a:srgbClr val="1C1C1E"/>
                </a:solidFill>
                <a:latin typeface="Calibri"/>
              </a:defRPr>
            </a:pPr>
            <a:r>
              <a:t>3. Agent writes a response from scratch</a:t>
            </a:r>
          </a:p>
        </p:txBody>
      </p:sp>
      <p:sp>
        <p:nvSpPr>
          <p:cNvPr id="14" name="TextBox 13"/>
          <p:cNvSpPr txBox="1"/>
          <p:nvPr/>
        </p:nvSpPr>
        <p:spPr>
          <a:xfrm>
            <a:off x="914400" y="4187952"/>
            <a:ext cx="4663440" cy="502920"/>
          </a:xfrm>
          <a:prstGeom prst="rect">
            <a:avLst/>
          </a:prstGeom>
          <a:noFill/>
        </p:spPr>
        <p:txBody>
          <a:bodyPr wrap="square">
            <a:spAutoFit/>
          </a:bodyPr>
          <a:lstStyle/>
          <a:p>
            <a:pPr algn="l">
              <a:defRPr sz="1000" b="0" i="0">
                <a:solidFill>
                  <a:srgbClr val="767676"/>
                </a:solidFill>
                <a:latin typeface="Calibri"/>
              </a:defRPr>
            </a:pPr>
            <a:r>
              <a:t>Types out the answer, double-checks part numbers,</a:t>
            </a:r>
            <a:br/>
            <a:r>
              <a:t>hopes nothing changed since last update.</a:t>
            </a:r>
          </a:p>
        </p:txBody>
      </p:sp>
      <p:sp>
        <p:nvSpPr>
          <p:cNvPr id="15" name="Rounded Rectangle 14"/>
          <p:cNvSpPr/>
          <p:nvPr/>
        </p:nvSpPr>
        <p:spPr>
          <a:xfrm>
            <a:off x="731520" y="4892039"/>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65191"/>
            <a:ext cx="4663440" cy="228600"/>
          </a:xfrm>
          <a:prstGeom prst="rect">
            <a:avLst/>
          </a:prstGeom>
          <a:noFill/>
        </p:spPr>
        <p:txBody>
          <a:bodyPr wrap="square">
            <a:spAutoFit/>
          </a:bodyPr>
          <a:lstStyle/>
          <a:p>
            <a:pPr algn="l">
              <a:defRPr sz="1200" b="1" i="0">
                <a:solidFill>
                  <a:srgbClr val="1C1C1E"/>
                </a:solidFill>
                <a:latin typeface="Calibri"/>
              </a:defRPr>
            </a:pPr>
            <a:r>
              <a:t>4. Dealer waits</a:t>
            </a:r>
          </a:p>
        </p:txBody>
      </p:sp>
      <p:sp>
        <p:nvSpPr>
          <p:cNvPr id="17" name="TextBox 16"/>
          <p:cNvSpPr txBox="1"/>
          <p:nvPr/>
        </p:nvSpPr>
        <p:spPr>
          <a:xfrm>
            <a:off x="914400" y="5239511"/>
            <a:ext cx="4663440" cy="502920"/>
          </a:xfrm>
          <a:prstGeom prst="rect">
            <a:avLst/>
          </a:prstGeom>
          <a:noFill/>
        </p:spPr>
        <p:txBody>
          <a:bodyPr wrap="square">
            <a:spAutoFit/>
          </a:bodyPr>
          <a:lstStyle/>
          <a:p>
            <a:pPr algn="l">
              <a:defRPr sz="1000" b="0" i="0">
                <a:solidFill>
                  <a:srgbClr val="767676"/>
                </a:solidFill>
                <a:latin typeface="Calibri"/>
              </a:defRPr>
            </a:pPr>
            <a:r>
              <a:t>Average first response: ~4 hours.</a:t>
            </a:r>
            <a:br/>
            <a:r>
              <a:t>70% of questions follow the same patterns.</a:t>
            </a:r>
          </a:p>
        </p:txBody>
      </p:sp>
      <p:sp>
        <p:nvSpPr>
          <p:cNvPr id="18" name="TextBox 17"/>
          <p:cNvSpPr txBox="1"/>
          <p:nvPr/>
        </p:nvSpPr>
        <p:spPr>
          <a:xfrm>
            <a:off x="6217920" y="1371600"/>
            <a:ext cx="5029200" cy="274320"/>
          </a:xfrm>
          <a:prstGeom prst="rect">
            <a:avLst/>
          </a:prstGeom>
          <a:noFill/>
        </p:spPr>
        <p:txBody>
          <a:bodyPr wrap="square">
            <a:spAutoFit/>
          </a:bodyPr>
          <a:lstStyle/>
          <a:p>
            <a:pPr algn="l">
              <a:defRPr sz="1400" b="1" i="0">
                <a:solidFill>
                  <a:srgbClr val="2D5F8A"/>
                </a:solidFill>
                <a:latin typeface="Calibri"/>
              </a:defRPr>
            </a:pPr>
            <a:r>
              <a:t>WITH AI PILOT</a:t>
            </a:r>
          </a:p>
        </p:txBody>
      </p:sp>
      <p:sp>
        <p:nvSpPr>
          <p:cNvPr id="19" name="Rounded Rectangle 18"/>
          <p:cNvSpPr/>
          <p:nvPr/>
        </p:nvSpPr>
        <p:spPr>
          <a:xfrm>
            <a:off x="6217920" y="173736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1810512"/>
            <a:ext cx="4663440" cy="228600"/>
          </a:xfrm>
          <a:prstGeom prst="rect">
            <a:avLst/>
          </a:prstGeom>
          <a:noFill/>
        </p:spPr>
        <p:txBody>
          <a:bodyPr wrap="square">
            <a:spAutoFit/>
          </a:bodyPr>
          <a:lstStyle/>
          <a:p>
            <a:pPr algn="l">
              <a:defRPr sz="1200" b="1" i="0">
                <a:solidFill>
                  <a:srgbClr val="1C1C1E"/>
                </a:solidFill>
                <a:latin typeface="Calibri"/>
              </a:defRPr>
            </a:pPr>
            <a:r>
              <a:t>1. Same question arrives</a:t>
            </a:r>
          </a:p>
        </p:txBody>
      </p:sp>
      <p:sp>
        <p:nvSpPr>
          <p:cNvPr id="21" name="TextBox 20"/>
          <p:cNvSpPr txBox="1"/>
          <p:nvPr/>
        </p:nvSpPr>
        <p:spPr>
          <a:xfrm>
            <a:off x="6400800" y="2084832"/>
            <a:ext cx="4663440" cy="502920"/>
          </a:xfrm>
          <a:prstGeom prst="rect">
            <a:avLst/>
          </a:prstGeom>
          <a:noFill/>
        </p:spPr>
        <p:txBody>
          <a:bodyPr wrap="square">
            <a:spAutoFit/>
          </a:bodyPr>
          <a:lstStyle/>
          <a:p>
            <a:pPr algn="l">
              <a:defRPr sz="1000" b="0" i="0">
                <a:solidFill>
                  <a:srgbClr val="767676"/>
                </a:solidFill>
                <a:latin typeface="Calibri"/>
              </a:defRPr>
            </a:pPr>
            <a:r>
              <a:t>Dealer submits via Zendesk. Nothing changes for them.</a:t>
            </a:r>
          </a:p>
        </p:txBody>
      </p:sp>
      <p:sp>
        <p:nvSpPr>
          <p:cNvPr id="22" name="Rounded Rectangle 21"/>
          <p:cNvSpPr/>
          <p:nvPr/>
        </p:nvSpPr>
        <p:spPr>
          <a:xfrm>
            <a:off x="6217920" y="278892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862072"/>
            <a:ext cx="4663440" cy="228600"/>
          </a:xfrm>
          <a:prstGeom prst="rect">
            <a:avLst/>
          </a:prstGeom>
          <a:noFill/>
        </p:spPr>
        <p:txBody>
          <a:bodyPr wrap="square">
            <a:spAutoFit/>
          </a:bodyPr>
          <a:lstStyle/>
          <a:p>
            <a:pPr algn="l">
              <a:defRPr sz="1200" b="1" i="0">
                <a:solidFill>
                  <a:srgbClr val="1C1C1E"/>
                </a:solidFill>
                <a:latin typeface="Calibri"/>
              </a:defRPr>
            </a:pPr>
            <a:r>
              <a:t>2. AI searches approved docs instantly</a:t>
            </a:r>
          </a:p>
        </p:txBody>
      </p:sp>
      <p:sp>
        <p:nvSpPr>
          <p:cNvPr id="24" name="TextBox 23"/>
          <p:cNvSpPr txBox="1"/>
          <p:nvPr/>
        </p:nvSpPr>
        <p:spPr>
          <a:xfrm>
            <a:off x="6400800" y="3136392"/>
            <a:ext cx="4663440" cy="502920"/>
          </a:xfrm>
          <a:prstGeom prst="rect">
            <a:avLst/>
          </a:prstGeom>
          <a:noFill/>
        </p:spPr>
        <p:txBody>
          <a:bodyPr wrap="square">
            <a:spAutoFit/>
          </a:bodyPr>
          <a:lstStyle/>
          <a:p>
            <a:pPr algn="l">
              <a:defRPr sz="1000" b="0" i="0">
                <a:solidFill>
                  <a:srgbClr val="767676"/>
                </a:solidFill>
                <a:latin typeface="Calibri"/>
              </a:defRPr>
            </a:pPr>
            <a:r>
              <a:t>Amazon Kendra indexes SRAM's compatibility tables,</a:t>
            </a:r>
            <a:br/>
            <a:r>
              <a:t>firmware notes, and service bulletins.</a:t>
            </a:r>
          </a:p>
        </p:txBody>
      </p:sp>
      <p:sp>
        <p:nvSpPr>
          <p:cNvPr id="25" name="Rounded Rectangle 24"/>
          <p:cNvSpPr/>
          <p:nvPr/>
        </p:nvSpPr>
        <p:spPr>
          <a:xfrm>
            <a:off x="6217920" y="384048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3913632"/>
            <a:ext cx="4663440" cy="228600"/>
          </a:xfrm>
          <a:prstGeom prst="rect">
            <a:avLst/>
          </a:prstGeom>
          <a:noFill/>
        </p:spPr>
        <p:txBody>
          <a:bodyPr wrap="square">
            <a:spAutoFit/>
          </a:bodyPr>
          <a:lstStyle/>
          <a:p>
            <a:pPr algn="l">
              <a:defRPr sz="1200" b="1" i="0">
                <a:solidFill>
                  <a:srgbClr val="1C1C1E"/>
                </a:solidFill>
                <a:latin typeface="Calibri"/>
              </a:defRPr>
            </a:pPr>
            <a:r>
              <a:t>3. AI drafts a response for the agent</a:t>
            </a:r>
          </a:p>
        </p:txBody>
      </p:sp>
      <p:sp>
        <p:nvSpPr>
          <p:cNvPr id="27" name="TextBox 26"/>
          <p:cNvSpPr txBox="1"/>
          <p:nvPr/>
        </p:nvSpPr>
        <p:spPr>
          <a:xfrm>
            <a:off x="6400800" y="4187952"/>
            <a:ext cx="4663440" cy="502920"/>
          </a:xfrm>
          <a:prstGeom prst="rect">
            <a:avLst/>
          </a:prstGeom>
          <a:noFill/>
        </p:spPr>
        <p:txBody>
          <a:bodyPr wrap="square">
            <a:spAutoFit/>
          </a:bodyPr>
          <a:lstStyle/>
          <a:p>
            <a:pPr algn="l">
              <a:defRPr sz="1000" b="0" i="0">
                <a:solidFill>
                  <a:srgbClr val="767676"/>
                </a:solidFill>
                <a:latin typeface="Calibri"/>
              </a:defRPr>
            </a:pPr>
            <a:r>
              <a:t>Amazon Bedrock generates an answer from the knowledge</a:t>
            </a:r>
            <a:br/>
            <a:r>
              <a:t>base. Agent reviews and edits before sending.</a:t>
            </a:r>
          </a:p>
        </p:txBody>
      </p:sp>
      <p:sp>
        <p:nvSpPr>
          <p:cNvPr id="28" name="Rounded Rectangle 27"/>
          <p:cNvSpPr/>
          <p:nvPr/>
        </p:nvSpPr>
        <p:spPr>
          <a:xfrm>
            <a:off x="6217920" y="4892039"/>
            <a:ext cx="5029200" cy="914400"/>
          </a:xfrm>
          <a:prstGeom prst="roundRect">
            <a:avLst>
              <a:gd name="adj" fmla="val 4000"/>
            </a:avLst>
          </a:prstGeom>
          <a:solidFill>
            <a:srgbClr val="FDF0F2"/>
          </a:solidFill>
          <a:ln w="1270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4965191"/>
            <a:ext cx="4663440" cy="228600"/>
          </a:xfrm>
          <a:prstGeom prst="rect">
            <a:avLst/>
          </a:prstGeom>
          <a:noFill/>
        </p:spPr>
        <p:txBody>
          <a:bodyPr wrap="square">
            <a:spAutoFit/>
          </a:bodyPr>
          <a:lstStyle/>
          <a:p>
            <a:pPr algn="l">
              <a:defRPr sz="1200" b="1" i="0">
                <a:solidFill>
                  <a:srgbClr val="1C1C1E"/>
                </a:solidFill>
                <a:latin typeface="Calibri"/>
              </a:defRPr>
            </a:pPr>
            <a:r>
              <a:t>4. Dealer gets a faster, verified answer</a:t>
            </a:r>
          </a:p>
        </p:txBody>
      </p:sp>
      <p:sp>
        <p:nvSpPr>
          <p:cNvPr id="30" name="TextBox 29"/>
          <p:cNvSpPr txBox="1"/>
          <p:nvPr/>
        </p:nvSpPr>
        <p:spPr>
          <a:xfrm>
            <a:off x="6400800" y="5239511"/>
            <a:ext cx="4663440" cy="502920"/>
          </a:xfrm>
          <a:prstGeom prst="rect">
            <a:avLst/>
          </a:prstGeom>
          <a:noFill/>
        </p:spPr>
        <p:txBody>
          <a:bodyPr wrap="square">
            <a:spAutoFit/>
          </a:bodyPr>
          <a:lstStyle/>
          <a:p>
            <a:pPr algn="l">
              <a:defRPr sz="1000" b="0" i="0">
                <a:solidFill>
                  <a:srgbClr val="767676"/>
                </a:solidFill>
                <a:latin typeface="Calibri"/>
              </a:defRPr>
            </a:pPr>
            <a:r>
              <a:t>Target first response: ~2.5 hours.</a:t>
            </a:r>
            <a:br/>
            <a:r>
              <a:t>Agent spends time on hard problems, not repetitive ones.</a:t>
            </a:r>
          </a:p>
        </p:txBody>
      </p:sp>
      <p:sp>
        <p:nvSpPr>
          <p:cNvPr id="31" name="Isosceles Triangle 30"/>
          <p:cNvSpPr/>
          <p:nvPr/>
        </p:nvSpPr>
        <p:spPr>
          <a:xfrm rot="5400000">
            <a:off x="5806440" y="3200400"/>
            <a:ext cx="320040" cy="32004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3" name="TextBox 3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SOLUTION</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AI drafts responses, humans approve them, nobody gets a wrong answer</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352044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72768"/>
            <a:ext cx="3154680" cy="182880"/>
          </a:xfrm>
          <a:prstGeom prst="rect">
            <a:avLst/>
          </a:prstGeom>
          <a:noFill/>
        </p:spPr>
        <p:txBody>
          <a:bodyPr wrap="square">
            <a:spAutoFit/>
          </a:bodyPr>
          <a:lstStyle/>
          <a:p>
            <a:pPr algn="l">
              <a:defRPr sz="900" b="1" i="0">
                <a:solidFill>
                  <a:srgbClr val="2D5F8A"/>
                </a:solidFill>
                <a:latin typeface="Calibri"/>
              </a:defRPr>
            </a:pPr>
            <a:r>
              <a:t>SCOPE</a:t>
            </a:r>
          </a:p>
        </p:txBody>
      </p:sp>
      <p:sp>
        <p:nvSpPr>
          <p:cNvPr id="7" name="TextBox 6"/>
          <p:cNvSpPr txBox="1"/>
          <p:nvPr/>
        </p:nvSpPr>
        <p:spPr>
          <a:xfrm>
            <a:off x="914400" y="1828800"/>
            <a:ext cx="3154680" cy="320040"/>
          </a:xfrm>
          <a:prstGeom prst="rect">
            <a:avLst/>
          </a:prstGeom>
          <a:noFill/>
        </p:spPr>
        <p:txBody>
          <a:bodyPr wrap="square">
            <a:spAutoFit/>
          </a:bodyPr>
          <a:lstStyle/>
          <a:p>
            <a:pPr algn="l">
              <a:defRPr sz="1600" b="1" i="0">
                <a:solidFill>
                  <a:srgbClr val="1C1C1E"/>
                </a:solidFill>
                <a:latin typeface="Calibri"/>
              </a:defRPr>
            </a:pPr>
            <a:r>
              <a:t>AXS + Hammerhead only</a:t>
            </a:r>
          </a:p>
        </p:txBody>
      </p:sp>
      <p:sp>
        <p:nvSpPr>
          <p:cNvPr id="8" name="TextBox 7"/>
          <p:cNvSpPr txBox="1"/>
          <p:nvPr/>
        </p:nvSpPr>
        <p:spPr>
          <a:xfrm>
            <a:off x="914400" y="2331720"/>
            <a:ext cx="3154680" cy="731520"/>
          </a:xfrm>
          <a:prstGeom prst="rect">
            <a:avLst/>
          </a:prstGeom>
          <a:noFill/>
        </p:spPr>
        <p:txBody>
          <a:bodyPr wrap="square">
            <a:spAutoFit/>
          </a:bodyPr>
          <a:lstStyle/>
          <a:p>
            <a:pPr algn="l">
              <a:defRPr sz="1200" b="0" i="0">
                <a:solidFill>
                  <a:srgbClr val="3A3A3C"/>
                </a:solidFill>
                <a:latin typeface="Calibri"/>
              </a:defRPr>
            </a:pPr>
            <a:r>
              <a:t>Products where SRAM's documentation</a:t>
            </a:r>
            <a:br/>
            <a:r>
              <a:t>is complete and structured.</a:t>
            </a:r>
          </a:p>
        </p:txBody>
      </p:sp>
      <p:sp>
        <p:nvSpPr>
          <p:cNvPr id="9" name="Rounded Rectangle 8"/>
          <p:cNvSpPr/>
          <p:nvPr/>
        </p:nvSpPr>
        <p:spPr>
          <a:xfrm>
            <a:off x="4480559" y="1463040"/>
            <a:ext cx="352044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39" y="1572768"/>
            <a:ext cx="3154680" cy="182880"/>
          </a:xfrm>
          <a:prstGeom prst="rect">
            <a:avLst/>
          </a:prstGeom>
          <a:noFill/>
        </p:spPr>
        <p:txBody>
          <a:bodyPr wrap="square">
            <a:spAutoFit/>
          </a:bodyPr>
          <a:lstStyle/>
          <a:p>
            <a:pPr algn="l">
              <a:defRPr sz="900" b="1" i="0">
                <a:solidFill>
                  <a:srgbClr val="2D5F8A"/>
                </a:solidFill>
                <a:latin typeface="Calibri"/>
              </a:defRPr>
            </a:pPr>
            <a:r>
              <a:t>GUARDRAIL</a:t>
            </a:r>
          </a:p>
        </p:txBody>
      </p:sp>
      <p:sp>
        <p:nvSpPr>
          <p:cNvPr id="11" name="TextBox 10"/>
          <p:cNvSpPr txBox="1"/>
          <p:nvPr/>
        </p:nvSpPr>
        <p:spPr>
          <a:xfrm>
            <a:off x="4663439" y="1828800"/>
            <a:ext cx="3154680" cy="320040"/>
          </a:xfrm>
          <a:prstGeom prst="rect">
            <a:avLst/>
          </a:prstGeom>
          <a:noFill/>
        </p:spPr>
        <p:txBody>
          <a:bodyPr wrap="square">
            <a:spAutoFit/>
          </a:bodyPr>
          <a:lstStyle/>
          <a:p>
            <a:pPr algn="l">
              <a:defRPr sz="1600" b="1" i="0">
                <a:solidFill>
                  <a:srgbClr val="1C1C1E"/>
                </a:solidFill>
                <a:latin typeface="Calibri"/>
              </a:defRPr>
            </a:pPr>
            <a:r>
              <a:t>Human approves every response</a:t>
            </a:r>
          </a:p>
        </p:txBody>
      </p:sp>
      <p:sp>
        <p:nvSpPr>
          <p:cNvPr id="12" name="TextBox 11"/>
          <p:cNvSpPr txBox="1"/>
          <p:nvPr/>
        </p:nvSpPr>
        <p:spPr>
          <a:xfrm>
            <a:off x="4663439" y="2331720"/>
            <a:ext cx="3154680" cy="731520"/>
          </a:xfrm>
          <a:prstGeom prst="rect">
            <a:avLst/>
          </a:prstGeom>
          <a:noFill/>
        </p:spPr>
        <p:txBody>
          <a:bodyPr wrap="square">
            <a:spAutoFit/>
          </a:bodyPr>
          <a:lstStyle/>
          <a:p>
            <a:pPr algn="l">
              <a:defRPr sz="1200" b="0" i="0">
                <a:solidFill>
                  <a:srgbClr val="3A3A3C"/>
                </a:solidFill>
                <a:latin typeface="Calibri"/>
              </a:defRPr>
            </a:pPr>
            <a:r>
              <a:t>No AI answer reaches a dealer without</a:t>
            </a:r>
            <a:br/>
            <a:r>
              <a:t>an agent reviewing and sending it.</a:t>
            </a:r>
          </a:p>
        </p:txBody>
      </p:sp>
      <p:sp>
        <p:nvSpPr>
          <p:cNvPr id="13" name="Rounded Rectangle 12"/>
          <p:cNvSpPr/>
          <p:nvPr/>
        </p:nvSpPr>
        <p:spPr>
          <a:xfrm>
            <a:off x="8229599" y="1463040"/>
            <a:ext cx="352044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9" y="1572768"/>
            <a:ext cx="3154680" cy="182880"/>
          </a:xfrm>
          <a:prstGeom prst="rect">
            <a:avLst/>
          </a:prstGeom>
          <a:noFill/>
        </p:spPr>
        <p:txBody>
          <a:bodyPr wrap="square">
            <a:spAutoFit/>
          </a:bodyPr>
          <a:lstStyle/>
          <a:p>
            <a:pPr algn="l">
              <a:defRPr sz="900" b="1" i="0">
                <a:solidFill>
                  <a:srgbClr val="2D5F8A"/>
                </a:solidFill>
                <a:latin typeface="Calibri"/>
              </a:defRPr>
            </a:pPr>
            <a:r>
              <a:t>KILL SWITCH</a:t>
            </a:r>
          </a:p>
        </p:txBody>
      </p:sp>
      <p:sp>
        <p:nvSpPr>
          <p:cNvPr id="15" name="TextBox 14"/>
          <p:cNvSpPr txBox="1"/>
          <p:nvPr/>
        </p:nvSpPr>
        <p:spPr>
          <a:xfrm>
            <a:off x="8412479" y="1828800"/>
            <a:ext cx="3154680" cy="320040"/>
          </a:xfrm>
          <a:prstGeom prst="rect">
            <a:avLst/>
          </a:prstGeom>
          <a:noFill/>
        </p:spPr>
        <p:txBody>
          <a:bodyPr wrap="square">
            <a:spAutoFit/>
          </a:bodyPr>
          <a:lstStyle/>
          <a:p>
            <a:pPr algn="l">
              <a:defRPr sz="1600" b="1" i="0">
                <a:solidFill>
                  <a:srgbClr val="1C1C1E"/>
                </a:solidFill>
                <a:latin typeface="Calibri"/>
              </a:defRPr>
            </a:pPr>
            <a:r>
              <a:t>Weekly quality review</a:t>
            </a:r>
          </a:p>
        </p:txBody>
      </p:sp>
      <p:sp>
        <p:nvSpPr>
          <p:cNvPr id="16" name="TextBox 15"/>
          <p:cNvSpPr txBox="1"/>
          <p:nvPr/>
        </p:nvSpPr>
        <p:spPr>
          <a:xfrm>
            <a:off x="8412479" y="2331720"/>
            <a:ext cx="3154680" cy="731520"/>
          </a:xfrm>
          <a:prstGeom prst="rect">
            <a:avLst/>
          </a:prstGeom>
          <a:noFill/>
        </p:spPr>
        <p:txBody>
          <a:bodyPr wrap="square">
            <a:spAutoFit/>
          </a:bodyPr>
          <a:lstStyle/>
          <a:p>
            <a:pPr algn="l">
              <a:defRPr sz="1200" b="0" i="0">
                <a:solidFill>
                  <a:srgbClr val="3A3A3C"/>
                </a:solidFill>
                <a:latin typeface="Calibri"/>
              </a:defRPr>
            </a:pPr>
            <a:r>
              <a:t>2 weeks of quality decline, any safety</a:t>
            </a:r>
            <a:br/>
            <a:r>
              <a:t>error, or 15% dealer opt-out stops the pilot.</a:t>
            </a:r>
          </a:p>
        </p:txBody>
      </p:sp>
      <p:sp>
        <p:nvSpPr>
          <p:cNvPr id="17" name="Rounded Rectangle 16"/>
          <p:cNvSpPr/>
          <p:nvPr/>
        </p:nvSpPr>
        <p:spPr>
          <a:xfrm>
            <a:off x="731520" y="4206240"/>
            <a:ext cx="1078992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206240"/>
            <a:ext cx="50800" cy="7772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297680"/>
            <a:ext cx="10241280" cy="411480"/>
          </a:xfrm>
          <a:prstGeom prst="rect">
            <a:avLst/>
          </a:prstGeom>
          <a:noFill/>
        </p:spPr>
        <p:txBody>
          <a:bodyPr wrap="square">
            <a:spAutoFit/>
          </a:bodyPr>
          <a:lstStyle/>
          <a:p>
            <a:pPr algn="l">
              <a:defRPr sz="1200" b="0" i="1">
                <a:solidFill>
                  <a:srgbClr val="3A3A3C"/>
                </a:solidFill>
                <a:latin typeface="Calibri"/>
              </a:defRPr>
            </a:pPr>
            <a:r>
              <a:t>“If it doesn't hit the metric, you shut it down, you learn from it, and you redeploy the resources. That discipline is what separates companies that build real AI capability from companies that accumulate AI debt.”</a:t>
            </a:r>
          </a:p>
        </p:txBody>
      </p:sp>
      <p:sp>
        <p:nvSpPr>
          <p:cNvPr id="20" name="TextBox 19"/>
          <p:cNvSpPr txBox="1"/>
          <p:nvPr/>
        </p:nvSpPr>
        <p:spPr>
          <a:xfrm>
            <a:off x="1051560" y="4709160"/>
            <a:ext cx="1024128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21" name="TextBox 2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2" name="TextBox 2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GOALS</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Five SMART goals define pilot success at day 90</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6" name="Rounded Rectangle 5"/>
          <p:cNvSpPr/>
          <p:nvPr/>
        </p:nvSpPr>
        <p:spPr>
          <a:xfrm>
            <a:off x="731520" y="178308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193852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G1</a:t>
            </a:r>
          </a:p>
        </p:txBody>
      </p:sp>
      <p:sp>
        <p:nvSpPr>
          <p:cNvPr id="8" name="TextBox 7"/>
          <p:cNvSpPr txBox="1"/>
          <p:nvPr/>
        </p:nvSpPr>
        <p:spPr>
          <a:xfrm>
            <a:off x="1737360" y="1901952"/>
            <a:ext cx="5029200" cy="365760"/>
          </a:xfrm>
          <a:prstGeom prst="rect">
            <a:avLst/>
          </a:prstGeom>
          <a:noFill/>
        </p:spPr>
        <p:txBody>
          <a:bodyPr wrap="square">
            <a:spAutoFit/>
          </a:bodyPr>
          <a:lstStyle/>
          <a:p>
            <a:pPr algn="l">
              <a:defRPr sz="1600" b="1" i="0">
                <a:solidFill>
                  <a:srgbClr val="1C1C1E"/>
                </a:solidFill>
                <a:latin typeface="Calibri"/>
              </a:defRPr>
            </a:pPr>
            <a:r>
              <a:t>Cut first-response time</a:t>
            </a:r>
          </a:p>
        </p:txBody>
      </p:sp>
      <p:sp>
        <p:nvSpPr>
          <p:cNvPr id="9" name="TextBox 8"/>
          <p:cNvSpPr txBox="1"/>
          <p:nvPr/>
        </p:nvSpPr>
        <p:spPr>
          <a:xfrm>
            <a:off x="6858000" y="1874520"/>
            <a:ext cx="1828800" cy="411480"/>
          </a:xfrm>
          <a:prstGeom prst="rect">
            <a:avLst/>
          </a:prstGeom>
          <a:noFill/>
        </p:spPr>
        <p:txBody>
          <a:bodyPr wrap="square">
            <a:spAutoFit/>
          </a:bodyPr>
          <a:lstStyle/>
          <a:p>
            <a:pPr algn="l">
              <a:defRPr sz="2200" b="1" i="0">
                <a:solidFill>
                  <a:srgbClr val="E51937"/>
                </a:solidFill>
                <a:latin typeface="Calibri"/>
              </a:defRPr>
            </a:pPr>
            <a:r>
              <a:t>-40%</a:t>
            </a:r>
          </a:p>
        </p:txBody>
      </p:sp>
      <p:sp>
        <p:nvSpPr>
          <p:cNvPr id="10" name="TextBox 9"/>
          <p:cNvSpPr txBox="1"/>
          <p:nvPr/>
        </p:nvSpPr>
        <p:spPr>
          <a:xfrm>
            <a:off x="8686800" y="1965960"/>
            <a:ext cx="2743200" cy="320040"/>
          </a:xfrm>
          <a:prstGeom prst="rect">
            <a:avLst/>
          </a:prstGeom>
          <a:noFill/>
        </p:spPr>
        <p:txBody>
          <a:bodyPr wrap="square">
            <a:spAutoFit/>
          </a:bodyPr>
          <a:lstStyle/>
          <a:p>
            <a:pPr algn="l">
              <a:defRPr sz="1100" b="0" i="0">
                <a:solidFill>
                  <a:srgbClr val="767676"/>
                </a:solidFill>
                <a:latin typeface="Calibri"/>
              </a:defRPr>
            </a:pPr>
            <a:r>
              <a:t>Measured weekly vs. SLA baseline</a:t>
            </a:r>
          </a:p>
        </p:txBody>
      </p:sp>
      <p:sp>
        <p:nvSpPr>
          <p:cNvPr id="11" name="TextBox 1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12" name="TextBox 1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GOALS</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Five SMART goals define pilot success at day 90</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6" name="Rounded Rectangle 5"/>
          <p:cNvSpPr/>
          <p:nvPr/>
        </p:nvSpPr>
        <p:spPr>
          <a:xfrm>
            <a:off x="731520" y="178308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193852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G1</a:t>
            </a:r>
          </a:p>
        </p:txBody>
      </p:sp>
      <p:sp>
        <p:nvSpPr>
          <p:cNvPr id="8" name="TextBox 7"/>
          <p:cNvSpPr txBox="1"/>
          <p:nvPr/>
        </p:nvSpPr>
        <p:spPr>
          <a:xfrm>
            <a:off x="1737360" y="1901952"/>
            <a:ext cx="5029200" cy="365760"/>
          </a:xfrm>
          <a:prstGeom prst="rect">
            <a:avLst/>
          </a:prstGeom>
          <a:noFill/>
        </p:spPr>
        <p:txBody>
          <a:bodyPr wrap="square">
            <a:spAutoFit/>
          </a:bodyPr>
          <a:lstStyle/>
          <a:p>
            <a:pPr algn="l">
              <a:defRPr sz="1600" b="1" i="0">
                <a:solidFill>
                  <a:srgbClr val="1C1C1E"/>
                </a:solidFill>
                <a:latin typeface="Calibri"/>
              </a:defRPr>
            </a:pPr>
            <a:r>
              <a:t>Cut first-response time</a:t>
            </a:r>
          </a:p>
        </p:txBody>
      </p:sp>
      <p:sp>
        <p:nvSpPr>
          <p:cNvPr id="9" name="TextBox 8"/>
          <p:cNvSpPr txBox="1"/>
          <p:nvPr/>
        </p:nvSpPr>
        <p:spPr>
          <a:xfrm>
            <a:off x="6858000" y="1874520"/>
            <a:ext cx="1828800" cy="411480"/>
          </a:xfrm>
          <a:prstGeom prst="rect">
            <a:avLst/>
          </a:prstGeom>
          <a:noFill/>
        </p:spPr>
        <p:txBody>
          <a:bodyPr wrap="square">
            <a:spAutoFit/>
          </a:bodyPr>
          <a:lstStyle/>
          <a:p>
            <a:pPr algn="l">
              <a:defRPr sz="2200" b="1" i="0">
                <a:solidFill>
                  <a:srgbClr val="E51937"/>
                </a:solidFill>
                <a:latin typeface="Calibri"/>
              </a:defRPr>
            </a:pPr>
            <a:r>
              <a:t>-40%</a:t>
            </a:r>
          </a:p>
        </p:txBody>
      </p:sp>
      <p:sp>
        <p:nvSpPr>
          <p:cNvPr id="10" name="TextBox 9"/>
          <p:cNvSpPr txBox="1"/>
          <p:nvPr/>
        </p:nvSpPr>
        <p:spPr>
          <a:xfrm>
            <a:off x="8686800" y="1965960"/>
            <a:ext cx="2743200" cy="320040"/>
          </a:xfrm>
          <a:prstGeom prst="rect">
            <a:avLst/>
          </a:prstGeom>
          <a:noFill/>
        </p:spPr>
        <p:txBody>
          <a:bodyPr wrap="square">
            <a:spAutoFit/>
          </a:bodyPr>
          <a:lstStyle/>
          <a:p>
            <a:pPr algn="l">
              <a:defRPr sz="1100" b="0" i="0">
                <a:solidFill>
                  <a:srgbClr val="767676"/>
                </a:solidFill>
                <a:latin typeface="Calibri"/>
              </a:defRPr>
            </a:pPr>
            <a:r>
              <a:t>Measured weekly vs. SLA baseline</a:t>
            </a:r>
          </a:p>
        </p:txBody>
      </p:sp>
      <p:sp>
        <p:nvSpPr>
          <p:cNvPr id="11" name="Rounded Rectangle 10"/>
          <p:cNvSpPr/>
          <p:nvPr/>
        </p:nvSpPr>
        <p:spPr>
          <a:xfrm>
            <a:off x="1005840" y="271576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G2</a:t>
            </a:r>
          </a:p>
        </p:txBody>
      </p:sp>
      <p:sp>
        <p:nvSpPr>
          <p:cNvPr id="12" name="TextBox 11"/>
          <p:cNvSpPr txBox="1"/>
          <p:nvPr/>
        </p:nvSpPr>
        <p:spPr>
          <a:xfrm>
            <a:off x="1737360" y="2679192"/>
            <a:ext cx="5029200" cy="365760"/>
          </a:xfrm>
          <a:prstGeom prst="rect">
            <a:avLst/>
          </a:prstGeom>
          <a:noFill/>
        </p:spPr>
        <p:txBody>
          <a:bodyPr wrap="square">
            <a:spAutoFit/>
          </a:bodyPr>
          <a:lstStyle/>
          <a:p>
            <a:pPr algn="l">
              <a:defRPr sz="1600" b="1" i="0">
                <a:solidFill>
                  <a:srgbClr val="1C1C1E"/>
                </a:solidFill>
                <a:latin typeface="Calibri"/>
              </a:defRPr>
            </a:pPr>
            <a:r>
              <a:t>Resolve more tickets without escalation</a:t>
            </a:r>
          </a:p>
        </p:txBody>
      </p:sp>
      <p:sp>
        <p:nvSpPr>
          <p:cNvPr id="13" name="TextBox 12"/>
          <p:cNvSpPr txBox="1"/>
          <p:nvPr/>
        </p:nvSpPr>
        <p:spPr>
          <a:xfrm>
            <a:off x="6858000" y="2651760"/>
            <a:ext cx="1828800" cy="411480"/>
          </a:xfrm>
          <a:prstGeom prst="rect">
            <a:avLst/>
          </a:prstGeom>
          <a:noFill/>
        </p:spPr>
        <p:txBody>
          <a:bodyPr wrap="square">
            <a:spAutoFit/>
          </a:bodyPr>
          <a:lstStyle/>
          <a:p>
            <a:pPr algn="l">
              <a:defRPr sz="2200" b="1" i="0">
                <a:solidFill>
                  <a:srgbClr val="E51937"/>
                </a:solidFill>
                <a:latin typeface="Calibri"/>
              </a:defRPr>
            </a:pPr>
            <a:r>
              <a:t>+15 pts</a:t>
            </a:r>
          </a:p>
        </p:txBody>
      </p:sp>
      <p:sp>
        <p:nvSpPr>
          <p:cNvPr id="14" name="TextBox 13"/>
          <p:cNvSpPr txBox="1"/>
          <p:nvPr/>
        </p:nvSpPr>
        <p:spPr>
          <a:xfrm>
            <a:off x="8686800" y="2743200"/>
            <a:ext cx="2743200" cy="320040"/>
          </a:xfrm>
          <a:prstGeom prst="rect">
            <a:avLst/>
          </a:prstGeom>
          <a:noFill/>
        </p:spPr>
        <p:txBody>
          <a:bodyPr wrap="square">
            <a:spAutoFit/>
          </a:bodyPr>
          <a:lstStyle/>
          <a:p>
            <a:pPr algn="l">
              <a:defRPr sz="1100" b="0" i="0">
                <a:solidFill>
                  <a:srgbClr val="767676"/>
                </a:solidFill>
                <a:latin typeface="Calibri"/>
              </a:defRPr>
            </a:pPr>
            <a:r>
              <a:t>Measured weekly vs. current rate</a:t>
            </a:r>
          </a:p>
        </p:txBody>
      </p:sp>
      <p:sp>
        <p:nvSpPr>
          <p:cNvPr id="15" name="TextBox 14"/>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16" name="TextBox 15"/>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GOALS</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Five SMART goals define pilot success at day 90</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6" name="Rounded Rectangle 5"/>
          <p:cNvSpPr/>
          <p:nvPr/>
        </p:nvSpPr>
        <p:spPr>
          <a:xfrm>
            <a:off x="731520" y="178308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193852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G1</a:t>
            </a:r>
          </a:p>
        </p:txBody>
      </p:sp>
      <p:sp>
        <p:nvSpPr>
          <p:cNvPr id="8" name="TextBox 7"/>
          <p:cNvSpPr txBox="1"/>
          <p:nvPr/>
        </p:nvSpPr>
        <p:spPr>
          <a:xfrm>
            <a:off x="1737360" y="1901952"/>
            <a:ext cx="5029200" cy="365760"/>
          </a:xfrm>
          <a:prstGeom prst="rect">
            <a:avLst/>
          </a:prstGeom>
          <a:noFill/>
        </p:spPr>
        <p:txBody>
          <a:bodyPr wrap="square">
            <a:spAutoFit/>
          </a:bodyPr>
          <a:lstStyle/>
          <a:p>
            <a:pPr algn="l">
              <a:defRPr sz="1600" b="1" i="0">
                <a:solidFill>
                  <a:srgbClr val="1C1C1E"/>
                </a:solidFill>
                <a:latin typeface="Calibri"/>
              </a:defRPr>
            </a:pPr>
            <a:r>
              <a:t>Cut first-response time</a:t>
            </a:r>
          </a:p>
        </p:txBody>
      </p:sp>
      <p:sp>
        <p:nvSpPr>
          <p:cNvPr id="9" name="TextBox 8"/>
          <p:cNvSpPr txBox="1"/>
          <p:nvPr/>
        </p:nvSpPr>
        <p:spPr>
          <a:xfrm>
            <a:off x="6858000" y="1874520"/>
            <a:ext cx="1828800" cy="411480"/>
          </a:xfrm>
          <a:prstGeom prst="rect">
            <a:avLst/>
          </a:prstGeom>
          <a:noFill/>
        </p:spPr>
        <p:txBody>
          <a:bodyPr wrap="square">
            <a:spAutoFit/>
          </a:bodyPr>
          <a:lstStyle/>
          <a:p>
            <a:pPr algn="l">
              <a:defRPr sz="2200" b="1" i="0">
                <a:solidFill>
                  <a:srgbClr val="E51937"/>
                </a:solidFill>
                <a:latin typeface="Calibri"/>
              </a:defRPr>
            </a:pPr>
            <a:r>
              <a:t>-40%</a:t>
            </a:r>
          </a:p>
        </p:txBody>
      </p:sp>
      <p:sp>
        <p:nvSpPr>
          <p:cNvPr id="10" name="TextBox 9"/>
          <p:cNvSpPr txBox="1"/>
          <p:nvPr/>
        </p:nvSpPr>
        <p:spPr>
          <a:xfrm>
            <a:off x="8686800" y="1965960"/>
            <a:ext cx="2743200" cy="320040"/>
          </a:xfrm>
          <a:prstGeom prst="rect">
            <a:avLst/>
          </a:prstGeom>
          <a:noFill/>
        </p:spPr>
        <p:txBody>
          <a:bodyPr wrap="square">
            <a:spAutoFit/>
          </a:bodyPr>
          <a:lstStyle/>
          <a:p>
            <a:pPr algn="l">
              <a:defRPr sz="1100" b="0" i="0">
                <a:solidFill>
                  <a:srgbClr val="767676"/>
                </a:solidFill>
                <a:latin typeface="Calibri"/>
              </a:defRPr>
            </a:pPr>
            <a:r>
              <a:t>Measured weekly vs. SLA baseline</a:t>
            </a:r>
          </a:p>
        </p:txBody>
      </p:sp>
      <p:sp>
        <p:nvSpPr>
          <p:cNvPr id="11" name="Rounded Rectangle 10"/>
          <p:cNvSpPr/>
          <p:nvPr/>
        </p:nvSpPr>
        <p:spPr>
          <a:xfrm>
            <a:off x="1005840" y="271576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G2</a:t>
            </a:r>
          </a:p>
        </p:txBody>
      </p:sp>
      <p:sp>
        <p:nvSpPr>
          <p:cNvPr id="12" name="TextBox 11"/>
          <p:cNvSpPr txBox="1"/>
          <p:nvPr/>
        </p:nvSpPr>
        <p:spPr>
          <a:xfrm>
            <a:off x="1737360" y="2679192"/>
            <a:ext cx="5029200" cy="365760"/>
          </a:xfrm>
          <a:prstGeom prst="rect">
            <a:avLst/>
          </a:prstGeom>
          <a:noFill/>
        </p:spPr>
        <p:txBody>
          <a:bodyPr wrap="square">
            <a:spAutoFit/>
          </a:bodyPr>
          <a:lstStyle/>
          <a:p>
            <a:pPr algn="l">
              <a:defRPr sz="1600" b="1" i="0">
                <a:solidFill>
                  <a:srgbClr val="1C1C1E"/>
                </a:solidFill>
                <a:latin typeface="Calibri"/>
              </a:defRPr>
            </a:pPr>
            <a:r>
              <a:t>Resolve more tickets without escalation</a:t>
            </a:r>
          </a:p>
        </p:txBody>
      </p:sp>
      <p:sp>
        <p:nvSpPr>
          <p:cNvPr id="13" name="TextBox 12"/>
          <p:cNvSpPr txBox="1"/>
          <p:nvPr/>
        </p:nvSpPr>
        <p:spPr>
          <a:xfrm>
            <a:off x="6858000" y="2651760"/>
            <a:ext cx="1828800" cy="411480"/>
          </a:xfrm>
          <a:prstGeom prst="rect">
            <a:avLst/>
          </a:prstGeom>
          <a:noFill/>
        </p:spPr>
        <p:txBody>
          <a:bodyPr wrap="square">
            <a:spAutoFit/>
          </a:bodyPr>
          <a:lstStyle/>
          <a:p>
            <a:pPr algn="l">
              <a:defRPr sz="2200" b="1" i="0">
                <a:solidFill>
                  <a:srgbClr val="E51937"/>
                </a:solidFill>
                <a:latin typeface="Calibri"/>
              </a:defRPr>
            </a:pPr>
            <a:r>
              <a:t>+15 pts</a:t>
            </a:r>
          </a:p>
        </p:txBody>
      </p:sp>
      <p:sp>
        <p:nvSpPr>
          <p:cNvPr id="14" name="TextBox 13"/>
          <p:cNvSpPr txBox="1"/>
          <p:nvPr/>
        </p:nvSpPr>
        <p:spPr>
          <a:xfrm>
            <a:off x="8686800" y="2743200"/>
            <a:ext cx="2743200" cy="320040"/>
          </a:xfrm>
          <a:prstGeom prst="rect">
            <a:avLst/>
          </a:prstGeom>
          <a:noFill/>
        </p:spPr>
        <p:txBody>
          <a:bodyPr wrap="square">
            <a:spAutoFit/>
          </a:bodyPr>
          <a:lstStyle/>
          <a:p>
            <a:pPr algn="l">
              <a:defRPr sz="1100" b="0" i="0">
                <a:solidFill>
                  <a:srgbClr val="767676"/>
                </a:solidFill>
                <a:latin typeface="Calibri"/>
              </a:defRPr>
            </a:pPr>
            <a:r>
              <a:t>Measured weekly vs. current rate</a:t>
            </a:r>
          </a:p>
        </p:txBody>
      </p:sp>
      <p:sp>
        <p:nvSpPr>
          <p:cNvPr id="15" name="Rounded Rectangle 14"/>
          <p:cNvSpPr/>
          <p:nvPr/>
        </p:nvSpPr>
        <p:spPr>
          <a:xfrm>
            <a:off x="731520" y="333756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 y="349300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G3</a:t>
            </a:r>
          </a:p>
        </p:txBody>
      </p:sp>
      <p:sp>
        <p:nvSpPr>
          <p:cNvPr id="17" name="TextBox 16"/>
          <p:cNvSpPr txBox="1"/>
          <p:nvPr/>
        </p:nvSpPr>
        <p:spPr>
          <a:xfrm>
            <a:off x="1737360" y="3456432"/>
            <a:ext cx="5029200" cy="365760"/>
          </a:xfrm>
          <a:prstGeom prst="rect">
            <a:avLst/>
          </a:prstGeom>
          <a:noFill/>
        </p:spPr>
        <p:txBody>
          <a:bodyPr wrap="square">
            <a:spAutoFit/>
          </a:bodyPr>
          <a:lstStyle/>
          <a:p>
            <a:pPr algn="l">
              <a:defRPr sz="1600" b="1" i="0">
                <a:solidFill>
                  <a:srgbClr val="1C1C1E"/>
                </a:solidFill>
                <a:latin typeface="Calibri"/>
              </a:defRPr>
            </a:pPr>
            <a:r>
              <a:t>AI draft acceptance rate</a:t>
            </a:r>
          </a:p>
        </p:txBody>
      </p:sp>
      <p:sp>
        <p:nvSpPr>
          <p:cNvPr id="18" name="TextBox 17"/>
          <p:cNvSpPr txBox="1"/>
          <p:nvPr/>
        </p:nvSpPr>
        <p:spPr>
          <a:xfrm>
            <a:off x="6858000" y="3429000"/>
            <a:ext cx="1828800" cy="411480"/>
          </a:xfrm>
          <a:prstGeom prst="rect">
            <a:avLst/>
          </a:prstGeom>
          <a:noFill/>
        </p:spPr>
        <p:txBody>
          <a:bodyPr wrap="square">
            <a:spAutoFit/>
          </a:bodyPr>
          <a:lstStyle/>
          <a:p>
            <a:pPr algn="l">
              <a:defRPr sz="2200" b="1" i="0">
                <a:solidFill>
                  <a:srgbClr val="E51937"/>
                </a:solidFill>
                <a:latin typeface="Calibri"/>
              </a:defRPr>
            </a:pPr>
            <a:r>
              <a:t>&gt;70%</a:t>
            </a:r>
          </a:p>
        </p:txBody>
      </p:sp>
      <p:sp>
        <p:nvSpPr>
          <p:cNvPr id="19" name="TextBox 18"/>
          <p:cNvSpPr txBox="1"/>
          <p:nvPr/>
        </p:nvSpPr>
        <p:spPr>
          <a:xfrm>
            <a:off x="8686800" y="3520440"/>
            <a:ext cx="2743200" cy="320040"/>
          </a:xfrm>
          <a:prstGeom prst="rect">
            <a:avLst/>
          </a:prstGeom>
          <a:noFill/>
        </p:spPr>
        <p:txBody>
          <a:bodyPr wrap="square">
            <a:spAutoFit/>
          </a:bodyPr>
          <a:lstStyle/>
          <a:p>
            <a:pPr algn="l">
              <a:defRPr sz="1100" b="0" i="0">
                <a:solidFill>
                  <a:srgbClr val="767676"/>
                </a:solidFill>
                <a:latin typeface="Calibri"/>
              </a:defRPr>
            </a:pPr>
            <a:r>
              <a:t>Below 50% at day 45 triggers scope review</a:t>
            </a:r>
          </a:p>
        </p:txBody>
      </p:sp>
      <p:sp>
        <p:nvSpPr>
          <p:cNvPr id="20" name="TextBox 1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1" name="TextBox 2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GOALS</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Five SMART goals define pilot success at day 90</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6" name="Rounded Rectangle 5"/>
          <p:cNvSpPr/>
          <p:nvPr/>
        </p:nvSpPr>
        <p:spPr>
          <a:xfrm>
            <a:off x="731520" y="178308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193852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G1</a:t>
            </a:r>
          </a:p>
        </p:txBody>
      </p:sp>
      <p:sp>
        <p:nvSpPr>
          <p:cNvPr id="8" name="TextBox 7"/>
          <p:cNvSpPr txBox="1"/>
          <p:nvPr/>
        </p:nvSpPr>
        <p:spPr>
          <a:xfrm>
            <a:off x="1737360" y="1901952"/>
            <a:ext cx="5029200" cy="365760"/>
          </a:xfrm>
          <a:prstGeom prst="rect">
            <a:avLst/>
          </a:prstGeom>
          <a:noFill/>
        </p:spPr>
        <p:txBody>
          <a:bodyPr wrap="square">
            <a:spAutoFit/>
          </a:bodyPr>
          <a:lstStyle/>
          <a:p>
            <a:pPr algn="l">
              <a:defRPr sz="1600" b="1" i="0">
                <a:solidFill>
                  <a:srgbClr val="1C1C1E"/>
                </a:solidFill>
                <a:latin typeface="Calibri"/>
              </a:defRPr>
            </a:pPr>
            <a:r>
              <a:t>Cut first-response time</a:t>
            </a:r>
          </a:p>
        </p:txBody>
      </p:sp>
      <p:sp>
        <p:nvSpPr>
          <p:cNvPr id="9" name="TextBox 8"/>
          <p:cNvSpPr txBox="1"/>
          <p:nvPr/>
        </p:nvSpPr>
        <p:spPr>
          <a:xfrm>
            <a:off x="6858000" y="1874520"/>
            <a:ext cx="1828800" cy="411480"/>
          </a:xfrm>
          <a:prstGeom prst="rect">
            <a:avLst/>
          </a:prstGeom>
          <a:noFill/>
        </p:spPr>
        <p:txBody>
          <a:bodyPr wrap="square">
            <a:spAutoFit/>
          </a:bodyPr>
          <a:lstStyle/>
          <a:p>
            <a:pPr algn="l">
              <a:defRPr sz="2200" b="1" i="0">
                <a:solidFill>
                  <a:srgbClr val="E51937"/>
                </a:solidFill>
                <a:latin typeface="Calibri"/>
              </a:defRPr>
            </a:pPr>
            <a:r>
              <a:t>-40%</a:t>
            </a:r>
          </a:p>
        </p:txBody>
      </p:sp>
      <p:sp>
        <p:nvSpPr>
          <p:cNvPr id="10" name="TextBox 9"/>
          <p:cNvSpPr txBox="1"/>
          <p:nvPr/>
        </p:nvSpPr>
        <p:spPr>
          <a:xfrm>
            <a:off x="8686800" y="1965960"/>
            <a:ext cx="2743200" cy="320040"/>
          </a:xfrm>
          <a:prstGeom prst="rect">
            <a:avLst/>
          </a:prstGeom>
          <a:noFill/>
        </p:spPr>
        <p:txBody>
          <a:bodyPr wrap="square">
            <a:spAutoFit/>
          </a:bodyPr>
          <a:lstStyle/>
          <a:p>
            <a:pPr algn="l">
              <a:defRPr sz="1100" b="0" i="0">
                <a:solidFill>
                  <a:srgbClr val="767676"/>
                </a:solidFill>
                <a:latin typeface="Calibri"/>
              </a:defRPr>
            </a:pPr>
            <a:r>
              <a:t>Measured weekly vs. SLA baseline</a:t>
            </a:r>
          </a:p>
        </p:txBody>
      </p:sp>
      <p:sp>
        <p:nvSpPr>
          <p:cNvPr id="11" name="Rounded Rectangle 10"/>
          <p:cNvSpPr/>
          <p:nvPr/>
        </p:nvSpPr>
        <p:spPr>
          <a:xfrm>
            <a:off x="1005840" y="271576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G2</a:t>
            </a:r>
          </a:p>
        </p:txBody>
      </p:sp>
      <p:sp>
        <p:nvSpPr>
          <p:cNvPr id="12" name="TextBox 11"/>
          <p:cNvSpPr txBox="1"/>
          <p:nvPr/>
        </p:nvSpPr>
        <p:spPr>
          <a:xfrm>
            <a:off x="1737360" y="2679192"/>
            <a:ext cx="5029200" cy="365760"/>
          </a:xfrm>
          <a:prstGeom prst="rect">
            <a:avLst/>
          </a:prstGeom>
          <a:noFill/>
        </p:spPr>
        <p:txBody>
          <a:bodyPr wrap="square">
            <a:spAutoFit/>
          </a:bodyPr>
          <a:lstStyle/>
          <a:p>
            <a:pPr algn="l">
              <a:defRPr sz="1600" b="1" i="0">
                <a:solidFill>
                  <a:srgbClr val="1C1C1E"/>
                </a:solidFill>
                <a:latin typeface="Calibri"/>
              </a:defRPr>
            </a:pPr>
            <a:r>
              <a:t>Resolve more tickets without escalation</a:t>
            </a:r>
          </a:p>
        </p:txBody>
      </p:sp>
      <p:sp>
        <p:nvSpPr>
          <p:cNvPr id="13" name="TextBox 12"/>
          <p:cNvSpPr txBox="1"/>
          <p:nvPr/>
        </p:nvSpPr>
        <p:spPr>
          <a:xfrm>
            <a:off x="6858000" y="2651760"/>
            <a:ext cx="1828800" cy="411480"/>
          </a:xfrm>
          <a:prstGeom prst="rect">
            <a:avLst/>
          </a:prstGeom>
          <a:noFill/>
        </p:spPr>
        <p:txBody>
          <a:bodyPr wrap="square">
            <a:spAutoFit/>
          </a:bodyPr>
          <a:lstStyle/>
          <a:p>
            <a:pPr algn="l">
              <a:defRPr sz="2200" b="1" i="0">
                <a:solidFill>
                  <a:srgbClr val="E51937"/>
                </a:solidFill>
                <a:latin typeface="Calibri"/>
              </a:defRPr>
            </a:pPr>
            <a:r>
              <a:t>+15 pts</a:t>
            </a:r>
          </a:p>
        </p:txBody>
      </p:sp>
      <p:sp>
        <p:nvSpPr>
          <p:cNvPr id="14" name="TextBox 13"/>
          <p:cNvSpPr txBox="1"/>
          <p:nvPr/>
        </p:nvSpPr>
        <p:spPr>
          <a:xfrm>
            <a:off x="8686800" y="2743200"/>
            <a:ext cx="2743200" cy="320040"/>
          </a:xfrm>
          <a:prstGeom prst="rect">
            <a:avLst/>
          </a:prstGeom>
          <a:noFill/>
        </p:spPr>
        <p:txBody>
          <a:bodyPr wrap="square">
            <a:spAutoFit/>
          </a:bodyPr>
          <a:lstStyle/>
          <a:p>
            <a:pPr algn="l">
              <a:defRPr sz="1100" b="0" i="0">
                <a:solidFill>
                  <a:srgbClr val="767676"/>
                </a:solidFill>
                <a:latin typeface="Calibri"/>
              </a:defRPr>
            </a:pPr>
            <a:r>
              <a:t>Measured weekly vs. current rate</a:t>
            </a:r>
          </a:p>
        </p:txBody>
      </p:sp>
      <p:sp>
        <p:nvSpPr>
          <p:cNvPr id="15" name="Rounded Rectangle 14"/>
          <p:cNvSpPr/>
          <p:nvPr/>
        </p:nvSpPr>
        <p:spPr>
          <a:xfrm>
            <a:off x="731520" y="333756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 y="349300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G3</a:t>
            </a:r>
          </a:p>
        </p:txBody>
      </p:sp>
      <p:sp>
        <p:nvSpPr>
          <p:cNvPr id="17" name="TextBox 16"/>
          <p:cNvSpPr txBox="1"/>
          <p:nvPr/>
        </p:nvSpPr>
        <p:spPr>
          <a:xfrm>
            <a:off x="1737360" y="3456432"/>
            <a:ext cx="5029200" cy="365760"/>
          </a:xfrm>
          <a:prstGeom prst="rect">
            <a:avLst/>
          </a:prstGeom>
          <a:noFill/>
        </p:spPr>
        <p:txBody>
          <a:bodyPr wrap="square">
            <a:spAutoFit/>
          </a:bodyPr>
          <a:lstStyle/>
          <a:p>
            <a:pPr algn="l">
              <a:defRPr sz="1600" b="1" i="0">
                <a:solidFill>
                  <a:srgbClr val="1C1C1E"/>
                </a:solidFill>
                <a:latin typeface="Calibri"/>
              </a:defRPr>
            </a:pPr>
            <a:r>
              <a:t>AI draft acceptance rate</a:t>
            </a:r>
          </a:p>
        </p:txBody>
      </p:sp>
      <p:sp>
        <p:nvSpPr>
          <p:cNvPr id="18" name="TextBox 17"/>
          <p:cNvSpPr txBox="1"/>
          <p:nvPr/>
        </p:nvSpPr>
        <p:spPr>
          <a:xfrm>
            <a:off x="6858000" y="3429000"/>
            <a:ext cx="1828800" cy="411480"/>
          </a:xfrm>
          <a:prstGeom prst="rect">
            <a:avLst/>
          </a:prstGeom>
          <a:noFill/>
        </p:spPr>
        <p:txBody>
          <a:bodyPr wrap="square">
            <a:spAutoFit/>
          </a:bodyPr>
          <a:lstStyle/>
          <a:p>
            <a:pPr algn="l">
              <a:defRPr sz="2200" b="1" i="0">
                <a:solidFill>
                  <a:srgbClr val="E51937"/>
                </a:solidFill>
                <a:latin typeface="Calibri"/>
              </a:defRPr>
            </a:pPr>
            <a:r>
              <a:t>&gt;70%</a:t>
            </a:r>
          </a:p>
        </p:txBody>
      </p:sp>
      <p:sp>
        <p:nvSpPr>
          <p:cNvPr id="19" name="TextBox 18"/>
          <p:cNvSpPr txBox="1"/>
          <p:nvPr/>
        </p:nvSpPr>
        <p:spPr>
          <a:xfrm>
            <a:off x="8686800" y="3520440"/>
            <a:ext cx="2743200" cy="320040"/>
          </a:xfrm>
          <a:prstGeom prst="rect">
            <a:avLst/>
          </a:prstGeom>
          <a:noFill/>
        </p:spPr>
        <p:txBody>
          <a:bodyPr wrap="square">
            <a:spAutoFit/>
          </a:bodyPr>
          <a:lstStyle/>
          <a:p>
            <a:pPr algn="l">
              <a:defRPr sz="1100" b="0" i="0">
                <a:solidFill>
                  <a:srgbClr val="767676"/>
                </a:solidFill>
                <a:latin typeface="Calibri"/>
              </a:defRPr>
            </a:pPr>
            <a:r>
              <a:t>Below 50% at day 45 triggers scope review</a:t>
            </a:r>
          </a:p>
        </p:txBody>
      </p:sp>
      <p:sp>
        <p:nvSpPr>
          <p:cNvPr id="20" name="Rounded Rectangle 19"/>
          <p:cNvSpPr/>
          <p:nvPr/>
        </p:nvSpPr>
        <p:spPr>
          <a:xfrm>
            <a:off x="1005840" y="427024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G4</a:t>
            </a:r>
          </a:p>
        </p:txBody>
      </p:sp>
      <p:sp>
        <p:nvSpPr>
          <p:cNvPr id="21" name="TextBox 20"/>
          <p:cNvSpPr txBox="1"/>
          <p:nvPr/>
        </p:nvSpPr>
        <p:spPr>
          <a:xfrm>
            <a:off x="1737360" y="4233672"/>
            <a:ext cx="5029200" cy="365760"/>
          </a:xfrm>
          <a:prstGeom prst="rect">
            <a:avLst/>
          </a:prstGeom>
          <a:noFill/>
        </p:spPr>
        <p:txBody>
          <a:bodyPr wrap="square">
            <a:spAutoFit/>
          </a:bodyPr>
          <a:lstStyle/>
          <a:p>
            <a:pPr algn="l">
              <a:defRPr sz="1600" b="1" i="0">
                <a:solidFill>
                  <a:srgbClr val="1C1C1E"/>
                </a:solidFill>
                <a:latin typeface="Calibri"/>
              </a:defRPr>
            </a:pPr>
            <a:r>
              <a:t>Increase agent throughput</a:t>
            </a:r>
          </a:p>
        </p:txBody>
      </p:sp>
      <p:sp>
        <p:nvSpPr>
          <p:cNvPr id="22" name="TextBox 21"/>
          <p:cNvSpPr txBox="1"/>
          <p:nvPr/>
        </p:nvSpPr>
        <p:spPr>
          <a:xfrm>
            <a:off x="6858000" y="4206240"/>
            <a:ext cx="1828800" cy="411480"/>
          </a:xfrm>
          <a:prstGeom prst="rect">
            <a:avLst/>
          </a:prstGeom>
          <a:noFill/>
        </p:spPr>
        <p:txBody>
          <a:bodyPr wrap="square">
            <a:spAutoFit/>
          </a:bodyPr>
          <a:lstStyle/>
          <a:p>
            <a:pPr algn="l">
              <a:defRPr sz="2200" b="1" i="0">
                <a:solidFill>
                  <a:srgbClr val="E51937"/>
                </a:solidFill>
                <a:latin typeface="Calibri"/>
              </a:defRPr>
            </a:pPr>
            <a:r>
              <a:t>+25%</a:t>
            </a:r>
          </a:p>
        </p:txBody>
      </p:sp>
      <p:sp>
        <p:nvSpPr>
          <p:cNvPr id="23" name="TextBox 22"/>
          <p:cNvSpPr txBox="1"/>
          <p:nvPr/>
        </p:nvSpPr>
        <p:spPr>
          <a:xfrm>
            <a:off x="8686800" y="4297680"/>
            <a:ext cx="2743200" cy="320040"/>
          </a:xfrm>
          <a:prstGeom prst="rect">
            <a:avLst/>
          </a:prstGeom>
          <a:noFill/>
        </p:spPr>
        <p:txBody>
          <a:bodyPr wrap="square">
            <a:spAutoFit/>
          </a:bodyPr>
          <a:lstStyle/>
          <a:p>
            <a:pPr algn="l">
              <a:defRPr sz="1100" b="0" i="0">
                <a:solidFill>
                  <a:srgbClr val="767676"/>
                </a:solidFill>
                <a:latin typeface="Calibri"/>
              </a:defRPr>
            </a:pPr>
            <a:r>
              <a:t>Tickets handled per agent per day</a:t>
            </a:r>
          </a:p>
        </p:txBody>
      </p:sp>
      <p:sp>
        <p:nvSpPr>
          <p:cNvPr id="24" name="TextBox 2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5" name="TextBox 2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GOALS</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Five SMART goals define pilot success at day 90</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6" name="Rounded Rectangle 5"/>
          <p:cNvSpPr/>
          <p:nvPr/>
        </p:nvSpPr>
        <p:spPr>
          <a:xfrm>
            <a:off x="731520" y="178308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193852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G1</a:t>
            </a:r>
          </a:p>
        </p:txBody>
      </p:sp>
      <p:sp>
        <p:nvSpPr>
          <p:cNvPr id="8" name="TextBox 7"/>
          <p:cNvSpPr txBox="1"/>
          <p:nvPr/>
        </p:nvSpPr>
        <p:spPr>
          <a:xfrm>
            <a:off x="1737360" y="1901952"/>
            <a:ext cx="5029200" cy="365760"/>
          </a:xfrm>
          <a:prstGeom prst="rect">
            <a:avLst/>
          </a:prstGeom>
          <a:noFill/>
        </p:spPr>
        <p:txBody>
          <a:bodyPr wrap="square">
            <a:spAutoFit/>
          </a:bodyPr>
          <a:lstStyle/>
          <a:p>
            <a:pPr algn="l">
              <a:defRPr sz="1600" b="1" i="0">
                <a:solidFill>
                  <a:srgbClr val="1C1C1E"/>
                </a:solidFill>
                <a:latin typeface="Calibri"/>
              </a:defRPr>
            </a:pPr>
            <a:r>
              <a:t>Cut first-response time</a:t>
            </a:r>
          </a:p>
        </p:txBody>
      </p:sp>
      <p:sp>
        <p:nvSpPr>
          <p:cNvPr id="9" name="TextBox 8"/>
          <p:cNvSpPr txBox="1"/>
          <p:nvPr/>
        </p:nvSpPr>
        <p:spPr>
          <a:xfrm>
            <a:off x="6858000" y="1874520"/>
            <a:ext cx="1828800" cy="411480"/>
          </a:xfrm>
          <a:prstGeom prst="rect">
            <a:avLst/>
          </a:prstGeom>
          <a:noFill/>
        </p:spPr>
        <p:txBody>
          <a:bodyPr wrap="square">
            <a:spAutoFit/>
          </a:bodyPr>
          <a:lstStyle/>
          <a:p>
            <a:pPr algn="l">
              <a:defRPr sz="2200" b="1" i="0">
                <a:solidFill>
                  <a:srgbClr val="E51937"/>
                </a:solidFill>
                <a:latin typeface="Calibri"/>
              </a:defRPr>
            </a:pPr>
            <a:r>
              <a:t>-40%</a:t>
            </a:r>
          </a:p>
        </p:txBody>
      </p:sp>
      <p:sp>
        <p:nvSpPr>
          <p:cNvPr id="10" name="TextBox 9"/>
          <p:cNvSpPr txBox="1"/>
          <p:nvPr/>
        </p:nvSpPr>
        <p:spPr>
          <a:xfrm>
            <a:off x="8686800" y="1965960"/>
            <a:ext cx="2743200" cy="320040"/>
          </a:xfrm>
          <a:prstGeom prst="rect">
            <a:avLst/>
          </a:prstGeom>
          <a:noFill/>
        </p:spPr>
        <p:txBody>
          <a:bodyPr wrap="square">
            <a:spAutoFit/>
          </a:bodyPr>
          <a:lstStyle/>
          <a:p>
            <a:pPr algn="l">
              <a:defRPr sz="1100" b="0" i="0">
                <a:solidFill>
                  <a:srgbClr val="767676"/>
                </a:solidFill>
                <a:latin typeface="Calibri"/>
              </a:defRPr>
            </a:pPr>
            <a:r>
              <a:t>Measured weekly vs. SLA baseline</a:t>
            </a:r>
          </a:p>
        </p:txBody>
      </p:sp>
      <p:sp>
        <p:nvSpPr>
          <p:cNvPr id="11" name="Rounded Rectangle 10"/>
          <p:cNvSpPr/>
          <p:nvPr/>
        </p:nvSpPr>
        <p:spPr>
          <a:xfrm>
            <a:off x="1005840" y="271576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G2</a:t>
            </a:r>
          </a:p>
        </p:txBody>
      </p:sp>
      <p:sp>
        <p:nvSpPr>
          <p:cNvPr id="12" name="TextBox 11"/>
          <p:cNvSpPr txBox="1"/>
          <p:nvPr/>
        </p:nvSpPr>
        <p:spPr>
          <a:xfrm>
            <a:off x="1737360" y="2679192"/>
            <a:ext cx="5029200" cy="365760"/>
          </a:xfrm>
          <a:prstGeom prst="rect">
            <a:avLst/>
          </a:prstGeom>
          <a:noFill/>
        </p:spPr>
        <p:txBody>
          <a:bodyPr wrap="square">
            <a:spAutoFit/>
          </a:bodyPr>
          <a:lstStyle/>
          <a:p>
            <a:pPr algn="l">
              <a:defRPr sz="1600" b="1" i="0">
                <a:solidFill>
                  <a:srgbClr val="1C1C1E"/>
                </a:solidFill>
                <a:latin typeface="Calibri"/>
              </a:defRPr>
            </a:pPr>
            <a:r>
              <a:t>Resolve more tickets without escalation</a:t>
            </a:r>
          </a:p>
        </p:txBody>
      </p:sp>
      <p:sp>
        <p:nvSpPr>
          <p:cNvPr id="13" name="TextBox 12"/>
          <p:cNvSpPr txBox="1"/>
          <p:nvPr/>
        </p:nvSpPr>
        <p:spPr>
          <a:xfrm>
            <a:off x="6858000" y="2651760"/>
            <a:ext cx="1828800" cy="411480"/>
          </a:xfrm>
          <a:prstGeom prst="rect">
            <a:avLst/>
          </a:prstGeom>
          <a:noFill/>
        </p:spPr>
        <p:txBody>
          <a:bodyPr wrap="square">
            <a:spAutoFit/>
          </a:bodyPr>
          <a:lstStyle/>
          <a:p>
            <a:pPr algn="l">
              <a:defRPr sz="2200" b="1" i="0">
                <a:solidFill>
                  <a:srgbClr val="E51937"/>
                </a:solidFill>
                <a:latin typeface="Calibri"/>
              </a:defRPr>
            </a:pPr>
            <a:r>
              <a:t>+15 pts</a:t>
            </a:r>
          </a:p>
        </p:txBody>
      </p:sp>
      <p:sp>
        <p:nvSpPr>
          <p:cNvPr id="14" name="TextBox 13"/>
          <p:cNvSpPr txBox="1"/>
          <p:nvPr/>
        </p:nvSpPr>
        <p:spPr>
          <a:xfrm>
            <a:off x="8686800" y="2743200"/>
            <a:ext cx="2743200" cy="320040"/>
          </a:xfrm>
          <a:prstGeom prst="rect">
            <a:avLst/>
          </a:prstGeom>
          <a:noFill/>
        </p:spPr>
        <p:txBody>
          <a:bodyPr wrap="square">
            <a:spAutoFit/>
          </a:bodyPr>
          <a:lstStyle/>
          <a:p>
            <a:pPr algn="l">
              <a:defRPr sz="1100" b="0" i="0">
                <a:solidFill>
                  <a:srgbClr val="767676"/>
                </a:solidFill>
                <a:latin typeface="Calibri"/>
              </a:defRPr>
            </a:pPr>
            <a:r>
              <a:t>Measured weekly vs. current rate</a:t>
            </a:r>
          </a:p>
        </p:txBody>
      </p:sp>
      <p:sp>
        <p:nvSpPr>
          <p:cNvPr id="15" name="Rounded Rectangle 14"/>
          <p:cNvSpPr/>
          <p:nvPr/>
        </p:nvSpPr>
        <p:spPr>
          <a:xfrm>
            <a:off x="731520" y="333756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 y="349300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G3</a:t>
            </a:r>
          </a:p>
        </p:txBody>
      </p:sp>
      <p:sp>
        <p:nvSpPr>
          <p:cNvPr id="17" name="TextBox 16"/>
          <p:cNvSpPr txBox="1"/>
          <p:nvPr/>
        </p:nvSpPr>
        <p:spPr>
          <a:xfrm>
            <a:off x="1737360" y="3456432"/>
            <a:ext cx="5029200" cy="365760"/>
          </a:xfrm>
          <a:prstGeom prst="rect">
            <a:avLst/>
          </a:prstGeom>
          <a:noFill/>
        </p:spPr>
        <p:txBody>
          <a:bodyPr wrap="square">
            <a:spAutoFit/>
          </a:bodyPr>
          <a:lstStyle/>
          <a:p>
            <a:pPr algn="l">
              <a:defRPr sz="1600" b="1" i="0">
                <a:solidFill>
                  <a:srgbClr val="1C1C1E"/>
                </a:solidFill>
                <a:latin typeface="Calibri"/>
              </a:defRPr>
            </a:pPr>
            <a:r>
              <a:t>AI draft acceptance rate</a:t>
            </a:r>
          </a:p>
        </p:txBody>
      </p:sp>
      <p:sp>
        <p:nvSpPr>
          <p:cNvPr id="18" name="TextBox 17"/>
          <p:cNvSpPr txBox="1"/>
          <p:nvPr/>
        </p:nvSpPr>
        <p:spPr>
          <a:xfrm>
            <a:off x="6858000" y="3429000"/>
            <a:ext cx="1828800" cy="411480"/>
          </a:xfrm>
          <a:prstGeom prst="rect">
            <a:avLst/>
          </a:prstGeom>
          <a:noFill/>
        </p:spPr>
        <p:txBody>
          <a:bodyPr wrap="square">
            <a:spAutoFit/>
          </a:bodyPr>
          <a:lstStyle/>
          <a:p>
            <a:pPr algn="l">
              <a:defRPr sz="2200" b="1" i="0">
                <a:solidFill>
                  <a:srgbClr val="E51937"/>
                </a:solidFill>
                <a:latin typeface="Calibri"/>
              </a:defRPr>
            </a:pPr>
            <a:r>
              <a:t>&gt;70%</a:t>
            </a:r>
          </a:p>
        </p:txBody>
      </p:sp>
      <p:sp>
        <p:nvSpPr>
          <p:cNvPr id="19" name="TextBox 18"/>
          <p:cNvSpPr txBox="1"/>
          <p:nvPr/>
        </p:nvSpPr>
        <p:spPr>
          <a:xfrm>
            <a:off x="8686800" y="3520440"/>
            <a:ext cx="2743200" cy="320040"/>
          </a:xfrm>
          <a:prstGeom prst="rect">
            <a:avLst/>
          </a:prstGeom>
          <a:noFill/>
        </p:spPr>
        <p:txBody>
          <a:bodyPr wrap="square">
            <a:spAutoFit/>
          </a:bodyPr>
          <a:lstStyle/>
          <a:p>
            <a:pPr algn="l">
              <a:defRPr sz="1100" b="0" i="0">
                <a:solidFill>
                  <a:srgbClr val="767676"/>
                </a:solidFill>
                <a:latin typeface="Calibri"/>
              </a:defRPr>
            </a:pPr>
            <a:r>
              <a:t>Below 50% at day 45 triggers scope review</a:t>
            </a:r>
          </a:p>
        </p:txBody>
      </p:sp>
      <p:sp>
        <p:nvSpPr>
          <p:cNvPr id="20" name="Rounded Rectangle 19"/>
          <p:cNvSpPr/>
          <p:nvPr/>
        </p:nvSpPr>
        <p:spPr>
          <a:xfrm>
            <a:off x="1005840" y="427024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G4</a:t>
            </a:r>
          </a:p>
        </p:txBody>
      </p:sp>
      <p:sp>
        <p:nvSpPr>
          <p:cNvPr id="21" name="TextBox 20"/>
          <p:cNvSpPr txBox="1"/>
          <p:nvPr/>
        </p:nvSpPr>
        <p:spPr>
          <a:xfrm>
            <a:off x="1737360" y="4233672"/>
            <a:ext cx="5029200" cy="365760"/>
          </a:xfrm>
          <a:prstGeom prst="rect">
            <a:avLst/>
          </a:prstGeom>
          <a:noFill/>
        </p:spPr>
        <p:txBody>
          <a:bodyPr wrap="square">
            <a:spAutoFit/>
          </a:bodyPr>
          <a:lstStyle/>
          <a:p>
            <a:pPr algn="l">
              <a:defRPr sz="1600" b="1" i="0">
                <a:solidFill>
                  <a:srgbClr val="1C1C1E"/>
                </a:solidFill>
                <a:latin typeface="Calibri"/>
              </a:defRPr>
            </a:pPr>
            <a:r>
              <a:t>Increase agent throughput</a:t>
            </a:r>
          </a:p>
        </p:txBody>
      </p:sp>
      <p:sp>
        <p:nvSpPr>
          <p:cNvPr id="22" name="TextBox 21"/>
          <p:cNvSpPr txBox="1"/>
          <p:nvPr/>
        </p:nvSpPr>
        <p:spPr>
          <a:xfrm>
            <a:off x="6858000" y="4206240"/>
            <a:ext cx="1828800" cy="411480"/>
          </a:xfrm>
          <a:prstGeom prst="rect">
            <a:avLst/>
          </a:prstGeom>
          <a:noFill/>
        </p:spPr>
        <p:txBody>
          <a:bodyPr wrap="square">
            <a:spAutoFit/>
          </a:bodyPr>
          <a:lstStyle/>
          <a:p>
            <a:pPr algn="l">
              <a:defRPr sz="2200" b="1" i="0">
                <a:solidFill>
                  <a:srgbClr val="E51937"/>
                </a:solidFill>
                <a:latin typeface="Calibri"/>
              </a:defRPr>
            </a:pPr>
            <a:r>
              <a:t>+25%</a:t>
            </a:r>
          </a:p>
        </p:txBody>
      </p:sp>
      <p:sp>
        <p:nvSpPr>
          <p:cNvPr id="23" name="TextBox 22"/>
          <p:cNvSpPr txBox="1"/>
          <p:nvPr/>
        </p:nvSpPr>
        <p:spPr>
          <a:xfrm>
            <a:off x="8686800" y="4297680"/>
            <a:ext cx="2743200" cy="320040"/>
          </a:xfrm>
          <a:prstGeom prst="rect">
            <a:avLst/>
          </a:prstGeom>
          <a:noFill/>
        </p:spPr>
        <p:txBody>
          <a:bodyPr wrap="square">
            <a:spAutoFit/>
          </a:bodyPr>
          <a:lstStyle/>
          <a:p>
            <a:pPr algn="l">
              <a:defRPr sz="1100" b="0" i="0">
                <a:solidFill>
                  <a:srgbClr val="767676"/>
                </a:solidFill>
                <a:latin typeface="Calibri"/>
              </a:defRPr>
            </a:pPr>
            <a:r>
              <a:t>Tickets handled per agent per day</a:t>
            </a:r>
          </a:p>
        </p:txBody>
      </p:sp>
      <p:sp>
        <p:nvSpPr>
          <p:cNvPr id="24" name="Rounded Rectangle 23"/>
          <p:cNvSpPr/>
          <p:nvPr/>
        </p:nvSpPr>
        <p:spPr>
          <a:xfrm>
            <a:off x="731520" y="489204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05840" y="504748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G5</a:t>
            </a:r>
          </a:p>
        </p:txBody>
      </p:sp>
      <p:sp>
        <p:nvSpPr>
          <p:cNvPr id="26" name="TextBox 25"/>
          <p:cNvSpPr txBox="1"/>
          <p:nvPr/>
        </p:nvSpPr>
        <p:spPr>
          <a:xfrm>
            <a:off x="1737360" y="5010912"/>
            <a:ext cx="5029200" cy="365760"/>
          </a:xfrm>
          <a:prstGeom prst="rect">
            <a:avLst/>
          </a:prstGeom>
          <a:noFill/>
        </p:spPr>
        <p:txBody>
          <a:bodyPr wrap="square">
            <a:spAutoFit/>
          </a:bodyPr>
          <a:lstStyle/>
          <a:p>
            <a:pPr algn="l">
              <a:defRPr sz="1600" b="1" i="0">
                <a:solidFill>
                  <a:srgbClr val="1C1C1E"/>
                </a:solidFill>
                <a:latin typeface="Calibri"/>
              </a:defRPr>
            </a:pPr>
            <a:r>
              <a:t>Hold customer satisfaction flat</a:t>
            </a:r>
          </a:p>
        </p:txBody>
      </p:sp>
      <p:sp>
        <p:nvSpPr>
          <p:cNvPr id="27" name="TextBox 26"/>
          <p:cNvSpPr txBox="1"/>
          <p:nvPr/>
        </p:nvSpPr>
        <p:spPr>
          <a:xfrm>
            <a:off x="6858000" y="4983480"/>
            <a:ext cx="1828800" cy="411480"/>
          </a:xfrm>
          <a:prstGeom prst="rect">
            <a:avLst/>
          </a:prstGeom>
          <a:noFill/>
        </p:spPr>
        <p:txBody>
          <a:bodyPr wrap="square">
            <a:spAutoFit/>
          </a:bodyPr>
          <a:lstStyle/>
          <a:p>
            <a:pPr algn="l">
              <a:defRPr sz="2200" b="1" i="0">
                <a:solidFill>
                  <a:srgbClr val="E51937"/>
                </a:solidFill>
                <a:latin typeface="Calibri"/>
              </a:defRPr>
            </a:pPr>
            <a:r>
              <a:t>No decline</a:t>
            </a:r>
          </a:p>
        </p:txBody>
      </p:sp>
      <p:sp>
        <p:nvSpPr>
          <p:cNvPr id="28" name="TextBox 27"/>
          <p:cNvSpPr txBox="1"/>
          <p:nvPr/>
        </p:nvSpPr>
        <p:spPr>
          <a:xfrm>
            <a:off x="8686800" y="5074920"/>
            <a:ext cx="2743200" cy="320040"/>
          </a:xfrm>
          <a:prstGeom prst="rect">
            <a:avLst/>
          </a:prstGeom>
          <a:noFill/>
        </p:spPr>
        <p:txBody>
          <a:bodyPr wrap="square">
            <a:spAutoFit/>
          </a:bodyPr>
          <a:lstStyle/>
          <a:p>
            <a:pPr algn="l">
              <a:defRPr sz="1100" b="0" i="0">
                <a:solidFill>
                  <a:srgbClr val="767676"/>
                </a:solidFill>
                <a:latin typeface="Calibri"/>
              </a:defRPr>
            </a:pPr>
            <a:r>
              <a:t>Any sustained drop triggers rollback</a:t>
            </a:r>
          </a:p>
        </p:txBody>
      </p:sp>
      <p:sp>
        <p:nvSpPr>
          <p:cNvPr id="29" name="TextBox 28"/>
          <p:cNvSpPr txBox="1"/>
          <p:nvPr/>
        </p:nvSpPr>
        <p:spPr>
          <a:xfrm>
            <a:off x="731520" y="5852160"/>
            <a:ext cx="10698480" cy="274320"/>
          </a:xfrm>
          <a:prstGeom prst="rect">
            <a:avLst/>
          </a:prstGeom>
          <a:noFill/>
        </p:spPr>
        <p:txBody>
          <a:bodyPr wrap="square">
            <a:spAutoFit/>
          </a:bodyPr>
          <a:lstStyle/>
          <a:p>
            <a:pPr algn="ctr">
              <a:defRPr sz="1200" b="0" i="0">
                <a:solidFill>
                  <a:srgbClr val="767676"/>
                </a:solidFill>
                <a:latin typeface="Calibri"/>
              </a:defRPr>
            </a:pPr>
            <a:r>
              <a:t>Kill criteria: 2 weeks quality drop, any safety error reaching a dealer, or dealer opt-out above 15%</a:t>
            </a:r>
          </a:p>
        </p:txBody>
      </p:sp>
      <p:sp>
        <p:nvSpPr>
          <p:cNvPr id="30" name="TextBox 2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1" name="TextBox 3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TIMELINE</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90-day pilot mapped to SMART goals</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1280160"/>
            <a:ext cx="2590800" cy="228600"/>
          </a:xfrm>
          <a:prstGeom prst="rect">
            <a:avLst/>
          </a:prstGeom>
          <a:noFill/>
        </p:spPr>
        <p:txBody>
          <a:bodyPr wrap="square">
            <a:spAutoFit/>
          </a:bodyPr>
          <a:lstStyle/>
          <a:p>
            <a:pPr algn="ctr">
              <a:defRPr sz="1000" b="1" i="0">
                <a:solidFill>
                  <a:srgbClr val="767676"/>
                </a:solidFill>
                <a:latin typeface="Calibri"/>
              </a:defRPr>
            </a:pPr>
            <a:r>
              <a:t>Month 1</a:t>
            </a:r>
          </a:p>
        </p:txBody>
      </p:sp>
      <p:sp>
        <p:nvSpPr>
          <p:cNvPr id="6" name="TextBox 5"/>
          <p:cNvSpPr txBox="1"/>
          <p:nvPr/>
        </p:nvSpPr>
        <p:spPr>
          <a:xfrm>
            <a:off x="6248400" y="1280160"/>
            <a:ext cx="2590800" cy="228600"/>
          </a:xfrm>
          <a:prstGeom prst="rect">
            <a:avLst/>
          </a:prstGeom>
          <a:noFill/>
        </p:spPr>
        <p:txBody>
          <a:bodyPr wrap="square">
            <a:spAutoFit/>
          </a:bodyPr>
          <a:lstStyle/>
          <a:p>
            <a:pPr algn="ctr">
              <a:defRPr sz="1000" b="1" i="0">
                <a:solidFill>
                  <a:srgbClr val="767676"/>
                </a:solidFill>
                <a:latin typeface="Calibri"/>
              </a:defRPr>
            </a:pPr>
            <a:r>
              <a:t>Month 2</a:t>
            </a:r>
          </a:p>
        </p:txBody>
      </p:sp>
      <p:sp>
        <p:nvSpPr>
          <p:cNvPr id="7" name="TextBox 6"/>
          <p:cNvSpPr txBox="1"/>
          <p:nvPr/>
        </p:nvSpPr>
        <p:spPr>
          <a:xfrm>
            <a:off x="8839200" y="1280160"/>
            <a:ext cx="2590800" cy="228600"/>
          </a:xfrm>
          <a:prstGeom prst="rect">
            <a:avLst/>
          </a:prstGeom>
          <a:noFill/>
        </p:spPr>
        <p:txBody>
          <a:bodyPr wrap="square">
            <a:spAutoFit/>
          </a:bodyPr>
          <a:lstStyle/>
          <a:p>
            <a:pPr algn="ctr">
              <a:defRPr sz="1000" b="1" i="0">
                <a:solidFill>
                  <a:srgbClr val="767676"/>
                </a:solidFill>
                <a:latin typeface="Calibri"/>
              </a:defRPr>
            </a:pPr>
            <a:r>
              <a:t>Month 3</a:t>
            </a:r>
          </a:p>
        </p:txBody>
      </p:sp>
      <p:sp>
        <p:nvSpPr>
          <p:cNvPr id="8" name="Rectangle 7"/>
          <p:cNvSpPr/>
          <p:nvPr/>
        </p:nvSpPr>
        <p:spPr>
          <a:xfrm>
            <a:off x="62484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392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1554480"/>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600200"/>
            <a:ext cx="2560320" cy="256032"/>
          </a:xfrm>
          <a:prstGeom prst="rect">
            <a:avLst/>
          </a:prstGeom>
          <a:noFill/>
        </p:spPr>
        <p:txBody>
          <a:bodyPr wrap="square">
            <a:spAutoFit/>
          </a:bodyPr>
          <a:lstStyle/>
          <a:p>
            <a:pPr algn="l">
              <a:defRPr sz="900" b="1" i="0">
                <a:solidFill>
                  <a:srgbClr val="1C1C1E"/>
                </a:solidFill>
                <a:latin typeface="Calibri"/>
              </a:defRPr>
            </a:pPr>
            <a:r>
              <a:t>Setup + Integration</a:t>
            </a:r>
          </a:p>
        </p:txBody>
      </p:sp>
      <p:sp>
        <p:nvSpPr>
          <p:cNvPr id="12" name="Rounded Rectangle 11"/>
          <p:cNvSpPr/>
          <p:nvPr/>
        </p:nvSpPr>
        <p:spPr>
          <a:xfrm>
            <a:off x="3657600" y="1609344"/>
            <a:ext cx="259080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0" y="1609344"/>
            <a:ext cx="2407920" cy="219456"/>
          </a:xfrm>
          <a:prstGeom prst="rect">
            <a:avLst/>
          </a:prstGeom>
          <a:noFill/>
        </p:spPr>
        <p:txBody>
          <a:bodyPr wrap="square">
            <a:spAutoFit/>
          </a:bodyPr>
          <a:lstStyle/>
          <a:p>
            <a:pPr algn="l">
              <a:defRPr sz="700" b="0" i="0">
                <a:solidFill>
                  <a:srgbClr val="1C1C1E"/>
                </a:solidFill>
                <a:latin typeface="Calibri"/>
              </a:defRPr>
            </a:pPr>
            <a:r>
              <a:t>Zendesk + Kendra + Bedrock integration; baseline metrics</a:t>
            </a:r>
          </a:p>
        </p:txBody>
      </p:sp>
      <p:sp>
        <p:nvSpPr>
          <p:cNvPr id="14" name="TextBox 13"/>
          <p:cNvSpPr txBox="1"/>
          <p:nvPr/>
        </p:nvSpPr>
        <p:spPr>
          <a:xfrm>
            <a:off x="731520" y="1947672"/>
            <a:ext cx="2560320" cy="256032"/>
          </a:xfrm>
          <a:prstGeom prst="rect">
            <a:avLst/>
          </a:prstGeom>
          <a:noFill/>
        </p:spPr>
        <p:txBody>
          <a:bodyPr wrap="square">
            <a:spAutoFit/>
          </a:bodyPr>
          <a:lstStyle/>
          <a:p>
            <a:pPr algn="l">
              <a:defRPr sz="900" b="1" i="0">
                <a:solidFill>
                  <a:srgbClr val="1C1C1E"/>
                </a:solidFill>
                <a:latin typeface="Calibri"/>
              </a:defRPr>
            </a:pPr>
            <a:r>
              <a:t>Knowledge Base Indexing</a:t>
            </a:r>
          </a:p>
        </p:txBody>
      </p:sp>
      <p:sp>
        <p:nvSpPr>
          <p:cNvPr id="15" name="Rounded Rectangle 14"/>
          <p:cNvSpPr/>
          <p:nvPr/>
        </p:nvSpPr>
        <p:spPr>
          <a:xfrm>
            <a:off x="3657600" y="1956816"/>
            <a:ext cx="181356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17" name="TextBox 16"/>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TIMELINE</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90-day pilot mapped to SMART goals</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1280160"/>
            <a:ext cx="2590800" cy="228600"/>
          </a:xfrm>
          <a:prstGeom prst="rect">
            <a:avLst/>
          </a:prstGeom>
          <a:noFill/>
        </p:spPr>
        <p:txBody>
          <a:bodyPr wrap="square">
            <a:spAutoFit/>
          </a:bodyPr>
          <a:lstStyle/>
          <a:p>
            <a:pPr algn="ctr">
              <a:defRPr sz="1000" b="1" i="0">
                <a:solidFill>
                  <a:srgbClr val="767676"/>
                </a:solidFill>
                <a:latin typeface="Calibri"/>
              </a:defRPr>
            </a:pPr>
            <a:r>
              <a:t>Month 1</a:t>
            </a:r>
          </a:p>
        </p:txBody>
      </p:sp>
      <p:sp>
        <p:nvSpPr>
          <p:cNvPr id="6" name="TextBox 5"/>
          <p:cNvSpPr txBox="1"/>
          <p:nvPr/>
        </p:nvSpPr>
        <p:spPr>
          <a:xfrm>
            <a:off x="6248400" y="1280160"/>
            <a:ext cx="2590800" cy="228600"/>
          </a:xfrm>
          <a:prstGeom prst="rect">
            <a:avLst/>
          </a:prstGeom>
          <a:noFill/>
        </p:spPr>
        <p:txBody>
          <a:bodyPr wrap="square">
            <a:spAutoFit/>
          </a:bodyPr>
          <a:lstStyle/>
          <a:p>
            <a:pPr algn="ctr">
              <a:defRPr sz="1000" b="1" i="0">
                <a:solidFill>
                  <a:srgbClr val="767676"/>
                </a:solidFill>
                <a:latin typeface="Calibri"/>
              </a:defRPr>
            </a:pPr>
            <a:r>
              <a:t>Month 2</a:t>
            </a:r>
          </a:p>
        </p:txBody>
      </p:sp>
      <p:sp>
        <p:nvSpPr>
          <p:cNvPr id="7" name="TextBox 6"/>
          <p:cNvSpPr txBox="1"/>
          <p:nvPr/>
        </p:nvSpPr>
        <p:spPr>
          <a:xfrm>
            <a:off x="8839200" y="1280160"/>
            <a:ext cx="2590800" cy="228600"/>
          </a:xfrm>
          <a:prstGeom prst="rect">
            <a:avLst/>
          </a:prstGeom>
          <a:noFill/>
        </p:spPr>
        <p:txBody>
          <a:bodyPr wrap="square">
            <a:spAutoFit/>
          </a:bodyPr>
          <a:lstStyle/>
          <a:p>
            <a:pPr algn="ctr">
              <a:defRPr sz="1000" b="1" i="0">
                <a:solidFill>
                  <a:srgbClr val="767676"/>
                </a:solidFill>
                <a:latin typeface="Calibri"/>
              </a:defRPr>
            </a:pPr>
            <a:r>
              <a:t>Month 3</a:t>
            </a:r>
          </a:p>
        </p:txBody>
      </p:sp>
      <p:sp>
        <p:nvSpPr>
          <p:cNvPr id="8" name="Rectangle 7"/>
          <p:cNvSpPr/>
          <p:nvPr/>
        </p:nvSpPr>
        <p:spPr>
          <a:xfrm>
            <a:off x="62484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392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1554480"/>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600200"/>
            <a:ext cx="2560320" cy="256032"/>
          </a:xfrm>
          <a:prstGeom prst="rect">
            <a:avLst/>
          </a:prstGeom>
          <a:noFill/>
        </p:spPr>
        <p:txBody>
          <a:bodyPr wrap="square">
            <a:spAutoFit/>
          </a:bodyPr>
          <a:lstStyle/>
          <a:p>
            <a:pPr algn="l">
              <a:defRPr sz="900" b="1" i="0">
                <a:solidFill>
                  <a:srgbClr val="1C1C1E"/>
                </a:solidFill>
                <a:latin typeface="Calibri"/>
              </a:defRPr>
            </a:pPr>
            <a:r>
              <a:t>Setup + Integration</a:t>
            </a:r>
          </a:p>
        </p:txBody>
      </p:sp>
      <p:sp>
        <p:nvSpPr>
          <p:cNvPr id="12" name="Rounded Rectangle 11"/>
          <p:cNvSpPr/>
          <p:nvPr/>
        </p:nvSpPr>
        <p:spPr>
          <a:xfrm>
            <a:off x="3657600" y="1609344"/>
            <a:ext cx="259080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0" y="1609344"/>
            <a:ext cx="2407920" cy="219456"/>
          </a:xfrm>
          <a:prstGeom prst="rect">
            <a:avLst/>
          </a:prstGeom>
          <a:noFill/>
        </p:spPr>
        <p:txBody>
          <a:bodyPr wrap="square">
            <a:spAutoFit/>
          </a:bodyPr>
          <a:lstStyle/>
          <a:p>
            <a:pPr algn="l">
              <a:defRPr sz="700" b="0" i="0">
                <a:solidFill>
                  <a:srgbClr val="1C1C1E"/>
                </a:solidFill>
                <a:latin typeface="Calibri"/>
              </a:defRPr>
            </a:pPr>
            <a:r>
              <a:t>Zendesk + Kendra + Bedrock integration; baseline metrics</a:t>
            </a:r>
          </a:p>
        </p:txBody>
      </p:sp>
      <p:sp>
        <p:nvSpPr>
          <p:cNvPr id="14" name="TextBox 13"/>
          <p:cNvSpPr txBox="1"/>
          <p:nvPr/>
        </p:nvSpPr>
        <p:spPr>
          <a:xfrm>
            <a:off x="731520" y="1947672"/>
            <a:ext cx="2560320" cy="256032"/>
          </a:xfrm>
          <a:prstGeom prst="rect">
            <a:avLst/>
          </a:prstGeom>
          <a:noFill/>
        </p:spPr>
        <p:txBody>
          <a:bodyPr wrap="square">
            <a:spAutoFit/>
          </a:bodyPr>
          <a:lstStyle/>
          <a:p>
            <a:pPr algn="l">
              <a:defRPr sz="900" b="1" i="0">
                <a:solidFill>
                  <a:srgbClr val="1C1C1E"/>
                </a:solidFill>
                <a:latin typeface="Calibri"/>
              </a:defRPr>
            </a:pPr>
            <a:r>
              <a:t>Knowledge Base Indexing</a:t>
            </a:r>
          </a:p>
        </p:txBody>
      </p:sp>
      <p:sp>
        <p:nvSpPr>
          <p:cNvPr id="15" name="Rounded Rectangle 14"/>
          <p:cNvSpPr/>
          <p:nvPr/>
        </p:nvSpPr>
        <p:spPr>
          <a:xfrm>
            <a:off x="3657600" y="1956816"/>
            <a:ext cx="181356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2249424"/>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295144"/>
            <a:ext cx="2560320" cy="256032"/>
          </a:xfrm>
          <a:prstGeom prst="rect">
            <a:avLst/>
          </a:prstGeom>
          <a:noFill/>
        </p:spPr>
        <p:txBody>
          <a:bodyPr wrap="square">
            <a:spAutoFit/>
          </a:bodyPr>
          <a:lstStyle/>
          <a:p>
            <a:pPr algn="l">
              <a:defRPr sz="900" b="1" i="0">
                <a:solidFill>
                  <a:srgbClr val="1C1C1E"/>
                </a:solidFill>
                <a:latin typeface="Calibri"/>
              </a:defRPr>
            </a:pPr>
            <a:r>
              <a:t>AI Draft Rollout (AXS)</a:t>
            </a:r>
          </a:p>
        </p:txBody>
      </p:sp>
      <p:sp>
        <p:nvSpPr>
          <p:cNvPr id="18" name="TextBox 17"/>
          <p:cNvSpPr txBox="1"/>
          <p:nvPr/>
        </p:nvSpPr>
        <p:spPr>
          <a:xfrm>
            <a:off x="3108960" y="2295144"/>
            <a:ext cx="457200" cy="256032"/>
          </a:xfrm>
          <a:prstGeom prst="rect">
            <a:avLst/>
          </a:prstGeom>
          <a:noFill/>
        </p:spPr>
        <p:txBody>
          <a:bodyPr wrap="square">
            <a:spAutoFit/>
          </a:bodyPr>
          <a:lstStyle/>
          <a:p>
            <a:pPr algn="l">
              <a:defRPr sz="800" b="1" i="0">
                <a:solidFill>
                  <a:srgbClr val="E51937"/>
                </a:solidFill>
                <a:latin typeface="Calibri"/>
              </a:defRPr>
            </a:pPr>
            <a:r>
              <a:t>G3</a:t>
            </a:r>
          </a:p>
        </p:txBody>
      </p:sp>
      <p:sp>
        <p:nvSpPr>
          <p:cNvPr id="19" name="Rounded Rectangle 18"/>
          <p:cNvSpPr/>
          <p:nvPr/>
        </p:nvSpPr>
        <p:spPr>
          <a:xfrm>
            <a:off x="5471160" y="2304288"/>
            <a:ext cx="336804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2600" y="2304288"/>
            <a:ext cx="3185160" cy="219456"/>
          </a:xfrm>
          <a:prstGeom prst="rect">
            <a:avLst/>
          </a:prstGeom>
          <a:noFill/>
        </p:spPr>
        <p:txBody>
          <a:bodyPr wrap="square">
            <a:spAutoFit/>
          </a:bodyPr>
          <a:lstStyle/>
          <a:p>
            <a:pPr algn="l">
              <a:defRPr sz="700" b="0" i="0">
                <a:solidFill>
                  <a:srgbClr val="FFFFFF"/>
                </a:solidFill>
                <a:latin typeface="Calibri"/>
              </a:defRPr>
            </a:pPr>
            <a:r>
              <a:t>AI drafts responses; agents review 100%</a:t>
            </a:r>
          </a:p>
        </p:txBody>
      </p:sp>
      <p:sp>
        <p:nvSpPr>
          <p:cNvPr id="21" name="TextBox 20"/>
          <p:cNvSpPr txBox="1"/>
          <p:nvPr/>
        </p:nvSpPr>
        <p:spPr>
          <a:xfrm>
            <a:off x="731520" y="2642616"/>
            <a:ext cx="2560320" cy="256032"/>
          </a:xfrm>
          <a:prstGeom prst="rect">
            <a:avLst/>
          </a:prstGeom>
          <a:noFill/>
        </p:spPr>
        <p:txBody>
          <a:bodyPr wrap="square">
            <a:spAutoFit/>
          </a:bodyPr>
          <a:lstStyle/>
          <a:p>
            <a:pPr algn="l">
              <a:defRPr sz="900" b="1" i="0">
                <a:solidFill>
                  <a:srgbClr val="1C1C1E"/>
                </a:solidFill>
                <a:latin typeface="Calibri"/>
              </a:defRPr>
            </a:pPr>
            <a:r>
              <a:t>AI Draft Rollout (Hammerhead)</a:t>
            </a:r>
          </a:p>
        </p:txBody>
      </p:sp>
      <p:sp>
        <p:nvSpPr>
          <p:cNvPr id="22" name="TextBox 21"/>
          <p:cNvSpPr txBox="1"/>
          <p:nvPr/>
        </p:nvSpPr>
        <p:spPr>
          <a:xfrm>
            <a:off x="3108960" y="2642616"/>
            <a:ext cx="457200" cy="256032"/>
          </a:xfrm>
          <a:prstGeom prst="rect">
            <a:avLst/>
          </a:prstGeom>
          <a:noFill/>
        </p:spPr>
        <p:txBody>
          <a:bodyPr wrap="square">
            <a:spAutoFit/>
          </a:bodyPr>
          <a:lstStyle/>
          <a:p>
            <a:pPr algn="l">
              <a:defRPr sz="800" b="1" i="0">
                <a:solidFill>
                  <a:srgbClr val="E51937"/>
                </a:solidFill>
                <a:latin typeface="Calibri"/>
              </a:defRPr>
            </a:pPr>
            <a:r>
              <a:t>G3</a:t>
            </a:r>
          </a:p>
        </p:txBody>
      </p:sp>
      <p:sp>
        <p:nvSpPr>
          <p:cNvPr id="23" name="Rounded Rectangle 22"/>
          <p:cNvSpPr/>
          <p:nvPr/>
        </p:nvSpPr>
        <p:spPr>
          <a:xfrm>
            <a:off x="6766560" y="2651760"/>
            <a:ext cx="25908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2651760"/>
            <a:ext cx="2407920" cy="219456"/>
          </a:xfrm>
          <a:prstGeom prst="rect">
            <a:avLst/>
          </a:prstGeom>
          <a:noFill/>
        </p:spPr>
        <p:txBody>
          <a:bodyPr wrap="square">
            <a:spAutoFit/>
          </a:bodyPr>
          <a:lstStyle/>
          <a:p>
            <a:pPr algn="l">
              <a:defRPr sz="700" b="0" i="0">
                <a:solidFill>
                  <a:srgbClr val="FFFFFF"/>
                </a:solidFill>
                <a:latin typeface="Calibri"/>
              </a:defRPr>
            </a:pPr>
            <a:r>
              <a:t>Expand to Hammerhead device tickets</a:t>
            </a:r>
          </a:p>
        </p:txBody>
      </p:sp>
      <p:sp>
        <p:nvSpPr>
          <p:cNvPr id="25" name="Rounded Rectangle 24"/>
          <p:cNvSpPr/>
          <p:nvPr/>
        </p:nvSpPr>
        <p:spPr>
          <a:xfrm>
            <a:off x="731520" y="2944368"/>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2990088"/>
            <a:ext cx="2560320" cy="256032"/>
          </a:xfrm>
          <a:prstGeom prst="rect">
            <a:avLst/>
          </a:prstGeom>
          <a:noFill/>
        </p:spPr>
        <p:txBody>
          <a:bodyPr wrap="square">
            <a:spAutoFit/>
          </a:bodyPr>
          <a:lstStyle/>
          <a:p>
            <a:pPr algn="l">
              <a:defRPr sz="900" b="1" i="0">
                <a:solidFill>
                  <a:srgbClr val="1C1C1E"/>
                </a:solidFill>
                <a:latin typeface="Calibri"/>
              </a:defRPr>
            </a:pPr>
            <a:r>
              <a:t>Response Time Tracking</a:t>
            </a:r>
          </a:p>
        </p:txBody>
      </p:sp>
      <p:sp>
        <p:nvSpPr>
          <p:cNvPr id="27" name="TextBox 26"/>
          <p:cNvSpPr txBox="1"/>
          <p:nvPr/>
        </p:nvSpPr>
        <p:spPr>
          <a:xfrm>
            <a:off x="3108960" y="2990088"/>
            <a:ext cx="457200" cy="256032"/>
          </a:xfrm>
          <a:prstGeom prst="rect">
            <a:avLst/>
          </a:prstGeom>
          <a:noFill/>
        </p:spPr>
        <p:txBody>
          <a:bodyPr wrap="square">
            <a:spAutoFit/>
          </a:bodyPr>
          <a:lstStyle/>
          <a:p>
            <a:pPr algn="l">
              <a:defRPr sz="800" b="1" i="0">
                <a:solidFill>
                  <a:srgbClr val="E51937"/>
                </a:solidFill>
                <a:latin typeface="Calibri"/>
              </a:defRPr>
            </a:pPr>
            <a:r>
              <a:t>G1</a:t>
            </a:r>
          </a:p>
        </p:txBody>
      </p:sp>
      <p:sp>
        <p:nvSpPr>
          <p:cNvPr id="28" name="Rounded Rectangle 27"/>
          <p:cNvSpPr/>
          <p:nvPr/>
        </p:nvSpPr>
        <p:spPr>
          <a:xfrm>
            <a:off x="4953000" y="2999232"/>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44440" y="2999232"/>
            <a:ext cx="6294120" cy="219456"/>
          </a:xfrm>
          <a:prstGeom prst="rect">
            <a:avLst/>
          </a:prstGeom>
          <a:noFill/>
        </p:spPr>
        <p:txBody>
          <a:bodyPr wrap="square">
            <a:spAutoFit/>
          </a:bodyPr>
          <a:lstStyle/>
          <a:p>
            <a:pPr algn="l">
              <a:defRPr sz="700" b="0" i="0">
                <a:solidFill>
                  <a:srgbClr val="FFFFFF"/>
                </a:solidFill>
                <a:latin typeface="Calibri"/>
              </a:defRPr>
            </a:pPr>
            <a:r>
              <a:t>Weekly measurement vs. SLA baseline</a:t>
            </a:r>
          </a:p>
        </p:txBody>
      </p:sp>
      <p:sp>
        <p:nvSpPr>
          <p:cNvPr id="30" name="TextBox 29"/>
          <p:cNvSpPr txBox="1"/>
          <p:nvPr/>
        </p:nvSpPr>
        <p:spPr>
          <a:xfrm>
            <a:off x="731520" y="3337560"/>
            <a:ext cx="2560320" cy="256032"/>
          </a:xfrm>
          <a:prstGeom prst="rect">
            <a:avLst/>
          </a:prstGeom>
          <a:noFill/>
        </p:spPr>
        <p:txBody>
          <a:bodyPr wrap="square">
            <a:spAutoFit/>
          </a:bodyPr>
          <a:lstStyle/>
          <a:p>
            <a:pPr algn="l">
              <a:defRPr sz="900" b="1" i="0">
                <a:solidFill>
                  <a:srgbClr val="1C1C1E"/>
                </a:solidFill>
                <a:latin typeface="Calibri"/>
              </a:defRPr>
            </a:pPr>
            <a:r>
              <a:t>Escalation Rate Tracking</a:t>
            </a:r>
          </a:p>
        </p:txBody>
      </p:sp>
      <p:sp>
        <p:nvSpPr>
          <p:cNvPr id="31" name="TextBox 30"/>
          <p:cNvSpPr txBox="1"/>
          <p:nvPr/>
        </p:nvSpPr>
        <p:spPr>
          <a:xfrm>
            <a:off x="3108960" y="3337560"/>
            <a:ext cx="457200" cy="256032"/>
          </a:xfrm>
          <a:prstGeom prst="rect">
            <a:avLst/>
          </a:prstGeom>
          <a:noFill/>
        </p:spPr>
        <p:txBody>
          <a:bodyPr wrap="square">
            <a:spAutoFit/>
          </a:bodyPr>
          <a:lstStyle/>
          <a:p>
            <a:pPr algn="l">
              <a:defRPr sz="800" b="1" i="0">
                <a:solidFill>
                  <a:srgbClr val="E51937"/>
                </a:solidFill>
                <a:latin typeface="Calibri"/>
              </a:defRPr>
            </a:pPr>
            <a:r>
              <a:t>G2</a:t>
            </a:r>
          </a:p>
        </p:txBody>
      </p:sp>
      <p:sp>
        <p:nvSpPr>
          <p:cNvPr id="32" name="Rounded Rectangle 31"/>
          <p:cNvSpPr/>
          <p:nvPr/>
        </p:nvSpPr>
        <p:spPr>
          <a:xfrm>
            <a:off x="4953000" y="3346704"/>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44440" y="3346704"/>
            <a:ext cx="6294120" cy="219456"/>
          </a:xfrm>
          <a:prstGeom prst="rect">
            <a:avLst/>
          </a:prstGeom>
          <a:noFill/>
        </p:spPr>
        <p:txBody>
          <a:bodyPr wrap="square">
            <a:spAutoFit/>
          </a:bodyPr>
          <a:lstStyle/>
          <a:p>
            <a:pPr algn="l">
              <a:defRPr sz="700" b="0" i="0">
                <a:solidFill>
                  <a:srgbClr val="FFFFFF"/>
                </a:solidFill>
                <a:latin typeface="Calibri"/>
              </a:defRPr>
            </a:pPr>
            <a:r>
              <a:t>Weekly measurement vs. baseline</a:t>
            </a:r>
          </a:p>
        </p:txBody>
      </p:sp>
      <p:sp>
        <p:nvSpPr>
          <p:cNvPr id="34" name="Rounded Rectangle 33"/>
          <p:cNvSpPr/>
          <p:nvPr/>
        </p:nvSpPr>
        <p:spPr>
          <a:xfrm>
            <a:off x="731520" y="3639312"/>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3685032"/>
            <a:ext cx="2560320" cy="256032"/>
          </a:xfrm>
          <a:prstGeom prst="rect">
            <a:avLst/>
          </a:prstGeom>
          <a:noFill/>
        </p:spPr>
        <p:txBody>
          <a:bodyPr wrap="square">
            <a:spAutoFit/>
          </a:bodyPr>
          <a:lstStyle/>
          <a:p>
            <a:pPr algn="l">
              <a:defRPr sz="900" b="1" i="0">
                <a:solidFill>
                  <a:srgbClr val="1C1C1E"/>
                </a:solidFill>
                <a:latin typeface="Calibri"/>
              </a:defRPr>
            </a:pPr>
            <a:r>
              <a:t>Throughput Measurement</a:t>
            </a:r>
          </a:p>
        </p:txBody>
      </p:sp>
      <p:sp>
        <p:nvSpPr>
          <p:cNvPr id="36" name="TextBox 35"/>
          <p:cNvSpPr txBox="1"/>
          <p:nvPr/>
        </p:nvSpPr>
        <p:spPr>
          <a:xfrm>
            <a:off x="3108960" y="3685032"/>
            <a:ext cx="457200" cy="256032"/>
          </a:xfrm>
          <a:prstGeom prst="rect">
            <a:avLst/>
          </a:prstGeom>
          <a:noFill/>
        </p:spPr>
        <p:txBody>
          <a:bodyPr wrap="square">
            <a:spAutoFit/>
          </a:bodyPr>
          <a:lstStyle/>
          <a:p>
            <a:pPr algn="l">
              <a:defRPr sz="800" b="1" i="0">
                <a:solidFill>
                  <a:srgbClr val="E51937"/>
                </a:solidFill>
                <a:latin typeface="Calibri"/>
              </a:defRPr>
            </a:pPr>
            <a:r>
              <a:t>G4</a:t>
            </a:r>
          </a:p>
        </p:txBody>
      </p:sp>
      <p:sp>
        <p:nvSpPr>
          <p:cNvPr id="37" name="Rounded Rectangle 36"/>
          <p:cNvSpPr/>
          <p:nvPr/>
        </p:nvSpPr>
        <p:spPr>
          <a:xfrm>
            <a:off x="6248400" y="3694176"/>
            <a:ext cx="51816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39840" y="3694176"/>
            <a:ext cx="4998720" cy="219456"/>
          </a:xfrm>
          <a:prstGeom prst="rect">
            <a:avLst/>
          </a:prstGeom>
          <a:noFill/>
        </p:spPr>
        <p:txBody>
          <a:bodyPr wrap="square">
            <a:spAutoFit/>
          </a:bodyPr>
          <a:lstStyle/>
          <a:p>
            <a:pPr algn="l">
              <a:defRPr sz="700" b="0" i="0">
                <a:solidFill>
                  <a:srgbClr val="FFFFFF"/>
                </a:solidFill>
                <a:latin typeface="Calibri"/>
              </a:defRPr>
            </a:pPr>
            <a:r>
              <a:t>Tickets/agent/day tracked weekly</a:t>
            </a:r>
          </a:p>
        </p:txBody>
      </p:sp>
      <p:sp>
        <p:nvSpPr>
          <p:cNvPr id="39" name="TextBox 38"/>
          <p:cNvSpPr txBox="1"/>
          <p:nvPr/>
        </p:nvSpPr>
        <p:spPr>
          <a:xfrm>
            <a:off x="731520" y="4032504"/>
            <a:ext cx="2560320" cy="256032"/>
          </a:xfrm>
          <a:prstGeom prst="rect">
            <a:avLst/>
          </a:prstGeom>
          <a:noFill/>
        </p:spPr>
        <p:txBody>
          <a:bodyPr wrap="square">
            <a:spAutoFit/>
          </a:bodyPr>
          <a:lstStyle/>
          <a:p>
            <a:pPr algn="l">
              <a:defRPr sz="900" b="1" i="0">
                <a:solidFill>
                  <a:srgbClr val="1C1C1E"/>
                </a:solidFill>
                <a:latin typeface="Calibri"/>
              </a:defRPr>
            </a:pPr>
            <a:r>
              <a:t>CSAT Monitoring</a:t>
            </a:r>
          </a:p>
        </p:txBody>
      </p:sp>
      <p:sp>
        <p:nvSpPr>
          <p:cNvPr id="40" name="TextBox 39"/>
          <p:cNvSpPr txBox="1"/>
          <p:nvPr/>
        </p:nvSpPr>
        <p:spPr>
          <a:xfrm>
            <a:off x="3108960" y="4032504"/>
            <a:ext cx="457200" cy="256032"/>
          </a:xfrm>
          <a:prstGeom prst="rect">
            <a:avLst/>
          </a:prstGeom>
          <a:noFill/>
        </p:spPr>
        <p:txBody>
          <a:bodyPr wrap="square">
            <a:spAutoFit/>
          </a:bodyPr>
          <a:lstStyle/>
          <a:p>
            <a:pPr algn="l">
              <a:defRPr sz="800" b="1" i="0">
                <a:solidFill>
                  <a:srgbClr val="E51937"/>
                </a:solidFill>
                <a:latin typeface="Calibri"/>
              </a:defRPr>
            </a:pPr>
            <a:r>
              <a:t>G5</a:t>
            </a:r>
          </a:p>
        </p:txBody>
      </p:sp>
      <p:sp>
        <p:nvSpPr>
          <p:cNvPr id="41" name="Rounded Rectangle 40"/>
          <p:cNvSpPr/>
          <p:nvPr/>
        </p:nvSpPr>
        <p:spPr>
          <a:xfrm>
            <a:off x="4953000" y="4041648"/>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44440" y="4041648"/>
            <a:ext cx="6294120" cy="219456"/>
          </a:xfrm>
          <a:prstGeom prst="rect">
            <a:avLst/>
          </a:prstGeom>
          <a:noFill/>
        </p:spPr>
        <p:txBody>
          <a:bodyPr wrap="square">
            <a:spAutoFit/>
          </a:bodyPr>
          <a:lstStyle/>
          <a:p>
            <a:pPr algn="l">
              <a:defRPr sz="700" b="0" i="0">
                <a:solidFill>
                  <a:srgbClr val="FFFFFF"/>
                </a:solidFill>
                <a:latin typeface="Calibri"/>
              </a:defRPr>
            </a:pPr>
            <a:r>
              <a:t>No decline for 2 consecutive periods</a:t>
            </a:r>
          </a:p>
        </p:txBody>
      </p:sp>
      <p:sp>
        <p:nvSpPr>
          <p:cNvPr id="43" name="TextBox 4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4" name="TextBox 4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TIMELINE</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90-day pilot mapped to SMART goals</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1280160"/>
            <a:ext cx="2590800" cy="228600"/>
          </a:xfrm>
          <a:prstGeom prst="rect">
            <a:avLst/>
          </a:prstGeom>
          <a:noFill/>
        </p:spPr>
        <p:txBody>
          <a:bodyPr wrap="square">
            <a:spAutoFit/>
          </a:bodyPr>
          <a:lstStyle/>
          <a:p>
            <a:pPr algn="ctr">
              <a:defRPr sz="1000" b="1" i="0">
                <a:solidFill>
                  <a:srgbClr val="767676"/>
                </a:solidFill>
                <a:latin typeface="Calibri"/>
              </a:defRPr>
            </a:pPr>
            <a:r>
              <a:t>Month 1</a:t>
            </a:r>
          </a:p>
        </p:txBody>
      </p:sp>
      <p:sp>
        <p:nvSpPr>
          <p:cNvPr id="6" name="TextBox 5"/>
          <p:cNvSpPr txBox="1"/>
          <p:nvPr/>
        </p:nvSpPr>
        <p:spPr>
          <a:xfrm>
            <a:off x="6248400" y="1280160"/>
            <a:ext cx="2590800" cy="228600"/>
          </a:xfrm>
          <a:prstGeom prst="rect">
            <a:avLst/>
          </a:prstGeom>
          <a:noFill/>
        </p:spPr>
        <p:txBody>
          <a:bodyPr wrap="square">
            <a:spAutoFit/>
          </a:bodyPr>
          <a:lstStyle/>
          <a:p>
            <a:pPr algn="ctr">
              <a:defRPr sz="1000" b="1" i="0">
                <a:solidFill>
                  <a:srgbClr val="767676"/>
                </a:solidFill>
                <a:latin typeface="Calibri"/>
              </a:defRPr>
            </a:pPr>
            <a:r>
              <a:t>Month 2</a:t>
            </a:r>
          </a:p>
        </p:txBody>
      </p:sp>
      <p:sp>
        <p:nvSpPr>
          <p:cNvPr id="7" name="TextBox 6"/>
          <p:cNvSpPr txBox="1"/>
          <p:nvPr/>
        </p:nvSpPr>
        <p:spPr>
          <a:xfrm>
            <a:off x="8839200" y="1280160"/>
            <a:ext cx="2590800" cy="228600"/>
          </a:xfrm>
          <a:prstGeom prst="rect">
            <a:avLst/>
          </a:prstGeom>
          <a:noFill/>
        </p:spPr>
        <p:txBody>
          <a:bodyPr wrap="square">
            <a:spAutoFit/>
          </a:bodyPr>
          <a:lstStyle/>
          <a:p>
            <a:pPr algn="ctr">
              <a:defRPr sz="1000" b="1" i="0">
                <a:solidFill>
                  <a:srgbClr val="767676"/>
                </a:solidFill>
                <a:latin typeface="Calibri"/>
              </a:defRPr>
            </a:pPr>
            <a:r>
              <a:t>Month 3</a:t>
            </a:r>
          </a:p>
        </p:txBody>
      </p:sp>
      <p:sp>
        <p:nvSpPr>
          <p:cNvPr id="8" name="Rectangle 7"/>
          <p:cNvSpPr/>
          <p:nvPr/>
        </p:nvSpPr>
        <p:spPr>
          <a:xfrm>
            <a:off x="62484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392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1554480"/>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600200"/>
            <a:ext cx="2560320" cy="256032"/>
          </a:xfrm>
          <a:prstGeom prst="rect">
            <a:avLst/>
          </a:prstGeom>
          <a:noFill/>
        </p:spPr>
        <p:txBody>
          <a:bodyPr wrap="square">
            <a:spAutoFit/>
          </a:bodyPr>
          <a:lstStyle/>
          <a:p>
            <a:pPr algn="l">
              <a:defRPr sz="900" b="1" i="0">
                <a:solidFill>
                  <a:srgbClr val="1C1C1E"/>
                </a:solidFill>
                <a:latin typeface="Calibri"/>
              </a:defRPr>
            </a:pPr>
            <a:r>
              <a:t>Setup + Integration</a:t>
            </a:r>
          </a:p>
        </p:txBody>
      </p:sp>
      <p:sp>
        <p:nvSpPr>
          <p:cNvPr id="12" name="Rounded Rectangle 11"/>
          <p:cNvSpPr/>
          <p:nvPr/>
        </p:nvSpPr>
        <p:spPr>
          <a:xfrm>
            <a:off x="3657600" y="1609344"/>
            <a:ext cx="259080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0" y="1609344"/>
            <a:ext cx="2407920" cy="219456"/>
          </a:xfrm>
          <a:prstGeom prst="rect">
            <a:avLst/>
          </a:prstGeom>
          <a:noFill/>
        </p:spPr>
        <p:txBody>
          <a:bodyPr wrap="square">
            <a:spAutoFit/>
          </a:bodyPr>
          <a:lstStyle/>
          <a:p>
            <a:pPr algn="l">
              <a:defRPr sz="700" b="0" i="0">
                <a:solidFill>
                  <a:srgbClr val="1C1C1E"/>
                </a:solidFill>
                <a:latin typeface="Calibri"/>
              </a:defRPr>
            </a:pPr>
            <a:r>
              <a:t>Zendesk + Kendra + Bedrock integration; baseline metrics</a:t>
            </a:r>
          </a:p>
        </p:txBody>
      </p:sp>
      <p:sp>
        <p:nvSpPr>
          <p:cNvPr id="14" name="TextBox 13"/>
          <p:cNvSpPr txBox="1"/>
          <p:nvPr/>
        </p:nvSpPr>
        <p:spPr>
          <a:xfrm>
            <a:off x="731520" y="1947672"/>
            <a:ext cx="2560320" cy="256032"/>
          </a:xfrm>
          <a:prstGeom prst="rect">
            <a:avLst/>
          </a:prstGeom>
          <a:noFill/>
        </p:spPr>
        <p:txBody>
          <a:bodyPr wrap="square">
            <a:spAutoFit/>
          </a:bodyPr>
          <a:lstStyle/>
          <a:p>
            <a:pPr algn="l">
              <a:defRPr sz="900" b="1" i="0">
                <a:solidFill>
                  <a:srgbClr val="1C1C1E"/>
                </a:solidFill>
                <a:latin typeface="Calibri"/>
              </a:defRPr>
            </a:pPr>
            <a:r>
              <a:t>Knowledge Base Indexing</a:t>
            </a:r>
          </a:p>
        </p:txBody>
      </p:sp>
      <p:sp>
        <p:nvSpPr>
          <p:cNvPr id="15" name="Rounded Rectangle 14"/>
          <p:cNvSpPr/>
          <p:nvPr/>
        </p:nvSpPr>
        <p:spPr>
          <a:xfrm>
            <a:off x="3657600" y="1956816"/>
            <a:ext cx="181356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2249424"/>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295144"/>
            <a:ext cx="2560320" cy="256032"/>
          </a:xfrm>
          <a:prstGeom prst="rect">
            <a:avLst/>
          </a:prstGeom>
          <a:noFill/>
        </p:spPr>
        <p:txBody>
          <a:bodyPr wrap="square">
            <a:spAutoFit/>
          </a:bodyPr>
          <a:lstStyle/>
          <a:p>
            <a:pPr algn="l">
              <a:defRPr sz="900" b="1" i="0">
                <a:solidFill>
                  <a:srgbClr val="1C1C1E"/>
                </a:solidFill>
                <a:latin typeface="Calibri"/>
              </a:defRPr>
            </a:pPr>
            <a:r>
              <a:t>AI Draft Rollout (AXS)</a:t>
            </a:r>
          </a:p>
        </p:txBody>
      </p:sp>
      <p:sp>
        <p:nvSpPr>
          <p:cNvPr id="18" name="TextBox 17"/>
          <p:cNvSpPr txBox="1"/>
          <p:nvPr/>
        </p:nvSpPr>
        <p:spPr>
          <a:xfrm>
            <a:off x="3108960" y="2295144"/>
            <a:ext cx="457200" cy="256032"/>
          </a:xfrm>
          <a:prstGeom prst="rect">
            <a:avLst/>
          </a:prstGeom>
          <a:noFill/>
        </p:spPr>
        <p:txBody>
          <a:bodyPr wrap="square">
            <a:spAutoFit/>
          </a:bodyPr>
          <a:lstStyle/>
          <a:p>
            <a:pPr algn="l">
              <a:defRPr sz="800" b="1" i="0">
                <a:solidFill>
                  <a:srgbClr val="E51937"/>
                </a:solidFill>
                <a:latin typeface="Calibri"/>
              </a:defRPr>
            </a:pPr>
            <a:r>
              <a:t>G3</a:t>
            </a:r>
          </a:p>
        </p:txBody>
      </p:sp>
      <p:sp>
        <p:nvSpPr>
          <p:cNvPr id="19" name="Rounded Rectangle 18"/>
          <p:cNvSpPr/>
          <p:nvPr/>
        </p:nvSpPr>
        <p:spPr>
          <a:xfrm>
            <a:off x="5471160" y="2304288"/>
            <a:ext cx="336804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2600" y="2304288"/>
            <a:ext cx="3185160" cy="219456"/>
          </a:xfrm>
          <a:prstGeom prst="rect">
            <a:avLst/>
          </a:prstGeom>
          <a:noFill/>
        </p:spPr>
        <p:txBody>
          <a:bodyPr wrap="square">
            <a:spAutoFit/>
          </a:bodyPr>
          <a:lstStyle/>
          <a:p>
            <a:pPr algn="l">
              <a:defRPr sz="700" b="0" i="0">
                <a:solidFill>
                  <a:srgbClr val="FFFFFF"/>
                </a:solidFill>
                <a:latin typeface="Calibri"/>
              </a:defRPr>
            </a:pPr>
            <a:r>
              <a:t>AI drafts responses; agents review 100%</a:t>
            </a:r>
          </a:p>
        </p:txBody>
      </p:sp>
      <p:sp>
        <p:nvSpPr>
          <p:cNvPr id="21" name="TextBox 20"/>
          <p:cNvSpPr txBox="1"/>
          <p:nvPr/>
        </p:nvSpPr>
        <p:spPr>
          <a:xfrm>
            <a:off x="731520" y="2642616"/>
            <a:ext cx="2560320" cy="256032"/>
          </a:xfrm>
          <a:prstGeom prst="rect">
            <a:avLst/>
          </a:prstGeom>
          <a:noFill/>
        </p:spPr>
        <p:txBody>
          <a:bodyPr wrap="square">
            <a:spAutoFit/>
          </a:bodyPr>
          <a:lstStyle/>
          <a:p>
            <a:pPr algn="l">
              <a:defRPr sz="900" b="1" i="0">
                <a:solidFill>
                  <a:srgbClr val="1C1C1E"/>
                </a:solidFill>
                <a:latin typeface="Calibri"/>
              </a:defRPr>
            </a:pPr>
            <a:r>
              <a:t>AI Draft Rollout (Hammerhead)</a:t>
            </a:r>
          </a:p>
        </p:txBody>
      </p:sp>
      <p:sp>
        <p:nvSpPr>
          <p:cNvPr id="22" name="TextBox 21"/>
          <p:cNvSpPr txBox="1"/>
          <p:nvPr/>
        </p:nvSpPr>
        <p:spPr>
          <a:xfrm>
            <a:off x="3108960" y="2642616"/>
            <a:ext cx="457200" cy="256032"/>
          </a:xfrm>
          <a:prstGeom prst="rect">
            <a:avLst/>
          </a:prstGeom>
          <a:noFill/>
        </p:spPr>
        <p:txBody>
          <a:bodyPr wrap="square">
            <a:spAutoFit/>
          </a:bodyPr>
          <a:lstStyle/>
          <a:p>
            <a:pPr algn="l">
              <a:defRPr sz="800" b="1" i="0">
                <a:solidFill>
                  <a:srgbClr val="E51937"/>
                </a:solidFill>
                <a:latin typeface="Calibri"/>
              </a:defRPr>
            </a:pPr>
            <a:r>
              <a:t>G3</a:t>
            </a:r>
          </a:p>
        </p:txBody>
      </p:sp>
      <p:sp>
        <p:nvSpPr>
          <p:cNvPr id="23" name="Rounded Rectangle 22"/>
          <p:cNvSpPr/>
          <p:nvPr/>
        </p:nvSpPr>
        <p:spPr>
          <a:xfrm>
            <a:off x="6766560" y="2651760"/>
            <a:ext cx="25908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2651760"/>
            <a:ext cx="2407920" cy="219456"/>
          </a:xfrm>
          <a:prstGeom prst="rect">
            <a:avLst/>
          </a:prstGeom>
          <a:noFill/>
        </p:spPr>
        <p:txBody>
          <a:bodyPr wrap="square">
            <a:spAutoFit/>
          </a:bodyPr>
          <a:lstStyle/>
          <a:p>
            <a:pPr algn="l">
              <a:defRPr sz="700" b="0" i="0">
                <a:solidFill>
                  <a:srgbClr val="FFFFFF"/>
                </a:solidFill>
                <a:latin typeface="Calibri"/>
              </a:defRPr>
            </a:pPr>
            <a:r>
              <a:t>Expand to Hammerhead device tickets</a:t>
            </a:r>
          </a:p>
        </p:txBody>
      </p:sp>
      <p:sp>
        <p:nvSpPr>
          <p:cNvPr id="25" name="Rounded Rectangle 24"/>
          <p:cNvSpPr/>
          <p:nvPr/>
        </p:nvSpPr>
        <p:spPr>
          <a:xfrm>
            <a:off x="731520" y="2944368"/>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2990088"/>
            <a:ext cx="2560320" cy="256032"/>
          </a:xfrm>
          <a:prstGeom prst="rect">
            <a:avLst/>
          </a:prstGeom>
          <a:noFill/>
        </p:spPr>
        <p:txBody>
          <a:bodyPr wrap="square">
            <a:spAutoFit/>
          </a:bodyPr>
          <a:lstStyle/>
          <a:p>
            <a:pPr algn="l">
              <a:defRPr sz="900" b="1" i="0">
                <a:solidFill>
                  <a:srgbClr val="1C1C1E"/>
                </a:solidFill>
                <a:latin typeface="Calibri"/>
              </a:defRPr>
            </a:pPr>
            <a:r>
              <a:t>Response Time Tracking</a:t>
            </a:r>
          </a:p>
        </p:txBody>
      </p:sp>
      <p:sp>
        <p:nvSpPr>
          <p:cNvPr id="27" name="TextBox 26"/>
          <p:cNvSpPr txBox="1"/>
          <p:nvPr/>
        </p:nvSpPr>
        <p:spPr>
          <a:xfrm>
            <a:off x="3108960" y="2990088"/>
            <a:ext cx="457200" cy="256032"/>
          </a:xfrm>
          <a:prstGeom prst="rect">
            <a:avLst/>
          </a:prstGeom>
          <a:noFill/>
        </p:spPr>
        <p:txBody>
          <a:bodyPr wrap="square">
            <a:spAutoFit/>
          </a:bodyPr>
          <a:lstStyle/>
          <a:p>
            <a:pPr algn="l">
              <a:defRPr sz="800" b="1" i="0">
                <a:solidFill>
                  <a:srgbClr val="E51937"/>
                </a:solidFill>
                <a:latin typeface="Calibri"/>
              </a:defRPr>
            </a:pPr>
            <a:r>
              <a:t>G1</a:t>
            </a:r>
          </a:p>
        </p:txBody>
      </p:sp>
      <p:sp>
        <p:nvSpPr>
          <p:cNvPr id="28" name="Rounded Rectangle 27"/>
          <p:cNvSpPr/>
          <p:nvPr/>
        </p:nvSpPr>
        <p:spPr>
          <a:xfrm>
            <a:off x="4953000" y="2999232"/>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44440" y="2999232"/>
            <a:ext cx="6294120" cy="219456"/>
          </a:xfrm>
          <a:prstGeom prst="rect">
            <a:avLst/>
          </a:prstGeom>
          <a:noFill/>
        </p:spPr>
        <p:txBody>
          <a:bodyPr wrap="square">
            <a:spAutoFit/>
          </a:bodyPr>
          <a:lstStyle/>
          <a:p>
            <a:pPr algn="l">
              <a:defRPr sz="700" b="0" i="0">
                <a:solidFill>
                  <a:srgbClr val="FFFFFF"/>
                </a:solidFill>
                <a:latin typeface="Calibri"/>
              </a:defRPr>
            </a:pPr>
            <a:r>
              <a:t>Weekly measurement vs. SLA baseline</a:t>
            </a:r>
          </a:p>
        </p:txBody>
      </p:sp>
      <p:sp>
        <p:nvSpPr>
          <p:cNvPr id="30" name="TextBox 29"/>
          <p:cNvSpPr txBox="1"/>
          <p:nvPr/>
        </p:nvSpPr>
        <p:spPr>
          <a:xfrm>
            <a:off x="731520" y="3337560"/>
            <a:ext cx="2560320" cy="256032"/>
          </a:xfrm>
          <a:prstGeom prst="rect">
            <a:avLst/>
          </a:prstGeom>
          <a:noFill/>
        </p:spPr>
        <p:txBody>
          <a:bodyPr wrap="square">
            <a:spAutoFit/>
          </a:bodyPr>
          <a:lstStyle/>
          <a:p>
            <a:pPr algn="l">
              <a:defRPr sz="900" b="1" i="0">
                <a:solidFill>
                  <a:srgbClr val="1C1C1E"/>
                </a:solidFill>
                <a:latin typeface="Calibri"/>
              </a:defRPr>
            </a:pPr>
            <a:r>
              <a:t>Escalation Rate Tracking</a:t>
            </a:r>
          </a:p>
        </p:txBody>
      </p:sp>
      <p:sp>
        <p:nvSpPr>
          <p:cNvPr id="31" name="TextBox 30"/>
          <p:cNvSpPr txBox="1"/>
          <p:nvPr/>
        </p:nvSpPr>
        <p:spPr>
          <a:xfrm>
            <a:off x="3108960" y="3337560"/>
            <a:ext cx="457200" cy="256032"/>
          </a:xfrm>
          <a:prstGeom prst="rect">
            <a:avLst/>
          </a:prstGeom>
          <a:noFill/>
        </p:spPr>
        <p:txBody>
          <a:bodyPr wrap="square">
            <a:spAutoFit/>
          </a:bodyPr>
          <a:lstStyle/>
          <a:p>
            <a:pPr algn="l">
              <a:defRPr sz="800" b="1" i="0">
                <a:solidFill>
                  <a:srgbClr val="E51937"/>
                </a:solidFill>
                <a:latin typeface="Calibri"/>
              </a:defRPr>
            </a:pPr>
            <a:r>
              <a:t>G2</a:t>
            </a:r>
          </a:p>
        </p:txBody>
      </p:sp>
      <p:sp>
        <p:nvSpPr>
          <p:cNvPr id="32" name="Rounded Rectangle 31"/>
          <p:cNvSpPr/>
          <p:nvPr/>
        </p:nvSpPr>
        <p:spPr>
          <a:xfrm>
            <a:off x="4953000" y="3346704"/>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44440" y="3346704"/>
            <a:ext cx="6294120" cy="219456"/>
          </a:xfrm>
          <a:prstGeom prst="rect">
            <a:avLst/>
          </a:prstGeom>
          <a:noFill/>
        </p:spPr>
        <p:txBody>
          <a:bodyPr wrap="square">
            <a:spAutoFit/>
          </a:bodyPr>
          <a:lstStyle/>
          <a:p>
            <a:pPr algn="l">
              <a:defRPr sz="700" b="0" i="0">
                <a:solidFill>
                  <a:srgbClr val="FFFFFF"/>
                </a:solidFill>
                <a:latin typeface="Calibri"/>
              </a:defRPr>
            </a:pPr>
            <a:r>
              <a:t>Weekly measurement vs. baseline</a:t>
            </a:r>
          </a:p>
        </p:txBody>
      </p:sp>
      <p:sp>
        <p:nvSpPr>
          <p:cNvPr id="34" name="Rounded Rectangle 33"/>
          <p:cNvSpPr/>
          <p:nvPr/>
        </p:nvSpPr>
        <p:spPr>
          <a:xfrm>
            <a:off x="731520" y="3639312"/>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3685032"/>
            <a:ext cx="2560320" cy="256032"/>
          </a:xfrm>
          <a:prstGeom prst="rect">
            <a:avLst/>
          </a:prstGeom>
          <a:noFill/>
        </p:spPr>
        <p:txBody>
          <a:bodyPr wrap="square">
            <a:spAutoFit/>
          </a:bodyPr>
          <a:lstStyle/>
          <a:p>
            <a:pPr algn="l">
              <a:defRPr sz="900" b="1" i="0">
                <a:solidFill>
                  <a:srgbClr val="1C1C1E"/>
                </a:solidFill>
                <a:latin typeface="Calibri"/>
              </a:defRPr>
            </a:pPr>
            <a:r>
              <a:t>Throughput Measurement</a:t>
            </a:r>
          </a:p>
        </p:txBody>
      </p:sp>
      <p:sp>
        <p:nvSpPr>
          <p:cNvPr id="36" name="TextBox 35"/>
          <p:cNvSpPr txBox="1"/>
          <p:nvPr/>
        </p:nvSpPr>
        <p:spPr>
          <a:xfrm>
            <a:off x="3108960" y="3685032"/>
            <a:ext cx="457200" cy="256032"/>
          </a:xfrm>
          <a:prstGeom prst="rect">
            <a:avLst/>
          </a:prstGeom>
          <a:noFill/>
        </p:spPr>
        <p:txBody>
          <a:bodyPr wrap="square">
            <a:spAutoFit/>
          </a:bodyPr>
          <a:lstStyle/>
          <a:p>
            <a:pPr algn="l">
              <a:defRPr sz="800" b="1" i="0">
                <a:solidFill>
                  <a:srgbClr val="E51937"/>
                </a:solidFill>
                <a:latin typeface="Calibri"/>
              </a:defRPr>
            </a:pPr>
            <a:r>
              <a:t>G4</a:t>
            </a:r>
          </a:p>
        </p:txBody>
      </p:sp>
      <p:sp>
        <p:nvSpPr>
          <p:cNvPr id="37" name="Rounded Rectangle 36"/>
          <p:cNvSpPr/>
          <p:nvPr/>
        </p:nvSpPr>
        <p:spPr>
          <a:xfrm>
            <a:off x="6248400" y="3694176"/>
            <a:ext cx="51816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39840" y="3694176"/>
            <a:ext cx="4998720" cy="219456"/>
          </a:xfrm>
          <a:prstGeom prst="rect">
            <a:avLst/>
          </a:prstGeom>
          <a:noFill/>
        </p:spPr>
        <p:txBody>
          <a:bodyPr wrap="square">
            <a:spAutoFit/>
          </a:bodyPr>
          <a:lstStyle/>
          <a:p>
            <a:pPr algn="l">
              <a:defRPr sz="700" b="0" i="0">
                <a:solidFill>
                  <a:srgbClr val="FFFFFF"/>
                </a:solidFill>
                <a:latin typeface="Calibri"/>
              </a:defRPr>
            </a:pPr>
            <a:r>
              <a:t>Tickets/agent/day tracked weekly</a:t>
            </a:r>
          </a:p>
        </p:txBody>
      </p:sp>
      <p:sp>
        <p:nvSpPr>
          <p:cNvPr id="39" name="TextBox 38"/>
          <p:cNvSpPr txBox="1"/>
          <p:nvPr/>
        </p:nvSpPr>
        <p:spPr>
          <a:xfrm>
            <a:off x="731520" y="4032504"/>
            <a:ext cx="2560320" cy="256032"/>
          </a:xfrm>
          <a:prstGeom prst="rect">
            <a:avLst/>
          </a:prstGeom>
          <a:noFill/>
        </p:spPr>
        <p:txBody>
          <a:bodyPr wrap="square">
            <a:spAutoFit/>
          </a:bodyPr>
          <a:lstStyle/>
          <a:p>
            <a:pPr algn="l">
              <a:defRPr sz="900" b="1" i="0">
                <a:solidFill>
                  <a:srgbClr val="1C1C1E"/>
                </a:solidFill>
                <a:latin typeface="Calibri"/>
              </a:defRPr>
            </a:pPr>
            <a:r>
              <a:t>CSAT Monitoring</a:t>
            </a:r>
          </a:p>
        </p:txBody>
      </p:sp>
      <p:sp>
        <p:nvSpPr>
          <p:cNvPr id="40" name="TextBox 39"/>
          <p:cNvSpPr txBox="1"/>
          <p:nvPr/>
        </p:nvSpPr>
        <p:spPr>
          <a:xfrm>
            <a:off x="3108960" y="4032504"/>
            <a:ext cx="457200" cy="256032"/>
          </a:xfrm>
          <a:prstGeom prst="rect">
            <a:avLst/>
          </a:prstGeom>
          <a:noFill/>
        </p:spPr>
        <p:txBody>
          <a:bodyPr wrap="square">
            <a:spAutoFit/>
          </a:bodyPr>
          <a:lstStyle/>
          <a:p>
            <a:pPr algn="l">
              <a:defRPr sz="800" b="1" i="0">
                <a:solidFill>
                  <a:srgbClr val="E51937"/>
                </a:solidFill>
                <a:latin typeface="Calibri"/>
              </a:defRPr>
            </a:pPr>
            <a:r>
              <a:t>G5</a:t>
            </a:r>
          </a:p>
        </p:txBody>
      </p:sp>
      <p:sp>
        <p:nvSpPr>
          <p:cNvPr id="41" name="Rounded Rectangle 40"/>
          <p:cNvSpPr/>
          <p:nvPr/>
        </p:nvSpPr>
        <p:spPr>
          <a:xfrm>
            <a:off x="4953000" y="4041648"/>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44440" y="4041648"/>
            <a:ext cx="6294120" cy="219456"/>
          </a:xfrm>
          <a:prstGeom prst="rect">
            <a:avLst/>
          </a:prstGeom>
          <a:noFill/>
        </p:spPr>
        <p:txBody>
          <a:bodyPr wrap="square">
            <a:spAutoFit/>
          </a:bodyPr>
          <a:lstStyle/>
          <a:p>
            <a:pPr algn="l">
              <a:defRPr sz="700" b="0" i="0">
                <a:solidFill>
                  <a:srgbClr val="FFFFFF"/>
                </a:solidFill>
                <a:latin typeface="Calibri"/>
              </a:defRPr>
            </a:pPr>
            <a:r>
              <a:t>No decline for 2 consecutive periods</a:t>
            </a:r>
          </a:p>
        </p:txBody>
      </p:sp>
      <p:sp>
        <p:nvSpPr>
          <p:cNvPr id="43" name="Rounded Rectangle 42"/>
          <p:cNvSpPr/>
          <p:nvPr/>
        </p:nvSpPr>
        <p:spPr>
          <a:xfrm>
            <a:off x="731520" y="4334256"/>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4379976"/>
            <a:ext cx="2560320" cy="256032"/>
          </a:xfrm>
          <a:prstGeom prst="rect">
            <a:avLst/>
          </a:prstGeom>
          <a:noFill/>
        </p:spPr>
        <p:txBody>
          <a:bodyPr wrap="square">
            <a:spAutoFit/>
          </a:bodyPr>
          <a:lstStyle/>
          <a:p>
            <a:pPr algn="l">
              <a:defRPr sz="900" b="1" i="0">
                <a:solidFill>
                  <a:srgbClr val="1C1C1E"/>
                </a:solidFill>
                <a:latin typeface="Calibri"/>
              </a:defRPr>
            </a:pPr>
            <a:r>
              <a:t>Weekly Quality Reviews</a:t>
            </a:r>
          </a:p>
        </p:txBody>
      </p:sp>
      <p:sp>
        <p:nvSpPr>
          <p:cNvPr id="45" name="Rounded Rectangle 44"/>
          <p:cNvSpPr/>
          <p:nvPr/>
        </p:nvSpPr>
        <p:spPr>
          <a:xfrm>
            <a:off x="4953000" y="4389120"/>
            <a:ext cx="6477000" cy="219456"/>
          </a:xfrm>
          <a:prstGeom prst="roundRect">
            <a:avLst>
              <a:gd name="adj" fmla="val 15000"/>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44440" y="4389120"/>
            <a:ext cx="6294120" cy="219456"/>
          </a:xfrm>
          <a:prstGeom prst="rect">
            <a:avLst/>
          </a:prstGeom>
          <a:noFill/>
        </p:spPr>
        <p:txBody>
          <a:bodyPr wrap="square">
            <a:spAutoFit/>
          </a:bodyPr>
          <a:lstStyle/>
          <a:p>
            <a:pPr algn="l">
              <a:defRPr sz="700" b="0" i="0">
                <a:solidFill>
                  <a:srgbClr val="1C1C1E"/>
                </a:solidFill>
                <a:latin typeface="Calibri"/>
              </a:defRPr>
            </a:pPr>
            <a:r>
              <a:t>Rollback trigger if quality drops 2 weeks</a:t>
            </a:r>
          </a:p>
        </p:txBody>
      </p:sp>
      <p:sp>
        <p:nvSpPr>
          <p:cNvPr id="47" name="TextBox 46"/>
          <p:cNvSpPr txBox="1"/>
          <p:nvPr/>
        </p:nvSpPr>
        <p:spPr>
          <a:xfrm>
            <a:off x="731520" y="4727448"/>
            <a:ext cx="2560320" cy="256032"/>
          </a:xfrm>
          <a:prstGeom prst="rect">
            <a:avLst/>
          </a:prstGeom>
          <a:noFill/>
        </p:spPr>
        <p:txBody>
          <a:bodyPr wrap="square">
            <a:spAutoFit/>
          </a:bodyPr>
          <a:lstStyle/>
          <a:p>
            <a:pPr algn="l">
              <a:defRPr sz="900" b="1" i="0">
                <a:solidFill>
                  <a:srgbClr val="1C1C1E"/>
                </a:solidFill>
                <a:latin typeface="Calibri"/>
              </a:defRPr>
            </a:pPr>
            <a:r>
              <a:t>Day-45 Checkpoint</a:t>
            </a:r>
          </a:p>
        </p:txBody>
      </p:sp>
      <p:sp>
        <p:nvSpPr>
          <p:cNvPr id="48" name="Rounded Rectangle 47"/>
          <p:cNvSpPr/>
          <p:nvPr/>
        </p:nvSpPr>
        <p:spPr>
          <a:xfrm>
            <a:off x="7543800" y="4736592"/>
            <a:ext cx="388620" cy="219456"/>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731520" y="5029200"/>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074920"/>
            <a:ext cx="2560320" cy="256032"/>
          </a:xfrm>
          <a:prstGeom prst="rect">
            <a:avLst/>
          </a:prstGeom>
          <a:noFill/>
        </p:spPr>
        <p:txBody>
          <a:bodyPr wrap="square">
            <a:spAutoFit/>
          </a:bodyPr>
          <a:lstStyle/>
          <a:p>
            <a:pPr algn="l">
              <a:defRPr sz="900" b="1" i="0">
                <a:solidFill>
                  <a:srgbClr val="1C1C1E"/>
                </a:solidFill>
                <a:latin typeface="Calibri"/>
              </a:defRPr>
            </a:pPr>
            <a:r>
              <a:t>Day-90 Go/No-Go</a:t>
            </a:r>
          </a:p>
        </p:txBody>
      </p:sp>
      <p:sp>
        <p:nvSpPr>
          <p:cNvPr id="51" name="Rounded Rectangle 50"/>
          <p:cNvSpPr/>
          <p:nvPr/>
        </p:nvSpPr>
        <p:spPr>
          <a:xfrm>
            <a:off x="11041380" y="5084064"/>
            <a:ext cx="388620" cy="219456"/>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20" y="5577840"/>
            <a:ext cx="10058400" cy="228600"/>
          </a:xfrm>
          <a:prstGeom prst="rect">
            <a:avLst/>
          </a:prstGeom>
          <a:noFill/>
        </p:spPr>
        <p:txBody>
          <a:bodyPr wrap="square">
            <a:spAutoFit/>
          </a:bodyPr>
          <a:lstStyle/>
          <a:p>
            <a:pPr algn="ctr">
              <a:defRPr sz="900" b="0" i="0">
                <a:solidFill>
                  <a:srgbClr val="767676"/>
                </a:solidFill>
                <a:latin typeface="Calibri"/>
              </a:defRPr>
            </a:pPr>
            <a:r>
              <a:t>Day-45 checkpoint: scope review if draft acceptance &lt; 50%  |  Day-90: go / no-go decision</a:t>
            </a:r>
          </a:p>
        </p:txBody>
      </p:sp>
      <p:sp>
        <p:nvSpPr>
          <p:cNvPr id="53" name="TextBox 5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54" name="TextBox 5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RETURN</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$10.2M net value in Year 1 on $2.7M spend</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5029200" cy="274320"/>
          </a:xfrm>
          <a:prstGeom prst="rect">
            <a:avLst/>
          </a:prstGeom>
          <a:noFill/>
        </p:spPr>
        <p:txBody>
          <a:bodyPr wrap="square">
            <a:spAutoFit/>
          </a:bodyPr>
          <a:lstStyle/>
          <a:p>
            <a:pPr algn="l">
              <a:defRPr sz="1800" b="1" i="0">
                <a:solidFill>
                  <a:srgbClr val="1C1C1E"/>
                </a:solidFill>
                <a:latin typeface="Calibri"/>
              </a:defRPr>
            </a:pPr>
            <a:r>
              <a:t>Scenario Range</a:t>
            </a:r>
          </a:p>
        </p:txBody>
      </p:sp>
      <p:sp>
        <p:nvSpPr>
          <p:cNvPr id="6" name="TextBox 5"/>
          <p:cNvSpPr txBox="1"/>
          <p:nvPr/>
        </p:nvSpPr>
        <p:spPr>
          <a:xfrm>
            <a:off x="914400" y="2103120"/>
            <a:ext cx="1828800" cy="457200"/>
          </a:xfrm>
          <a:prstGeom prst="rect">
            <a:avLst/>
          </a:prstGeom>
          <a:noFill/>
        </p:spPr>
        <p:txBody>
          <a:bodyPr wrap="square">
            <a:spAutoFit/>
          </a:bodyPr>
          <a:lstStyle/>
          <a:p>
            <a:pPr algn="l">
              <a:defRPr sz="1400" b="0" i="0">
                <a:solidFill>
                  <a:srgbClr val="767676"/>
                </a:solidFill>
                <a:latin typeface="Calibri"/>
              </a:defRPr>
            </a:pPr>
            <a:r>
              <a:t>Conservative</a:t>
            </a:r>
          </a:p>
        </p:txBody>
      </p:sp>
      <p:sp>
        <p:nvSpPr>
          <p:cNvPr id="7" name="TextBox 6"/>
          <p:cNvSpPr txBox="1"/>
          <p:nvPr/>
        </p:nvSpPr>
        <p:spPr>
          <a:xfrm>
            <a:off x="2743200" y="2103120"/>
            <a:ext cx="1645920" cy="457200"/>
          </a:xfrm>
          <a:prstGeom prst="rect">
            <a:avLst/>
          </a:prstGeom>
          <a:noFill/>
        </p:spPr>
        <p:txBody>
          <a:bodyPr wrap="square">
            <a:spAutoFit/>
          </a:bodyPr>
          <a:lstStyle/>
          <a:p>
            <a:pPr algn="l">
              <a:defRPr sz="2400" b="1" i="0">
                <a:solidFill>
                  <a:srgbClr val="1C1C1E"/>
                </a:solidFill>
                <a:latin typeface="Calibri"/>
              </a:defRPr>
            </a:pPr>
            <a:r>
              <a:t>$4.5M</a:t>
            </a:r>
          </a:p>
        </p:txBody>
      </p:sp>
      <p:sp>
        <p:nvSpPr>
          <p:cNvPr id="8" name="TextBox 7"/>
          <p:cNvSpPr txBox="1"/>
          <p:nvPr/>
        </p:nvSpPr>
        <p:spPr>
          <a:xfrm>
            <a:off x="4389120" y="2148840"/>
            <a:ext cx="1097280" cy="365760"/>
          </a:xfrm>
          <a:prstGeom prst="rect">
            <a:avLst/>
          </a:prstGeom>
          <a:noFill/>
        </p:spPr>
        <p:txBody>
          <a:bodyPr wrap="square">
            <a:spAutoFit/>
          </a:bodyPr>
          <a:lstStyle/>
          <a:p>
            <a:pPr algn="l">
              <a:defRPr sz="1300" b="0" i="0">
                <a:solidFill>
                  <a:srgbClr val="767676"/>
                </a:solidFill>
                <a:latin typeface="Calibri"/>
              </a:defRPr>
            </a:pPr>
            <a:r>
              <a:t>2.8x ROI</a:t>
            </a:r>
          </a:p>
        </p:txBody>
      </p:sp>
      <p:sp>
        <p:nvSpPr>
          <p:cNvPr id="9" name="Rounded Rectangle 8"/>
          <p:cNvSpPr/>
          <p:nvPr/>
        </p:nvSpPr>
        <p:spPr>
          <a:xfrm>
            <a:off x="731520" y="2834640"/>
            <a:ext cx="5029200" cy="731520"/>
          </a:xfrm>
          <a:prstGeom prst="roundRect">
            <a:avLst>
              <a:gd name="adj" fmla="val 2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926080"/>
            <a:ext cx="1828800" cy="457200"/>
          </a:xfrm>
          <a:prstGeom prst="rect">
            <a:avLst/>
          </a:prstGeom>
          <a:noFill/>
        </p:spPr>
        <p:txBody>
          <a:bodyPr wrap="square">
            <a:spAutoFit/>
          </a:bodyPr>
          <a:lstStyle/>
          <a:p>
            <a:pPr algn="l">
              <a:defRPr sz="1400" b="0" i="0">
                <a:solidFill>
                  <a:srgbClr val="767676"/>
                </a:solidFill>
                <a:latin typeface="Calibri"/>
              </a:defRPr>
            </a:pPr>
            <a:r>
              <a:t>Expected</a:t>
            </a:r>
          </a:p>
        </p:txBody>
      </p:sp>
      <p:sp>
        <p:nvSpPr>
          <p:cNvPr id="11" name="TextBox 10"/>
          <p:cNvSpPr txBox="1"/>
          <p:nvPr/>
        </p:nvSpPr>
        <p:spPr>
          <a:xfrm>
            <a:off x="2743200" y="2926080"/>
            <a:ext cx="1645920" cy="457200"/>
          </a:xfrm>
          <a:prstGeom prst="rect">
            <a:avLst/>
          </a:prstGeom>
          <a:noFill/>
        </p:spPr>
        <p:txBody>
          <a:bodyPr wrap="square">
            <a:spAutoFit/>
          </a:bodyPr>
          <a:lstStyle/>
          <a:p>
            <a:pPr algn="l">
              <a:defRPr sz="2400" b="1" i="0">
                <a:solidFill>
                  <a:srgbClr val="1C1C1E"/>
                </a:solidFill>
                <a:latin typeface="Calibri"/>
              </a:defRPr>
            </a:pPr>
            <a:r>
              <a:t>$10.2M</a:t>
            </a:r>
          </a:p>
        </p:txBody>
      </p:sp>
      <p:sp>
        <p:nvSpPr>
          <p:cNvPr id="12" name="TextBox 11"/>
          <p:cNvSpPr txBox="1"/>
          <p:nvPr/>
        </p:nvSpPr>
        <p:spPr>
          <a:xfrm>
            <a:off x="4389120" y="2971800"/>
            <a:ext cx="1097280" cy="365760"/>
          </a:xfrm>
          <a:prstGeom prst="rect">
            <a:avLst/>
          </a:prstGeom>
          <a:noFill/>
        </p:spPr>
        <p:txBody>
          <a:bodyPr wrap="square">
            <a:spAutoFit/>
          </a:bodyPr>
          <a:lstStyle/>
          <a:p>
            <a:pPr algn="l">
              <a:defRPr sz="1300" b="0" i="0">
                <a:solidFill>
                  <a:srgbClr val="767676"/>
                </a:solidFill>
                <a:latin typeface="Calibri"/>
              </a:defRPr>
            </a:pPr>
            <a:r>
              <a:t>3.8x ROI</a:t>
            </a:r>
          </a:p>
        </p:txBody>
      </p:sp>
      <p:sp>
        <p:nvSpPr>
          <p:cNvPr id="13" name="TextBox 12"/>
          <p:cNvSpPr txBox="1"/>
          <p:nvPr/>
        </p:nvSpPr>
        <p:spPr>
          <a:xfrm>
            <a:off x="914400" y="3749040"/>
            <a:ext cx="1828800" cy="457200"/>
          </a:xfrm>
          <a:prstGeom prst="rect">
            <a:avLst/>
          </a:prstGeom>
          <a:noFill/>
        </p:spPr>
        <p:txBody>
          <a:bodyPr wrap="square">
            <a:spAutoFit/>
          </a:bodyPr>
          <a:lstStyle/>
          <a:p>
            <a:pPr algn="l">
              <a:defRPr sz="1400" b="0" i="0">
                <a:solidFill>
                  <a:srgbClr val="767676"/>
                </a:solidFill>
                <a:latin typeface="Calibri"/>
              </a:defRPr>
            </a:pPr>
            <a:r>
              <a:t>Upside</a:t>
            </a:r>
          </a:p>
        </p:txBody>
      </p:sp>
      <p:sp>
        <p:nvSpPr>
          <p:cNvPr id="14" name="TextBox 13"/>
          <p:cNvSpPr txBox="1"/>
          <p:nvPr/>
        </p:nvSpPr>
        <p:spPr>
          <a:xfrm>
            <a:off x="2743200" y="3749040"/>
            <a:ext cx="1645920" cy="457200"/>
          </a:xfrm>
          <a:prstGeom prst="rect">
            <a:avLst/>
          </a:prstGeom>
          <a:noFill/>
        </p:spPr>
        <p:txBody>
          <a:bodyPr wrap="square">
            <a:spAutoFit/>
          </a:bodyPr>
          <a:lstStyle/>
          <a:p>
            <a:pPr algn="l">
              <a:defRPr sz="2400" b="1" i="0">
                <a:solidFill>
                  <a:srgbClr val="1C1C1E"/>
                </a:solidFill>
                <a:latin typeface="Calibri"/>
              </a:defRPr>
            </a:pPr>
            <a:r>
              <a:t>$22.5M</a:t>
            </a:r>
          </a:p>
        </p:txBody>
      </p:sp>
      <p:sp>
        <p:nvSpPr>
          <p:cNvPr id="15" name="TextBox 14"/>
          <p:cNvSpPr txBox="1"/>
          <p:nvPr/>
        </p:nvSpPr>
        <p:spPr>
          <a:xfrm>
            <a:off x="4389120" y="3794760"/>
            <a:ext cx="1097280" cy="365760"/>
          </a:xfrm>
          <a:prstGeom prst="rect">
            <a:avLst/>
          </a:prstGeom>
          <a:noFill/>
        </p:spPr>
        <p:txBody>
          <a:bodyPr wrap="square">
            <a:spAutoFit/>
          </a:bodyPr>
          <a:lstStyle/>
          <a:p>
            <a:pPr algn="l">
              <a:defRPr sz="1300" b="0" i="0">
                <a:solidFill>
                  <a:srgbClr val="767676"/>
                </a:solidFill>
                <a:latin typeface="Calibri"/>
              </a:defRPr>
            </a:pPr>
            <a:r>
              <a:t>6.4x ROI</a:t>
            </a:r>
          </a:p>
        </p:txBody>
      </p:sp>
      <p:sp>
        <p:nvSpPr>
          <p:cNvPr id="16" name="TextBox 15"/>
          <p:cNvSpPr txBox="1"/>
          <p:nvPr/>
        </p:nvSpPr>
        <p:spPr>
          <a:xfrm>
            <a:off x="6400800" y="1325880"/>
            <a:ext cx="5029200" cy="274320"/>
          </a:xfrm>
          <a:prstGeom prst="rect">
            <a:avLst/>
          </a:prstGeom>
          <a:noFill/>
        </p:spPr>
        <p:txBody>
          <a:bodyPr wrap="square">
            <a:spAutoFit/>
          </a:bodyPr>
          <a:lstStyle/>
          <a:p>
            <a:pPr algn="l">
              <a:defRPr sz="1600" b="1" i="0">
                <a:solidFill>
                  <a:srgbClr val="1C1C1E"/>
                </a:solidFill>
                <a:latin typeface="Calibri"/>
              </a:defRPr>
            </a:pPr>
            <a:r>
              <a:t>Year-1 Financial Impact (All Phases)</a:t>
            </a:r>
          </a:p>
        </p:txBody>
      </p:sp>
      <p:sp>
        <p:nvSpPr>
          <p:cNvPr id="17" name="Rounded Rectangle 16"/>
          <p:cNvSpPr/>
          <p:nvPr/>
        </p:nvSpPr>
        <p:spPr>
          <a:xfrm>
            <a:off x="6400800" y="1737360"/>
            <a:ext cx="2560320" cy="1097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9400" y="1874520"/>
            <a:ext cx="2103120" cy="228600"/>
          </a:xfrm>
          <a:prstGeom prst="rect">
            <a:avLst/>
          </a:prstGeom>
          <a:noFill/>
        </p:spPr>
        <p:txBody>
          <a:bodyPr wrap="square">
            <a:spAutoFit/>
          </a:bodyPr>
          <a:lstStyle/>
          <a:p>
            <a:pPr algn="l">
              <a:defRPr sz="1000" b="0" i="0">
                <a:solidFill>
                  <a:srgbClr val="767676"/>
                </a:solidFill>
                <a:latin typeface="Calibri"/>
              </a:defRPr>
            </a:pPr>
            <a:r>
              <a:t>NET YEAR-1 VALUE</a:t>
            </a:r>
          </a:p>
        </p:txBody>
      </p:sp>
      <p:sp>
        <p:nvSpPr>
          <p:cNvPr id="19" name="TextBox 18"/>
          <p:cNvSpPr txBox="1"/>
          <p:nvPr/>
        </p:nvSpPr>
        <p:spPr>
          <a:xfrm>
            <a:off x="6629400" y="2103120"/>
            <a:ext cx="2103120" cy="411480"/>
          </a:xfrm>
          <a:prstGeom prst="rect">
            <a:avLst/>
          </a:prstGeom>
          <a:noFill/>
        </p:spPr>
        <p:txBody>
          <a:bodyPr wrap="square">
            <a:spAutoFit/>
          </a:bodyPr>
          <a:lstStyle/>
          <a:p>
            <a:pPr algn="l">
              <a:defRPr sz="2600" b="1" i="0">
                <a:solidFill>
                  <a:srgbClr val="1C1C1E"/>
                </a:solidFill>
                <a:latin typeface="Calibri"/>
              </a:defRPr>
            </a:pPr>
            <a:r>
              <a:t>$10.2M</a:t>
            </a:r>
          </a:p>
        </p:txBody>
      </p:sp>
      <p:sp>
        <p:nvSpPr>
          <p:cNvPr id="20" name="TextBox 19"/>
          <p:cNvSpPr txBox="1"/>
          <p:nvPr/>
        </p:nvSpPr>
        <p:spPr>
          <a:xfrm>
            <a:off x="6629400" y="2560320"/>
            <a:ext cx="2103120" cy="228600"/>
          </a:xfrm>
          <a:prstGeom prst="rect">
            <a:avLst/>
          </a:prstGeom>
          <a:noFill/>
        </p:spPr>
        <p:txBody>
          <a:bodyPr wrap="square">
            <a:spAutoFit/>
          </a:bodyPr>
          <a:lstStyle/>
          <a:p>
            <a:pPr algn="l">
              <a:defRPr sz="900" b="0" i="0">
                <a:solidFill>
                  <a:srgbClr val="767676"/>
                </a:solidFill>
                <a:latin typeface="Calibri"/>
              </a:defRPr>
            </a:pPr>
            <a:r>
              <a:t>Expected case</a:t>
            </a:r>
          </a:p>
        </p:txBody>
      </p:sp>
      <p:sp>
        <p:nvSpPr>
          <p:cNvPr id="21" name="Rounded Rectangle 20"/>
          <p:cNvSpPr/>
          <p:nvPr/>
        </p:nvSpPr>
        <p:spPr>
          <a:xfrm>
            <a:off x="9144000" y="1737360"/>
            <a:ext cx="2560320" cy="1097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1874520"/>
            <a:ext cx="2103120" cy="228600"/>
          </a:xfrm>
          <a:prstGeom prst="rect">
            <a:avLst/>
          </a:prstGeom>
          <a:noFill/>
        </p:spPr>
        <p:txBody>
          <a:bodyPr wrap="square">
            <a:spAutoFit/>
          </a:bodyPr>
          <a:lstStyle/>
          <a:p>
            <a:pPr algn="l">
              <a:defRPr sz="1000" b="0" i="0">
                <a:solidFill>
                  <a:srgbClr val="767676"/>
                </a:solidFill>
                <a:latin typeface="Calibri"/>
              </a:defRPr>
            </a:pPr>
            <a:r>
              <a:t>RETURN ON SPEND</a:t>
            </a:r>
          </a:p>
        </p:txBody>
      </p:sp>
      <p:sp>
        <p:nvSpPr>
          <p:cNvPr id="23" name="TextBox 22"/>
          <p:cNvSpPr txBox="1"/>
          <p:nvPr/>
        </p:nvSpPr>
        <p:spPr>
          <a:xfrm>
            <a:off x="9372600" y="2103120"/>
            <a:ext cx="2103120" cy="411480"/>
          </a:xfrm>
          <a:prstGeom prst="rect">
            <a:avLst/>
          </a:prstGeom>
          <a:noFill/>
        </p:spPr>
        <p:txBody>
          <a:bodyPr wrap="square">
            <a:spAutoFit/>
          </a:bodyPr>
          <a:lstStyle/>
          <a:p>
            <a:pPr algn="l">
              <a:defRPr sz="2600" b="1" i="0">
                <a:solidFill>
                  <a:srgbClr val="1C1C1E"/>
                </a:solidFill>
                <a:latin typeface="Calibri"/>
              </a:defRPr>
            </a:pPr>
            <a:r>
              <a:t>3.8x</a:t>
            </a:r>
          </a:p>
        </p:txBody>
      </p:sp>
      <p:sp>
        <p:nvSpPr>
          <p:cNvPr id="24" name="TextBox 23"/>
          <p:cNvSpPr txBox="1"/>
          <p:nvPr/>
        </p:nvSpPr>
        <p:spPr>
          <a:xfrm>
            <a:off x="9372600" y="2560320"/>
            <a:ext cx="2103120" cy="228600"/>
          </a:xfrm>
          <a:prstGeom prst="rect">
            <a:avLst/>
          </a:prstGeom>
          <a:noFill/>
        </p:spPr>
        <p:txBody>
          <a:bodyPr wrap="square">
            <a:spAutoFit/>
          </a:bodyPr>
          <a:lstStyle/>
          <a:p>
            <a:pPr algn="l">
              <a:defRPr sz="900" b="0" i="0">
                <a:solidFill>
                  <a:srgbClr val="767676"/>
                </a:solidFill>
                <a:latin typeface="Calibri"/>
              </a:defRPr>
            </a:pPr>
            <a:r>
              <a:t>On $2.7M total spend</a:t>
            </a:r>
          </a:p>
        </p:txBody>
      </p:sp>
      <p:sp>
        <p:nvSpPr>
          <p:cNvPr id="25" name="TextBox 24"/>
          <p:cNvSpPr txBox="1"/>
          <p:nvPr/>
        </p:nvSpPr>
        <p:spPr>
          <a:xfrm>
            <a:off x="6400800" y="3017520"/>
            <a:ext cx="5029200" cy="2377440"/>
          </a:xfrm>
          <a:prstGeom prst="rect">
            <a:avLst/>
          </a:prstGeom>
          <a:noFill/>
        </p:spPr>
        <p:txBody>
          <a:bodyPr wrap="square">
            <a:spAutoFit/>
          </a:bodyPr>
          <a:lstStyle/>
          <a:p>
            <a:pPr>
              <a:spcAft>
                <a:spcPts val="519"/>
              </a:spcAft>
              <a:defRPr sz="1300" b="1">
                <a:solidFill>
                  <a:srgbClr val="1C1C1E"/>
                </a:solidFill>
                <a:latin typeface="Calibri"/>
              </a:defRPr>
            </a:pPr>
            <a:r>
              <a:t>Cost Reductions</a:t>
            </a:r>
          </a:p>
          <a:p>
            <a:pPr>
              <a:spcAft>
                <a:spcPts val="439"/>
              </a:spcAft>
              <a:defRPr sz="1100" b="0">
                <a:solidFill>
                  <a:srgbClr val="3A3A3C"/>
                </a:solidFill>
                <a:latin typeface="Calibri"/>
              </a:defRPr>
            </a:pPr>
            <a:r>
              <a:t>Support automation savings: $1.6M</a:t>
            </a:r>
          </a:p>
          <a:p>
            <a:pPr>
              <a:spcAft>
                <a:spcPts val="439"/>
              </a:spcAft>
              <a:defRPr sz="1100" b="0">
                <a:solidFill>
                  <a:srgbClr val="3A3A3C"/>
                </a:solidFill>
                <a:latin typeface="Calibri"/>
              </a:defRPr>
            </a:pPr>
            <a:r>
              <a:t>Demand forecasting savings: $1.6M</a:t>
            </a:r>
          </a:p>
          <a:p>
            <a:pPr>
              <a:spcAft>
                <a:spcPts val="439"/>
              </a:spcAft>
              <a:defRPr sz="1100" b="0">
                <a:solidFill>
                  <a:srgbClr val="3A3A3C"/>
                </a:solidFill>
                <a:latin typeface="Calibri"/>
              </a:defRPr>
            </a:pPr>
            <a:r>
              <a:t>Documentation and translation: $0.24M</a:t>
            </a:r>
          </a:p>
          <a:p>
            <a:pPr>
              <a:spcAft>
                <a:spcPts val="199"/>
              </a:spcAft>
              <a:defRPr sz="500" b="0">
                <a:solidFill>
                  <a:srgbClr val="767676"/>
                </a:solidFill>
                <a:latin typeface="Calibri"/>
              </a:defRPr>
            </a:pPr>
          </a:p>
          <a:p>
            <a:pPr>
              <a:spcAft>
                <a:spcPts val="519"/>
              </a:spcAft>
              <a:defRPr sz="1300" b="1">
                <a:solidFill>
                  <a:srgbClr val="1C1C1E"/>
                </a:solidFill>
                <a:latin typeface="Calibri"/>
              </a:defRPr>
            </a:pPr>
            <a:r>
              <a:t>Revenue Growth</a:t>
            </a:r>
          </a:p>
          <a:p>
            <a:pPr>
              <a:spcAft>
                <a:spcPts val="439"/>
              </a:spcAft>
              <a:defRPr sz="1100" b="0">
                <a:solidFill>
                  <a:srgbClr val="3A3A3C"/>
                </a:solidFill>
                <a:latin typeface="Calibri"/>
              </a:defRPr>
            </a:pPr>
            <a:r>
              <a:t>Customer retention: $3.0M</a:t>
            </a:r>
          </a:p>
          <a:p>
            <a:pPr>
              <a:spcAft>
                <a:spcPts val="439"/>
              </a:spcAft>
              <a:defRPr sz="1100" b="0">
                <a:solidFill>
                  <a:srgbClr val="3A3A3C"/>
                </a:solidFill>
                <a:latin typeface="Calibri"/>
              </a:defRPr>
            </a:pPr>
            <a:r>
              <a:t>Package size increase: $4.0M</a:t>
            </a:r>
          </a:p>
          <a:p>
            <a:pPr>
              <a:spcAft>
                <a:spcPts val="439"/>
              </a:spcAft>
              <a:defRPr sz="1100" b="0">
                <a:solidFill>
                  <a:srgbClr val="3A3A3C"/>
                </a:solidFill>
                <a:latin typeface="Calibri"/>
              </a:defRPr>
            </a:pPr>
            <a:r>
              <a:t>Proposal win rate: $2.5M</a:t>
            </a:r>
          </a:p>
        </p:txBody>
      </p:sp>
      <p:sp>
        <p:nvSpPr>
          <p:cNvPr id="26" name="Rounded Rectangle 25"/>
          <p:cNvSpPr/>
          <p:nvPr/>
        </p:nvSpPr>
        <p:spPr>
          <a:xfrm>
            <a:off x="6400800" y="5303520"/>
            <a:ext cx="5303520" cy="777240"/>
          </a:xfrm>
          <a:prstGeom prst="roundRect">
            <a:avLst>
              <a:gd name="adj" fmla="val 2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5349240"/>
            <a:ext cx="4754880" cy="731520"/>
          </a:xfrm>
          <a:prstGeom prst="rect">
            <a:avLst/>
          </a:prstGeom>
          <a:noFill/>
        </p:spPr>
        <p:txBody>
          <a:bodyPr wrap="square">
            <a:spAutoFit/>
          </a:bodyPr>
          <a:lstStyle/>
          <a:p>
            <a:pPr>
              <a:spcAft>
                <a:spcPts val="359"/>
              </a:spcAft>
              <a:defRPr sz="1200" b="1">
                <a:solidFill>
                  <a:srgbClr val="1C1C1E"/>
                </a:solidFill>
                <a:latin typeface="Calibri"/>
              </a:defRPr>
            </a:pPr>
            <a:r>
              <a:t>Gross value: $12.9M</a:t>
            </a:r>
          </a:p>
          <a:p>
            <a:pPr>
              <a:spcAft>
                <a:spcPts val="329"/>
              </a:spcAft>
              <a:defRPr sz="1100" b="0">
                <a:solidFill>
                  <a:srgbClr val="767676"/>
                </a:solidFill>
                <a:latin typeface="Calibri"/>
              </a:defRPr>
            </a:pPr>
            <a:r>
              <a:t>Setup + operating costs: ($2.7M)</a:t>
            </a:r>
          </a:p>
          <a:p>
            <a:pPr>
              <a:spcAft>
                <a:spcPts val="389"/>
              </a:spcAft>
              <a:defRPr sz="1300" b="1">
                <a:solidFill>
                  <a:srgbClr val="1C1C1E"/>
                </a:solidFill>
                <a:latin typeface="Calibri"/>
              </a:defRPr>
            </a:pPr>
            <a:r>
              <a:t>Net value: $10.2M  |  Return: 3.8x</a:t>
            </a:r>
          </a:p>
        </p:txBody>
      </p:sp>
      <p:sp>
        <p:nvSpPr>
          <p:cNvPr id="28" name="TextBox 27"/>
          <p:cNvSpPr txBox="1"/>
          <p:nvPr/>
        </p:nvSpPr>
        <p:spPr>
          <a:xfrm>
            <a:off x="731520" y="5943600"/>
            <a:ext cx="5029200" cy="228600"/>
          </a:xfrm>
          <a:prstGeom prst="rect">
            <a:avLst/>
          </a:prstGeom>
          <a:noFill/>
        </p:spPr>
        <p:txBody>
          <a:bodyPr wrap="square">
            <a:spAutoFit/>
          </a:bodyPr>
          <a:lstStyle/>
          <a:p>
            <a:pPr algn="l">
              <a:defRPr sz="800" b="0" i="0">
                <a:solidFill>
                  <a:srgbClr val="767676"/>
                </a:solidFill>
                <a:latin typeface="Calibri"/>
              </a:defRPr>
            </a:pPr>
            <a:r>
              <a:t>Estimates based on industry benchmarks, interview data, and SRAM public filings. Full breakdown in Appendix A1.</a:t>
            </a:r>
          </a:p>
        </p:txBody>
      </p:sp>
      <p:sp>
        <p:nvSpPr>
          <p:cNvPr id="29" name="TextBox 28"/>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0" name="TextBox 29"/>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COULD BE</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Hardware company to performance intelligence by 2031</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capability creates a new recurring revenue stream. SRAM's installed base of connected components becomes a platform, not a one-time sale.</a:t>
            </a:r>
          </a:p>
        </p:txBody>
      </p:sp>
      <p:sp>
        <p:nvSpPr>
          <p:cNvPr id="6" name="Rounded Rectangle 5"/>
          <p:cNvSpPr/>
          <p:nvPr/>
        </p:nvSpPr>
        <p:spPr>
          <a:xfrm>
            <a:off x="731520" y="1828800"/>
            <a:ext cx="10698480" cy="137160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28800"/>
            <a:ext cx="50800" cy="13716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38528"/>
            <a:ext cx="3657600" cy="182880"/>
          </a:xfrm>
          <a:prstGeom prst="rect">
            <a:avLst/>
          </a:prstGeom>
          <a:noFill/>
        </p:spPr>
        <p:txBody>
          <a:bodyPr wrap="square">
            <a:spAutoFit/>
          </a:bodyPr>
          <a:lstStyle/>
          <a:p>
            <a:pPr algn="l">
              <a:defRPr sz="1000" b="1" i="0">
                <a:solidFill>
                  <a:srgbClr val="E51937"/>
                </a:solidFill>
                <a:latin typeface="Calibri"/>
              </a:defRPr>
            </a:pPr>
            <a:r>
              <a:t>THE UNLOCK</a:t>
            </a:r>
          </a:p>
        </p:txBody>
      </p:sp>
      <p:sp>
        <p:nvSpPr>
          <p:cNvPr id="9" name="TextBox 8"/>
          <p:cNvSpPr txBox="1"/>
          <p:nvPr/>
        </p:nvSpPr>
        <p:spPr>
          <a:xfrm>
            <a:off x="1097280" y="2194560"/>
            <a:ext cx="4572000" cy="365760"/>
          </a:xfrm>
          <a:prstGeom prst="rect">
            <a:avLst/>
          </a:prstGeom>
          <a:noFill/>
        </p:spPr>
        <p:txBody>
          <a:bodyPr wrap="square">
            <a:spAutoFit/>
          </a:bodyPr>
          <a:lstStyle/>
          <a:p>
            <a:pPr algn="l">
              <a:defRPr sz="2000" b="1" i="0">
                <a:solidFill>
                  <a:srgbClr val="1C1C1E"/>
                </a:solidFill>
                <a:latin typeface="Calibri"/>
              </a:defRPr>
            </a:pPr>
            <a:r>
              <a:t>AXS Intelligence Platform</a:t>
            </a:r>
          </a:p>
        </p:txBody>
      </p:sp>
      <p:sp>
        <p:nvSpPr>
          <p:cNvPr id="10" name="TextBox 9"/>
          <p:cNvSpPr txBox="1"/>
          <p:nvPr/>
        </p:nvSpPr>
        <p:spPr>
          <a:xfrm>
            <a:off x="1097280" y="2651760"/>
            <a:ext cx="9601200" cy="457200"/>
          </a:xfrm>
          <a:prstGeom prst="rect">
            <a:avLst/>
          </a:prstGeom>
          <a:noFill/>
        </p:spPr>
        <p:txBody>
          <a:bodyPr wrap="square">
            <a:spAutoFit/>
          </a:bodyPr>
          <a:lstStyle/>
          <a:p>
            <a:pPr algn="l">
              <a:defRPr sz="1300" b="0" i="0">
                <a:solidFill>
                  <a:srgbClr val="3A3A3C"/>
                </a:solidFill>
                <a:latin typeface="Calibri"/>
              </a:defRPr>
            </a:pPr>
            <a:r>
              <a:t>Unified rider dashboard: power, gearing, suspension, heart rate in one view. No competitor has the product breadth to build this.</a:t>
            </a:r>
          </a:p>
        </p:txBody>
      </p:sp>
      <p:sp>
        <p:nvSpPr>
          <p:cNvPr id="11" name="TextBox 10"/>
          <p:cNvSpPr txBox="1"/>
          <p:nvPr/>
        </p:nvSpPr>
        <p:spPr>
          <a:xfrm>
            <a:off x="7315200" y="2194560"/>
            <a:ext cx="3840480" cy="274320"/>
          </a:xfrm>
          <a:prstGeom prst="rect">
            <a:avLst/>
          </a:prstGeom>
          <a:noFill/>
        </p:spPr>
        <p:txBody>
          <a:bodyPr wrap="square">
            <a:spAutoFit/>
          </a:bodyPr>
          <a:lstStyle/>
          <a:p>
            <a:pPr algn="r">
              <a:defRPr sz="1100" b="1" i="0">
                <a:solidFill>
                  <a:srgbClr val="E51937"/>
                </a:solidFill>
                <a:latin typeface="Calibri"/>
              </a:defRPr>
            </a:pPr>
            <a:r>
              <a:t>NEW REVENUE: Premium subscription tier</a:t>
            </a:r>
          </a:p>
        </p:txBody>
      </p:sp>
      <p:sp>
        <p:nvSpPr>
          <p:cNvPr id="12" name="TextBox 1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13" name="TextBox 1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COULD BE</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Hardware company to performance intelligence by 2031</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capability creates a new recurring revenue stream. SRAM's installed base of connected components becomes a platform, not a one-time sale.</a:t>
            </a:r>
          </a:p>
        </p:txBody>
      </p:sp>
      <p:sp>
        <p:nvSpPr>
          <p:cNvPr id="6" name="Rounded Rectangle 5"/>
          <p:cNvSpPr/>
          <p:nvPr/>
        </p:nvSpPr>
        <p:spPr>
          <a:xfrm>
            <a:off x="731520" y="1828800"/>
            <a:ext cx="10698480" cy="137160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28800"/>
            <a:ext cx="50800" cy="13716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38528"/>
            <a:ext cx="3657600" cy="182880"/>
          </a:xfrm>
          <a:prstGeom prst="rect">
            <a:avLst/>
          </a:prstGeom>
          <a:noFill/>
        </p:spPr>
        <p:txBody>
          <a:bodyPr wrap="square">
            <a:spAutoFit/>
          </a:bodyPr>
          <a:lstStyle/>
          <a:p>
            <a:pPr algn="l">
              <a:defRPr sz="1000" b="1" i="0">
                <a:solidFill>
                  <a:srgbClr val="E51937"/>
                </a:solidFill>
                <a:latin typeface="Calibri"/>
              </a:defRPr>
            </a:pPr>
            <a:r>
              <a:t>THE UNLOCK</a:t>
            </a:r>
          </a:p>
        </p:txBody>
      </p:sp>
      <p:sp>
        <p:nvSpPr>
          <p:cNvPr id="9" name="TextBox 8"/>
          <p:cNvSpPr txBox="1"/>
          <p:nvPr/>
        </p:nvSpPr>
        <p:spPr>
          <a:xfrm>
            <a:off x="1097280" y="2194560"/>
            <a:ext cx="4572000" cy="365760"/>
          </a:xfrm>
          <a:prstGeom prst="rect">
            <a:avLst/>
          </a:prstGeom>
          <a:noFill/>
        </p:spPr>
        <p:txBody>
          <a:bodyPr wrap="square">
            <a:spAutoFit/>
          </a:bodyPr>
          <a:lstStyle/>
          <a:p>
            <a:pPr algn="l">
              <a:defRPr sz="2000" b="1" i="0">
                <a:solidFill>
                  <a:srgbClr val="1C1C1E"/>
                </a:solidFill>
                <a:latin typeface="Calibri"/>
              </a:defRPr>
            </a:pPr>
            <a:r>
              <a:t>AXS Intelligence Platform</a:t>
            </a:r>
          </a:p>
        </p:txBody>
      </p:sp>
      <p:sp>
        <p:nvSpPr>
          <p:cNvPr id="10" name="TextBox 9"/>
          <p:cNvSpPr txBox="1"/>
          <p:nvPr/>
        </p:nvSpPr>
        <p:spPr>
          <a:xfrm>
            <a:off x="1097280" y="2651760"/>
            <a:ext cx="9601200" cy="457200"/>
          </a:xfrm>
          <a:prstGeom prst="rect">
            <a:avLst/>
          </a:prstGeom>
          <a:noFill/>
        </p:spPr>
        <p:txBody>
          <a:bodyPr wrap="square">
            <a:spAutoFit/>
          </a:bodyPr>
          <a:lstStyle/>
          <a:p>
            <a:pPr algn="l">
              <a:defRPr sz="1300" b="0" i="0">
                <a:solidFill>
                  <a:srgbClr val="3A3A3C"/>
                </a:solidFill>
                <a:latin typeface="Calibri"/>
              </a:defRPr>
            </a:pPr>
            <a:r>
              <a:t>Unified rider dashboard: power, gearing, suspension, heart rate in one view. No competitor has the product breadth to build this.</a:t>
            </a:r>
          </a:p>
        </p:txBody>
      </p:sp>
      <p:sp>
        <p:nvSpPr>
          <p:cNvPr id="11" name="TextBox 10"/>
          <p:cNvSpPr txBox="1"/>
          <p:nvPr/>
        </p:nvSpPr>
        <p:spPr>
          <a:xfrm>
            <a:off x="7315200" y="2194560"/>
            <a:ext cx="3840480" cy="274320"/>
          </a:xfrm>
          <a:prstGeom prst="rect">
            <a:avLst/>
          </a:prstGeom>
          <a:noFill/>
        </p:spPr>
        <p:txBody>
          <a:bodyPr wrap="square">
            <a:spAutoFit/>
          </a:bodyPr>
          <a:lstStyle/>
          <a:p>
            <a:pPr algn="r">
              <a:defRPr sz="1100" b="1" i="0">
                <a:solidFill>
                  <a:srgbClr val="E51937"/>
                </a:solidFill>
                <a:latin typeface="Calibri"/>
              </a:defRPr>
            </a:pPr>
            <a:r>
              <a:t>NEW REVENUE: Premium subscription tier</a:t>
            </a:r>
          </a:p>
        </p:txBody>
      </p:sp>
      <p:sp>
        <p:nvSpPr>
          <p:cNvPr id="12" name="Rounded Rectangle 11"/>
          <p:cNvSpPr/>
          <p:nvPr/>
        </p:nvSpPr>
        <p:spPr>
          <a:xfrm>
            <a:off x="7315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94760"/>
            <a:ext cx="2971800" cy="274320"/>
          </a:xfrm>
          <a:prstGeom prst="rect">
            <a:avLst/>
          </a:prstGeom>
          <a:noFill/>
        </p:spPr>
        <p:txBody>
          <a:bodyPr wrap="square">
            <a:spAutoFit/>
          </a:bodyPr>
          <a:lstStyle/>
          <a:p>
            <a:pPr algn="l">
              <a:defRPr sz="1300" b="1" i="0">
                <a:solidFill>
                  <a:srgbClr val="1C1C1E"/>
                </a:solidFill>
                <a:latin typeface="Calibri"/>
              </a:defRPr>
            </a:pPr>
            <a:r>
              <a:t>Predictive Maintenance</a:t>
            </a:r>
          </a:p>
        </p:txBody>
      </p:sp>
      <p:sp>
        <p:nvSpPr>
          <p:cNvPr id="14" name="TextBox 13"/>
          <p:cNvSpPr txBox="1"/>
          <p:nvPr/>
        </p:nvSpPr>
        <p:spPr>
          <a:xfrm>
            <a:off x="960120" y="4114800"/>
            <a:ext cx="2971800" cy="502920"/>
          </a:xfrm>
          <a:prstGeom prst="rect">
            <a:avLst/>
          </a:prstGeom>
          <a:noFill/>
        </p:spPr>
        <p:txBody>
          <a:bodyPr wrap="square">
            <a:spAutoFit/>
          </a:bodyPr>
          <a:lstStyle/>
          <a:p>
            <a:pPr algn="l">
              <a:defRPr sz="1100" b="0" i="0">
                <a:solidFill>
                  <a:srgbClr val="3A3A3C"/>
                </a:solidFill>
                <a:latin typeface="Calibri"/>
              </a:defRPr>
            </a:pPr>
            <a:r>
              <a:t>Connected components predict chain and brake pad replacement before failure. Installed base becomes recurring revenue.</a:t>
            </a:r>
          </a:p>
        </p:txBody>
      </p:sp>
      <p:sp>
        <p:nvSpPr>
          <p:cNvPr id="15" name="TextBox 14"/>
          <p:cNvSpPr txBox="1"/>
          <p:nvPr/>
        </p:nvSpPr>
        <p:spPr>
          <a:xfrm>
            <a:off x="960120" y="4709160"/>
            <a:ext cx="2971800" cy="228600"/>
          </a:xfrm>
          <a:prstGeom prst="rect">
            <a:avLst/>
          </a:prstGeom>
          <a:noFill/>
        </p:spPr>
        <p:txBody>
          <a:bodyPr wrap="square">
            <a:spAutoFit/>
          </a:bodyPr>
          <a:lstStyle/>
          <a:p>
            <a:pPr algn="l">
              <a:defRPr sz="900" b="1" i="0">
                <a:solidFill>
                  <a:srgbClr val="E51937"/>
                </a:solidFill>
                <a:latin typeface="Calibri"/>
              </a:defRPr>
            </a:pPr>
            <a:r>
              <a:t>NEW REVENUE: Per-device monitoring subscription</a:t>
            </a:r>
          </a:p>
        </p:txBody>
      </p:sp>
      <p:sp>
        <p:nvSpPr>
          <p:cNvPr id="16" name="Rounded Rectangle 15"/>
          <p:cNvSpPr/>
          <p:nvPr/>
        </p:nvSpPr>
        <p:spPr>
          <a:xfrm>
            <a:off x="43891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794760"/>
            <a:ext cx="2971800" cy="274320"/>
          </a:xfrm>
          <a:prstGeom prst="rect">
            <a:avLst/>
          </a:prstGeom>
          <a:noFill/>
        </p:spPr>
        <p:txBody>
          <a:bodyPr wrap="square">
            <a:spAutoFit/>
          </a:bodyPr>
          <a:lstStyle/>
          <a:p>
            <a:pPr algn="l">
              <a:defRPr sz="1300" b="1" i="0">
                <a:solidFill>
                  <a:srgbClr val="1C1C1E"/>
                </a:solidFill>
                <a:latin typeface="Calibri"/>
              </a:defRPr>
            </a:pPr>
            <a:r>
              <a:t>AI-Tuned Performance</a:t>
            </a:r>
          </a:p>
        </p:txBody>
      </p:sp>
      <p:sp>
        <p:nvSpPr>
          <p:cNvPr id="18" name="TextBox 17"/>
          <p:cNvSpPr txBox="1"/>
          <p:nvPr/>
        </p:nvSpPr>
        <p:spPr>
          <a:xfrm>
            <a:off x="4617720" y="4114800"/>
            <a:ext cx="2971800" cy="502920"/>
          </a:xfrm>
          <a:prstGeom prst="rect">
            <a:avLst/>
          </a:prstGeom>
          <a:noFill/>
        </p:spPr>
        <p:txBody>
          <a:bodyPr wrap="square">
            <a:spAutoFit/>
          </a:bodyPr>
          <a:lstStyle/>
          <a:p>
            <a:pPr algn="l">
              <a:defRPr sz="1100" b="0" i="0">
                <a:solidFill>
                  <a:srgbClr val="3A3A3C"/>
                </a:solidFill>
                <a:latin typeface="Calibri"/>
              </a:defRPr>
            </a:pPr>
            <a:r>
              <a:t>Suspension auto-adjusts to terrain. Shifting optimizes for rider power. Products improve continuously after purchase.</a:t>
            </a:r>
          </a:p>
        </p:txBody>
      </p:sp>
      <p:sp>
        <p:nvSpPr>
          <p:cNvPr id="19" name="TextBox 18"/>
          <p:cNvSpPr txBox="1"/>
          <p:nvPr/>
        </p:nvSpPr>
        <p:spPr>
          <a:xfrm>
            <a:off x="4617720" y="4709160"/>
            <a:ext cx="2971800" cy="228600"/>
          </a:xfrm>
          <a:prstGeom prst="rect">
            <a:avLst/>
          </a:prstGeom>
          <a:noFill/>
        </p:spPr>
        <p:txBody>
          <a:bodyPr wrap="square">
            <a:spAutoFit/>
          </a:bodyPr>
          <a:lstStyle/>
          <a:p>
            <a:pPr algn="l">
              <a:defRPr sz="900" b="1" i="0">
                <a:solidFill>
                  <a:srgbClr val="E51937"/>
                </a:solidFill>
                <a:latin typeface="Calibri"/>
              </a:defRPr>
            </a:pPr>
            <a:r>
              <a:t>NEW REVENUE: Premium optimization tier</a:t>
            </a:r>
          </a:p>
        </p:txBody>
      </p:sp>
      <p:sp>
        <p:nvSpPr>
          <p:cNvPr id="20" name="Rounded Rectangle 19"/>
          <p:cNvSpPr/>
          <p:nvPr/>
        </p:nvSpPr>
        <p:spPr>
          <a:xfrm>
            <a:off x="80467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5320" y="3794760"/>
            <a:ext cx="2971800" cy="274320"/>
          </a:xfrm>
          <a:prstGeom prst="rect">
            <a:avLst/>
          </a:prstGeom>
          <a:noFill/>
        </p:spPr>
        <p:txBody>
          <a:bodyPr wrap="square">
            <a:spAutoFit/>
          </a:bodyPr>
          <a:lstStyle/>
          <a:p>
            <a:pPr algn="l">
              <a:defRPr sz="1300" b="1" i="0">
                <a:solidFill>
                  <a:srgbClr val="1C1C1E"/>
                </a:solidFill>
                <a:latin typeface="Calibri"/>
              </a:defRPr>
            </a:pPr>
            <a:r>
              <a:t>Dealer Intelligence</a:t>
            </a:r>
          </a:p>
        </p:txBody>
      </p:sp>
      <p:sp>
        <p:nvSpPr>
          <p:cNvPr id="22" name="TextBox 21"/>
          <p:cNvSpPr txBox="1"/>
          <p:nvPr/>
        </p:nvSpPr>
        <p:spPr>
          <a:xfrm>
            <a:off x="8275320" y="4114800"/>
            <a:ext cx="2971800" cy="502920"/>
          </a:xfrm>
          <a:prstGeom prst="rect">
            <a:avLst/>
          </a:prstGeom>
          <a:noFill/>
        </p:spPr>
        <p:txBody>
          <a:bodyPr wrap="square">
            <a:spAutoFit/>
          </a:bodyPr>
          <a:lstStyle/>
          <a:p>
            <a:pPr algn="l">
              <a:defRPr sz="1100" b="0" i="0">
                <a:solidFill>
                  <a:srgbClr val="3A3A3C"/>
                </a:solidFill>
                <a:latin typeface="Calibri"/>
              </a:defRPr>
            </a:pPr>
            <a:r>
              <a:t>Telemetry tells dealers which parts approach end-of-life in their area. Proactive ordering replaces reactive.</a:t>
            </a:r>
          </a:p>
        </p:txBody>
      </p:sp>
      <p:sp>
        <p:nvSpPr>
          <p:cNvPr id="23" name="TextBox 22"/>
          <p:cNvSpPr txBox="1"/>
          <p:nvPr/>
        </p:nvSpPr>
        <p:spPr>
          <a:xfrm>
            <a:off x="8275320" y="4709160"/>
            <a:ext cx="2971800" cy="228600"/>
          </a:xfrm>
          <a:prstGeom prst="rect">
            <a:avLst/>
          </a:prstGeom>
          <a:noFill/>
        </p:spPr>
        <p:txBody>
          <a:bodyPr wrap="square">
            <a:spAutoFit/>
          </a:bodyPr>
          <a:lstStyle/>
          <a:p>
            <a:pPr algn="l">
              <a:defRPr sz="900" b="1" i="0">
                <a:solidFill>
                  <a:srgbClr val="E51937"/>
                </a:solidFill>
                <a:latin typeface="Calibri"/>
              </a:defRPr>
            </a:pPr>
            <a:r>
              <a:t>NEW REVENUE: Dealer analytics license</a:t>
            </a:r>
          </a:p>
        </p:txBody>
      </p:sp>
      <p:sp>
        <p:nvSpPr>
          <p:cNvPr id="24" name="Rounded Rectangle 23"/>
          <p:cNvSpPr/>
          <p:nvPr/>
        </p:nvSpPr>
        <p:spPr>
          <a:xfrm>
            <a:off x="731520" y="5486400"/>
            <a:ext cx="10698480" cy="41148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5486400"/>
            <a:ext cx="50800" cy="41148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5522976"/>
            <a:ext cx="10058400" cy="320040"/>
          </a:xfrm>
          <a:prstGeom prst="rect">
            <a:avLst/>
          </a:prstGeom>
          <a:noFill/>
        </p:spPr>
        <p:txBody>
          <a:bodyPr wrap="square">
            <a:spAutoFit/>
          </a:bodyPr>
          <a:lstStyle/>
          <a:p>
            <a:pPr algn="ctr">
              <a:defRPr sz="1400" b="1" i="0">
                <a:solidFill>
                  <a:srgbClr val="1C1C1E"/>
                </a:solidFill>
                <a:latin typeface="Calibri"/>
              </a:defRPr>
            </a:pPr>
            <a:r>
              <a:t>Hardware sells data access  →  Data improves performance  →  Performance sells hardware</a:t>
            </a:r>
          </a:p>
        </p:txBody>
      </p:sp>
      <p:sp>
        <p:nvSpPr>
          <p:cNvPr id="27" name="TextBox 26"/>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8" name="TextBox 27"/>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IT TAKES</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Talent, data, and leadership required at each phase</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3429000" cy="274320"/>
          </a:xfrm>
          <a:prstGeom prst="rect">
            <a:avLst/>
          </a:prstGeom>
          <a:noFill/>
        </p:spPr>
        <p:txBody>
          <a:bodyPr wrap="square">
            <a:spAutoFit/>
          </a:bodyPr>
          <a:lstStyle/>
          <a:p>
            <a:pPr algn="l">
              <a:defRPr sz="1400" b="1" i="0">
                <a:solidFill>
                  <a:srgbClr val="1C1C1E"/>
                </a:solidFill>
                <a:latin typeface="Calibri"/>
              </a:defRPr>
            </a:pPr>
            <a:r>
              <a:t>TALENT</a:t>
            </a:r>
          </a:p>
        </p:txBody>
      </p:sp>
      <p:sp>
        <p:nvSpPr>
          <p:cNvPr id="6" name="Rounded Rectangle 5"/>
          <p:cNvSpPr/>
          <p:nvPr/>
        </p:nvSpPr>
        <p:spPr>
          <a:xfrm>
            <a:off x="73152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38528"/>
            <a:ext cx="3063240" cy="228600"/>
          </a:xfrm>
          <a:prstGeom prst="rect">
            <a:avLst/>
          </a:prstGeom>
          <a:noFill/>
        </p:spPr>
        <p:txBody>
          <a:bodyPr wrap="square">
            <a:spAutoFit/>
          </a:bodyPr>
          <a:lstStyle/>
          <a:p>
            <a:pPr algn="l">
              <a:defRPr sz="900" b="1" i="0">
                <a:solidFill>
                  <a:srgbClr val="767676"/>
                </a:solidFill>
                <a:latin typeface="Calibri"/>
              </a:defRPr>
            </a:pPr>
            <a:r>
              <a:t>PHASE 1</a:t>
            </a:r>
          </a:p>
        </p:txBody>
      </p:sp>
      <p:sp>
        <p:nvSpPr>
          <p:cNvPr id="8" name="TextBox 7"/>
          <p:cNvSpPr txBox="1"/>
          <p:nvPr/>
        </p:nvSpPr>
        <p:spPr>
          <a:xfrm>
            <a:off x="914400" y="2194560"/>
            <a:ext cx="3063240" cy="1280160"/>
          </a:xfrm>
          <a:prstGeom prst="rect">
            <a:avLst/>
          </a:prstGeom>
          <a:noFill/>
        </p:spPr>
        <p:txBody>
          <a:bodyPr wrap="square">
            <a:spAutoFit/>
          </a:bodyPr>
          <a:lstStyle/>
          <a:p>
            <a:pPr algn="l">
              <a:defRPr sz="1100" b="0" i="0">
                <a:solidFill>
                  <a:srgbClr val="3A3A3C"/>
                </a:solidFill>
                <a:latin typeface="Calibri"/>
              </a:defRPr>
            </a:pPr>
            <a:r>
              <a:t>1 integration engineer + 1 product owner.</a:t>
            </a:r>
            <a:br/>
            <a:r>
              <a:t>No new AI/ML hires. 250-400 existing engineers</a:t>
            </a:r>
            <a:br/>
            <a:r>
              <a:t>have capacity with AI-assisted tooling.</a:t>
            </a:r>
          </a:p>
        </p:txBody>
      </p:sp>
      <p:sp>
        <p:nvSpPr>
          <p:cNvPr id="9" name="Rounded Rectangle 8"/>
          <p:cNvSpPr/>
          <p:nvPr/>
        </p:nvSpPr>
        <p:spPr>
          <a:xfrm>
            <a:off x="73152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50208"/>
            <a:ext cx="3063240" cy="228600"/>
          </a:xfrm>
          <a:prstGeom prst="rect">
            <a:avLst/>
          </a:prstGeom>
          <a:noFill/>
        </p:spPr>
        <p:txBody>
          <a:bodyPr wrap="square">
            <a:spAutoFit/>
          </a:bodyPr>
          <a:lstStyle/>
          <a:p>
            <a:pPr algn="l">
              <a:defRPr sz="900" b="1" i="0">
                <a:solidFill>
                  <a:srgbClr val="767676"/>
                </a:solidFill>
                <a:latin typeface="Calibri"/>
              </a:defRPr>
            </a:pPr>
            <a:r>
              <a:t>PHASE 2+</a:t>
            </a:r>
          </a:p>
        </p:txBody>
      </p:sp>
      <p:sp>
        <p:nvSpPr>
          <p:cNvPr id="11" name="TextBox 10"/>
          <p:cNvSpPr txBox="1"/>
          <p:nvPr/>
        </p:nvSpPr>
        <p:spPr>
          <a:xfrm>
            <a:off x="914400" y="4206240"/>
            <a:ext cx="3063240" cy="1280160"/>
          </a:xfrm>
          <a:prstGeom prst="rect">
            <a:avLst/>
          </a:prstGeom>
          <a:noFill/>
        </p:spPr>
        <p:txBody>
          <a:bodyPr wrap="square">
            <a:spAutoFit/>
          </a:bodyPr>
          <a:lstStyle/>
          <a:p>
            <a:pPr algn="l">
              <a:defRPr sz="1100" b="0" i="0">
                <a:solidFill>
                  <a:srgbClr val="3A3A3C"/>
                </a:solidFill>
                <a:latin typeface="Calibri"/>
              </a:defRPr>
            </a:pPr>
            <a:r>
              <a:t>Add product managers and QA capacity.</a:t>
            </a:r>
            <a:br/>
            <a:r>
              <a:t>The constraint is PM and QA, not developers.</a:t>
            </a:r>
          </a:p>
        </p:txBody>
      </p:sp>
      <p:sp>
        <p:nvSpPr>
          <p:cNvPr id="12" name="TextBox 11"/>
          <p:cNvSpPr txBox="1"/>
          <p:nvPr/>
        </p:nvSpPr>
        <p:spPr>
          <a:xfrm>
            <a:off x="4343400" y="1371600"/>
            <a:ext cx="3429000" cy="274320"/>
          </a:xfrm>
          <a:prstGeom prst="rect">
            <a:avLst/>
          </a:prstGeom>
          <a:noFill/>
        </p:spPr>
        <p:txBody>
          <a:bodyPr wrap="square">
            <a:spAutoFit/>
          </a:bodyPr>
          <a:lstStyle/>
          <a:p>
            <a:pPr algn="l">
              <a:defRPr sz="1400" b="1" i="0">
                <a:solidFill>
                  <a:srgbClr val="1C1C1E"/>
                </a:solidFill>
                <a:latin typeface="Calibri"/>
              </a:defRPr>
            </a:pPr>
            <a:r>
              <a:t>DATA</a:t>
            </a:r>
          </a:p>
        </p:txBody>
      </p:sp>
      <p:sp>
        <p:nvSpPr>
          <p:cNvPr id="13" name="Rounded Rectangle 12"/>
          <p:cNvSpPr/>
          <p:nvPr/>
        </p:nvSpPr>
        <p:spPr>
          <a:xfrm>
            <a:off x="434340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38528"/>
            <a:ext cx="3063240" cy="228600"/>
          </a:xfrm>
          <a:prstGeom prst="rect">
            <a:avLst/>
          </a:prstGeom>
          <a:noFill/>
        </p:spPr>
        <p:txBody>
          <a:bodyPr wrap="square">
            <a:spAutoFit/>
          </a:bodyPr>
          <a:lstStyle/>
          <a:p>
            <a:pPr algn="l">
              <a:defRPr sz="900" b="1" i="0">
                <a:solidFill>
                  <a:srgbClr val="767676"/>
                </a:solidFill>
                <a:latin typeface="Calibri"/>
              </a:defRPr>
            </a:pPr>
            <a:r>
              <a:t>TODAY</a:t>
            </a:r>
          </a:p>
        </p:txBody>
      </p:sp>
      <p:sp>
        <p:nvSpPr>
          <p:cNvPr id="15" name="TextBox 14"/>
          <p:cNvSpPr txBox="1"/>
          <p:nvPr/>
        </p:nvSpPr>
        <p:spPr>
          <a:xfrm>
            <a:off x="4526280" y="2194560"/>
            <a:ext cx="3063240" cy="1280160"/>
          </a:xfrm>
          <a:prstGeom prst="rect">
            <a:avLst/>
          </a:prstGeom>
          <a:noFill/>
        </p:spPr>
        <p:txBody>
          <a:bodyPr wrap="square">
            <a:spAutoFit/>
          </a:bodyPr>
          <a:lstStyle/>
          <a:p>
            <a:pPr algn="l">
              <a:defRPr sz="1100" b="0" i="0">
                <a:solidFill>
                  <a:srgbClr val="3A3A3C"/>
                </a:solidFill>
                <a:latin typeface="Calibri"/>
              </a:defRPr>
            </a:pPr>
            <a:r>
              <a:t>Good data in pockets, messy data everywhere</a:t>
            </a:r>
            <a:br/>
            <a:r>
              <a:t>else. 18 months of consolidation underway.</a:t>
            </a:r>
            <a:br/>
            <a:r>
              <a:t>AXS + Hammerhead data is pilot-ready.</a:t>
            </a:r>
          </a:p>
        </p:txBody>
      </p:sp>
      <p:sp>
        <p:nvSpPr>
          <p:cNvPr id="16" name="Rounded Rectangle 15"/>
          <p:cNvSpPr/>
          <p:nvPr/>
        </p:nvSpPr>
        <p:spPr>
          <a:xfrm>
            <a:off x="434340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950208"/>
            <a:ext cx="3063240" cy="228600"/>
          </a:xfrm>
          <a:prstGeom prst="rect">
            <a:avLst/>
          </a:prstGeom>
          <a:noFill/>
        </p:spPr>
        <p:txBody>
          <a:bodyPr wrap="square">
            <a:spAutoFit/>
          </a:bodyPr>
          <a:lstStyle/>
          <a:p>
            <a:pPr algn="l">
              <a:defRPr sz="900" b="1" i="0">
                <a:solidFill>
                  <a:srgbClr val="767676"/>
                </a:solidFill>
                <a:latin typeface="Calibri"/>
              </a:defRPr>
            </a:pPr>
            <a:r>
              <a:t>NEEDED</a:t>
            </a:r>
          </a:p>
        </p:txBody>
      </p:sp>
      <p:sp>
        <p:nvSpPr>
          <p:cNvPr id="18" name="TextBox 17"/>
          <p:cNvSpPr txBox="1"/>
          <p:nvPr/>
        </p:nvSpPr>
        <p:spPr>
          <a:xfrm>
            <a:off x="4526280" y="4206240"/>
            <a:ext cx="3063240" cy="1280160"/>
          </a:xfrm>
          <a:prstGeom prst="rect">
            <a:avLst/>
          </a:prstGeom>
          <a:noFill/>
        </p:spPr>
        <p:txBody>
          <a:bodyPr wrap="square">
            <a:spAutoFit/>
          </a:bodyPr>
          <a:lstStyle/>
          <a:p>
            <a:pPr algn="l">
              <a:defRPr sz="1100" b="0" i="0">
                <a:solidFill>
                  <a:srgbClr val="3A3A3C"/>
                </a:solidFill>
                <a:latin typeface="Calibri"/>
              </a:defRPr>
            </a:pPr>
            <a:r>
              <a:t>Unified data layer linking CRM, inventory,</a:t>
            </a:r>
            <a:br/>
            <a:r>
              <a:t>and telemetry. Foundation for Phase 2-4.</a:t>
            </a:r>
          </a:p>
        </p:txBody>
      </p:sp>
      <p:sp>
        <p:nvSpPr>
          <p:cNvPr id="19" name="TextBox 18"/>
          <p:cNvSpPr txBox="1"/>
          <p:nvPr/>
        </p:nvSpPr>
        <p:spPr>
          <a:xfrm>
            <a:off x="7955280" y="1371600"/>
            <a:ext cx="3429000" cy="274320"/>
          </a:xfrm>
          <a:prstGeom prst="rect">
            <a:avLst/>
          </a:prstGeom>
          <a:noFill/>
        </p:spPr>
        <p:txBody>
          <a:bodyPr wrap="square">
            <a:spAutoFit/>
          </a:bodyPr>
          <a:lstStyle/>
          <a:p>
            <a:pPr algn="l">
              <a:defRPr sz="1400" b="1" i="0">
                <a:solidFill>
                  <a:srgbClr val="1C1C1E"/>
                </a:solidFill>
                <a:latin typeface="Calibri"/>
              </a:defRPr>
            </a:pPr>
            <a:r>
              <a:t>LEADERSHIP</a:t>
            </a:r>
          </a:p>
        </p:txBody>
      </p:sp>
      <p:sp>
        <p:nvSpPr>
          <p:cNvPr id="20" name="Rounded Rectangle 19"/>
          <p:cNvSpPr/>
          <p:nvPr/>
        </p:nvSpPr>
        <p:spPr>
          <a:xfrm>
            <a:off x="795528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1938528"/>
            <a:ext cx="3063240" cy="228600"/>
          </a:xfrm>
          <a:prstGeom prst="rect">
            <a:avLst/>
          </a:prstGeom>
          <a:noFill/>
        </p:spPr>
        <p:txBody>
          <a:bodyPr wrap="square">
            <a:spAutoFit/>
          </a:bodyPr>
          <a:lstStyle/>
          <a:p>
            <a:pPr algn="l">
              <a:defRPr sz="900" b="1" i="0">
                <a:solidFill>
                  <a:srgbClr val="767676"/>
                </a:solidFill>
                <a:latin typeface="Calibri"/>
              </a:defRPr>
            </a:pPr>
            <a:r>
              <a:t>PHASE 1</a:t>
            </a:r>
          </a:p>
        </p:txBody>
      </p:sp>
      <p:sp>
        <p:nvSpPr>
          <p:cNvPr id="22" name="TextBox 21"/>
          <p:cNvSpPr txBox="1"/>
          <p:nvPr/>
        </p:nvSpPr>
        <p:spPr>
          <a:xfrm>
            <a:off x="8138160" y="2194560"/>
            <a:ext cx="3063240" cy="1280160"/>
          </a:xfrm>
          <a:prstGeom prst="rect">
            <a:avLst/>
          </a:prstGeom>
          <a:noFill/>
        </p:spPr>
        <p:txBody>
          <a:bodyPr wrap="square">
            <a:spAutoFit/>
          </a:bodyPr>
          <a:lstStyle/>
          <a:p>
            <a:pPr algn="l">
              <a:defRPr sz="1100" b="0" i="0">
                <a:solidFill>
                  <a:srgbClr val="3A3A3C"/>
                </a:solidFill>
                <a:latin typeface="Calibri"/>
              </a:defRPr>
            </a:pPr>
            <a:r>
              <a:t>CEO assigns one accountable business owner</a:t>
            </a:r>
            <a:br/>
            <a:r>
              <a:t>with authority over scope and tooling decisions.</a:t>
            </a:r>
            <a:br/>
            <a:r>
              <a:t>Weekly quality reviews.</a:t>
            </a:r>
          </a:p>
        </p:txBody>
      </p:sp>
      <p:sp>
        <p:nvSpPr>
          <p:cNvPr id="23" name="Rounded Rectangle 22"/>
          <p:cNvSpPr/>
          <p:nvPr/>
        </p:nvSpPr>
        <p:spPr>
          <a:xfrm>
            <a:off x="795528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3950208"/>
            <a:ext cx="3063240" cy="228600"/>
          </a:xfrm>
          <a:prstGeom prst="rect">
            <a:avLst/>
          </a:prstGeom>
          <a:noFill/>
        </p:spPr>
        <p:txBody>
          <a:bodyPr wrap="square">
            <a:spAutoFit/>
          </a:bodyPr>
          <a:lstStyle/>
          <a:p>
            <a:pPr algn="l">
              <a:defRPr sz="900" b="1" i="0">
                <a:solidFill>
                  <a:srgbClr val="767676"/>
                </a:solidFill>
                <a:latin typeface="Calibri"/>
              </a:defRPr>
            </a:pPr>
            <a:r>
              <a:t>OPEN QUESTION</a:t>
            </a:r>
          </a:p>
        </p:txBody>
      </p:sp>
      <p:sp>
        <p:nvSpPr>
          <p:cNvPr id="25" name="TextBox 24"/>
          <p:cNvSpPr txBox="1"/>
          <p:nvPr/>
        </p:nvSpPr>
        <p:spPr>
          <a:xfrm>
            <a:off x="8138160" y="4206240"/>
            <a:ext cx="3063240" cy="1280160"/>
          </a:xfrm>
          <a:prstGeom prst="rect">
            <a:avLst/>
          </a:prstGeom>
          <a:noFill/>
        </p:spPr>
        <p:txBody>
          <a:bodyPr wrap="square">
            <a:spAutoFit/>
          </a:bodyPr>
          <a:lstStyle/>
          <a:p>
            <a:pPr algn="l">
              <a:defRPr sz="1100" b="0" i="0">
                <a:solidFill>
                  <a:srgbClr val="3A3A3C"/>
                </a:solidFill>
                <a:latin typeface="Calibri"/>
              </a:defRPr>
            </a:pPr>
            <a:r>
              <a:t>Weber: 'Somebody at the C-suite level</a:t>
            </a:r>
            <a:br/>
            <a:r>
              <a:t>needs to own it. Not as a side responsibility.'</a:t>
            </a:r>
            <a:br/>
            <a:r>
              <a:t>Resolving this is a prerequisite for Phase 2.</a:t>
            </a:r>
          </a:p>
        </p:txBody>
      </p:sp>
      <p:sp>
        <p:nvSpPr>
          <p:cNvPr id="26" name="Rounded Rectangle 25"/>
          <p:cNvSpPr/>
          <p:nvPr/>
        </p:nvSpPr>
        <p:spPr>
          <a:xfrm>
            <a:off x="731520" y="5760720"/>
            <a:ext cx="10698480" cy="6400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5760720"/>
            <a:ext cx="50800" cy="64008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852160"/>
            <a:ext cx="10149840" cy="274320"/>
          </a:xfrm>
          <a:prstGeom prst="rect">
            <a:avLst/>
          </a:prstGeom>
          <a:noFill/>
        </p:spPr>
        <p:txBody>
          <a:bodyPr wrap="square">
            <a:spAutoFit/>
          </a:bodyPr>
          <a:lstStyle/>
          <a:p>
            <a:pPr algn="l">
              <a:defRPr sz="1200" b="0" i="1">
                <a:solidFill>
                  <a:srgbClr val="3A3A3C"/>
                </a:solidFill>
                <a:latin typeface="Calibri"/>
              </a:defRPr>
            </a:pPr>
            <a:r>
              <a:t>“We are 60 to 70 percent of the way to AI-ready data in the AXS and Hammerhead domain.”</a:t>
            </a:r>
          </a:p>
        </p:txBody>
      </p:sp>
      <p:sp>
        <p:nvSpPr>
          <p:cNvPr id="29" name="TextBox 28"/>
          <p:cNvSpPr txBox="1"/>
          <p:nvPr/>
        </p:nvSpPr>
        <p:spPr>
          <a:xfrm>
            <a:off x="1051560" y="6126480"/>
            <a:ext cx="1014984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30" name="TextBox 2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1" name="TextBox 3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TRADE-OFFS</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Three risks worth naming before the decision</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63040"/>
            <a:ext cx="9601200" cy="274320"/>
          </a:xfrm>
          <a:prstGeom prst="rect">
            <a:avLst/>
          </a:prstGeom>
          <a:noFill/>
        </p:spPr>
        <p:txBody>
          <a:bodyPr wrap="square">
            <a:spAutoFit/>
          </a:bodyPr>
          <a:lstStyle/>
          <a:p>
            <a:pPr algn="l">
              <a:defRPr sz="1400" b="1" i="0">
                <a:solidFill>
                  <a:srgbClr val="1C1C1E"/>
                </a:solidFill>
                <a:latin typeface="Calibri"/>
              </a:defRPr>
            </a:pPr>
            <a:r>
              <a:t>Dealer trust is fragile</a:t>
            </a:r>
          </a:p>
        </p:txBody>
      </p:sp>
      <p:sp>
        <p:nvSpPr>
          <p:cNvPr id="8" name="TextBox 7"/>
          <p:cNvSpPr txBox="1"/>
          <p:nvPr/>
        </p:nvSpPr>
        <p:spPr>
          <a:xfrm>
            <a:off x="1097280" y="1783080"/>
            <a:ext cx="9601200" cy="548640"/>
          </a:xfrm>
          <a:prstGeom prst="rect">
            <a:avLst/>
          </a:prstGeom>
          <a:noFill/>
        </p:spPr>
        <p:txBody>
          <a:bodyPr wrap="square">
            <a:spAutoFit/>
          </a:bodyPr>
          <a:lstStyle/>
          <a:p>
            <a:pPr algn="l">
              <a:defRPr sz="1100" b="0" i="0">
                <a:solidFill>
                  <a:srgbClr val="3A3A3C"/>
                </a:solidFill>
                <a:latin typeface="Calibri"/>
              </a:defRPr>
            </a:pPr>
            <a:r>
              <a:t>One confident wrong answer from the AI reaches a dealer, and the support team loses credibility it spent years building. Human-in-the-loop and weekly quality reviews mitigate this, but they also slow throughput gains.</a:t>
            </a:r>
          </a:p>
        </p:txBody>
      </p:sp>
      <p:sp>
        <p:nvSpPr>
          <p:cNvPr id="9" name="TextBox 8"/>
          <p:cNvSpPr txBox="1"/>
          <p:nvPr/>
        </p:nvSpPr>
        <p:spPr>
          <a:xfrm>
            <a:off x="1097280" y="2377440"/>
            <a:ext cx="9601200" cy="228600"/>
          </a:xfrm>
          <a:prstGeom prst="rect">
            <a:avLst/>
          </a:prstGeom>
          <a:noFill/>
        </p:spPr>
        <p:txBody>
          <a:bodyPr wrap="square">
            <a:spAutoFit/>
          </a:bodyPr>
          <a:lstStyle/>
          <a:p>
            <a:pPr algn="l">
              <a:defRPr sz="1000" b="1" i="0">
                <a:solidFill>
                  <a:srgbClr val="767676"/>
                </a:solidFill>
                <a:latin typeface="Calibri"/>
              </a:defRPr>
            </a:pPr>
            <a:r>
              <a:t>MITIGATION: Kill criteria trigger rollback at first safety error</a:t>
            </a:r>
          </a:p>
        </p:txBody>
      </p:sp>
      <p:sp>
        <p:nvSpPr>
          <p:cNvPr id="10" name="Rounded Rectangle 9"/>
          <p:cNvSpPr/>
          <p:nvPr/>
        </p:nvSpPr>
        <p:spPr>
          <a:xfrm>
            <a:off x="731520" y="29718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9718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063240"/>
            <a:ext cx="9601200" cy="274320"/>
          </a:xfrm>
          <a:prstGeom prst="rect">
            <a:avLst/>
          </a:prstGeom>
          <a:noFill/>
        </p:spPr>
        <p:txBody>
          <a:bodyPr wrap="square">
            <a:spAutoFit/>
          </a:bodyPr>
          <a:lstStyle/>
          <a:p>
            <a:pPr algn="l">
              <a:defRPr sz="1400" b="1" i="0">
                <a:solidFill>
                  <a:srgbClr val="1C1C1E"/>
                </a:solidFill>
                <a:latin typeface="Calibri"/>
              </a:defRPr>
            </a:pPr>
            <a:r>
              <a:t>Data consolidation has no executive sponsor</a:t>
            </a:r>
          </a:p>
        </p:txBody>
      </p:sp>
      <p:sp>
        <p:nvSpPr>
          <p:cNvPr id="13" name="TextBox 12"/>
          <p:cNvSpPr txBox="1"/>
          <p:nvPr/>
        </p:nvSpPr>
        <p:spPr>
          <a:xfrm>
            <a:off x="1097280" y="3383280"/>
            <a:ext cx="9601200" cy="548640"/>
          </a:xfrm>
          <a:prstGeom prst="rect">
            <a:avLst/>
          </a:prstGeom>
          <a:noFill/>
        </p:spPr>
        <p:txBody>
          <a:bodyPr wrap="square">
            <a:spAutoFit/>
          </a:bodyPr>
          <a:lstStyle/>
          <a:p>
            <a:pPr algn="l">
              <a:defRPr sz="1100" b="0" i="0">
                <a:solidFill>
                  <a:srgbClr val="3A3A3C"/>
                </a:solidFill>
                <a:latin typeface="Calibri"/>
              </a:defRPr>
            </a:pPr>
            <a:r>
              <a:t>Weber owns sales and manufacturing but not the CRM, ERP, or inventory systems. Phase 2 requires a unified data layer across those systems. Without a senior sponsor, data integration stalls and the pilot stays isolated.</a:t>
            </a:r>
          </a:p>
        </p:txBody>
      </p:sp>
      <p:sp>
        <p:nvSpPr>
          <p:cNvPr id="14" name="TextBox 13"/>
          <p:cNvSpPr txBox="1"/>
          <p:nvPr/>
        </p:nvSpPr>
        <p:spPr>
          <a:xfrm>
            <a:off x="1097280" y="3977640"/>
            <a:ext cx="9601200" cy="228600"/>
          </a:xfrm>
          <a:prstGeom prst="rect">
            <a:avLst/>
          </a:prstGeom>
          <a:noFill/>
        </p:spPr>
        <p:txBody>
          <a:bodyPr wrap="square">
            <a:spAutoFit/>
          </a:bodyPr>
          <a:lstStyle/>
          <a:p>
            <a:pPr algn="l">
              <a:defRPr sz="1000" b="1" i="0">
                <a:solidFill>
                  <a:srgbClr val="767676"/>
                </a:solidFill>
                <a:latin typeface="Calibri"/>
              </a:defRPr>
            </a:pPr>
            <a:r>
              <a:t>MITIGATION: CEO assigns cross-functional data owner in parallel</a:t>
            </a:r>
          </a:p>
        </p:txBody>
      </p:sp>
      <p:sp>
        <p:nvSpPr>
          <p:cNvPr id="15" name="Rounded Rectangle 14"/>
          <p:cNvSpPr/>
          <p:nvPr/>
        </p:nvSpPr>
        <p:spPr>
          <a:xfrm>
            <a:off x="731520" y="45720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5720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63440"/>
            <a:ext cx="9601200" cy="274320"/>
          </a:xfrm>
          <a:prstGeom prst="rect">
            <a:avLst/>
          </a:prstGeom>
          <a:noFill/>
        </p:spPr>
        <p:txBody>
          <a:bodyPr wrap="square">
            <a:spAutoFit/>
          </a:bodyPr>
          <a:lstStyle/>
          <a:p>
            <a:pPr algn="l">
              <a:defRPr sz="1400" b="1" i="0">
                <a:solidFill>
                  <a:srgbClr val="1C1C1E"/>
                </a:solidFill>
                <a:latin typeface="Calibri"/>
              </a:defRPr>
            </a:pPr>
            <a:r>
              <a:t>AI hype creates unrealistic internal expectations</a:t>
            </a:r>
          </a:p>
        </p:txBody>
      </p:sp>
      <p:sp>
        <p:nvSpPr>
          <p:cNvPr id="18" name="TextBox 17"/>
          <p:cNvSpPr txBox="1"/>
          <p:nvPr/>
        </p:nvSpPr>
        <p:spPr>
          <a:xfrm>
            <a:off x="1097280" y="4983480"/>
            <a:ext cx="9601200" cy="548640"/>
          </a:xfrm>
          <a:prstGeom prst="rect">
            <a:avLst/>
          </a:prstGeom>
          <a:noFill/>
        </p:spPr>
        <p:txBody>
          <a:bodyPr wrap="square">
            <a:spAutoFit/>
          </a:bodyPr>
          <a:lstStyle/>
          <a:p>
            <a:pPr algn="l">
              <a:defRPr sz="1100" b="0" i="0">
                <a:solidFill>
                  <a:srgbClr val="3A3A3C"/>
                </a:solidFill>
                <a:latin typeface="Calibri"/>
              </a:defRPr>
            </a:pPr>
            <a:r>
              <a:t>SRAM's engineering culture values precision. If leadership frames AI as a silver bullet rather than a tool, early imperfections will fuel skepticism and internal resistance to future phases.</a:t>
            </a:r>
          </a:p>
        </p:txBody>
      </p:sp>
      <p:sp>
        <p:nvSpPr>
          <p:cNvPr id="19" name="TextBox 18"/>
          <p:cNvSpPr txBox="1"/>
          <p:nvPr/>
        </p:nvSpPr>
        <p:spPr>
          <a:xfrm>
            <a:off x="1097280" y="5577840"/>
            <a:ext cx="9601200" cy="228600"/>
          </a:xfrm>
          <a:prstGeom prst="rect">
            <a:avLst/>
          </a:prstGeom>
          <a:noFill/>
        </p:spPr>
        <p:txBody>
          <a:bodyPr wrap="square">
            <a:spAutoFit/>
          </a:bodyPr>
          <a:lstStyle/>
          <a:p>
            <a:pPr algn="l">
              <a:defRPr sz="1000" b="1" i="0">
                <a:solidFill>
                  <a:srgbClr val="767676"/>
                </a:solidFill>
                <a:latin typeface="Calibri"/>
              </a:defRPr>
            </a:pPr>
            <a:r>
              <a:t>MITIGATION: Frame pilot as experiment with defined success and failure criteria</a:t>
            </a:r>
          </a:p>
        </p:txBody>
      </p:sp>
      <p:sp>
        <p:nvSpPr>
          <p:cNvPr id="20" name="TextBox 1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1" name="TextBox 2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DECISION</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Three actions for SRAM's CEO</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7280" y="160020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1</a:t>
            </a:r>
          </a:p>
        </p:txBody>
      </p:sp>
      <p:sp>
        <p:nvSpPr>
          <p:cNvPr id="7" name="TextBox 6"/>
          <p:cNvSpPr txBox="1"/>
          <p:nvPr/>
        </p:nvSpPr>
        <p:spPr>
          <a:xfrm>
            <a:off x="1828800" y="1463040"/>
            <a:ext cx="8961120" cy="320040"/>
          </a:xfrm>
          <a:prstGeom prst="rect">
            <a:avLst/>
          </a:prstGeom>
          <a:noFill/>
        </p:spPr>
        <p:txBody>
          <a:bodyPr wrap="square">
            <a:spAutoFit/>
          </a:bodyPr>
          <a:lstStyle/>
          <a:p>
            <a:pPr algn="l">
              <a:defRPr sz="1800" b="1" i="0">
                <a:solidFill>
                  <a:srgbClr val="1C1C1E"/>
                </a:solidFill>
                <a:latin typeface="Calibri"/>
              </a:defRPr>
            </a:pPr>
            <a:r>
              <a:t>Launch the 90-Day Support Pilot</a:t>
            </a:r>
          </a:p>
        </p:txBody>
      </p:sp>
      <p:sp>
        <p:nvSpPr>
          <p:cNvPr id="8" name="TextBox 7"/>
          <p:cNvSpPr txBox="1"/>
          <p:nvPr/>
        </p:nvSpPr>
        <p:spPr>
          <a:xfrm>
            <a:off x="1828800" y="1828800"/>
            <a:ext cx="8961120" cy="548640"/>
          </a:xfrm>
          <a:prstGeom prst="rect">
            <a:avLst/>
          </a:prstGeom>
          <a:noFill/>
        </p:spPr>
        <p:txBody>
          <a:bodyPr wrap="square">
            <a:spAutoFit/>
          </a:bodyPr>
          <a:lstStyle/>
          <a:p>
            <a:pPr algn="l">
              <a:defRPr sz="1200" b="0" i="0">
                <a:solidFill>
                  <a:srgbClr val="3A3A3C"/>
                </a:solidFill>
                <a:latin typeface="Calibri"/>
              </a:defRPr>
            </a:pPr>
            <a:r>
              <a:t>AXS and Hammerhead dealer support. One product owner, one integration engineer. Human approval on all outputs. Weekly quality reviews with defined rollback trigger.</a:t>
            </a:r>
          </a:p>
        </p:txBody>
      </p:sp>
      <p:sp>
        <p:nvSpPr>
          <p:cNvPr id="9" name="Rounded Rectangle 8"/>
          <p:cNvSpPr/>
          <p:nvPr/>
        </p:nvSpPr>
        <p:spPr>
          <a:xfrm>
            <a:off x="731520" y="278892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97280" y="301752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2</a:t>
            </a:r>
          </a:p>
        </p:txBody>
      </p:sp>
      <p:sp>
        <p:nvSpPr>
          <p:cNvPr id="11" name="TextBox 10"/>
          <p:cNvSpPr txBox="1"/>
          <p:nvPr/>
        </p:nvSpPr>
        <p:spPr>
          <a:xfrm>
            <a:off x="1828800" y="2880360"/>
            <a:ext cx="8961120" cy="320040"/>
          </a:xfrm>
          <a:prstGeom prst="rect">
            <a:avLst/>
          </a:prstGeom>
          <a:noFill/>
        </p:spPr>
        <p:txBody>
          <a:bodyPr wrap="square">
            <a:spAutoFit/>
          </a:bodyPr>
          <a:lstStyle/>
          <a:p>
            <a:pPr algn="l">
              <a:defRPr sz="1800" b="1" i="0">
                <a:solidFill>
                  <a:srgbClr val="1C1C1E"/>
                </a:solidFill>
                <a:latin typeface="Calibri"/>
              </a:defRPr>
            </a:pPr>
            <a:r>
              <a:t>Begin Data Infrastructure Planning</a:t>
            </a:r>
          </a:p>
        </p:txBody>
      </p:sp>
      <p:sp>
        <p:nvSpPr>
          <p:cNvPr id="12" name="TextBox 11"/>
          <p:cNvSpPr txBox="1"/>
          <p:nvPr/>
        </p:nvSpPr>
        <p:spPr>
          <a:xfrm>
            <a:off x="1828800" y="3246120"/>
            <a:ext cx="8961120" cy="548640"/>
          </a:xfrm>
          <a:prstGeom prst="rect">
            <a:avLst/>
          </a:prstGeom>
          <a:noFill/>
        </p:spPr>
        <p:txBody>
          <a:bodyPr wrap="square">
            <a:spAutoFit/>
          </a:bodyPr>
          <a:lstStyle/>
          <a:p>
            <a:pPr algn="l">
              <a:defRPr sz="1200" b="0" i="0">
                <a:solidFill>
                  <a:srgbClr val="3A3A3C"/>
                </a:solidFill>
                <a:latin typeface="Calibri"/>
              </a:defRPr>
            </a:pPr>
            <a:r>
              <a:t>Unified data layer connecting Shopify, support systems, and telemetry. Foundation for Phase 2 forecasting and Phase 4 AXS Intelligence platform.</a:t>
            </a:r>
          </a:p>
        </p:txBody>
      </p:sp>
      <p:sp>
        <p:nvSpPr>
          <p:cNvPr id="13" name="Rounded Rectangle 12"/>
          <p:cNvSpPr/>
          <p:nvPr/>
        </p:nvSpPr>
        <p:spPr>
          <a:xfrm>
            <a:off x="731520" y="420624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97280" y="443484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3</a:t>
            </a:r>
          </a:p>
        </p:txBody>
      </p:sp>
      <p:sp>
        <p:nvSpPr>
          <p:cNvPr id="15" name="TextBox 14"/>
          <p:cNvSpPr txBox="1"/>
          <p:nvPr/>
        </p:nvSpPr>
        <p:spPr>
          <a:xfrm>
            <a:off x="1828800" y="4297680"/>
            <a:ext cx="8961120" cy="320040"/>
          </a:xfrm>
          <a:prstGeom prst="rect">
            <a:avLst/>
          </a:prstGeom>
          <a:noFill/>
        </p:spPr>
        <p:txBody>
          <a:bodyPr wrap="square">
            <a:spAutoFit/>
          </a:bodyPr>
          <a:lstStyle/>
          <a:p>
            <a:pPr algn="l">
              <a:defRPr sz="1800" b="1" i="0">
                <a:solidFill>
                  <a:srgbClr val="1C1C1E"/>
                </a:solidFill>
                <a:latin typeface="Calibri"/>
              </a:defRPr>
            </a:pPr>
            <a:r>
              <a:t>Hold Sequencing Discipline</a:t>
            </a:r>
          </a:p>
        </p:txBody>
      </p:sp>
      <p:sp>
        <p:nvSpPr>
          <p:cNvPr id="16" name="TextBox 15"/>
          <p:cNvSpPr txBox="1"/>
          <p:nvPr/>
        </p:nvSpPr>
        <p:spPr>
          <a:xfrm>
            <a:off x="1828800" y="4663440"/>
            <a:ext cx="8961120" cy="548640"/>
          </a:xfrm>
          <a:prstGeom prst="rect">
            <a:avLst/>
          </a:prstGeom>
          <a:noFill/>
        </p:spPr>
        <p:txBody>
          <a:bodyPr wrap="square">
            <a:spAutoFit/>
          </a:bodyPr>
          <a:lstStyle/>
          <a:p>
            <a:pPr algn="l">
              <a:defRPr sz="1200" b="0" i="0">
                <a:solidFill>
                  <a:srgbClr val="3A3A3C"/>
                </a:solidFill>
                <a:latin typeface="Calibri"/>
              </a:defRPr>
            </a:pPr>
            <a:r>
              <a:t>Bounded, well-defined problems first. Broader transformation after measured proof. The 90-day pilot produces data to justify or redirect every subsequent investment.</a:t>
            </a:r>
          </a:p>
        </p:txBody>
      </p:sp>
      <p:sp>
        <p:nvSpPr>
          <p:cNvPr id="17" name="Rounded Rectangle 16"/>
          <p:cNvSpPr/>
          <p:nvPr/>
        </p:nvSpPr>
        <p:spPr>
          <a:xfrm>
            <a:off x="731520" y="5715000"/>
            <a:ext cx="10515600" cy="54864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5715000"/>
            <a:ext cx="50800" cy="54864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742432"/>
            <a:ext cx="9601200" cy="502920"/>
          </a:xfrm>
          <a:prstGeom prst="rect">
            <a:avLst/>
          </a:prstGeom>
          <a:noFill/>
        </p:spPr>
        <p:txBody>
          <a:bodyPr wrap="square">
            <a:spAutoFit/>
          </a:bodyPr>
          <a:lstStyle/>
          <a:p>
            <a:pPr>
              <a:spcAft>
                <a:spcPts val="260"/>
              </a:spcAft>
              <a:defRPr sz="1300" b="1">
                <a:solidFill>
                  <a:srgbClr val="1C1C1E"/>
                </a:solidFill>
                <a:latin typeface="Calibri"/>
              </a:defRPr>
            </a:pPr>
            <a:r>
              <a:t>Expected Year-1 return: 3.8x on $2.7M spend</a:t>
            </a:r>
          </a:p>
          <a:p>
            <a:pPr>
              <a:spcAft>
                <a:spcPts val="220"/>
              </a:spcAft>
              <a:defRPr sz="1100" b="0">
                <a:solidFill>
                  <a:srgbClr val="767676"/>
                </a:solidFill>
                <a:latin typeface="Calibri"/>
              </a:defRPr>
            </a:pPr>
            <a:r>
              <a:t>Downside bounded by 90-day pilot  |  Upside scales with SRAM's data advantage</a:t>
            </a:r>
          </a:p>
        </p:txBody>
      </p:sp>
      <p:sp>
        <p:nvSpPr>
          <p:cNvPr id="20" name="TextBox 1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1" name="TextBox 2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Financial detail across three scenarios</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2743200" cy="274320"/>
          </a:xfrm>
          <a:prstGeom prst="rect">
            <a:avLst/>
          </a:prstGeom>
          <a:noFill/>
        </p:spPr>
        <p:txBody>
          <a:bodyPr wrap="square">
            <a:spAutoFit/>
          </a:bodyPr>
          <a:lstStyle/>
          <a:p>
            <a:pPr algn="l">
              <a:defRPr sz="1100" b="1" i="0">
                <a:solidFill>
                  <a:srgbClr val="767676"/>
                </a:solidFill>
                <a:latin typeface="Calibri"/>
              </a:defRPr>
            </a:pPr>
            <a:r>
              <a:t>Category</a:t>
            </a:r>
          </a:p>
        </p:txBody>
      </p:sp>
      <p:sp>
        <p:nvSpPr>
          <p:cNvPr id="6" name="TextBox 5"/>
          <p:cNvSpPr txBox="1"/>
          <p:nvPr/>
        </p:nvSpPr>
        <p:spPr>
          <a:xfrm>
            <a:off x="3474720" y="1371600"/>
            <a:ext cx="2743200" cy="274320"/>
          </a:xfrm>
          <a:prstGeom prst="rect">
            <a:avLst/>
          </a:prstGeom>
          <a:noFill/>
        </p:spPr>
        <p:txBody>
          <a:bodyPr wrap="square">
            <a:spAutoFit/>
          </a:bodyPr>
          <a:lstStyle/>
          <a:p>
            <a:pPr algn="l">
              <a:defRPr sz="1100" b="1" i="0">
                <a:solidFill>
                  <a:srgbClr val="767676"/>
                </a:solidFill>
                <a:latin typeface="Calibri"/>
              </a:defRPr>
            </a:pPr>
            <a:r>
              <a:t>Conservative</a:t>
            </a:r>
          </a:p>
        </p:txBody>
      </p:sp>
      <p:sp>
        <p:nvSpPr>
          <p:cNvPr id="7" name="TextBox 6"/>
          <p:cNvSpPr txBox="1"/>
          <p:nvPr/>
        </p:nvSpPr>
        <p:spPr>
          <a:xfrm>
            <a:off x="6217920" y="1371600"/>
            <a:ext cx="2743200" cy="274320"/>
          </a:xfrm>
          <a:prstGeom prst="rect">
            <a:avLst/>
          </a:prstGeom>
          <a:noFill/>
        </p:spPr>
        <p:txBody>
          <a:bodyPr wrap="square">
            <a:spAutoFit/>
          </a:bodyPr>
          <a:lstStyle/>
          <a:p>
            <a:pPr algn="l">
              <a:defRPr sz="1100" b="1" i="0">
                <a:solidFill>
                  <a:srgbClr val="767676"/>
                </a:solidFill>
                <a:latin typeface="Calibri"/>
              </a:defRPr>
            </a:pPr>
            <a:r>
              <a:t>Expected</a:t>
            </a:r>
          </a:p>
        </p:txBody>
      </p:sp>
      <p:sp>
        <p:nvSpPr>
          <p:cNvPr id="8" name="TextBox 7"/>
          <p:cNvSpPr txBox="1"/>
          <p:nvPr/>
        </p:nvSpPr>
        <p:spPr>
          <a:xfrm>
            <a:off x="8961120" y="1371600"/>
            <a:ext cx="2743200" cy="274320"/>
          </a:xfrm>
          <a:prstGeom prst="rect">
            <a:avLst/>
          </a:prstGeom>
          <a:noFill/>
        </p:spPr>
        <p:txBody>
          <a:bodyPr wrap="square">
            <a:spAutoFit/>
          </a:bodyPr>
          <a:lstStyle/>
          <a:p>
            <a:pPr algn="l">
              <a:defRPr sz="1100" b="1" i="0">
                <a:solidFill>
                  <a:srgbClr val="767676"/>
                </a:solidFill>
                <a:latin typeface="Calibri"/>
              </a:defRPr>
            </a:pPr>
            <a:r>
              <a:t>Upside</a:t>
            </a:r>
          </a:p>
        </p:txBody>
      </p:sp>
      <p:sp>
        <p:nvSpPr>
          <p:cNvPr id="9" name="Rounded Rectangle 8"/>
          <p:cNvSpPr/>
          <p:nvPr/>
        </p:nvSpPr>
        <p:spPr>
          <a:xfrm>
            <a:off x="731520" y="171907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37360"/>
            <a:ext cx="2743200" cy="274320"/>
          </a:xfrm>
          <a:prstGeom prst="rect">
            <a:avLst/>
          </a:prstGeom>
          <a:noFill/>
        </p:spPr>
        <p:txBody>
          <a:bodyPr wrap="square">
            <a:spAutoFit/>
          </a:bodyPr>
          <a:lstStyle/>
          <a:p>
            <a:pPr algn="l">
              <a:defRPr sz="1100" b="0" i="0">
                <a:solidFill>
                  <a:srgbClr val="3A3A3C"/>
                </a:solidFill>
                <a:latin typeface="Calibri"/>
              </a:defRPr>
            </a:pPr>
            <a:r>
              <a:t>Support assistant savings</a:t>
            </a:r>
          </a:p>
        </p:txBody>
      </p:sp>
      <p:sp>
        <p:nvSpPr>
          <p:cNvPr id="11" name="TextBox 10"/>
          <p:cNvSpPr txBox="1"/>
          <p:nvPr/>
        </p:nvSpPr>
        <p:spPr>
          <a:xfrm>
            <a:off x="3474720" y="1737360"/>
            <a:ext cx="2743200" cy="274320"/>
          </a:xfrm>
          <a:prstGeom prst="rect">
            <a:avLst/>
          </a:prstGeom>
          <a:noFill/>
        </p:spPr>
        <p:txBody>
          <a:bodyPr wrap="square">
            <a:spAutoFit/>
          </a:bodyPr>
          <a:lstStyle/>
          <a:p>
            <a:pPr algn="l">
              <a:defRPr sz="1100" b="0" i="0">
                <a:solidFill>
                  <a:srgbClr val="3A3A3C"/>
                </a:solidFill>
                <a:latin typeface="Calibri"/>
              </a:defRPr>
            </a:pPr>
            <a:r>
              <a:t>$0.5M</a:t>
            </a:r>
          </a:p>
        </p:txBody>
      </p:sp>
      <p:sp>
        <p:nvSpPr>
          <p:cNvPr id="12" name="TextBox 11"/>
          <p:cNvSpPr txBox="1"/>
          <p:nvPr/>
        </p:nvSpPr>
        <p:spPr>
          <a:xfrm>
            <a:off x="6217920" y="1737360"/>
            <a:ext cx="2743200" cy="274320"/>
          </a:xfrm>
          <a:prstGeom prst="rect">
            <a:avLst/>
          </a:prstGeom>
          <a:noFill/>
        </p:spPr>
        <p:txBody>
          <a:bodyPr wrap="square">
            <a:spAutoFit/>
          </a:bodyPr>
          <a:lstStyle/>
          <a:p>
            <a:pPr algn="l">
              <a:defRPr sz="1100" b="1" i="0">
                <a:solidFill>
                  <a:srgbClr val="1C1C1E"/>
                </a:solidFill>
                <a:latin typeface="Calibri"/>
              </a:defRPr>
            </a:pPr>
            <a:r>
              <a:t>$1.6M</a:t>
            </a:r>
          </a:p>
        </p:txBody>
      </p:sp>
      <p:sp>
        <p:nvSpPr>
          <p:cNvPr id="13" name="TextBox 12"/>
          <p:cNvSpPr txBox="1"/>
          <p:nvPr/>
        </p:nvSpPr>
        <p:spPr>
          <a:xfrm>
            <a:off x="8961120" y="1737360"/>
            <a:ext cx="2743200" cy="274320"/>
          </a:xfrm>
          <a:prstGeom prst="rect">
            <a:avLst/>
          </a:prstGeom>
          <a:noFill/>
        </p:spPr>
        <p:txBody>
          <a:bodyPr wrap="square">
            <a:spAutoFit/>
          </a:bodyPr>
          <a:lstStyle/>
          <a:p>
            <a:pPr algn="l">
              <a:defRPr sz="1100" b="0" i="0">
                <a:solidFill>
                  <a:srgbClr val="3A3A3C"/>
                </a:solidFill>
                <a:latin typeface="Calibri"/>
              </a:defRPr>
            </a:pPr>
            <a:r>
              <a:t>$4.3M</a:t>
            </a:r>
          </a:p>
        </p:txBody>
      </p:sp>
      <p:sp>
        <p:nvSpPr>
          <p:cNvPr id="14" name="TextBox 13"/>
          <p:cNvSpPr txBox="1"/>
          <p:nvPr/>
        </p:nvSpPr>
        <p:spPr>
          <a:xfrm>
            <a:off x="731520" y="2103120"/>
            <a:ext cx="2743200" cy="274320"/>
          </a:xfrm>
          <a:prstGeom prst="rect">
            <a:avLst/>
          </a:prstGeom>
          <a:noFill/>
        </p:spPr>
        <p:txBody>
          <a:bodyPr wrap="square">
            <a:spAutoFit/>
          </a:bodyPr>
          <a:lstStyle/>
          <a:p>
            <a:pPr algn="l">
              <a:defRPr sz="1100" b="0" i="0">
                <a:solidFill>
                  <a:srgbClr val="3A3A3C"/>
                </a:solidFill>
                <a:latin typeface="Calibri"/>
              </a:defRPr>
            </a:pPr>
            <a:r>
              <a:t>Forecasting + inventory</a:t>
            </a:r>
          </a:p>
        </p:txBody>
      </p:sp>
      <p:sp>
        <p:nvSpPr>
          <p:cNvPr id="15" name="TextBox 14"/>
          <p:cNvSpPr txBox="1"/>
          <p:nvPr/>
        </p:nvSpPr>
        <p:spPr>
          <a:xfrm>
            <a:off x="3474720" y="2103120"/>
            <a:ext cx="2743200" cy="274320"/>
          </a:xfrm>
          <a:prstGeom prst="rect">
            <a:avLst/>
          </a:prstGeom>
          <a:noFill/>
        </p:spPr>
        <p:txBody>
          <a:bodyPr wrap="square">
            <a:spAutoFit/>
          </a:bodyPr>
          <a:lstStyle/>
          <a:p>
            <a:pPr algn="l">
              <a:defRPr sz="1100" b="0" i="0">
                <a:solidFill>
                  <a:srgbClr val="3A3A3C"/>
                </a:solidFill>
                <a:latin typeface="Calibri"/>
              </a:defRPr>
            </a:pPr>
            <a:r>
              <a:t>$0.7M</a:t>
            </a:r>
          </a:p>
        </p:txBody>
      </p:sp>
      <p:sp>
        <p:nvSpPr>
          <p:cNvPr id="16" name="TextBox 15"/>
          <p:cNvSpPr txBox="1"/>
          <p:nvPr/>
        </p:nvSpPr>
        <p:spPr>
          <a:xfrm>
            <a:off x="6217920" y="2103120"/>
            <a:ext cx="2743200" cy="274320"/>
          </a:xfrm>
          <a:prstGeom prst="rect">
            <a:avLst/>
          </a:prstGeom>
          <a:noFill/>
        </p:spPr>
        <p:txBody>
          <a:bodyPr wrap="square">
            <a:spAutoFit/>
          </a:bodyPr>
          <a:lstStyle/>
          <a:p>
            <a:pPr algn="l">
              <a:defRPr sz="1100" b="1" i="0">
                <a:solidFill>
                  <a:srgbClr val="1C1C1E"/>
                </a:solidFill>
                <a:latin typeface="Calibri"/>
              </a:defRPr>
            </a:pPr>
            <a:r>
              <a:t>$1.6M</a:t>
            </a:r>
          </a:p>
        </p:txBody>
      </p:sp>
      <p:sp>
        <p:nvSpPr>
          <p:cNvPr id="17" name="TextBox 16"/>
          <p:cNvSpPr txBox="1"/>
          <p:nvPr/>
        </p:nvSpPr>
        <p:spPr>
          <a:xfrm>
            <a:off x="8961120" y="2103120"/>
            <a:ext cx="2743200" cy="274320"/>
          </a:xfrm>
          <a:prstGeom prst="rect">
            <a:avLst/>
          </a:prstGeom>
          <a:noFill/>
        </p:spPr>
        <p:txBody>
          <a:bodyPr wrap="square">
            <a:spAutoFit/>
          </a:bodyPr>
          <a:lstStyle/>
          <a:p>
            <a:pPr algn="l">
              <a:defRPr sz="1100" b="0" i="0">
                <a:solidFill>
                  <a:srgbClr val="3A3A3C"/>
                </a:solidFill>
                <a:latin typeface="Calibri"/>
              </a:defRPr>
            </a:pPr>
            <a:r>
              <a:t>$4.5M</a:t>
            </a:r>
          </a:p>
        </p:txBody>
      </p:sp>
      <p:sp>
        <p:nvSpPr>
          <p:cNvPr id="18" name="Rounded Rectangle 17"/>
          <p:cNvSpPr/>
          <p:nvPr/>
        </p:nvSpPr>
        <p:spPr>
          <a:xfrm>
            <a:off x="731520" y="245059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468880"/>
            <a:ext cx="2743200" cy="274320"/>
          </a:xfrm>
          <a:prstGeom prst="rect">
            <a:avLst/>
          </a:prstGeom>
          <a:noFill/>
        </p:spPr>
        <p:txBody>
          <a:bodyPr wrap="square">
            <a:spAutoFit/>
          </a:bodyPr>
          <a:lstStyle/>
          <a:p>
            <a:pPr algn="l">
              <a:defRPr sz="1100" b="0" i="0">
                <a:solidFill>
                  <a:srgbClr val="3A3A3C"/>
                </a:solidFill>
                <a:latin typeface="Calibri"/>
              </a:defRPr>
            </a:pPr>
            <a:r>
              <a:t>Documentation + translation</a:t>
            </a:r>
          </a:p>
        </p:txBody>
      </p:sp>
      <p:sp>
        <p:nvSpPr>
          <p:cNvPr id="20" name="TextBox 19"/>
          <p:cNvSpPr txBox="1"/>
          <p:nvPr/>
        </p:nvSpPr>
        <p:spPr>
          <a:xfrm>
            <a:off x="3474720" y="2468880"/>
            <a:ext cx="2743200" cy="274320"/>
          </a:xfrm>
          <a:prstGeom prst="rect">
            <a:avLst/>
          </a:prstGeom>
          <a:noFill/>
        </p:spPr>
        <p:txBody>
          <a:bodyPr wrap="square">
            <a:spAutoFit/>
          </a:bodyPr>
          <a:lstStyle/>
          <a:p>
            <a:pPr algn="l">
              <a:defRPr sz="1100" b="0" i="0">
                <a:solidFill>
                  <a:srgbClr val="3A3A3C"/>
                </a:solidFill>
                <a:latin typeface="Calibri"/>
              </a:defRPr>
            </a:pPr>
            <a:r>
              <a:t>$0.1M</a:t>
            </a:r>
          </a:p>
        </p:txBody>
      </p:sp>
      <p:sp>
        <p:nvSpPr>
          <p:cNvPr id="21" name="TextBox 20"/>
          <p:cNvSpPr txBox="1"/>
          <p:nvPr/>
        </p:nvSpPr>
        <p:spPr>
          <a:xfrm>
            <a:off x="6217920" y="2468880"/>
            <a:ext cx="2743200" cy="274320"/>
          </a:xfrm>
          <a:prstGeom prst="rect">
            <a:avLst/>
          </a:prstGeom>
          <a:noFill/>
        </p:spPr>
        <p:txBody>
          <a:bodyPr wrap="square">
            <a:spAutoFit/>
          </a:bodyPr>
          <a:lstStyle/>
          <a:p>
            <a:pPr algn="l">
              <a:defRPr sz="1100" b="1" i="0">
                <a:solidFill>
                  <a:srgbClr val="1C1C1E"/>
                </a:solidFill>
                <a:latin typeface="Calibri"/>
              </a:defRPr>
            </a:pPr>
            <a:r>
              <a:t>$0.24M</a:t>
            </a:r>
          </a:p>
        </p:txBody>
      </p:sp>
      <p:sp>
        <p:nvSpPr>
          <p:cNvPr id="22" name="TextBox 21"/>
          <p:cNvSpPr txBox="1"/>
          <p:nvPr/>
        </p:nvSpPr>
        <p:spPr>
          <a:xfrm>
            <a:off x="8961120" y="2468880"/>
            <a:ext cx="2743200" cy="274320"/>
          </a:xfrm>
          <a:prstGeom prst="rect">
            <a:avLst/>
          </a:prstGeom>
          <a:noFill/>
        </p:spPr>
        <p:txBody>
          <a:bodyPr wrap="square">
            <a:spAutoFit/>
          </a:bodyPr>
          <a:lstStyle/>
          <a:p>
            <a:pPr algn="l">
              <a:defRPr sz="1100" b="0" i="0">
                <a:solidFill>
                  <a:srgbClr val="3A3A3C"/>
                </a:solidFill>
                <a:latin typeface="Calibri"/>
              </a:defRPr>
            </a:pPr>
            <a:r>
              <a:t>$0.9M</a:t>
            </a:r>
          </a:p>
        </p:txBody>
      </p:sp>
      <p:sp>
        <p:nvSpPr>
          <p:cNvPr id="23" name="TextBox 22"/>
          <p:cNvSpPr txBox="1"/>
          <p:nvPr/>
        </p:nvSpPr>
        <p:spPr>
          <a:xfrm>
            <a:off x="731520" y="2834640"/>
            <a:ext cx="2743200" cy="274320"/>
          </a:xfrm>
          <a:prstGeom prst="rect">
            <a:avLst/>
          </a:prstGeom>
          <a:noFill/>
        </p:spPr>
        <p:txBody>
          <a:bodyPr wrap="square">
            <a:spAutoFit/>
          </a:bodyPr>
          <a:lstStyle/>
          <a:p>
            <a:pPr algn="l">
              <a:defRPr sz="1100" b="0" i="0">
                <a:solidFill>
                  <a:srgbClr val="3A3A3C"/>
                </a:solidFill>
                <a:latin typeface="Calibri"/>
              </a:defRPr>
            </a:pPr>
            <a:r>
              <a:t>Customer retention revenue</a:t>
            </a:r>
          </a:p>
        </p:txBody>
      </p:sp>
      <p:sp>
        <p:nvSpPr>
          <p:cNvPr id="24" name="TextBox 23"/>
          <p:cNvSpPr txBox="1"/>
          <p:nvPr/>
        </p:nvSpPr>
        <p:spPr>
          <a:xfrm>
            <a:off x="3474720" y="2834640"/>
            <a:ext cx="2743200" cy="274320"/>
          </a:xfrm>
          <a:prstGeom prst="rect">
            <a:avLst/>
          </a:prstGeom>
          <a:noFill/>
        </p:spPr>
        <p:txBody>
          <a:bodyPr wrap="square">
            <a:spAutoFit/>
          </a:bodyPr>
          <a:lstStyle/>
          <a:p>
            <a:pPr algn="l">
              <a:defRPr sz="1100" b="0" i="0">
                <a:solidFill>
                  <a:srgbClr val="3A3A3C"/>
                </a:solidFill>
                <a:latin typeface="Calibri"/>
              </a:defRPr>
            </a:pPr>
            <a:r>
              <a:t>$1.5M</a:t>
            </a:r>
          </a:p>
        </p:txBody>
      </p:sp>
      <p:sp>
        <p:nvSpPr>
          <p:cNvPr id="25" name="TextBox 24"/>
          <p:cNvSpPr txBox="1"/>
          <p:nvPr/>
        </p:nvSpPr>
        <p:spPr>
          <a:xfrm>
            <a:off x="6217920" y="2834640"/>
            <a:ext cx="2743200" cy="274320"/>
          </a:xfrm>
          <a:prstGeom prst="rect">
            <a:avLst/>
          </a:prstGeom>
          <a:noFill/>
        </p:spPr>
        <p:txBody>
          <a:bodyPr wrap="square">
            <a:spAutoFit/>
          </a:bodyPr>
          <a:lstStyle/>
          <a:p>
            <a:pPr algn="l">
              <a:defRPr sz="1100" b="1" i="0">
                <a:solidFill>
                  <a:srgbClr val="1C1C1E"/>
                </a:solidFill>
                <a:latin typeface="Calibri"/>
              </a:defRPr>
            </a:pPr>
            <a:r>
              <a:t>$3.0M</a:t>
            </a:r>
          </a:p>
        </p:txBody>
      </p:sp>
      <p:sp>
        <p:nvSpPr>
          <p:cNvPr id="26" name="TextBox 25"/>
          <p:cNvSpPr txBox="1"/>
          <p:nvPr/>
        </p:nvSpPr>
        <p:spPr>
          <a:xfrm>
            <a:off x="8961120" y="2834640"/>
            <a:ext cx="2743200" cy="274320"/>
          </a:xfrm>
          <a:prstGeom prst="rect">
            <a:avLst/>
          </a:prstGeom>
          <a:noFill/>
        </p:spPr>
        <p:txBody>
          <a:bodyPr wrap="square">
            <a:spAutoFit/>
          </a:bodyPr>
          <a:lstStyle/>
          <a:p>
            <a:pPr algn="l">
              <a:defRPr sz="1100" b="0" i="0">
                <a:solidFill>
                  <a:srgbClr val="3A3A3C"/>
                </a:solidFill>
                <a:latin typeface="Calibri"/>
              </a:defRPr>
            </a:pPr>
            <a:r>
              <a:t>$4.5M</a:t>
            </a:r>
          </a:p>
        </p:txBody>
      </p:sp>
      <p:sp>
        <p:nvSpPr>
          <p:cNvPr id="27" name="Rounded Rectangle 26"/>
          <p:cNvSpPr/>
          <p:nvPr/>
        </p:nvSpPr>
        <p:spPr>
          <a:xfrm>
            <a:off x="731520" y="318211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200400"/>
            <a:ext cx="2743200" cy="274320"/>
          </a:xfrm>
          <a:prstGeom prst="rect">
            <a:avLst/>
          </a:prstGeom>
          <a:noFill/>
        </p:spPr>
        <p:txBody>
          <a:bodyPr wrap="square">
            <a:spAutoFit/>
          </a:bodyPr>
          <a:lstStyle/>
          <a:p>
            <a:pPr algn="l">
              <a:defRPr sz="1100" b="0" i="0">
                <a:solidFill>
                  <a:srgbClr val="3A3A3C"/>
                </a:solidFill>
                <a:latin typeface="Calibri"/>
              </a:defRPr>
            </a:pPr>
            <a:r>
              <a:t>Package size increase</a:t>
            </a:r>
          </a:p>
        </p:txBody>
      </p:sp>
      <p:sp>
        <p:nvSpPr>
          <p:cNvPr id="29" name="TextBox 28"/>
          <p:cNvSpPr txBox="1"/>
          <p:nvPr/>
        </p:nvSpPr>
        <p:spPr>
          <a:xfrm>
            <a:off x="3474720" y="3200400"/>
            <a:ext cx="2743200" cy="274320"/>
          </a:xfrm>
          <a:prstGeom prst="rect">
            <a:avLst/>
          </a:prstGeom>
          <a:noFill/>
        </p:spPr>
        <p:txBody>
          <a:bodyPr wrap="square">
            <a:spAutoFit/>
          </a:bodyPr>
          <a:lstStyle/>
          <a:p>
            <a:pPr algn="l">
              <a:defRPr sz="1100" b="0" i="0">
                <a:solidFill>
                  <a:srgbClr val="3A3A3C"/>
                </a:solidFill>
                <a:latin typeface="Calibri"/>
              </a:defRPr>
            </a:pPr>
            <a:r>
              <a:t>$2.0M</a:t>
            </a:r>
          </a:p>
        </p:txBody>
      </p:sp>
      <p:sp>
        <p:nvSpPr>
          <p:cNvPr id="30" name="TextBox 29"/>
          <p:cNvSpPr txBox="1"/>
          <p:nvPr/>
        </p:nvSpPr>
        <p:spPr>
          <a:xfrm>
            <a:off x="6217920" y="3200400"/>
            <a:ext cx="2743200" cy="274320"/>
          </a:xfrm>
          <a:prstGeom prst="rect">
            <a:avLst/>
          </a:prstGeom>
          <a:noFill/>
        </p:spPr>
        <p:txBody>
          <a:bodyPr wrap="square">
            <a:spAutoFit/>
          </a:bodyPr>
          <a:lstStyle/>
          <a:p>
            <a:pPr algn="l">
              <a:defRPr sz="1100" b="1" i="0">
                <a:solidFill>
                  <a:srgbClr val="1C1C1E"/>
                </a:solidFill>
                <a:latin typeface="Calibri"/>
              </a:defRPr>
            </a:pPr>
            <a:r>
              <a:t>$4.0M</a:t>
            </a:r>
          </a:p>
        </p:txBody>
      </p:sp>
      <p:sp>
        <p:nvSpPr>
          <p:cNvPr id="31" name="TextBox 30"/>
          <p:cNvSpPr txBox="1"/>
          <p:nvPr/>
        </p:nvSpPr>
        <p:spPr>
          <a:xfrm>
            <a:off x="8961120" y="3200400"/>
            <a:ext cx="2743200" cy="274320"/>
          </a:xfrm>
          <a:prstGeom prst="rect">
            <a:avLst/>
          </a:prstGeom>
          <a:noFill/>
        </p:spPr>
        <p:txBody>
          <a:bodyPr wrap="square">
            <a:spAutoFit/>
          </a:bodyPr>
          <a:lstStyle/>
          <a:p>
            <a:pPr algn="l">
              <a:defRPr sz="1100" b="0" i="0">
                <a:solidFill>
                  <a:srgbClr val="3A3A3C"/>
                </a:solidFill>
                <a:latin typeface="Calibri"/>
              </a:defRPr>
            </a:pPr>
            <a:r>
              <a:t>$8.0M</a:t>
            </a:r>
          </a:p>
        </p:txBody>
      </p:sp>
      <p:sp>
        <p:nvSpPr>
          <p:cNvPr id="32" name="TextBox 31"/>
          <p:cNvSpPr txBox="1"/>
          <p:nvPr/>
        </p:nvSpPr>
        <p:spPr>
          <a:xfrm>
            <a:off x="731520" y="3566160"/>
            <a:ext cx="2743200" cy="274320"/>
          </a:xfrm>
          <a:prstGeom prst="rect">
            <a:avLst/>
          </a:prstGeom>
          <a:noFill/>
        </p:spPr>
        <p:txBody>
          <a:bodyPr wrap="square">
            <a:spAutoFit/>
          </a:bodyPr>
          <a:lstStyle/>
          <a:p>
            <a:pPr algn="l">
              <a:defRPr sz="1100" b="0" i="0">
                <a:solidFill>
                  <a:srgbClr val="3A3A3C"/>
                </a:solidFill>
                <a:latin typeface="Calibri"/>
              </a:defRPr>
            </a:pPr>
            <a:r>
              <a:t>Proposal win-rate revenue</a:t>
            </a:r>
          </a:p>
        </p:txBody>
      </p:sp>
      <p:sp>
        <p:nvSpPr>
          <p:cNvPr id="33" name="TextBox 32"/>
          <p:cNvSpPr txBox="1"/>
          <p:nvPr/>
        </p:nvSpPr>
        <p:spPr>
          <a:xfrm>
            <a:off x="3474720" y="3566160"/>
            <a:ext cx="2743200" cy="274320"/>
          </a:xfrm>
          <a:prstGeom prst="rect">
            <a:avLst/>
          </a:prstGeom>
          <a:noFill/>
        </p:spPr>
        <p:txBody>
          <a:bodyPr wrap="square">
            <a:spAutoFit/>
          </a:bodyPr>
          <a:lstStyle/>
          <a:p>
            <a:pPr algn="l">
              <a:defRPr sz="1100" b="0" i="0">
                <a:solidFill>
                  <a:srgbClr val="3A3A3C"/>
                </a:solidFill>
                <a:latin typeface="Calibri"/>
              </a:defRPr>
            </a:pPr>
            <a:r>
              <a:t>$1.3M</a:t>
            </a:r>
          </a:p>
        </p:txBody>
      </p:sp>
      <p:sp>
        <p:nvSpPr>
          <p:cNvPr id="34" name="TextBox 33"/>
          <p:cNvSpPr txBox="1"/>
          <p:nvPr/>
        </p:nvSpPr>
        <p:spPr>
          <a:xfrm>
            <a:off x="6217920" y="3566160"/>
            <a:ext cx="2743200" cy="274320"/>
          </a:xfrm>
          <a:prstGeom prst="rect">
            <a:avLst/>
          </a:prstGeom>
          <a:noFill/>
        </p:spPr>
        <p:txBody>
          <a:bodyPr wrap="square">
            <a:spAutoFit/>
          </a:bodyPr>
          <a:lstStyle/>
          <a:p>
            <a:pPr algn="l">
              <a:defRPr sz="1100" b="1" i="0">
                <a:solidFill>
                  <a:srgbClr val="1C1C1E"/>
                </a:solidFill>
                <a:latin typeface="Calibri"/>
              </a:defRPr>
            </a:pPr>
            <a:r>
              <a:t>$2.5M</a:t>
            </a:r>
          </a:p>
        </p:txBody>
      </p:sp>
      <p:sp>
        <p:nvSpPr>
          <p:cNvPr id="35" name="TextBox 34"/>
          <p:cNvSpPr txBox="1"/>
          <p:nvPr/>
        </p:nvSpPr>
        <p:spPr>
          <a:xfrm>
            <a:off x="8961120" y="3566160"/>
            <a:ext cx="2743200" cy="274320"/>
          </a:xfrm>
          <a:prstGeom prst="rect">
            <a:avLst/>
          </a:prstGeom>
          <a:noFill/>
        </p:spPr>
        <p:txBody>
          <a:bodyPr wrap="square">
            <a:spAutoFit/>
          </a:bodyPr>
          <a:lstStyle/>
          <a:p>
            <a:pPr algn="l">
              <a:defRPr sz="1100" b="0" i="0">
                <a:solidFill>
                  <a:srgbClr val="3A3A3C"/>
                </a:solidFill>
                <a:latin typeface="Calibri"/>
              </a:defRPr>
            </a:pPr>
            <a:r>
              <a:t>$3.8M</a:t>
            </a:r>
          </a:p>
        </p:txBody>
      </p:sp>
      <p:sp>
        <p:nvSpPr>
          <p:cNvPr id="36" name="Rectangle 35"/>
          <p:cNvSpPr/>
          <p:nvPr/>
        </p:nvSpPr>
        <p:spPr>
          <a:xfrm>
            <a:off x="731520" y="3931920"/>
            <a:ext cx="10515600" cy="127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4069080"/>
            <a:ext cx="2743200" cy="274320"/>
          </a:xfrm>
          <a:prstGeom prst="rect">
            <a:avLst/>
          </a:prstGeom>
          <a:noFill/>
        </p:spPr>
        <p:txBody>
          <a:bodyPr wrap="square">
            <a:spAutoFit/>
          </a:bodyPr>
          <a:lstStyle/>
          <a:p>
            <a:pPr algn="l">
              <a:defRPr sz="1100" b="0" i="0">
                <a:solidFill>
                  <a:srgbClr val="1C1C1E"/>
                </a:solidFill>
                <a:latin typeface="Calibri"/>
              </a:defRPr>
            </a:pPr>
            <a:r>
              <a:t>Gross value</a:t>
            </a:r>
          </a:p>
        </p:txBody>
      </p:sp>
      <p:sp>
        <p:nvSpPr>
          <p:cNvPr id="38" name="TextBox 37"/>
          <p:cNvSpPr txBox="1"/>
          <p:nvPr/>
        </p:nvSpPr>
        <p:spPr>
          <a:xfrm>
            <a:off x="3474720" y="4069080"/>
            <a:ext cx="2743200" cy="274320"/>
          </a:xfrm>
          <a:prstGeom prst="rect">
            <a:avLst/>
          </a:prstGeom>
          <a:noFill/>
        </p:spPr>
        <p:txBody>
          <a:bodyPr wrap="square">
            <a:spAutoFit/>
          </a:bodyPr>
          <a:lstStyle/>
          <a:p>
            <a:pPr algn="l">
              <a:defRPr sz="1100" b="0" i="0">
                <a:solidFill>
                  <a:srgbClr val="3A3A3C"/>
                </a:solidFill>
                <a:latin typeface="Calibri"/>
              </a:defRPr>
            </a:pPr>
            <a:r>
              <a:t>$6.1M</a:t>
            </a:r>
          </a:p>
        </p:txBody>
      </p:sp>
      <p:sp>
        <p:nvSpPr>
          <p:cNvPr id="39" name="TextBox 38"/>
          <p:cNvSpPr txBox="1"/>
          <p:nvPr/>
        </p:nvSpPr>
        <p:spPr>
          <a:xfrm>
            <a:off x="6217920" y="4069080"/>
            <a:ext cx="2743200" cy="274320"/>
          </a:xfrm>
          <a:prstGeom prst="rect">
            <a:avLst/>
          </a:prstGeom>
          <a:noFill/>
        </p:spPr>
        <p:txBody>
          <a:bodyPr wrap="square">
            <a:spAutoFit/>
          </a:bodyPr>
          <a:lstStyle/>
          <a:p>
            <a:pPr algn="l">
              <a:defRPr sz="1100" b="1" i="0">
                <a:solidFill>
                  <a:srgbClr val="1C1C1E"/>
                </a:solidFill>
                <a:latin typeface="Calibri"/>
              </a:defRPr>
            </a:pPr>
            <a:r>
              <a:t>$12.9M</a:t>
            </a:r>
          </a:p>
        </p:txBody>
      </p:sp>
      <p:sp>
        <p:nvSpPr>
          <p:cNvPr id="40" name="TextBox 39"/>
          <p:cNvSpPr txBox="1"/>
          <p:nvPr/>
        </p:nvSpPr>
        <p:spPr>
          <a:xfrm>
            <a:off x="8961120" y="4069080"/>
            <a:ext cx="2743200" cy="274320"/>
          </a:xfrm>
          <a:prstGeom prst="rect">
            <a:avLst/>
          </a:prstGeom>
          <a:noFill/>
        </p:spPr>
        <p:txBody>
          <a:bodyPr wrap="square">
            <a:spAutoFit/>
          </a:bodyPr>
          <a:lstStyle/>
          <a:p>
            <a:pPr algn="l">
              <a:defRPr sz="1100" b="0" i="0">
                <a:solidFill>
                  <a:srgbClr val="3A3A3C"/>
                </a:solidFill>
                <a:latin typeface="Calibri"/>
              </a:defRPr>
            </a:pPr>
            <a:r>
              <a:t>$26.0M</a:t>
            </a:r>
          </a:p>
        </p:txBody>
      </p:sp>
      <p:sp>
        <p:nvSpPr>
          <p:cNvPr id="41" name="TextBox 40"/>
          <p:cNvSpPr txBox="1"/>
          <p:nvPr/>
        </p:nvSpPr>
        <p:spPr>
          <a:xfrm>
            <a:off x="731520" y="4434840"/>
            <a:ext cx="2743200" cy="274320"/>
          </a:xfrm>
          <a:prstGeom prst="rect">
            <a:avLst/>
          </a:prstGeom>
          <a:noFill/>
        </p:spPr>
        <p:txBody>
          <a:bodyPr wrap="square">
            <a:spAutoFit/>
          </a:bodyPr>
          <a:lstStyle/>
          <a:p>
            <a:pPr algn="l">
              <a:defRPr sz="1100" b="0" i="0">
                <a:solidFill>
                  <a:srgbClr val="1C1C1E"/>
                </a:solidFill>
                <a:latin typeface="Calibri"/>
              </a:defRPr>
            </a:pPr>
            <a:r>
              <a:t>Setup costs</a:t>
            </a:r>
          </a:p>
        </p:txBody>
      </p:sp>
      <p:sp>
        <p:nvSpPr>
          <p:cNvPr id="42" name="TextBox 41"/>
          <p:cNvSpPr txBox="1"/>
          <p:nvPr/>
        </p:nvSpPr>
        <p:spPr>
          <a:xfrm>
            <a:off x="3474720" y="4434840"/>
            <a:ext cx="2743200" cy="274320"/>
          </a:xfrm>
          <a:prstGeom prst="rect">
            <a:avLst/>
          </a:prstGeom>
          <a:noFill/>
        </p:spPr>
        <p:txBody>
          <a:bodyPr wrap="square">
            <a:spAutoFit/>
          </a:bodyPr>
          <a:lstStyle/>
          <a:p>
            <a:pPr algn="l">
              <a:defRPr sz="1100" b="0" i="0">
                <a:solidFill>
                  <a:srgbClr val="3A3A3C"/>
                </a:solidFill>
                <a:latin typeface="Calibri"/>
              </a:defRPr>
            </a:pPr>
            <a:r>
              <a:t>($1.2M)</a:t>
            </a:r>
          </a:p>
        </p:txBody>
      </p:sp>
      <p:sp>
        <p:nvSpPr>
          <p:cNvPr id="43" name="TextBox 42"/>
          <p:cNvSpPr txBox="1"/>
          <p:nvPr/>
        </p:nvSpPr>
        <p:spPr>
          <a:xfrm>
            <a:off x="6217920" y="4434840"/>
            <a:ext cx="2743200" cy="274320"/>
          </a:xfrm>
          <a:prstGeom prst="rect">
            <a:avLst/>
          </a:prstGeom>
          <a:noFill/>
        </p:spPr>
        <p:txBody>
          <a:bodyPr wrap="square">
            <a:spAutoFit/>
          </a:bodyPr>
          <a:lstStyle/>
          <a:p>
            <a:pPr algn="l">
              <a:defRPr sz="1100" b="1" i="0">
                <a:solidFill>
                  <a:srgbClr val="1C1C1E"/>
                </a:solidFill>
                <a:latin typeface="Calibri"/>
              </a:defRPr>
            </a:pPr>
            <a:r>
              <a:t>($2.0M)</a:t>
            </a:r>
          </a:p>
        </p:txBody>
      </p:sp>
      <p:sp>
        <p:nvSpPr>
          <p:cNvPr id="44" name="TextBox 43"/>
          <p:cNvSpPr txBox="1"/>
          <p:nvPr/>
        </p:nvSpPr>
        <p:spPr>
          <a:xfrm>
            <a:off x="8961120" y="4434840"/>
            <a:ext cx="2743200" cy="274320"/>
          </a:xfrm>
          <a:prstGeom prst="rect">
            <a:avLst/>
          </a:prstGeom>
          <a:noFill/>
        </p:spPr>
        <p:txBody>
          <a:bodyPr wrap="square">
            <a:spAutoFit/>
          </a:bodyPr>
          <a:lstStyle/>
          <a:p>
            <a:pPr algn="l">
              <a:defRPr sz="1100" b="0" i="0">
                <a:solidFill>
                  <a:srgbClr val="3A3A3C"/>
                </a:solidFill>
                <a:latin typeface="Calibri"/>
              </a:defRPr>
            </a:pPr>
            <a:r>
              <a:t>($2.5M)</a:t>
            </a:r>
          </a:p>
        </p:txBody>
      </p:sp>
      <p:sp>
        <p:nvSpPr>
          <p:cNvPr id="45" name="TextBox 44"/>
          <p:cNvSpPr txBox="1"/>
          <p:nvPr/>
        </p:nvSpPr>
        <p:spPr>
          <a:xfrm>
            <a:off x="731520" y="4800600"/>
            <a:ext cx="2743200" cy="274320"/>
          </a:xfrm>
          <a:prstGeom prst="rect">
            <a:avLst/>
          </a:prstGeom>
          <a:noFill/>
        </p:spPr>
        <p:txBody>
          <a:bodyPr wrap="square">
            <a:spAutoFit/>
          </a:bodyPr>
          <a:lstStyle/>
          <a:p>
            <a:pPr algn="l">
              <a:defRPr sz="1100" b="0" i="0">
                <a:solidFill>
                  <a:srgbClr val="1C1C1E"/>
                </a:solidFill>
                <a:latin typeface="Calibri"/>
              </a:defRPr>
            </a:pPr>
            <a:r>
              <a:t>Operating costs</a:t>
            </a:r>
          </a:p>
        </p:txBody>
      </p:sp>
      <p:sp>
        <p:nvSpPr>
          <p:cNvPr id="46" name="TextBox 45"/>
          <p:cNvSpPr txBox="1"/>
          <p:nvPr/>
        </p:nvSpPr>
        <p:spPr>
          <a:xfrm>
            <a:off x="3474720" y="4800600"/>
            <a:ext cx="2743200" cy="274320"/>
          </a:xfrm>
          <a:prstGeom prst="rect">
            <a:avLst/>
          </a:prstGeom>
          <a:noFill/>
        </p:spPr>
        <p:txBody>
          <a:bodyPr wrap="square">
            <a:spAutoFit/>
          </a:bodyPr>
          <a:lstStyle/>
          <a:p>
            <a:pPr algn="l">
              <a:defRPr sz="1100" b="0" i="0">
                <a:solidFill>
                  <a:srgbClr val="3A3A3C"/>
                </a:solidFill>
                <a:latin typeface="Calibri"/>
              </a:defRPr>
            </a:pPr>
            <a:r>
              <a:t>($0.4M)</a:t>
            </a:r>
          </a:p>
        </p:txBody>
      </p:sp>
      <p:sp>
        <p:nvSpPr>
          <p:cNvPr id="47" name="TextBox 46"/>
          <p:cNvSpPr txBox="1"/>
          <p:nvPr/>
        </p:nvSpPr>
        <p:spPr>
          <a:xfrm>
            <a:off x="6217920" y="4800600"/>
            <a:ext cx="2743200" cy="274320"/>
          </a:xfrm>
          <a:prstGeom prst="rect">
            <a:avLst/>
          </a:prstGeom>
          <a:noFill/>
        </p:spPr>
        <p:txBody>
          <a:bodyPr wrap="square">
            <a:spAutoFit/>
          </a:bodyPr>
          <a:lstStyle/>
          <a:p>
            <a:pPr algn="l">
              <a:defRPr sz="1100" b="1" i="0">
                <a:solidFill>
                  <a:srgbClr val="1C1C1E"/>
                </a:solidFill>
                <a:latin typeface="Calibri"/>
              </a:defRPr>
            </a:pPr>
            <a:r>
              <a:t>($0.7M)</a:t>
            </a:r>
          </a:p>
        </p:txBody>
      </p:sp>
      <p:sp>
        <p:nvSpPr>
          <p:cNvPr id="48" name="TextBox 47"/>
          <p:cNvSpPr txBox="1"/>
          <p:nvPr/>
        </p:nvSpPr>
        <p:spPr>
          <a:xfrm>
            <a:off x="8961120" y="4800600"/>
            <a:ext cx="2743200" cy="274320"/>
          </a:xfrm>
          <a:prstGeom prst="rect">
            <a:avLst/>
          </a:prstGeom>
          <a:noFill/>
        </p:spPr>
        <p:txBody>
          <a:bodyPr wrap="square">
            <a:spAutoFit/>
          </a:bodyPr>
          <a:lstStyle/>
          <a:p>
            <a:pPr algn="l">
              <a:defRPr sz="1100" b="0" i="0">
                <a:solidFill>
                  <a:srgbClr val="3A3A3C"/>
                </a:solidFill>
                <a:latin typeface="Calibri"/>
              </a:defRPr>
            </a:pPr>
            <a:r>
              <a:t>($1.0M)</a:t>
            </a:r>
          </a:p>
        </p:txBody>
      </p:sp>
      <p:sp>
        <p:nvSpPr>
          <p:cNvPr id="49" name="TextBox 48"/>
          <p:cNvSpPr txBox="1"/>
          <p:nvPr/>
        </p:nvSpPr>
        <p:spPr>
          <a:xfrm>
            <a:off x="731520" y="5166360"/>
            <a:ext cx="2743200" cy="274320"/>
          </a:xfrm>
          <a:prstGeom prst="rect">
            <a:avLst/>
          </a:prstGeom>
          <a:noFill/>
        </p:spPr>
        <p:txBody>
          <a:bodyPr wrap="square">
            <a:spAutoFit/>
          </a:bodyPr>
          <a:lstStyle/>
          <a:p>
            <a:pPr algn="l">
              <a:defRPr sz="1100" b="1" i="0">
                <a:solidFill>
                  <a:srgbClr val="1C1C1E"/>
                </a:solidFill>
                <a:latin typeface="Calibri"/>
              </a:defRPr>
            </a:pPr>
            <a:r>
              <a:t>Net Year-1 value</a:t>
            </a:r>
          </a:p>
        </p:txBody>
      </p:sp>
      <p:sp>
        <p:nvSpPr>
          <p:cNvPr id="50" name="TextBox 49"/>
          <p:cNvSpPr txBox="1"/>
          <p:nvPr/>
        </p:nvSpPr>
        <p:spPr>
          <a:xfrm>
            <a:off x="3474720" y="5166360"/>
            <a:ext cx="2743200" cy="274320"/>
          </a:xfrm>
          <a:prstGeom prst="rect">
            <a:avLst/>
          </a:prstGeom>
          <a:noFill/>
        </p:spPr>
        <p:txBody>
          <a:bodyPr wrap="square">
            <a:spAutoFit/>
          </a:bodyPr>
          <a:lstStyle/>
          <a:p>
            <a:pPr algn="l">
              <a:defRPr sz="1100" b="1" i="0">
                <a:solidFill>
                  <a:srgbClr val="1C1C1E"/>
                </a:solidFill>
                <a:latin typeface="Calibri"/>
              </a:defRPr>
            </a:pPr>
            <a:r>
              <a:t>$4.5M</a:t>
            </a:r>
          </a:p>
        </p:txBody>
      </p:sp>
      <p:sp>
        <p:nvSpPr>
          <p:cNvPr id="51" name="TextBox 50"/>
          <p:cNvSpPr txBox="1"/>
          <p:nvPr/>
        </p:nvSpPr>
        <p:spPr>
          <a:xfrm>
            <a:off x="6217920" y="5166360"/>
            <a:ext cx="2743200" cy="274320"/>
          </a:xfrm>
          <a:prstGeom prst="rect">
            <a:avLst/>
          </a:prstGeom>
          <a:noFill/>
        </p:spPr>
        <p:txBody>
          <a:bodyPr wrap="square">
            <a:spAutoFit/>
          </a:bodyPr>
          <a:lstStyle/>
          <a:p>
            <a:pPr algn="l">
              <a:defRPr sz="1100" b="1" i="0">
                <a:solidFill>
                  <a:srgbClr val="1C1C1E"/>
                </a:solidFill>
                <a:latin typeface="Calibri"/>
              </a:defRPr>
            </a:pPr>
            <a:r>
              <a:t>$10.2M</a:t>
            </a:r>
          </a:p>
        </p:txBody>
      </p:sp>
      <p:sp>
        <p:nvSpPr>
          <p:cNvPr id="52" name="TextBox 51"/>
          <p:cNvSpPr txBox="1"/>
          <p:nvPr/>
        </p:nvSpPr>
        <p:spPr>
          <a:xfrm>
            <a:off x="8961120" y="5166360"/>
            <a:ext cx="2743200" cy="274320"/>
          </a:xfrm>
          <a:prstGeom prst="rect">
            <a:avLst/>
          </a:prstGeom>
          <a:noFill/>
        </p:spPr>
        <p:txBody>
          <a:bodyPr wrap="square">
            <a:spAutoFit/>
          </a:bodyPr>
          <a:lstStyle/>
          <a:p>
            <a:pPr algn="l">
              <a:defRPr sz="1100" b="1" i="0">
                <a:solidFill>
                  <a:srgbClr val="1C1C1E"/>
                </a:solidFill>
                <a:latin typeface="Calibri"/>
              </a:defRPr>
            </a:pPr>
            <a:r>
              <a:t>$22.5M</a:t>
            </a:r>
          </a:p>
        </p:txBody>
      </p:sp>
      <p:sp>
        <p:nvSpPr>
          <p:cNvPr id="53" name="TextBox 52"/>
          <p:cNvSpPr txBox="1"/>
          <p:nvPr/>
        </p:nvSpPr>
        <p:spPr>
          <a:xfrm>
            <a:off x="731520" y="5532120"/>
            <a:ext cx="2743200" cy="274320"/>
          </a:xfrm>
          <a:prstGeom prst="rect">
            <a:avLst/>
          </a:prstGeom>
          <a:noFill/>
        </p:spPr>
        <p:txBody>
          <a:bodyPr wrap="square">
            <a:spAutoFit/>
          </a:bodyPr>
          <a:lstStyle/>
          <a:p>
            <a:pPr algn="l">
              <a:defRPr sz="1100" b="1" i="0">
                <a:solidFill>
                  <a:srgbClr val="1C1C1E"/>
                </a:solidFill>
                <a:latin typeface="Calibri"/>
              </a:defRPr>
            </a:pPr>
            <a:r>
              <a:t>Return on spend</a:t>
            </a:r>
          </a:p>
        </p:txBody>
      </p:sp>
      <p:sp>
        <p:nvSpPr>
          <p:cNvPr id="54" name="TextBox 53"/>
          <p:cNvSpPr txBox="1"/>
          <p:nvPr/>
        </p:nvSpPr>
        <p:spPr>
          <a:xfrm>
            <a:off x="3474720" y="5532120"/>
            <a:ext cx="2743200" cy="274320"/>
          </a:xfrm>
          <a:prstGeom prst="rect">
            <a:avLst/>
          </a:prstGeom>
          <a:noFill/>
        </p:spPr>
        <p:txBody>
          <a:bodyPr wrap="square">
            <a:spAutoFit/>
          </a:bodyPr>
          <a:lstStyle/>
          <a:p>
            <a:pPr algn="l">
              <a:defRPr sz="1100" b="1" i="0">
                <a:solidFill>
                  <a:srgbClr val="1C1C1E"/>
                </a:solidFill>
                <a:latin typeface="Calibri"/>
              </a:defRPr>
            </a:pPr>
            <a:r>
              <a:t>2.8x</a:t>
            </a:r>
          </a:p>
        </p:txBody>
      </p:sp>
      <p:sp>
        <p:nvSpPr>
          <p:cNvPr id="55" name="TextBox 54"/>
          <p:cNvSpPr txBox="1"/>
          <p:nvPr/>
        </p:nvSpPr>
        <p:spPr>
          <a:xfrm>
            <a:off x="6217920" y="5532120"/>
            <a:ext cx="2743200" cy="274320"/>
          </a:xfrm>
          <a:prstGeom prst="rect">
            <a:avLst/>
          </a:prstGeom>
          <a:noFill/>
        </p:spPr>
        <p:txBody>
          <a:bodyPr wrap="square">
            <a:spAutoFit/>
          </a:bodyPr>
          <a:lstStyle/>
          <a:p>
            <a:pPr algn="l">
              <a:defRPr sz="1100" b="1" i="0">
                <a:solidFill>
                  <a:srgbClr val="1C1C1E"/>
                </a:solidFill>
                <a:latin typeface="Calibri"/>
              </a:defRPr>
            </a:pPr>
            <a:r>
              <a:t>3.8x</a:t>
            </a:r>
          </a:p>
        </p:txBody>
      </p:sp>
      <p:sp>
        <p:nvSpPr>
          <p:cNvPr id="56" name="TextBox 55"/>
          <p:cNvSpPr txBox="1"/>
          <p:nvPr/>
        </p:nvSpPr>
        <p:spPr>
          <a:xfrm>
            <a:off x="8961120" y="5532120"/>
            <a:ext cx="2743200" cy="274320"/>
          </a:xfrm>
          <a:prstGeom prst="rect">
            <a:avLst/>
          </a:prstGeom>
          <a:noFill/>
        </p:spPr>
        <p:txBody>
          <a:bodyPr wrap="square">
            <a:spAutoFit/>
          </a:bodyPr>
          <a:lstStyle/>
          <a:p>
            <a:pPr algn="l">
              <a:defRPr sz="1100" b="1" i="0">
                <a:solidFill>
                  <a:srgbClr val="1C1C1E"/>
                </a:solidFill>
                <a:latin typeface="Calibri"/>
              </a:defRPr>
            </a:pPr>
            <a:r>
              <a:t>6.4x</a:t>
            </a:r>
          </a:p>
        </p:txBody>
      </p:sp>
      <p:sp>
        <p:nvSpPr>
          <p:cNvPr id="57" name="TextBox 56"/>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Simulated Interview with Clint Weber, VP Global Sales &amp; Manufacturing</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058400" cy="274320"/>
          </a:xfrm>
          <a:prstGeom prst="rect">
            <a:avLst/>
          </a:prstGeom>
          <a:noFill/>
        </p:spPr>
        <p:txBody>
          <a:bodyPr wrap="square">
            <a:spAutoFit/>
          </a:bodyPr>
          <a:lstStyle/>
          <a:p>
            <a:pPr algn="l">
              <a:defRPr sz="1200" b="0" i="0">
                <a:solidFill>
                  <a:srgbClr val="767676"/>
                </a:solidFill>
                <a:latin typeface="Calibri"/>
              </a:defRPr>
            </a:pPr>
            <a:r>
              <a:t>AI-simulated interview  |  March 2026  |  Key quotes and insights</a:t>
            </a:r>
          </a:p>
        </p:txBody>
      </p:sp>
      <p:sp>
        <p:nvSpPr>
          <p:cNvPr id="6" name="Rounded Rectangle 5"/>
          <p:cNvSpPr/>
          <p:nvPr/>
        </p:nvSpPr>
        <p:spPr>
          <a:xfrm>
            <a:off x="731520" y="169164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9164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737360"/>
            <a:ext cx="1828800" cy="182880"/>
          </a:xfrm>
          <a:prstGeom prst="rect">
            <a:avLst/>
          </a:prstGeom>
          <a:noFill/>
        </p:spPr>
        <p:txBody>
          <a:bodyPr wrap="square">
            <a:spAutoFit/>
          </a:bodyPr>
          <a:lstStyle/>
          <a:p>
            <a:pPr algn="l">
              <a:defRPr sz="900" b="1" i="0">
                <a:solidFill>
                  <a:srgbClr val="767676"/>
                </a:solidFill>
                <a:latin typeface="Calibri"/>
              </a:defRPr>
            </a:pPr>
            <a:r>
              <a:t>ON DATA READINESS</a:t>
            </a:r>
          </a:p>
        </p:txBody>
      </p:sp>
      <p:sp>
        <p:nvSpPr>
          <p:cNvPr id="9" name="TextBox 8"/>
          <p:cNvSpPr txBox="1"/>
          <p:nvPr/>
        </p:nvSpPr>
        <p:spPr>
          <a:xfrm>
            <a:off x="1097280" y="1947672"/>
            <a:ext cx="7315200" cy="548640"/>
          </a:xfrm>
          <a:prstGeom prst="rect">
            <a:avLst/>
          </a:prstGeom>
          <a:noFill/>
        </p:spPr>
        <p:txBody>
          <a:bodyPr wrap="square">
            <a:spAutoFit/>
          </a:bodyPr>
          <a:lstStyle/>
          <a:p>
            <a:pPr algn="l">
              <a:defRPr sz="1100" b="0" i="1">
                <a:solidFill>
                  <a:srgbClr val="3A3A3C"/>
                </a:solidFill>
                <a:latin typeface="Calibri"/>
              </a:defRPr>
            </a:pPr>
            <a:r>
              <a:t>“The areas where we've under-invested in process, data, and cross-functional integration are exactly the areas where AI could close the gap fastest. Customer support. Demand forecasting. Compatibility and documentation management.”</a:t>
            </a:r>
          </a:p>
        </p:txBody>
      </p:sp>
      <p:sp>
        <p:nvSpPr>
          <p:cNvPr id="10" name="TextBox 9"/>
          <p:cNvSpPr txBox="1"/>
          <p:nvPr/>
        </p:nvSpPr>
        <p:spPr>
          <a:xfrm>
            <a:off x="8686800" y="2011680"/>
            <a:ext cx="2560320" cy="457200"/>
          </a:xfrm>
          <a:prstGeom prst="rect">
            <a:avLst/>
          </a:prstGeom>
          <a:noFill/>
        </p:spPr>
        <p:txBody>
          <a:bodyPr wrap="square">
            <a:spAutoFit/>
          </a:bodyPr>
          <a:lstStyle/>
          <a:p>
            <a:pPr algn="l">
              <a:defRPr sz="1000" b="1" i="0">
                <a:solidFill>
                  <a:srgbClr val="1C1C1E"/>
                </a:solidFill>
                <a:latin typeface="Calibri"/>
              </a:defRPr>
            </a:pPr>
            <a:r>
              <a:t>→ Validates bounded pilot scope</a:t>
            </a:r>
          </a:p>
        </p:txBody>
      </p:sp>
      <p:sp>
        <p:nvSpPr>
          <p:cNvPr id="11" name="Rounded Rectangle 10"/>
          <p:cNvSpPr/>
          <p:nvPr/>
        </p:nvSpPr>
        <p:spPr>
          <a:xfrm>
            <a:off x="731520" y="288036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88036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926080"/>
            <a:ext cx="1828800" cy="182880"/>
          </a:xfrm>
          <a:prstGeom prst="rect">
            <a:avLst/>
          </a:prstGeom>
          <a:noFill/>
        </p:spPr>
        <p:txBody>
          <a:bodyPr wrap="square">
            <a:spAutoFit/>
          </a:bodyPr>
          <a:lstStyle/>
          <a:p>
            <a:pPr algn="l">
              <a:defRPr sz="900" b="1" i="0">
                <a:solidFill>
                  <a:srgbClr val="767676"/>
                </a:solidFill>
                <a:latin typeface="Calibri"/>
              </a:defRPr>
            </a:pPr>
            <a:r>
              <a:t>ON CULTURAL BARRIERS</a:t>
            </a:r>
          </a:p>
        </p:txBody>
      </p:sp>
      <p:sp>
        <p:nvSpPr>
          <p:cNvPr id="14" name="TextBox 13"/>
          <p:cNvSpPr txBox="1"/>
          <p:nvPr/>
        </p:nvSpPr>
        <p:spPr>
          <a:xfrm>
            <a:off x="1097280" y="3136392"/>
            <a:ext cx="7315200" cy="548640"/>
          </a:xfrm>
          <a:prstGeom prst="rect">
            <a:avLst/>
          </a:prstGeom>
          <a:noFill/>
        </p:spPr>
        <p:txBody>
          <a:bodyPr wrap="square">
            <a:spAutoFit/>
          </a:bodyPr>
          <a:lstStyle/>
          <a:p>
            <a:pPr algn="l">
              <a:defRPr sz="1100" b="0" i="1">
                <a:solidFill>
                  <a:srgbClr val="3A3A3C"/>
                </a:solidFill>
                <a:latin typeface="Calibri"/>
              </a:defRPr>
            </a:pPr>
            <a:r>
              <a:t>“We built a Formula 1 car and then had a regional pit crew. The support infrastructure has lagged behind the hardware. That is a cultural artifact as much as a resource one.”</a:t>
            </a:r>
          </a:p>
        </p:txBody>
      </p:sp>
      <p:sp>
        <p:nvSpPr>
          <p:cNvPr id="15" name="TextBox 14"/>
          <p:cNvSpPr txBox="1"/>
          <p:nvPr/>
        </p:nvSpPr>
        <p:spPr>
          <a:xfrm>
            <a:off x="8686800" y="3200400"/>
            <a:ext cx="2560320" cy="457200"/>
          </a:xfrm>
          <a:prstGeom prst="rect">
            <a:avLst/>
          </a:prstGeom>
          <a:noFill/>
        </p:spPr>
        <p:txBody>
          <a:bodyPr wrap="square">
            <a:spAutoFit/>
          </a:bodyPr>
          <a:lstStyle/>
          <a:p>
            <a:pPr algn="l">
              <a:defRPr sz="1000" b="1" i="0">
                <a:solidFill>
                  <a:srgbClr val="1C1C1E"/>
                </a:solidFill>
                <a:latin typeface="Calibri"/>
              </a:defRPr>
            </a:pPr>
            <a:r>
              <a:t>→ Human-in-the-loop is mandatory</a:t>
            </a:r>
          </a:p>
        </p:txBody>
      </p:sp>
      <p:sp>
        <p:nvSpPr>
          <p:cNvPr id="16" name="Rounded Rectangle 15"/>
          <p:cNvSpPr/>
          <p:nvPr/>
        </p:nvSpPr>
        <p:spPr>
          <a:xfrm>
            <a:off x="731520" y="406908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406908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114800"/>
            <a:ext cx="1828800" cy="182880"/>
          </a:xfrm>
          <a:prstGeom prst="rect">
            <a:avLst/>
          </a:prstGeom>
          <a:noFill/>
        </p:spPr>
        <p:txBody>
          <a:bodyPr wrap="square">
            <a:spAutoFit/>
          </a:bodyPr>
          <a:lstStyle/>
          <a:p>
            <a:pPr algn="l">
              <a:defRPr sz="900" b="1" i="0">
                <a:solidFill>
                  <a:srgbClr val="767676"/>
                </a:solidFill>
                <a:latin typeface="Calibri"/>
              </a:defRPr>
            </a:pPr>
            <a:r>
              <a:t>ON COMPETITIVE ADVANTAGE</a:t>
            </a:r>
          </a:p>
        </p:txBody>
      </p:sp>
      <p:sp>
        <p:nvSpPr>
          <p:cNvPr id="19" name="TextBox 18"/>
          <p:cNvSpPr txBox="1"/>
          <p:nvPr/>
        </p:nvSpPr>
        <p:spPr>
          <a:xfrm>
            <a:off x="1097280" y="4325112"/>
            <a:ext cx="7315200" cy="548640"/>
          </a:xfrm>
          <a:prstGeom prst="rect">
            <a:avLst/>
          </a:prstGeom>
          <a:noFill/>
        </p:spPr>
        <p:txBody>
          <a:bodyPr wrap="square">
            <a:spAutoFit/>
          </a:bodyPr>
          <a:lstStyle/>
          <a:p>
            <a:pPr algn="l">
              <a:defRPr sz="1100" b="0" i="1">
                <a:solidFill>
                  <a:srgbClr val="3A3A3C"/>
                </a:solidFill>
                <a:latin typeface="Calibri"/>
              </a:defRPr>
            </a:pPr>
            <a:r>
              <a:t>“Shimano riders use an app to check compatibility. Our riders use an ecosystem to train, navigate, tune their suspension, and monitor their entire component stack in real time. That rider does not churn.”</a:t>
            </a:r>
          </a:p>
        </p:txBody>
      </p:sp>
      <p:sp>
        <p:nvSpPr>
          <p:cNvPr id="20" name="TextBox 19"/>
          <p:cNvSpPr txBox="1"/>
          <p:nvPr/>
        </p:nvSpPr>
        <p:spPr>
          <a:xfrm>
            <a:off x="8686800" y="4389120"/>
            <a:ext cx="2560320" cy="457200"/>
          </a:xfrm>
          <a:prstGeom prst="rect">
            <a:avLst/>
          </a:prstGeom>
          <a:noFill/>
        </p:spPr>
        <p:txBody>
          <a:bodyPr wrap="square">
            <a:spAutoFit/>
          </a:bodyPr>
          <a:lstStyle/>
          <a:p>
            <a:pPr algn="l">
              <a:defRPr sz="1000" b="1" i="0">
                <a:solidFill>
                  <a:srgbClr val="1C1C1E"/>
                </a:solidFill>
                <a:latin typeface="Calibri"/>
              </a:defRPr>
            </a:pPr>
            <a:r>
              <a:t>→ Hammerhead is SRAM's real AI moat</a:t>
            </a:r>
          </a:p>
        </p:txBody>
      </p:sp>
      <p:sp>
        <p:nvSpPr>
          <p:cNvPr id="21" name="Rounded Rectangle 20"/>
          <p:cNvSpPr/>
          <p:nvPr/>
        </p:nvSpPr>
        <p:spPr>
          <a:xfrm>
            <a:off x="731520" y="525780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525780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303520"/>
            <a:ext cx="1828800" cy="182880"/>
          </a:xfrm>
          <a:prstGeom prst="rect">
            <a:avLst/>
          </a:prstGeom>
          <a:noFill/>
        </p:spPr>
        <p:txBody>
          <a:bodyPr wrap="square">
            <a:spAutoFit/>
          </a:bodyPr>
          <a:lstStyle/>
          <a:p>
            <a:pPr algn="l">
              <a:defRPr sz="900" b="1" i="0">
                <a:solidFill>
                  <a:srgbClr val="767676"/>
                </a:solidFill>
                <a:latin typeface="Calibri"/>
              </a:defRPr>
            </a:pPr>
            <a:r>
              <a:t>ON IMPLEMENTATION DISCIPLINE</a:t>
            </a:r>
          </a:p>
        </p:txBody>
      </p:sp>
      <p:sp>
        <p:nvSpPr>
          <p:cNvPr id="24" name="TextBox 23"/>
          <p:cNvSpPr txBox="1"/>
          <p:nvPr/>
        </p:nvSpPr>
        <p:spPr>
          <a:xfrm>
            <a:off x="1097280" y="5513832"/>
            <a:ext cx="7315200" cy="548640"/>
          </a:xfrm>
          <a:prstGeom prst="rect">
            <a:avLst/>
          </a:prstGeom>
          <a:noFill/>
        </p:spPr>
        <p:txBody>
          <a:bodyPr wrap="square">
            <a:spAutoFit/>
          </a:bodyPr>
          <a:lstStyle/>
          <a:p>
            <a:pPr algn="l">
              <a:defRPr sz="1100" b="0" i="1">
                <a:solidFill>
                  <a:srgbClr val="3A3A3C"/>
                </a:solidFill>
                <a:latin typeface="Calibri"/>
              </a:defRPr>
            </a:pPr>
            <a:r>
              <a:t>“If it doesn't hit the metric, you shut it down, you learn from it, and you redeploy the resources. That discipline is what separates companies that build real AI capability from companies that accumulate AI debt.”</a:t>
            </a:r>
          </a:p>
        </p:txBody>
      </p:sp>
      <p:sp>
        <p:nvSpPr>
          <p:cNvPr id="25" name="TextBox 24"/>
          <p:cNvSpPr txBox="1"/>
          <p:nvPr/>
        </p:nvSpPr>
        <p:spPr>
          <a:xfrm>
            <a:off x="8686800" y="5577840"/>
            <a:ext cx="2560320" cy="457200"/>
          </a:xfrm>
          <a:prstGeom prst="rect">
            <a:avLst/>
          </a:prstGeom>
          <a:noFill/>
        </p:spPr>
        <p:txBody>
          <a:bodyPr wrap="square">
            <a:spAutoFit/>
          </a:bodyPr>
          <a:lstStyle/>
          <a:p>
            <a:pPr algn="l">
              <a:defRPr sz="1000" b="1" i="0">
                <a:solidFill>
                  <a:srgbClr val="1C1C1E"/>
                </a:solidFill>
                <a:latin typeface="Calibri"/>
              </a:defRPr>
            </a:pPr>
            <a:r>
              <a:t>→ Aligns with our 90-day pilot targets</a:t>
            </a:r>
          </a:p>
        </p:txBody>
      </p:sp>
      <p:sp>
        <p:nvSpPr>
          <p:cNvPr id="26" name="TextBox 25"/>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sp>
        <p:nvSpPr>
          <p:cNvPr id="2" name="TextBox 1"/>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3" name="TextBox 2"/>
          <p:cNvSpPr txBox="1"/>
          <p:nvPr/>
        </p:nvSpPr>
        <p:spPr>
          <a:xfrm>
            <a:off x="731520" y="548640"/>
            <a:ext cx="10515600" cy="502920"/>
          </a:xfrm>
          <a:prstGeom prst="rect">
            <a:avLst/>
          </a:prstGeom>
          <a:noFill/>
        </p:spPr>
        <p:txBody>
          <a:bodyPr wrap="square">
            <a:spAutoFit/>
          </a:bodyPr>
          <a:lstStyle/>
          <a:p>
            <a:pPr algn="l">
              <a:defRPr sz="2600" b="1" i="0">
                <a:solidFill>
                  <a:srgbClr val="1C1C1E"/>
                </a:solidFill>
                <a:latin typeface="Calibri"/>
              </a:defRPr>
            </a:pPr>
            <a:r>
              <a:t>Phasing, talent, and organizational enablers</a:t>
            </a:r>
          </a:p>
        </p:txBody>
      </p:sp>
      <p:sp>
        <p:nvSpPr>
          <p:cNvPr id="4" name="Rectangle 3"/>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5440680" cy="224028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463040"/>
            <a:ext cx="4983480" cy="274320"/>
          </a:xfrm>
          <a:prstGeom prst="rect">
            <a:avLst/>
          </a:prstGeom>
          <a:noFill/>
        </p:spPr>
        <p:txBody>
          <a:bodyPr wrap="square">
            <a:spAutoFit/>
          </a:bodyPr>
          <a:lstStyle/>
          <a:p>
            <a:pPr algn="l">
              <a:defRPr sz="1400" b="1" i="0">
                <a:solidFill>
                  <a:srgbClr val="1C1C1E"/>
                </a:solidFill>
                <a:latin typeface="Calibri"/>
              </a:defRPr>
            </a:pPr>
            <a:r>
              <a:t>Phase 1: Support Pilot</a:t>
            </a:r>
          </a:p>
        </p:txBody>
      </p:sp>
      <p:sp>
        <p:nvSpPr>
          <p:cNvPr id="7" name="TextBox 6"/>
          <p:cNvSpPr txBox="1"/>
          <p:nvPr/>
        </p:nvSpPr>
        <p:spPr>
          <a:xfrm>
            <a:off x="960120" y="1691640"/>
            <a:ext cx="1828800" cy="182880"/>
          </a:xfrm>
          <a:prstGeom prst="rect">
            <a:avLst/>
          </a:prstGeom>
          <a:noFill/>
        </p:spPr>
        <p:txBody>
          <a:bodyPr wrap="square">
            <a:spAutoFit/>
          </a:bodyPr>
          <a:lstStyle/>
          <a:p>
            <a:pPr algn="l">
              <a:defRPr sz="1000" b="1" i="0">
                <a:solidFill>
                  <a:srgbClr val="E51937"/>
                </a:solidFill>
                <a:latin typeface="Calibri"/>
              </a:defRPr>
            </a:pPr>
            <a:r>
              <a:t>0-90 days</a:t>
            </a:r>
          </a:p>
        </p:txBody>
      </p:sp>
      <p:sp>
        <p:nvSpPr>
          <p:cNvPr id="8" name="TextBox 7"/>
          <p:cNvSpPr txBox="1"/>
          <p:nvPr/>
        </p:nvSpPr>
        <p:spPr>
          <a:xfrm>
            <a:off x="960120" y="196596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1 integration engineer (internal or contractor)</a:t>
            </a:r>
          </a:p>
          <a:p>
            <a:pPr>
              <a:spcAft>
                <a:spcPts val="1100"/>
              </a:spcAft>
              <a:defRPr sz="1100" b="0">
                <a:solidFill>
                  <a:srgbClr val="3A3A3C"/>
                </a:solidFill>
                <a:latin typeface="Calibri"/>
              </a:defRPr>
            </a:pPr>
            <a:r>
              <a:t>•  1 product owner from support organization</a:t>
            </a:r>
          </a:p>
          <a:p>
            <a:pPr>
              <a:spcAft>
                <a:spcPts val="1100"/>
              </a:spcAft>
              <a:defRPr sz="1100" b="0">
                <a:solidFill>
                  <a:srgbClr val="3A3A3C"/>
                </a:solidFill>
                <a:latin typeface="Calibri"/>
              </a:defRPr>
            </a:pPr>
            <a:r>
              <a:t>•  Zendesk AI + Amazon Kendra + Bedrock</a:t>
            </a:r>
          </a:p>
          <a:p>
            <a:pPr>
              <a:spcAft>
                <a:spcPts val="1100"/>
              </a:spcAft>
              <a:defRPr sz="1100" b="0">
                <a:solidFill>
                  <a:srgbClr val="3A3A3C"/>
                </a:solidFill>
                <a:latin typeface="Calibri"/>
              </a:defRPr>
            </a:pPr>
            <a:r>
              <a:t>•  No new AI/ML hires required</a:t>
            </a:r>
          </a:p>
        </p:txBody>
      </p:sp>
      <p:sp>
        <p:nvSpPr>
          <p:cNvPr id="9" name="Rounded Rectangle 8"/>
          <p:cNvSpPr/>
          <p:nvPr/>
        </p:nvSpPr>
        <p:spPr>
          <a:xfrm>
            <a:off x="6400800" y="137160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1463040"/>
            <a:ext cx="4983480" cy="274320"/>
          </a:xfrm>
          <a:prstGeom prst="rect">
            <a:avLst/>
          </a:prstGeom>
          <a:noFill/>
        </p:spPr>
        <p:txBody>
          <a:bodyPr wrap="square">
            <a:spAutoFit/>
          </a:bodyPr>
          <a:lstStyle/>
          <a:p>
            <a:pPr algn="l">
              <a:defRPr sz="1400" b="1" i="0">
                <a:solidFill>
                  <a:srgbClr val="1C1C1E"/>
                </a:solidFill>
                <a:latin typeface="Calibri"/>
              </a:defRPr>
            </a:pPr>
            <a:r>
              <a:t>Phase 2: Data Foundation</a:t>
            </a:r>
          </a:p>
        </p:txBody>
      </p:sp>
      <p:sp>
        <p:nvSpPr>
          <p:cNvPr id="11" name="TextBox 10"/>
          <p:cNvSpPr txBox="1"/>
          <p:nvPr/>
        </p:nvSpPr>
        <p:spPr>
          <a:xfrm>
            <a:off x="6629400" y="1691640"/>
            <a:ext cx="1828800" cy="182880"/>
          </a:xfrm>
          <a:prstGeom prst="rect">
            <a:avLst/>
          </a:prstGeom>
          <a:noFill/>
        </p:spPr>
        <p:txBody>
          <a:bodyPr wrap="square">
            <a:spAutoFit/>
          </a:bodyPr>
          <a:lstStyle/>
          <a:p>
            <a:pPr algn="l">
              <a:defRPr sz="1000" b="1" i="0">
                <a:solidFill>
                  <a:srgbClr val="767676"/>
                </a:solidFill>
                <a:latin typeface="Calibri"/>
              </a:defRPr>
            </a:pPr>
            <a:r>
              <a:t>90-180 days</a:t>
            </a:r>
          </a:p>
        </p:txBody>
      </p:sp>
      <p:sp>
        <p:nvSpPr>
          <p:cNvPr id="12" name="TextBox 11"/>
          <p:cNvSpPr txBox="1"/>
          <p:nvPr/>
        </p:nvSpPr>
        <p:spPr>
          <a:xfrm>
            <a:off x="6629400" y="196596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Add product managers and QA capacity</a:t>
            </a:r>
          </a:p>
          <a:p>
            <a:pPr>
              <a:spcAft>
                <a:spcPts val="1100"/>
              </a:spcAft>
              <a:defRPr sz="1100" b="0">
                <a:solidFill>
                  <a:srgbClr val="3A3A3C"/>
                </a:solidFill>
                <a:latin typeface="Calibri"/>
              </a:defRPr>
            </a:pPr>
            <a:r>
              <a:t>•  Unified data layer linking CRM + inventory + telemetry</a:t>
            </a:r>
          </a:p>
          <a:p>
            <a:pPr>
              <a:spcAft>
                <a:spcPts val="1100"/>
              </a:spcAft>
              <a:defRPr sz="1100" b="0">
                <a:solidFill>
                  <a:srgbClr val="3A3A3C"/>
                </a:solidFill>
                <a:latin typeface="Calibri"/>
              </a:defRPr>
            </a:pPr>
            <a:r>
              <a:t>•  AWS SageMaker for forecasting</a:t>
            </a:r>
          </a:p>
          <a:p>
            <a:pPr>
              <a:spcAft>
                <a:spcPts val="1100"/>
              </a:spcAft>
              <a:defRPr sz="1100" b="0">
                <a:solidFill>
                  <a:srgbClr val="3A3A3C"/>
                </a:solidFill>
                <a:latin typeface="Calibri"/>
              </a:defRPr>
            </a:pPr>
            <a:r>
              <a:t>•  ERP system evaluation</a:t>
            </a:r>
          </a:p>
        </p:txBody>
      </p:sp>
      <p:sp>
        <p:nvSpPr>
          <p:cNvPr id="13" name="Rounded Rectangle 12"/>
          <p:cNvSpPr/>
          <p:nvPr/>
        </p:nvSpPr>
        <p:spPr>
          <a:xfrm>
            <a:off x="731520" y="384048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931920"/>
            <a:ext cx="4983480" cy="274320"/>
          </a:xfrm>
          <a:prstGeom prst="rect">
            <a:avLst/>
          </a:prstGeom>
          <a:noFill/>
        </p:spPr>
        <p:txBody>
          <a:bodyPr wrap="square">
            <a:spAutoFit/>
          </a:bodyPr>
          <a:lstStyle/>
          <a:p>
            <a:pPr algn="l">
              <a:defRPr sz="1400" b="1" i="0">
                <a:solidFill>
                  <a:srgbClr val="1C1C1E"/>
                </a:solidFill>
                <a:latin typeface="Calibri"/>
              </a:defRPr>
            </a:pPr>
            <a:r>
              <a:t>Phase 3: Revenue Acceleration</a:t>
            </a:r>
          </a:p>
        </p:txBody>
      </p:sp>
      <p:sp>
        <p:nvSpPr>
          <p:cNvPr id="15" name="TextBox 14"/>
          <p:cNvSpPr txBox="1"/>
          <p:nvPr/>
        </p:nvSpPr>
        <p:spPr>
          <a:xfrm>
            <a:off x="960120" y="4160520"/>
            <a:ext cx="1828800" cy="182880"/>
          </a:xfrm>
          <a:prstGeom prst="rect">
            <a:avLst/>
          </a:prstGeom>
          <a:noFill/>
        </p:spPr>
        <p:txBody>
          <a:bodyPr wrap="square">
            <a:spAutoFit/>
          </a:bodyPr>
          <a:lstStyle/>
          <a:p>
            <a:pPr algn="l">
              <a:defRPr sz="1000" b="1" i="0">
                <a:solidFill>
                  <a:srgbClr val="767676"/>
                </a:solidFill>
                <a:latin typeface="Calibri"/>
              </a:defRPr>
            </a:pPr>
            <a:r>
              <a:t>180-365 days</a:t>
            </a:r>
          </a:p>
        </p:txBody>
      </p:sp>
      <p:sp>
        <p:nvSpPr>
          <p:cNvPr id="16" name="TextBox 15"/>
          <p:cNvSpPr txBox="1"/>
          <p:nvPr/>
        </p:nvSpPr>
        <p:spPr>
          <a:xfrm>
            <a:off x="960120" y="443484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Salesforce Einstein/Agentforce for OEM proposals</a:t>
            </a:r>
          </a:p>
          <a:p>
            <a:pPr>
              <a:spcAft>
                <a:spcPts val="1100"/>
              </a:spcAft>
              <a:defRPr sz="1100" b="0">
                <a:solidFill>
                  <a:srgbClr val="3A3A3C"/>
                </a:solidFill>
                <a:latin typeface="Calibri"/>
              </a:defRPr>
            </a:pPr>
            <a:r>
              <a:t>•  Compatibility rules engine for recommendations</a:t>
            </a:r>
          </a:p>
          <a:p>
            <a:pPr>
              <a:spcAft>
                <a:spcPts val="1100"/>
              </a:spcAft>
              <a:defRPr sz="1100" b="0">
                <a:solidFill>
                  <a:srgbClr val="3A3A3C"/>
                </a:solidFill>
                <a:latin typeface="Calibri"/>
              </a:defRPr>
            </a:pPr>
            <a:r>
              <a:t>•  Cross-functional product + sales alignment</a:t>
            </a:r>
          </a:p>
          <a:p>
            <a:pPr>
              <a:spcAft>
                <a:spcPts val="1100"/>
              </a:spcAft>
              <a:defRPr sz="1100" b="0">
                <a:solidFill>
                  <a:srgbClr val="3A3A3C"/>
                </a:solidFill>
                <a:latin typeface="Calibri"/>
              </a:defRPr>
            </a:pPr>
            <a:r>
              <a:t>•  Expected $2.5M from 1% win-rate improvement</a:t>
            </a:r>
          </a:p>
        </p:txBody>
      </p:sp>
      <p:sp>
        <p:nvSpPr>
          <p:cNvPr id="17" name="Rounded Rectangle 16"/>
          <p:cNvSpPr/>
          <p:nvPr/>
        </p:nvSpPr>
        <p:spPr>
          <a:xfrm>
            <a:off x="6400800" y="384048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9400" y="3931920"/>
            <a:ext cx="4983480" cy="274320"/>
          </a:xfrm>
          <a:prstGeom prst="rect">
            <a:avLst/>
          </a:prstGeom>
          <a:noFill/>
        </p:spPr>
        <p:txBody>
          <a:bodyPr wrap="square">
            <a:spAutoFit/>
          </a:bodyPr>
          <a:lstStyle/>
          <a:p>
            <a:pPr algn="l">
              <a:defRPr sz="1400" b="1" i="0">
                <a:solidFill>
                  <a:srgbClr val="1C1C1E"/>
                </a:solidFill>
                <a:latin typeface="Calibri"/>
              </a:defRPr>
            </a:pPr>
            <a:r>
              <a:t>Phase 4: AI-First Culture</a:t>
            </a:r>
          </a:p>
        </p:txBody>
      </p:sp>
      <p:sp>
        <p:nvSpPr>
          <p:cNvPr id="19" name="TextBox 18"/>
          <p:cNvSpPr txBox="1"/>
          <p:nvPr/>
        </p:nvSpPr>
        <p:spPr>
          <a:xfrm>
            <a:off x="6629400" y="4160520"/>
            <a:ext cx="1828800" cy="182880"/>
          </a:xfrm>
          <a:prstGeom prst="rect">
            <a:avLst/>
          </a:prstGeom>
          <a:noFill/>
        </p:spPr>
        <p:txBody>
          <a:bodyPr wrap="square">
            <a:spAutoFit/>
          </a:bodyPr>
          <a:lstStyle/>
          <a:p>
            <a:pPr algn="l">
              <a:defRPr sz="1000" b="1" i="0">
                <a:solidFill>
                  <a:srgbClr val="767676"/>
                </a:solidFill>
                <a:latin typeface="Calibri"/>
              </a:defRPr>
            </a:pPr>
            <a:r>
              <a:t>Year 2+</a:t>
            </a:r>
          </a:p>
        </p:txBody>
      </p:sp>
      <p:sp>
        <p:nvSpPr>
          <p:cNvPr id="20" name="TextBox 19"/>
          <p:cNvSpPr txBox="1"/>
          <p:nvPr/>
        </p:nvSpPr>
        <p:spPr>
          <a:xfrm>
            <a:off x="6629400" y="443484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AXS Intelligence Platform development</a:t>
            </a:r>
          </a:p>
          <a:p>
            <a:pPr>
              <a:spcAft>
                <a:spcPts val="1100"/>
              </a:spcAft>
              <a:defRPr sz="1100" b="0">
                <a:solidFill>
                  <a:srgbClr val="3A3A3C"/>
                </a:solidFill>
                <a:latin typeface="Calibri"/>
              </a:defRPr>
            </a:pPr>
            <a:r>
              <a:t>•  Digital twin and generative design capability</a:t>
            </a:r>
          </a:p>
          <a:p>
            <a:pPr>
              <a:spcAft>
                <a:spcPts val="1100"/>
              </a:spcAft>
              <a:defRPr sz="1100" b="0">
                <a:solidFill>
                  <a:srgbClr val="3A3A3C"/>
                </a:solidFill>
                <a:latin typeface="Calibri"/>
              </a:defRPr>
            </a:pPr>
            <a:r>
              <a:t>•  Predictive maintenance subscription model</a:t>
            </a:r>
          </a:p>
          <a:p>
            <a:pPr>
              <a:spcAft>
                <a:spcPts val="1100"/>
              </a:spcAft>
              <a:defRPr sz="1100" b="0">
                <a:solidFill>
                  <a:srgbClr val="3A3A3C"/>
                </a:solidFill>
                <a:latin typeface="Calibri"/>
              </a:defRPr>
            </a:pPr>
            <a:r>
              <a:t>•  AI-adjusted component performance</a:t>
            </a:r>
          </a:p>
        </p:txBody>
      </p:sp>
      <p:sp>
        <p:nvSpPr>
          <p:cNvPr id="21" name="TextBox 20"/>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