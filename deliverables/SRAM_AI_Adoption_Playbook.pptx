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9933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1847088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1627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94560" y="2852928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2D5F8A"/>
                </a:solidFill>
                <a:latin typeface="Calibri"/>
              </a:defRPr>
            </a:pPr>
            <a:r>
              <a:t>Support tasks are measurable, well-defined, and understood. AI quality is easy to verify when domain knowledge is high.</a:t>
            </a:r>
          </a:p>
        </p:txBody>
      </p:sp>
      <p:sp>
        <p:nvSpPr>
          <p:cNvPr id="60" name="Oval 59"/>
          <p:cNvSpPr/>
          <p:nvPr/>
        </p:nvSpPr>
        <p:spPr>
          <a:xfrm>
            <a:off x="731520" y="6400800"/>
            <a:ext cx="109728" cy="109728"/>
          </a:xfrm>
          <a:prstGeom prst="ellipse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62" name="Oval 61"/>
          <p:cNvSpPr/>
          <p:nvPr/>
        </p:nvSpPr>
        <p:spPr>
          <a:xfrm>
            <a:off x="2194560" y="6400800"/>
            <a:ext cx="109728" cy="109728"/>
          </a:xfrm>
          <a:prstGeom prst="ellipse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4086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64" name="Oval 63"/>
          <p:cNvSpPr/>
          <p:nvPr/>
        </p:nvSpPr>
        <p:spPr>
          <a:xfrm>
            <a:off x="3657600" y="6400800"/>
            <a:ext cx="109728" cy="109728"/>
          </a:xfrm>
          <a:prstGeom prst="ellipse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0390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66" name="Oval 65"/>
          <p:cNvSpPr/>
          <p:nvPr/>
        </p:nvSpPr>
        <p:spPr>
          <a:xfrm>
            <a:off x="5120640" y="6400800"/>
            <a:ext cx="109728" cy="109728"/>
          </a:xfrm>
          <a:prstGeom prst="ellipse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6694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8562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288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Cut first-response time by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28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8562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vs. current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671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Reduce average time-to-first-response on AXS and Hammerhead dealer support tickets by 40% within 90 days, measured weekly against the pre-pilot SLA baseline in Zendesk.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706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43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Resolve 15% more tickets without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706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vs. current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0815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Increase the share of tickets resolved without escalation by 15 percentage points within 90 days, measured weekly against the current escalation rate.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661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6850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576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Reach 70%+ AI draft acceptance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685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agent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9959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Achieve a 70% or higher rate of support agents approving the AI-drafted response (with minor or no edits) by day 90. Below 50% at day 45 triggers a scope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5994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Increase agent throughput by 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994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tickets/agent/day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9103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Raise tickets handled per agent per day by 25% within 90 days. Confirms AI assistance translates into real productivity.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394960"/>
            <a:ext cx="10698480" cy="86868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513832"/>
            <a:ext cx="457200" cy="32004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864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486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55138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CSAT holds flat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58247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Maintain or improve CSAT scores on AI-assisted tickets. Any sustained decline triggers rollback. Trustpilot (1.6/5.0) should stabilize by day 90.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6355080"/>
            <a:ext cx="10789920" cy="320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6355080"/>
            <a:ext cx="50800" cy="3200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6446520"/>
            <a:ext cx="10241280" cy="-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“Kill criteria: 2 weeks of quality degradation, any safety error reaching a dealer without review, or dealer opt-out above 15%.”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6400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86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G1-G5 = SMART Goals  |  Day-45 checkpoint triggers scope review if draft acceptance &lt; 50%  |  Day-90 is the formal go/no-go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897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Full Year-1 Phasing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004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78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897880"/>
            <a:ext cx="41148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5897880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3: 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Support Pilot Savings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</a:t>
            </a:r>
            <a:br/>
            <a:r>
              <a:t>= $1.6M Year-1 support savings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Scenario Range (All Phases)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343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00600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846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10698480" cy="11887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520440"/>
            <a:ext cx="50800" cy="11887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59359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1605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892040"/>
            <a:ext cx="342900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9834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25780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892040"/>
            <a:ext cx="342900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9834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25780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892040"/>
            <a:ext cx="342900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49834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25780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