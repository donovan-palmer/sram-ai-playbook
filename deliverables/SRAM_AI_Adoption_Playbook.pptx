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28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371600" y="1097280"/>
            <a:ext cx="2743200" cy="353382"/>
          </a:xfrm>
          <a:prstGeom prst="rect">
            <a:avLst/>
          </a:prstGeom>
        </p:spPr>
      </p:pic>
      <p:sp>
        <p:nvSpPr>
          <p:cNvPr id="3" name="Rectangle 2"/>
          <p:cNvSpPr/>
          <p:nvPr/>
        </p:nvSpPr>
        <p:spPr>
          <a:xfrm>
            <a:off x="1371600" y="2194560"/>
            <a:ext cx="109728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371600" y="2377440"/>
            <a:ext cx="9144000" cy="2286000"/>
          </a:xfrm>
          <a:prstGeom prst="rect">
            <a:avLst/>
          </a:prstGeom>
          <a:noFill/>
        </p:spPr>
        <p:txBody>
          <a:bodyPr wrap="square">
            <a:spAutoFit/>
          </a:bodyPr>
          <a:lstStyle/>
          <a:p>
            <a:pPr>
              <a:spcAft>
                <a:spcPts val="2640"/>
              </a:spcAft>
              <a:defRPr sz="4400" b="1">
                <a:solidFill>
                  <a:srgbClr val="1C1C1E"/>
                </a:solidFill>
                <a:latin typeface="Calibri"/>
              </a:defRPr>
            </a:pPr>
            <a:r>
              <a:t>SRAM LLC</a:t>
            </a:r>
          </a:p>
          <a:p>
            <a:pPr>
              <a:spcAft>
                <a:spcPts val="1560"/>
              </a:spcAft>
              <a:defRPr sz="2600" b="0">
                <a:solidFill>
                  <a:srgbClr val="767676"/>
                </a:solidFill>
                <a:latin typeface="Calibri"/>
              </a:defRPr>
            </a:pPr>
            <a:r>
              <a:t>AI Adoption Playbook</a:t>
            </a:r>
          </a:p>
          <a:p>
            <a:pPr>
              <a:spcAft>
                <a:spcPts val="600"/>
              </a:spcAft>
              <a:defRPr sz="1000" b="0">
                <a:solidFill>
                  <a:srgbClr val="767676"/>
                </a:solidFill>
                <a:latin typeface="Calibri"/>
              </a:defRPr>
            </a:pPr>
            <a:endParaRPr/>
          </a:p>
          <a:p>
            <a:pPr>
              <a:spcAft>
                <a:spcPts val="960"/>
              </a:spcAft>
              <a:defRPr sz="1600" b="0">
                <a:solidFill>
                  <a:srgbClr val="3A3A3C"/>
                </a:solidFill>
                <a:latin typeface="Calibri"/>
              </a:defRPr>
            </a:pPr>
            <a:r>
              <a:t>A $10M opportunity starting with a 6-month support pilot</a:t>
            </a:r>
          </a:p>
          <a:p>
            <a:pPr>
              <a:spcAft>
                <a:spcPts val="480"/>
              </a:spcAft>
              <a:defRPr sz="800" b="0">
                <a:solidFill>
                  <a:srgbClr val="767676"/>
                </a:solidFill>
                <a:latin typeface="Calibri"/>
              </a:defRPr>
            </a:pPr>
            <a:endParaRPr/>
          </a:p>
          <a:p>
            <a:pPr>
              <a:spcAft>
                <a:spcPts val="780"/>
              </a:spcAft>
              <a:defRPr sz="1300" b="0">
                <a:solidFill>
                  <a:srgbClr val="767676"/>
                </a:solidFill>
                <a:latin typeface="Calibri"/>
              </a:defRPr>
            </a:pPr>
            <a:r>
              <a:t>Prepared for Executive Leadership  |  March 2026</a:t>
            </a:r>
          </a:p>
          <a:p>
            <a:pPr>
              <a:spcAft>
                <a:spcPts val="360"/>
              </a:spcAft>
              <a:defRPr sz="600" b="0">
                <a:solidFill>
                  <a:srgbClr val="767676"/>
                </a:solidFill>
                <a:latin typeface="Calibri"/>
              </a:defRPr>
            </a:pPr>
            <a:endParaRPr/>
          </a:p>
          <a:p>
            <a:pPr>
              <a:spcAft>
                <a:spcPts val="780"/>
              </a:spcAft>
              <a:defRPr sz="1300" b="0">
                <a:solidFill>
                  <a:srgbClr val="767676"/>
                </a:solidFill>
                <a:latin typeface="Calibri"/>
              </a:defRPr>
            </a:pPr>
            <a:r>
              <a:t>Donovan Palmer, Ed Kreienberg, Will Zheng</a:t>
            </a:r>
          </a:p>
        </p:txBody>
      </p:sp>
      <p:sp>
        <p:nvSpPr>
          <p:cNvPr id="5" name="TextBox 4"/>
          <p:cNvSpPr txBox="1"/>
          <p:nvPr/>
        </p:nvSpPr>
        <p:spPr>
          <a:xfrm>
            <a:off x="1371600" y="5760720"/>
            <a:ext cx="9144000" cy="365760"/>
          </a:xfrm>
          <a:prstGeom prst="rect">
            <a:avLst/>
          </a:prstGeom>
          <a:noFill/>
        </p:spPr>
        <p:txBody>
          <a:bodyPr wrap="square">
            <a:spAutoFit/>
          </a:bodyPr>
          <a:lstStyle/>
          <a:p>
            <a:pPr algn="l">
              <a:defRPr sz="1000" b="0" i="0">
                <a:solidFill>
                  <a:srgbClr val="767676"/>
                </a:solidFill>
                <a:latin typeface="Calibri"/>
              </a:defRPr>
            </a:pPr>
            <a:r>
              <a:t>AIML 950  |  Human and Machine Intelligence  |  Northwestern Kellogg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CONTEXT</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SRAM makes the parts that make bikes go, stop, and shift</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371600"/>
            <a:ext cx="10058400" cy="457200"/>
          </a:xfrm>
          <a:prstGeom prst="rect">
            <a:avLst/>
          </a:prstGeom>
          <a:noFill/>
        </p:spPr>
        <p:txBody>
          <a:bodyPr wrap="square">
            <a:spAutoFit/>
          </a:bodyPr>
          <a:lstStyle/>
          <a:p>
            <a:pPr algn="l">
              <a:defRPr sz="1400" b="0" i="0">
                <a:solidFill>
                  <a:srgbClr val="767676"/>
                </a:solidFill>
                <a:latin typeface="Calibri"/>
              </a:defRPr>
            </a:pPr>
            <a:r>
              <a:t>A $1B+ company headquartered in Chicago, powering bikes from weekend rides to the Tour de France.</a:t>
            </a:r>
          </a:p>
        </p:txBody>
      </p:sp>
      <p:sp>
        <p:nvSpPr>
          <p:cNvPr id="7" name="Rounded Rectangle 6"/>
          <p:cNvSpPr/>
          <p:nvPr/>
        </p:nvSpPr>
        <p:spPr>
          <a:xfrm>
            <a:off x="731520" y="2011680"/>
            <a:ext cx="159258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2194560"/>
            <a:ext cx="1592580" cy="228600"/>
          </a:xfrm>
          <a:prstGeom prst="rect">
            <a:avLst/>
          </a:prstGeom>
          <a:noFill/>
        </p:spPr>
        <p:txBody>
          <a:bodyPr wrap="square">
            <a:spAutoFit/>
          </a:bodyPr>
          <a:lstStyle/>
          <a:p>
            <a:pPr algn="ctr">
              <a:defRPr sz="1000" b="1" i="0">
                <a:solidFill>
                  <a:srgbClr val="767676"/>
                </a:solidFill>
                <a:latin typeface="Calibri"/>
              </a:defRPr>
            </a:pPr>
            <a:r>
              <a:t>SRAM</a:t>
            </a:r>
          </a:p>
        </p:txBody>
      </p:sp>
      <p:sp>
        <p:nvSpPr>
          <p:cNvPr id="9" name="TextBox 8"/>
          <p:cNvSpPr txBox="1"/>
          <p:nvPr/>
        </p:nvSpPr>
        <p:spPr>
          <a:xfrm>
            <a:off x="731520" y="2514600"/>
            <a:ext cx="1592580" cy="457200"/>
          </a:xfrm>
          <a:prstGeom prst="rect">
            <a:avLst/>
          </a:prstGeom>
          <a:noFill/>
        </p:spPr>
        <p:txBody>
          <a:bodyPr wrap="square">
            <a:spAutoFit/>
          </a:bodyPr>
          <a:lstStyle/>
          <a:p>
            <a:pPr algn="ctr">
              <a:defRPr sz="1600" b="1" i="0">
                <a:solidFill>
                  <a:srgbClr val="1C1C1E"/>
                </a:solidFill>
                <a:latin typeface="Calibri"/>
              </a:defRPr>
            </a:pPr>
            <a:r>
              <a:t>Drivetrains + Braking</a:t>
            </a:r>
          </a:p>
        </p:txBody>
      </p:sp>
      <p:sp>
        <p:nvSpPr>
          <p:cNvPr id="10" name="TextBox 9"/>
          <p:cNvSpPr txBox="1"/>
          <p:nvPr/>
        </p:nvSpPr>
        <p:spPr>
          <a:xfrm>
            <a:off x="868680" y="3108960"/>
            <a:ext cx="1318260" cy="914400"/>
          </a:xfrm>
          <a:prstGeom prst="rect">
            <a:avLst/>
          </a:prstGeom>
          <a:noFill/>
        </p:spPr>
        <p:txBody>
          <a:bodyPr wrap="square">
            <a:spAutoFit/>
          </a:bodyPr>
          <a:lstStyle/>
          <a:p>
            <a:pPr algn="ctr">
              <a:defRPr sz="1100" b="0" i="0">
                <a:solidFill>
                  <a:srgbClr val="3A3A3C"/>
                </a:solidFill>
                <a:latin typeface="Calibri"/>
              </a:defRPr>
            </a:pPr>
            <a:r>
              <a:t>Gears, chains, and disc</a:t>
            </a:r>
            <a:br/>
            <a:r>
              <a:t>brakes for every bike</a:t>
            </a:r>
          </a:p>
        </p:txBody>
      </p:sp>
      <p:sp>
        <p:nvSpPr>
          <p:cNvPr id="11" name="Rounded Rectangle 10"/>
          <p:cNvSpPr/>
          <p:nvPr/>
        </p:nvSpPr>
        <p:spPr>
          <a:xfrm>
            <a:off x="2552700" y="2011680"/>
            <a:ext cx="159258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52700" y="2194560"/>
            <a:ext cx="1592580" cy="228600"/>
          </a:xfrm>
          <a:prstGeom prst="rect">
            <a:avLst/>
          </a:prstGeom>
          <a:noFill/>
        </p:spPr>
        <p:txBody>
          <a:bodyPr wrap="square">
            <a:spAutoFit/>
          </a:bodyPr>
          <a:lstStyle/>
          <a:p>
            <a:pPr algn="ctr">
              <a:defRPr sz="1000" b="1" i="0">
                <a:solidFill>
                  <a:srgbClr val="767676"/>
                </a:solidFill>
                <a:latin typeface="Calibri"/>
              </a:defRPr>
            </a:pPr>
            <a:r>
              <a:t>RockShox</a:t>
            </a:r>
          </a:p>
        </p:txBody>
      </p:sp>
      <p:sp>
        <p:nvSpPr>
          <p:cNvPr id="13" name="TextBox 12"/>
          <p:cNvSpPr txBox="1"/>
          <p:nvPr/>
        </p:nvSpPr>
        <p:spPr>
          <a:xfrm>
            <a:off x="2552700" y="2514600"/>
            <a:ext cx="1592580" cy="457200"/>
          </a:xfrm>
          <a:prstGeom prst="rect">
            <a:avLst/>
          </a:prstGeom>
          <a:noFill/>
        </p:spPr>
        <p:txBody>
          <a:bodyPr wrap="square">
            <a:spAutoFit/>
          </a:bodyPr>
          <a:lstStyle/>
          <a:p>
            <a:pPr algn="ctr">
              <a:defRPr sz="1600" b="1" i="0">
                <a:solidFill>
                  <a:srgbClr val="1C1C1E"/>
                </a:solidFill>
                <a:latin typeface="Calibri"/>
              </a:defRPr>
            </a:pPr>
            <a:r>
              <a:t>Suspension</a:t>
            </a:r>
          </a:p>
        </p:txBody>
      </p:sp>
      <p:sp>
        <p:nvSpPr>
          <p:cNvPr id="14" name="TextBox 13"/>
          <p:cNvSpPr txBox="1"/>
          <p:nvPr/>
        </p:nvSpPr>
        <p:spPr>
          <a:xfrm>
            <a:off x="2689860" y="3108960"/>
            <a:ext cx="1318260" cy="914400"/>
          </a:xfrm>
          <a:prstGeom prst="rect">
            <a:avLst/>
          </a:prstGeom>
          <a:noFill/>
        </p:spPr>
        <p:txBody>
          <a:bodyPr wrap="square">
            <a:spAutoFit/>
          </a:bodyPr>
          <a:lstStyle/>
          <a:p>
            <a:pPr algn="ctr">
              <a:defRPr sz="1100" b="0" i="0">
                <a:solidFill>
                  <a:srgbClr val="3A3A3C"/>
                </a:solidFill>
                <a:latin typeface="Calibri"/>
              </a:defRPr>
            </a:pPr>
            <a:r>
              <a:t>Forks and shocks that</a:t>
            </a:r>
            <a:br/>
            <a:r>
              <a:t>absorb trail impacts</a:t>
            </a:r>
          </a:p>
        </p:txBody>
      </p:sp>
      <p:sp>
        <p:nvSpPr>
          <p:cNvPr id="15" name="Rounded Rectangle 14"/>
          <p:cNvSpPr/>
          <p:nvPr/>
        </p:nvSpPr>
        <p:spPr>
          <a:xfrm>
            <a:off x="4373880" y="2011680"/>
            <a:ext cx="159258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373880" y="2194560"/>
            <a:ext cx="1592580" cy="228600"/>
          </a:xfrm>
          <a:prstGeom prst="rect">
            <a:avLst/>
          </a:prstGeom>
          <a:noFill/>
        </p:spPr>
        <p:txBody>
          <a:bodyPr wrap="square">
            <a:spAutoFit/>
          </a:bodyPr>
          <a:lstStyle/>
          <a:p>
            <a:pPr algn="ctr">
              <a:defRPr sz="1000" b="1" i="0">
                <a:solidFill>
                  <a:srgbClr val="767676"/>
                </a:solidFill>
                <a:latin typeface="Calibri"/>
              </a:defRPr>
            </a:pPr>
            <a:r>
              <a:t>Zipp</a:t>
            </a:r>
          </a:p>
        </p:txBody>
      </p:sp>
      <p:sp>
        <p:nvSpPr>
          <p:cNvPr id="17" name="TextBox 16"/>
          <p:cNvSpPr txBox="1"/>
          <p:nvPr/>
        </p:nvSpPr>
        <p:spPr>
          <a:xfrm>
            <a:off x="4373880" y="2514600"/>
            <a:ext cx="1592580" cy="457200"/>
          </a:xfrm>
          <a:prstGeom prst="rect">
            <a:avLst/>
          </a:prstGeom>
          <a:noFill/>
        </p:spPr>
        <p:txBody>
          <a:bodyPr wrap="square">
            <a:spAutoFit/>
          </a:bodyPr>
          <a:lstStyle/>
          <a:p>
            <a:pPr algn="ctr">
              <a:defRPr sz="1600" b="1" i="0">
                <a:solidFill>
                  <a:srgbClr val="1C1C1E"/>
                </a:solidFill>
                <a:latin typeface="Calibri"/>
              </a:defRPr>
            </a:pPr>
            <a:r>
              <a:t>Wheels + Cockpit</a:t>
            </a:r>
          </a:p>
        </p:txBody>
      </p:sp>
      <p:sp>
        <p:nvSpPr>
          <p:cNvPr id="18" name="TextBox 17"/>
          <p:cNvSpPr txBox="1"/>
          <p:nvPr/>
        </p:nvSpPr>
        <p:spPr>
          <a:xfrm>
            <a:off x="4511040" y="3108960"/>
            <a:ext cx="1318260" cy="914400"/>
          </a:xfrm>
          <a:prstGeom prst="rect">
            <a:avLst/>
          </a:prstGeom>
          <a:noFill/>
        </p:spPr>
        <p:txBody>
          <a:bodyPr wrap="square">
            <a:spAutoFit/>
          </a:bodyPr>
          <a:lstStyle/>
          <a:p>
            <a:pPr algn="ctr">
              <a:defRPr sz="1100" b="0" i="0">
                <a:solidFill>
                  <a:srgbClr val="3A3A3C"/>
                </a:solidFill>
                <a:latin typeface="Calibri"/>
              </a:defRPr>
            </a:pPr>
            <a:r>
              <a:t>Aero wheels, handlebars,</a:t>
            </a:r>
            <a:br/>
            <a:r>
              <a:t>and stems</a:t>
            </a:r>
          </a:p>
        </p:txBody>
      </p:sp>
      <p:sp>
        <p:nvSpPr>
          <p:cNvPr id="19" name="Rounded Rectangle 18"/>
          <p:cNvSpPr/>
          <p:nvPr/>
        </p:nvSpPr>
        <p:spPr>
          <a:xfrm>
            <a:off x="6195060" y="2011680"/>
            <a:ext cx="159258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195060" y="2194560"/>
            <a:ext cx="1592580" cy="228600"/>
          </a:xfrm>
          <a:prstGeom prst="rect">
            <a:avLst/>
          </a:prstGeom>
          <a:noFill/>
        </p:spPr>
        <p:txBody>
          <a:bodyPr wrap="square">
            <a:spAutoFit/>
          </a:bodyPr>
          <a:lstStyle/>
          <a:p>
            <a:pPr algn="ctr">
              <a:defRPr sz="1000" b="1" i="0">
                <a:solidFill>
                  <a:srgbClr val="767676"/>
                </a:solidFill>
                <a:latin typeface="Calibri"/>
              </a:defRPr>
            </a:pPr>
            <a:r>
              <a:t>Quarq</a:t>
            </a:r>
          </a:p>
        </p:txBody>
      </p:sp>
      <p:sp>
        <p:nvSpPr>
          <p:cNvPr id="21" name="TextBox 20"/>
          <p:cNvSpPr txBox="1"/>
          <p:nvPr/>
        </p:nvSpPr>
        <p:spPr>
          <a:xfrm>
            <a:off x="6195060" y="2514600"/>
            <a:ext cx="1592580" cy="457200"/>
          </a:xfrm>
          <a:prstGeom prst="rect">
            <a:avLst/>
          </a:prstGeom>
          <a:noFill/>
        </p:spPr>
        <p:txBody>
          <a:bodyPr wrap="square">
            <a:spAutoFit/>
          </a:bodyPr>
          <a:lstStyle/>
          <a:p>
            <a:pPr algn="ctr">
              <a:defRPr sz="1600" b="1" i="0">
                <a:solidFill>
                  <a:srgbClr val="1C1C1E"/>
                </a:solidFill>
                <a:latin typeface="Calibri"/>
              </a:defRPr>
            </a:pPr>
            <a:r>
              <a:t>Power Meters</a:t>
            </a:r>
          </a:p>
        </p:txBody>
      </p:sp>
      <p:sp>
        <p:nvSpPr>
          <p:cNvPr id="22" name="TextBox 21"/>
          <p:cNvSpPr txBox="1"/>
          <p:nvPr/>
        </p:nvSpPr>
        <p:spPr>
          <a:xfrm>
            <a:off x="6332220" y="3108960"/>
            <a:ext cx="1318260" cy="914400"/>
          </a:xfrm>
          <a:prstGeom prst="rect">
            <a:avLst/>
          </a:prstGeom>
          <a:noFill/>
        </p:spPr>
        <p:txBody>
          <a:bodyPr wrap="square">
            <a:spAutoFit/>
          </a:bodyPr>
          <a:lstStyle/>
          <a:p>
            <a:pPr algn="ctr">
              <a:defRPr sz="1100" b="0" i="0">
                <a:solidFill>
                  <a:srgbClr val="3A3A3C"/>
                </a:solidFill>
                <a:latin typeface="Calibri"/>
              </a:defRPr>
            </a:pPr>
            <a:r>
              <a:t>Sensors that measure</a:t>
            </a:r>
            <a:br/>
            <a:r>
              <a:t>rider output in watts</a:t>
            </a:r>
          </a:p>
        </p:txBody>
      </p:sp>
      <p:sp>
        <p:nvSpPr>
          <p:cNvPr id="23" name="Rounded Rectangle 22"/>
          <p:cNvSpPr/>
          <p:nvPr/>
        </p:nvSpPr>
        <p:spPr>
          <a:xfrm>
            <a:off x="8016240" y="2011680"/>
            <a:ext cx="159258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016240" y="2194560"/>
            <a:ext cx="1592580" cy="228600"/>
          </a:xfrm>
          <a:prstGeom prst="rect">
            <a:avLst/>
          </a:prstGeom>
          <a:noFill/>
        </p:spPr>
        <p:txBody>
          <a:bodyPr wrap="square">
            <a:spAutoFit/>
          </a:bodyPr>
          <a:lstStyle/>
          <a:p>
            <a:pPr algn="ctr">
              <a:defRPr sz="1000" b="1" i="0">
                <a:solidFill>
                  <a:srgbClr val="767676"/>
                </a:solidFill>
                <a:latin typeface="Calibri"/>
              </a:defRPr>
            </a:pPr>
            <a:r>
              <a:t>Hammerhead</a:t>
            </a:r>
          </a:p>
        </p:txBody>
      </p:sp>
      <p:sp>
        <p:nvSpPr>
          <p:cNvPr id="25" name="TextBox 24"/>
          <p:cNvSpPr txBox="1"/>
          <p:nvPr/>
        </p:nvSpPr>
        <p:spPr>
          <a:xfrm>
            <a:off x="8016240" y="2514600"/>
            <a:ext cx="1592580" cy="457200"/>
          </a:xfrm>
          <a:prstGeom prst="rect">
            <a:avLst/>
          </a:prstGeom>
          <a:noFill/>
        </p:spPr>
        <p:txBody>
          <a:bodyPr wrap="square">
            <a:spAutoFit/>
          </a:bodyPr>
          <a:lstStyle/>
          <a:p>
            <a:pPr algn="ctr">
              <a:defRPr sz="1600" b="1" i="0">
                <a:solidFill>
                  <a:srgbClr val="1C1C1E"/>
                </a:solidFill>
                <a:latin typeface="Calibri"/>
              </a:defRPr>
            </a:pPr>
            <a:r>
              <a:t>GPS Bike Computer</a:t>
            </a:r>
          </a:p>
        </p:txBody>
      </p:sp>
      <p:sp>
        <p:nvSpPr>
          <p:cNvPr id="26" name="TextBox 25"/>
          <p:cNvSpPr txBox="1"/>
          <p:nvPr/>
        </p:nvSpPr>
        <p:spPr>
          <a:xfrm>
            <a:off x="8153400" y="3108960"/>
            <a:ext cx="1318260" cy="914400"/>
          </a:xfrm>
          <a:prstGeom prst="rect">
            <a:avLst/>
          </a:prstGeom>
          <a:noFill/>
        </p:spPr>
        <p:txBody>
          <a:bodyPr wrap="square">
            <a:spAutoFit/>
          </a:bodyPr>
          <a:lstStyle/>
          <a:p>
            <a:pPr algn="ctr">
              <a:defRPr sz="1100" b="0" i="0">
                <a:solidFill>
                  <a:srgbClr val="3A3A3C"/>
                </a:solidFill>
                <a:latin typeface="Calibri"/>
              </a:defRPr>
            </a:pPr>
            <a:r>
              <a:t>On-bike computer for</a:t>
            </a:r>
            <a:br/>
            <a:r>
              <a:t>navigation and training data</a:t>
            </a:r>
          </a:p>
        </p:txBody>
      </p:sp>
      <p:sp>
        <p:nvSpPr>
          <p:cNvPr id="27" name="Rounded Rectangle 26"/>
          <p:cNvSpPr/>
          <p:nvPr/>
        </p:nvSpPr>
        <p:spPr>
          <a:xfrm>
            <a:off x="9837420" y="2011680"/>
            <a:ext cx="159258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837420" y="2194560"/>
            <a:ext cx="1592580" cy="228600"/>
          </a:xfrm>
          <a:prstGeom prst="rect">
            <a:avLst/>
          </a:prstGeom>
          <a:noFill/>
        </p:spPr>
        <p:txBody>
          <a:bodyPr wrap="square">
            <a:spAutoFit/>
          </a:bodyPr>
          <a:lstStyle/>
          <a:p>
            <a:pPr algn="ctr">
              <a:defRPr sz="1000" b="1" i="0">
                <a:solidFill>
                  <a:srgbClr val="767676"/>
                </a:solidFill>
                <a:latin typeface="Calibri"/>
              </a:defRPr>
            </a:pPr>
            <a:r>
              <a:t>TIME</a:t>
            </a:r>
          </a:p>
        </p:txBody>
      </p:sp>
      <p:sp>
        <p:nvSpPr>
          <p:cNvPr id="29" name="TextBox 28"/>
          <p:cNvSpPr txBox="1"/>
          <p:nvPr/>
        </p:nvSpPr>
        <p:spPr>
          <a:xfrm>
            <a:off x="9837420" y="2514600"/>
            <a:ext cx="1592580" cy="457200"/>
          </a:xfrm>
          <a:prstGeom prst="rect">
            <a:avLst/>
          </a:prstGeom>
          <a:noFill/>
        </p:spPr>
        <p:txBody>
          <a:bodyPr wrap="square">
            <a:spAutoFit/>
          </a:bodyPr>
          <a:lstStyle/>
          <a:p>
            <a:pPr algn="ctr">
              <a:defRPr sz="1600" b="1" i="0">
                <a:solidFill>
                  <a:srgbClr val="1C1C1E"/>
                </a:solidFill>
                <a:latin typeface="Calibri"/>
              </a:defRPr>
            </a:pPr>
            <a:r>
              <a:t>Pedals</a:t>
            </a:r>
          </a:p>
        </p:txBody>
      </p:sp>
      <p:sp>
        <p:nvSpPr>
          <p:cNvPr id="30" name="TextBox 29"/>
          <p:cNvSpPr txBox="1"/>
          <p:nvPr/>
        </p:nvSpPr>
        <p:spPr>
          <a:xfrm>
            <a:off x="9974580" y="3108960"/>
            <a:ext cx="1318260" cy="914400"/>
          </a:xfrm>
          <a:prstGeom prst="rect">
            <a:avLst/>
          </a:prstGeom>
          <a:noFill/>
        </p:spPr>
        <p:txBody>
          <a:bodyPr wrap="square">
            <a:spAutoFit/>
          </a:bodyPr>
          <a:lstStyle/>
          <a:p>
            <a:pPr algn="ctr">
              <a:defRPr sz="1100" b="0" i="0">
                <a:solidFill>
                  <a:srgbClr val="3A3A3C"/>
                </a:solidFill>
                <a:latin typeface="Calibri"/>
              </a:defRPr>
            </a:pPr>
            <a:r>
              <a:t>Clip-in pedal systems</a:t>
            </a:r>
            <a:br/>
            <a:r>
              <a:t>for road and mountain</a:t>
            </a:r>
          </a:p>
        </p:txBody>
      </p:sp>
      <p:sp>
        <p:nvSpPr>
          <p:cNvPr id="31" name="TextBox 30"/>
          <p:cNvSpPr txBox="1"/>
          <p:nvPr/>
        </p:nvSpPr>
        <p:spPr>
          <a:xfrm>
            <a:off x="731520" y="4572000"/>
            <a:ext cx="10698480" cy="457200"/>
          </a:xfrm>
          <a:prstGeom prst="rect">
            <a:avLst/>
          </a:prstGeom>
          <a:noFill/>
        </p:spPr>
        <p:txBody>
          <a:bodyPr wrap="square">
            <a:spAutoFit/>
          </a:bodyPr>
          <a:lstStyle/>
          <a:p>
            <a:pPr algn="ctr">
              <a:defRPr sz="1400" b="1" i="0">
                <a:solidFill>
                  <a:srgbClr val="3A3A3C"/>
                </a:solidFill>
                <a:latin typeface="Calibri"/>
              </a:defRPr>
            </a:pPr>
            <a:r>
              <a:t>6 brands. 1 connected ecosystem. From weekend riders to Tour de France pros.</a:t>
            </a:r>
          </a:p>
        </p:txBody>
      </p:sp>
      <p:sp>
        <p:nvSpPr>
          <p:cNvPr id="32" name="TextBox 31"/>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33" name="TextBox 32"/>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WHAT IS</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SRAM's connected ecosystem is unmatched in cycling</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731520" y="1463040"/>
            <a:ext cx="2560320" cy="11430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600200"/>
            <a:ext cx="2103120" cy="228600"/>
          </a:xfrm>
          <a:prstGeom prst="rect">
            <a:avLst/>
          </a:prstGeom>
          <a:noFill/>
        </p:spPr>
        <p:txBody>
          <a:bodyPr wrap="square">
            <a:spAutoFit/>
          </a:bodyPr>
          <a:lstStyle/>
          <a:p>
            <a:pPr algn="l">
              <a:defRPr sz="1000" b="0" i="0">
                <a:solidFill>
                  <a:srgbClr val="767676"/>
                </a:solidFill>
                <a:latin typeface="Calibri"/>
              </a:defRPr>
            </a:pPr>
            <a:r>
              <a:t>REVENUE</a:t>
            </a:r>
          </a:p>
        </p:txBody>
      </p:sp>
      <p:sp>
        <p:nvSpPr>
          <p:cNvPr id="8" name="TextBox 7"/>
          <p:cNvSpPr txBox="1"/>
          <p:nvPr/>
        </p:nvSpPr>
        <p:spPr>
          <a:xfrm>
            <a:off x="960120" y="1828800"/>
            <a:ext cx="2103120" cy="411480"/>
          </a:xfrm>
          <a:prstGeom prst="rect">
            <a:avLst/>
          </a:prstGeom>
          <a:noFill/>
        </p:spPr>
        <p:txBody>
          <a:bodyPr wrap="square">
            <a:spAutoFit/>
          </a:bodyPr>
          <a:lstStyle/>
          <a:p>
            <a:pPr algn="l">
              <a:defRPr sz="2600" b="1" i="0">
                <a:solidFill>
                  <a:srgbClr val="1C1C1E"/>
                </a:solidFill>
                <a:latin typeface="Calibri"/>
              </a:defRPr>
            </a:pPr>
            <a:r>
              <a:t>$1B+</a:t>
            </a:r>
          </a:p>
        </p:txBody>
      </p:sp>
      <p:sp>
        <p:nvSpPr>
          <p:cNvPr id="9" name="TextBox 8"/>
          <p:cNvSpPr txBox="1"/>
          <p:nvPr/>
        </p:nvSpPr>
        <p:spPr>
          <a:xfrm>
            <a:off x="960120" y="2286000"/>
            <a:ext cx="2103120" cy="228600"/>
          </a:xfrm>
          <a:prstGeom prst="rect">
            <a:avLst/>
          </a:prstGeom>
          <a:noFill/>
        </p:spPr>
        <p:txBody>
          <a:bodyPr wrap="square">
            <a:spAutoFit/>
          </a:bodyPr>
          <a:lstStyle/>
          <a:p>
            <a:pPr algn="l">
              <a:defRPr sz="900" b="0" i="0">
                <a:solidFill>
                  <a:srgbClr val="767676"/>
                </a:solidFill>
                <a:latin typeface="Calibri"/>
              </a:defRPr>
            </a:pPr>
            <a:r>
              <a:t>Private, Chicago-founded</a:t>
            </a:r>
          </a:p>
        </p:txBody>
      </p:sp>
      <p:sp>
        <p:nvSpPr>
          <p:cNvPr id="10" name="Rounded Rectangle 9"/>
          <p:cNvSpPr/>
          <p:nvPr/>
        </p:nvSpPr>
        <p:spPr>
          <a:xfrm>
            <a:off x="3520439" y="1463040"/>
            <a:ext cx="2560320" cy="11430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749039" y="1600200"/>
            <a:ext cx="2103120" cy="228600"/>
          </a:xfrm>
          <a:prstGeom prst="rect">
            <a:avLst/>
          </a:prstGeom>
          <a:noFill/>
        </p:spPr>
        <p:txBody>
          <a:bodyPr wrap="square">
            <a:spAutoFit/>
          </a:bodyPr>
          <a:lstStyle/>
          <a:p>
            <a:pPr algn="l">
              <a:defRPr sz="1000" b="0" i="0">
                <a:solidFill>
                  <a:srgbClr val="767676"/>
                </a:solidFill>
                <a:latin typeface="Calibri"/>
              </a:defRPr>
            </a:pPr>
            <a:r>
              <a:t>BRANDS</a:t>
            </a:r>
          </a:p>
        </p:txBody>
      </p:sp>
      <p:sp>
        <p:nvSpPr>
          <p:cNvPr id="12" name="TextBox 11"/>
          <p:cNvSpPr txBox="1"/>
          <p:nvPr/>
        </p:nvSpPr>
        <p:spPr>
          <a:xfrm>
            <a:off x="3749039" y="1828800"/>
            <a:ext cx="2103120" cy="411480"/>
          </a:xfrm>
          <a:prstGeom prst="rect">
            <a:avLst/>
          </a:prstGeom>
          <a:noFill/>
        </p:spPr>
        <p:txBody>
          <a:bodyPr wrap="square">
            <a:spAutoFit/>
          </a:bodyPr>
          <a:lstStyle/>
          <a:p>
            <a:pPr algn="l">
              <a:defRPr sz="2600" b="1" i="0">
                <a:solidFill>
                  <a:srgbClr val="1C1C1E"/>
                </a:solidFill>
                <a:latin typeface="Calibri"/>
              </a:defRPr>
            </a:pPr>
            <a:r>
              <a:t>6</a:t>
            </a:r>
          </a:p>
        </p:txBody>
      </p:sp>
      <p:sp>
        <p:nvSpPr>
          <p:cNvPr id="13" name="TextBox 12"/>
          <p:cNvSpPr txBox="1"/>
          <p:nvPr/>
        </p:nvSpPr>
        <p:spPr>
          <a:xfrm>
            <a:off x="3749039" y="2286000"/>
            <a:ext cx="2103120" cy="228600"/>
          </a:xfrm>
          <a:prstGeom prst="rect">
            <a:avLst/>
          </a:prstGeom>
          <a:noFill/>
        </p:spPr>
        <p:txBody>
          <a:bodyPr wrap="square">
            <a:spAutoFit/>
          </a:bodyPr>
          <a:lstStyle/>
          <a:p>
            <a:pPr algn="l">
              <a:defRPr sz="900" b="0" i="0">
                <a:solidFill>
                  <a:srgbClr val="767676"/>
                </a:solidFill>
                <a:latin typeface="Calibri"/>
              </a:defRPr>
            </a:pPr>
            <a:r>
              <a:t>Integrated portfolio</a:t>
            </a:r>
          </a:p>
        </p:txBody>
      </p:sp>
      <p:sp>
        <p:nvSpPr>
          <p:cNvPr id="14" name="Rounded Rectangle 13"/>
          <p:cNvSpPr/>
          <p:nvPr/>
        </p:nvSpPr>
        <p:spPr>
          <a:xfrm>
            <a:off x="6309359" y="1463040"/>
            <a:ext cx="2560320" cy="11430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537959" y="1600200"/>
            <a:ext cx="2103120" cy="228600"/>
          </a:xfrm>
          <a:prstGeom prst="rect">
            <a:avLst/>
          </a:prstGeom>
          <a:noFill/>
        </p:spPr>
        <p:txBody>
          <a:bodyPr wrap="square">
            <a:spAutoFit/>
          </a:bodyPr>
          <a:lstStyle/>
          <a:p>
            <a:pPr algn="l">
              <a:defRPr sz="1000" b="0" i="0">
                <a:solidFill>
                  <a:srgbClr val="767676"/>
                </a:solidFill>
                <a:latin typeface="Calibri"/>
              </a:defRPr>
            </a:pPr>
            <a:r>
              <a:t>MTB SHARE</a:t>
            </a:r>
          </a:p>
        </p:txBody>
      </p:sp>
      <p:sp>
        <p:nvSpPr>
          <p:cNvPr id="16" name="TextBox 15"/>
          <p:cNvSpPr txBox="1"/>
          <p:nvPr/>
        </p:nvSpPr>
        <p:spPr>
          <a:xfrm>
            <a:off x="6537959" y="1828800"/>
            <a:ext cx="2103120" cy="411480"/>
          </a:xfrm>
          <a:prstGeom prst="rect">
            <a:avLst/>
          </a:prstGeom>
          <a:noFill/>
        </p:spPr>
        <p:txBody>
          <a:bodyPr wrap="square">
            <a:spAutoFit/>
          </a:bodyPr>
          <a:lstStyle/>
          <a:p>
            <a:pPr algn="l">
              <a:defRPr sz="2600" b="1" i="0">
                <a:solidFill>
                  <a:srgbClr val="1C1C1E"/>
                </a:solidFill>
                <a:latin typeface="Calibri"/>
              </a:defRPr>
            </a:pPr>
            <a:r>
              <a:t>#1</a:t>
            </a:r>
          </a:p>
        </p:txBody>
      </p:sp>
      <p:sp>
        <p:nvSpPr>
          <p:cNvPr id="17" name="TextBox 16"/>
          <p:cNvSpPr txBox="1"/>
          <p:nvPr/>
        </p:nvSpPr>
        <p:spPr>
          <a:xfrm>
            <a:off x="6537959" y="2286000"/>
            <a:ext cx="2103120" cy="228600"/>
          </a:xfrm>
          <a:prstGeom prst="rect">
            <a:avLst/>
          </a:prstGeom>
          <a:noFill/>
        </p:spPr>
        <p:txBody>
          <a:bodyPr wrap="square">
            <a:spAutoFit/>
          </a:bodyPr>
          <a:lstStyle/>
          <a:p>
            <a:pPr algn="l">
              <a:defRPr sz="900" b="0" i="0">
                <a:solidFill>
                  <a:srgbClr val="767676"/>
                </a:solidFill>
                <a:latin typeface="Calibri"/>
              </a:defRPr>
            </a:pPr>
            <a:r>
              <a:t>Market leader globally</a:t>
            </a:r>
          </a:p>
        </p:txBody>
      </p:sp>
      <p:sp>
        <p:nvSpPr>
          <p:cNvPr id="18" name="Rounded Rectangle 17"/>
          <p:cNvSpPr/>
          <p:nvPr/>
        </p:nvSpPr>
        <p:spPr>
          <a:xfrm>
            <a:off x="9098280" y="1463040"/>
            <a:ext cx="2560320" cy="11430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326880" y="1600200"/>
            <a:ext cx="2103120" cy="228600"/>
          </a:xfrm>
          <a:prstGeom prst="rect">
            <a:avLst/>
          </a:prstGeom>
          <a:noFill/>
        </p:spPr>
        <p:txBody>
          <a:bodyPr wrap="square">
            <a:spAutoFit/>
          </a:bodyPr>
          <a:lstStyle/>
          <a:p>
            <a:pPr algn="l">
              <a:defRPr sz="1000" b="0" i="0">
                <a:solidFill>
                  <a:srgbClr val="767676"/>
                </a:solidFill>
                <a:latin typeface="Calibri"/>
              </a:defRPr>
            </a:pPr>
            <a:r>
              <a:t>TRUSTPILOT</a:t>
            </a:r>
          </a:p>
        </p:txBody>
      </p:sp>
      <p:sp>
        <p:nvSpPr>
          <p:cNvPr id="20" name="TextBox 19"/>
          <p:cNvSpPr txBox="1"/>
          <p:nvPr/>
        </p:nvSpPr>
        <p:spPr>
          <a:xfrm>
            <a:off x="9326880" y="1828800"/>
            <a:ext cx="2103120" cy="411480"/>
          </a:xfrm>
          <a:prstGeom prst="rect">
            <a:avLst/>
          </a:prstGeom>
          <a:noFill/>
        </p:spPr>
        <p:txBody>
          <a:bodyPr wrap="square">
            <a:spAutoFit/>
          </a:bodyPr>
          <a:lstStyle/>
          <a:p>
            <a:pPr algn="l">
              <a:defRPr sz="2600" b="1" i="0">
                <a:solidFill>
                  <a:srgbClr val="C43B4F"/>
                </a:solidFill>
                <a:latin typeface="Calibri"/>
              </a:defRPr>
            </a:pPr>
            <a:r>
              <a:t>1.6 / 5.0</a:t>
            </a:r>
          </a:p>
        </p:txBody>
      </p:sp>
      <p:sp>
        <p:nvSpPr>
          <p:cNvPr id="21" name="TextBox 20"/>
          <p:cNvSpPr txBox="1"/>
          <p:nvPr/>
        </p:nvSpPr>
        <p:spPr>
          <a:xfrm>
            <a:off x="9326880" y="2286000"/>
            <a:ext cx="2103120" cy="228600"/>
          </a:xfrm>
          <a:prstGeom prst="rect">
            <a:avLst/>
          </a:prstGeom>
          <a:noFill/>
        </p:spPr>
        <p:txBody>
          <a:bodyPr wrap="square">
            <a:spAutoFit/>
          </a:bodyPr>
          <a:lstStyle/>
          <a:p>
            <a:pPr algn="l">
              <a:defRPr sz="900" b="0" i="0">
                <a:solidFill>
                  <a:srgbClr val="767676"/>
                </a:solidFill>
                <a:latin typeface="Calibri"/>
              </a:defRPr>
            </a:pPr>
            <a:r>
              <a:t>Support-driven churn risk</a:t>
            </a:r>
          </a:p>
        </p:txBody>
      </p:sp>
      <p:sp>
        <p:nvSpPr>
          <p:cNvPr id="22" name="Rounded Rectangle 21"/>
          <p:cNvSpPr/>
          <p:nvPr/>
        </p:nvSpPr>
        <p:spPr>
          <a:xfrm>
            <a:off x="731520" y="3017520"/>
            <a:ext cx="16916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68680" y="3090672"/>
            <a:ext cx="1417320" cy="228600"/>
          </a:xfrm>
          <a:prstGeom prst="rect">
            <a:avLst/>
          </a:prstGeom>
          <a:noFill/>
        </p:spPr>
        <p:txBody>
          <a:bodyPr wrap="square">
            <a:spAutoFit/>
          </a:bodyPr>
          <a:lstStyle/>
          <a:p>
            <a:pPr algn="l">
              <a:defRPr sz="1200" b="1" i="0">
                <a:solidFill>
                  <a:srgbClr val="1C1C1E"/>
                </a:solidFill>
                <a:latin typeface="Calibri"/>
              </a:defRPr>
            </a:pPr>
            <a:r>
              <a:t>SRAM</a:t>
            </a:r>
          </a:p>
        </p:txBody>
      </p:sp>
      <p:sp>
        <p:nvSpPr>
          <p:cNvPr id="24" name="TextBox 23"/>
          <p:cNvSpPr txBox="1"/>
          <p:nvPr/>
        </p:nvSpPr>
        <p:spPr>
          <a:xfrm>
            <a:off x="868680" y="3383280"/>
            <a:ext cx="1417320" cy="320040"/>
          </a:xfrm>
          <a:prstGeom prst="rect">
            <a:avLst/>
          </a:prstGeom>
          <a:noFill/>
        </p:spPr>
        <p:txBody>
          <a:bodyPr wrap="square">
            <a:spAutoFit/>
          </a:bodyPr>
          <a:lstStyle/>
          <a:p>
            <a:pPr algn="l">
              <a:defRPr sz="1000" b="0" i="0">
                <a:solidFill>
                  <a:srgbClr val="767676"/>
                </a:solidFill>
                <a:latin typeface="Calibri"/>
              </a:defRPr>
            </a:pPr>
            <a:r>
              <a:t>Drivetrains + Braking</a:t>
            </a:r>
          </a:p>
        </p:txBody>
      </p:sp>
      <p:sp>
        <p:nvSpPr>
          <p:cNvPr id="25" name="Isosceles Triangle 24"/>
          <p:cNvSpPr/>
          <p:nvPr/>
        </p:nvSpPr>
        <p:spPr>
          <a:xfrm rot="5400000">
            <a:off x="2441448" y="3291840"/>
            <a:ext cx="274320" cy="27432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2606039" y="3017520"/>
            <a:ext cx="16916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743199" y="3090672"/>
            <a:ext cx="1417320" cy="228600"/>
          </a:xfrm>
          <a:prstGeom prst="rect">
            <a:avLst/>
          </a:prstGeom>
          <a:noFill/>
        </p:spPr>
        <p:txBody>
          <a:bodyPr wrap="square">
            <a:spAutoFit/>
          </a:bodyPr>
          <a:lstStyle/>
          <a:p>
            <a:pPr algn="l">
              <a:defRPr sz="1200" b="1" i="0">
                <a:solidFill>
                  <a:srgbClr val="1C1C1E"/>
                </a:solidFill>
                <a:latin typeface="Calibri"/>
              </a:defRPr>
            </a:pPr>
            <a:r>
              <a:t>RockShox</a:t>
            </a:r>
          </a:p>
        </p:txBody>
      </p:sp>
      <p:sp>
        <p:nvSpPr>
          <p:cNvPr id="28" name="TextBox 27"/>
          <p:cNvSpPr txBox="1"/>
          <p:nvPr/>
        </p:nvSpPr>
        <p:spPr>
          <a:xfrm>
            <a:off x="2743199" y="3383280"/>
            <a:ext cx="1417320" cy="320040"/>
          </a:xfrm>
          <a:prstGeom prst="rect">
            <a:avLst/>
          </a:prstGeom>
          <a:noFill/>
        </p:spPr>
        <p:txBody>
          <a:bodyPr wrap="square">
            <a:spAutoFit/>
          </a:bodyPr>
          <a:lstStyle/>
          <a:p>
            <a:pPr algn="l">
              <a:defRPr sz="1000" b="0" i="0">
                <a:solidFill>
                  <a:srgbClr val="767676"/>
                </a:solidFill>
                <a:latin typeface="Calibri"/>
              </a:defRPr>
            </a:pPr>
            <a:r>
              <a:t>Suspension</a:t>
            </a:r>
          </a:p>
        </p:txBody>
      </p:sp>
      <p:sp>
        <p:nvSpPr>
          <p:cNvPr id="29" name="Isosceles Triangle 28"/>
          <p:cNvSpPr/>
          <p:nvPr/>
        </p:nvSpPr>
        <p:spPr>
          <a:xfrm rot="5400000">
            <a:off x="4315967" y="3291840"/>
            <a:ext cx="274320" cy="27432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4480559" y="3017520"/>
            <a:ext cx="16916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617719" y="3090672"/>
            <a:ext cx="1417320" cy="228600"/>
          </a:xfrm>
          <a:prstGeom prst="rect">
            <a:avLst/>
          </a:prstGeom>
          <a:noFill/>
        </p:spPr>
        <p:txBody>
          <a:bodyPr wrap="square">
            <a:spAutoFit/>
          </a:bodyPr>
          <a:lstStyle/>
          <a:p>
            <a:pPr algn="l">
              <a:defRPr sz="1200" b="1" i="0">
                <a:solidFill>
                  <a:srgbClr val="1C1C1E"/>
                </a:solidFill>
                <a:latin typeface="Calibri"/>
              </a:defRPr>
            </a:pPr>
            <a:r>
              <a:t>Zipp</a:t>
            </a:r>
          </a:p>
        </p:txBody>
      </p:sp>
      <p:sp>
        <p:nvSpPr>
          <p:cNvPr id="32" name="TextBox 31"/>
          <p:cNvSpPr txBox="1"/>
          <p:nvPr/>
        </p:nvSpPr>
        <p:spPr>
          <a:xfrm>
            <a:off x="4617719" y="3383280"/>
            <a:ext cx="1417320" cy="320040"/>
          </a:xfrm>
          <a:prstGeom prst="rect">
            <a:avLst/>
          </a:prstGeom>
          <a:noFill/>
        </p:spPr>
        <p:txBody>
          <a:bodyPr wrap="square">
            <a:spAutoFit/>
          </a:bodyPr>
          <a:lstStyle/>
          <a:p>
            <a:pPr algn="l">
              <a:defRPr sz="1000" b="0" i="0">
                <a:solidFill>
                  <a:srgbClr val="767676"/>
                </a:solidFill>
                <a:latin typeface="Calibri"/>
              </a:defRPr>
            </a:pPr>
            <a:r>
              <a:t>Wheels + Cockpit</a:t>
            </a:r>
          </a:p>
        </p:txBody>
      </p:sp>
      <p:sp>
        <p:nvSpPr>
          <p:cNvPr id="33" name="Isosceles Triangle 32"/>
          <p:cNvSpPr/>
          <p:nvPr/>
        </p:nvSpPr>
        <p:spPr>
          <a:xfrm rot="5400000">
            <a:off x="6190487" y="3291840"/>
            <a:ext cx="274320" cy="27432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6355079" y="3017520"/>
            <a:ext cx="16916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92239" y="3090672"/>
            <a:ext cx="1417320" cy="228600"/>
          </a:xfrm>
          <a:prstGeom prst="rect">
            <a:avLst/>
          </a:prstGeom>
          <a:noFill/>
        </p:spPr>
        <p:txBody>
          <a:bodyPr wrap="square">
            <a:spAutoFit/>
          </a:bodyPr>
          <a:lstStyle/>
          <a:p>
            <a:pPr algn="l">
              <a:defRPr sz="1200" b="1" i="0">
                <a:solidFill>
                  <a:srgbClr val="1C1C1E"/>
                </a:solidFill>
                <a:latin typeface="Calibri"/>
              </a:defRPr>
            </a:pPr>
            <a:r>
              <a:t>Quarq</a:t>
            </a:r>
          </a:p>
        </p:txBody>
      </p:sp>
      <p:sp>
        <p:nvSpPr>
          <p:cNvPr id="36" name="TextBox 35"/>
          <p:cNvSpPr txBox="1"/>
          <p:nvPr/>
        </p:nvSpPr>
        <p:spPr>
          <a:xfrm>
            <a:off x="6492239" y="3383280"/>
            <a:ext cx="1417320" cy="320040"/>
          </a:xfrm>
          <a:prstGeom prst="rect">
            <a:avLst/>
          </a:prstGeom>
          <a:noFill/>
        </p:spPr>
        <p:txBody>
          <a:bodyPr wrap="square">
            <a:spAutoFit/>
          </a:bodyPr>
          <a:lstStyle/>
          <a:p>
            <a:pPr algn="l">
              <a:defRPr sz="1000" b="0" i="0">
                <a:solidFill>
                  <a:srgbClr val="767676"/>
                </a:solidFill>
                <a:latin typeface="Calibri"/>
              </a:defRPr>
            </a:pPr>
            <a:r>
              <a:t>Power Meters</a:t>
            </a:r>
          </a:p>
        </p:txBody>
      </p:sp>
      <p:sp>
        <p:nvSpPr>
          <p:cNvPr id="37" name="Isosceles Triangle 36"/>
          <p:cNvSpPr/>
          <p:nvPr/>
        </p:nvSpPr>
        <p:spPr>
          <a:xfrm rot="5400000">
            <a:off x="8065007" y="3291840"/>
            <a:ext cx="274320" cy="27432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8229600" y="3017520"/>
            <a:ext cx="16916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366760" y="3090672"/>
            <a:ext cx="1417320" cy="228600"/>
          </a:xfrm>
          <a:prstGeom prst="rect">
            <a:avLst/>
          </a:prstGeom>
          <a:noFill/>
        </p:spPr>
        <p:txBody>
          <a:bodyPr wrap="square">
            <a:spAutoFit/>
          </a:bodyPr>
          <a:lstStyle/>
          <a:p>
            <a:pPr algn="l">
              <a:defRPr sz="1200" b="1" i="0">
                <a:solidFill>
                  <a:srgbClr val="1C1C1E"/>
                </a:solidFill>
                <a:latin typeface="Calibri"/>
              </a:defRPr>
            </a:pPr>
            <a:r>
              <a:t>Hammerhead</a:t>
            </a:r>
          </a:p>
        </p:txBody>
      </p:sp>
      <p:sp>
        <p:nvSpPr>
          <p:cNvPr id="40" name="TextBox 39"/>
          <p:cNvSpPr txBox="1"/>
          <p:nvPr/>
        </p:nvSpPr>
        <p:spPr>
          <a:xfrm>
            <a:off x="8366760" y="3383280"/>
            <a:ext cx="1417320" cy="320040"/>
          </a:xfrm>
          <a:prstGeom prst="rect">
            <a:avLst/>
          </a:prstGeom>
          <a:noFill/>
        </p:spPr>
        <p:txBody>
          <a:bodyPr wrap="square">
            <a:spAutoFit/>
          </a:bodyPr>
          <a:lstStyle/>
          <a:p>
            <a:pPr algn="l">
              <a:defRPr sz="1000" b="0" i="0">
                <a:solidFill>
                  <a:srgbClr val="767676"/>
                </a:solidFill>
                <a:latin typeface="Calibri"/>
              </a:defRPr>
            </a:pPr>
            <a:r>
              <a:t>GPS Bike Computer</a:t>
            </a:r>
          </a:p>
        </p:txBody>
      </p:sp>
      <p:sp>
        <p:nvSpPr>
          <p:cNvPr id="41" name="Isosceles Triangle 40"/>
          <p:cNvSpPr/>
          <p:nvPr/>
        </p:nvSpPr>
        <p:spPr>
          <a:xfrm rot="5400000">
            <a:off x="9939528" y="3291840"/>
            <a:ext cx="274320" cy="27432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ounded Rectangle 41"/>
          <p:cNvSpPr/>
          <p:nvPr/>
        </p:nvSpPr>
        <p:spPr>
          <a:xfrm>
            <a:off x="10104120" y="3017520"/>
            <a:ext cx="16916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241280" y="3090672"/>
            <a:ext cx="1417320" cy="228600"/>
          </a:xfrm>
          <a:prstGeom prst="rect">
            <a:avLst/>
          </a:prstGeom>
          <a:noFill/>
        </p:spPr>
        <p:txBody>
          <a:bodyPr wrap="square">
            <a:spAutoFit/>
          </a:bodyPr>
          <a:lstStyle/>
          <a:p>
            <a:pPr algn="l">
              <a:defRPr sz="1200" b="1" i="0">
                <a:solidFill>
                  <a:srgbClr val="1C1C1E"/>
                </a:solidFill>
                <a:latin typeface="Calibri"/>
              </a:defRPr>
            </a:pPr>
            <a:r>
              <a:t>TIME</a:t>
            </a:r>
          </a:p>
        </p:txBody>
      </p:sp>
      <p:sp>
        <p:nvSpPr>
          <p:cNvPr id="44" name="TextBox 43"/>
          <p:cNvSpPr txBox="1"/>
          <p:nvPr/>
        </p:nvSpPr>
        <p:spPr>
          <a:xfrm>
            <a:off x="10241280" y="3383280"/>
            <a:ext cx="1417320" cy="320040"/>
          </a:xfrm>
          <a:prstGeom prst="rect">
            <a:avLst/>
          </a:prstGeom>
          <a:noFill/>
        </p:spPr>
        <p:txBody>
          <a:bodyPr wrap="square">
            <a:spAutoFit/>
          </a:bodyPr>
          <a:lstStyle/>
          <a:p>
            <a:pPr algn="l">
              <a:defRPr sz="1000" b="0" i="0">
                <a:solidFill>
                  <a:srgbClr val="767676"/>
                </a:solidFill>
                <a:latin typeface="Calibri"/>
              </a:defRPr>
            </a:pPr>
            <a:r>
              <a:t>Pedals</a:t>
            </a:r>
          </a:p>
        </p:txBody>
      </p:sp>
      <p:sp>
        <p:nvSpPr>
          <p:cNvPr id="45" name="Rounded Rectangle 44"/>
          <p:cNvSpPr/>
          <p:nvPr/>
        </p:nvSpPr>
        <p:spPr>
          <a:xfrm>
            <a:off x="731520" y="4114800"/>
            <a:ext cx="11064240" cy="320040"/>
          </a:xfrm>
          <a:prstGeom prst="roundRect">
            <a:avLst>
              <a:gd name="adj" fmla="val 10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97280" y="4133087"/>
            <a:ext cx="10332720" cy="274320"/>
          </a:xfrm>
          <a:prstGeom prst="rect">
            <a:avLst/>
          </a:prstGeom>
          <a:noFill/>
        </p:spPr>
        <p:txBody>
          <a:bodyPr wrap="square">
            <a:spAutoFit/>
          </a:bodyPr>
          <a:lstStyle/>
          <a:p>
            <a:pPr algn="ctr">
              <a:defRPr sz="1100" b="1" i="0">
                <a:solidFill>
                  <a:srgbClr val="1C1C1E"/>
                </a:solidFill>
                <a:latin typeface="Calibri"/>
              </a:defRPr>
            </a:pPr>
            <a:r>
              <a:t>AXS Wireless Ecosystem  |  All 6 brands connect wirelessly and share data</a:t>
            </a:r>
          </a:p>
        </p:txBody>
      </p:sp>
      <p:sp>
        <p:nvSpPr>
          <p:cNvPr id="47" name="Rounded Rectangle 46"/>
          <p:cNvSpPr/>
          <p:nvPr/>
        </p:nvSpPr>
        <p:spPr>
          <a:xfrm>
            <a:off x="731520" y="4846320"/>
            <a:ext cx="110642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731520" y="4846320"/>
            <a:ext cx="50800" cy="77724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1051560" y="4937760"/>
            <a:ext cx="10515600" cy="411480"/>
          </a:xfrm>
          <a:prstGeom prst="rect">
            <a:avLst/>
          </a:prstGeom>
          <a:noFill/>
        </p:spPr>
        <p:txBody>
          <a:bodyPr wrap="square">
            <a:spAutoFit/>
          </a:bodyPr>
          <a:lstStyle/>
          <a:p>
            <a:pPr algn="l">
              <a:defRPr sz="1200" b="0" i="1">
                <a:solidFill>
                  <a:srgbClr val="3A3A3C"/>
                </a:solidFill>
                <a:latin typeface="Calibri"/>
              </a:defRPr>
            </a:pPr>
            <a:r>
              <a:t>“Shimano riders use an app to check compatibility. Our riders use an ecosystem to train, navigate, tune their suspension, and monitor their entire component stack in real time. That is a fundamentally different level of engagement.”</a:t>
            </a:r>
          </a:p>
        </p:txBody>
      </p:sp>
      <p:sp>
        <p:nvSpPr>
          <p:cNvPr id="50" name="TextBox 49"/>
          <p:cNvSpPr txBox="1"/>
          <p:nvPr/>
        </p:nvSpPr>
        <p:spPr>
          <a:xfrm>
            <a:off x="1051560" y="5349240"/>
            <a:ext cx="10515600" cy="228600"/>
          </a:xfrm>
          <a:prstGeom prst="rect">
            <a:avLst/>
          </a:prstGeom>
          <a:noFill/>
        </p:spPr>
        <p:txBody>
          <a:bodyPr wrap="square">
            <a:spAutoFit/>
          </a:bodyPr>
          <a:lstStyle/>
          <a:p>
            <a:pPr algn="l">
              <a:defRPr sz="1000" b="1" i="0">
                <a:solidFill>
                  <a:srgbClr val="767676"/>
                </a:solidFill>
                <a:latin typeface="Calibri"/>
              </a:defRPr>
            </a:pPr>
            <a:r>
              <a:t>Clint Weber, VP Global Sales &amp; Manufacturing, SRAM</a:t>
            </a:r>
          </a:p>
        </p:txBody>
      </p:sp>
      <p:sp>
        <p:nvSpPr>
          <p:cNvPr id="51" name="TextBox 50"/>
          <p:cNvSpPr txBox="1"/>
          <p:nvPr/>
        </p:nvSpPr>
        <p:spPr>
          <a:xfrm>
            <a:off x="731520" y="5943600"/>
            <a:ext cx="10515600" cy="228600"/>
          </a:xfrm>
          <a:prstGeom prst="rect">
            <a:avLst/>
          </a:prstGeom>
          <a:noFill/>
        </p:spPr>
        <p:txBody>
          <a:bodyPr wrap="square">
            <a:spAutoFit/>
          </a:bodyPr>
          <a:lstStyle/>
          <a:p>
            <a:pPr algn="l">
              <a:defRPr sz="800" b="0" i="0">
                <a:solidFill>
                  <a:srgbClr val="767676"/>
                </a:solidFill>
                <a:latin typeface="Calibri"/>
              </a:defRPr>
            </a:pPr>
            <a:r>
              <a:t>Sources: MTB share per Bicycle Retailer industry analysis; Trustpilot rating as of Feb 2026 (n=180+ reviews)</a:t>
            </a:r>
          </a:p>
        </p:txBody>
      </p:sp>
      <p:sp>
        <p:nvSpPr>
          <p:cNvPr id="52" name="TextBox 51"/>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53" name="TextBox 52"/>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STRATEGY</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Four steps from early wins to AI-first enterprise</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Each step builds the infrastructure and organizational trust the next step requires.</a:t>
            </a:r>
          </a:p>
        </p:txBody>
      </p:sp>
      <p:sp>
        <p:nvSpPr>
          <p:cNvPr id="7" name="Rounded Rectangle 6"/>
          <p:cNvSpPr/>
          <p:nvPr/>
        </p:nvSpPr>
        <p:spPr>
          <a:xfrm>
            <a:off x="731520" y="1691640"/>
            <a:ext cx="2606040" cy="4206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31520" y="1691640"/>
            <a:ext cx="2606040" cy="63500"/>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1856232"/>
            <a:ext cx="2240280" cy="201168"/>
          </a:xfrm>
          <a:prstGeom prst="rect">
            <a:avLst/>
          </a:prstGeom>
          <a:noFill/>
        </p:spPr>
        <p:txBody>
          <a:bodyPr wrap="square">
            <a:spAutoFit/>
          </a:bodyPr>
          <a:lstStyle/>
          <a:p>
            <a:pPr algn="l">
              <a:defRPr sz="900" b="1" i="0">
                <a:solidFill>
                  <a:srgbClr val="2D5F8A"/>
                </a:solidFill>
                <a:latin typeface="Calibri"/>
              </a:defRPr>
            </a:pPr>
            <a:r>
              <a:t>Step 1</a:t>
            </a:r>
          </a:p>
        </p:txBody>
      </p:sp>
      <p:sp>
        <p:nvSpPr>
          <p:cNvPr id="10" name="TextBox 9"/>
          <p:cNvSpPr txBox="1"/>
          <p:nvPr/>
        </p:nvSpPr>
        <p:spPr>
          <a:xfrm>
            <a:off x="914400" y="2093976"/>
            <a:ext cx="2240280" cy="347472"/>
          </a:xfrm>
          <a:prstGeom prst="rect">
            <a:avLst/>
          </a:prstGeom>
          <a:noFill/>
        </p:spPr>
        <p:txBody>
          <a:bodyPr wrap="square">
            <a:spAutoFit/>
          </a:bodyPr>
          <a:lstStyle/>
          <a:p>
            <a:pPr algn="l">
              <a:defRPr sz="1800" b="1" i="0">
                <a:solidFill>
                  <a:srgbClr val="1C1C1E"/>
                </a:solidFill>
                <a:latin typeface="Calibri"/>
              </a:defRPr>
            </a:pPr>
            <a:r>
              <a:t>Early Wins</a:t>
            </a:r>
          </a:p>
        </p:txBody>
      </p:sp>
      <p:sp>
        <p:nvSpPr>
          <p:cNvPr id="11" name="TextBox 10"/>
          <p:cNvSpPr txBox="1"/>
          <p:nvPr/>
        </p:nvSpPr>
        <p:spPr>
          <a:xfrm>
            <a:off x="914400" y="2514600"/>
            <a:ext cx="2240280" cy="201168"/>
          </a:xfrm>
          <a:prstGeom prst="rect">
            <a:avLst/>
          </a:prstGeom>
          <a:noFill/>
        </p:spPr>
        <p:txBody>
          <a:bodyPr wrap="square">
            <a:spAutoFit/>
          </a:bodyPr>
          <a:lstStyle/>
          <a:p>
            <a:pPr algn="l">
              <a:defRPr sz="1000" b="1" i="0">
                <a:solidFill>
                  <a:srgbClr val="767676"/>
                </a:solidFill>
                <a:latin typeface="Calibri"/>
              </a:defRPr>
            </a:pPr>
            <a:r>
              <a:t>Month 0-12</a:t>
            </a:r>
          </a:p>
        </p:txBody>
      </p:sp>
      <p:sp>
        <p:nvSpPr>
          <p:cNvPr id="12" name="TextBox 11"/>
          <p:cNvSpPr txBox="1"/>
          <p:nvPr/>
        </p:nvSpPr>
        <p:spPr>
          <a:xfrm>
            <a:off x="914400" y="2788920"/>
            <a:ext cx="2240280" cy="2011680"/>
          </a:xfrm>
          <a:prstGeom prst="rect">
            <a:avLst/>
          </a:prstGeom>
          <a:noFill/>
        </p:spPr>
        <p:txBody>
          <a:bodyPr wrap="square">
            <a:spAutoFit/>
          </a:bodyPr>
          <a:lstStyle/>
          <a:p>
            <a:pPr algn="l">
              <a:defRPr sz="1100" b="0" i="0">
                <a:solidFill>
                  <a:srgbClr val="3A3A3C"/>
                </a:solidFill>
                <a:latin typeface="Calibri"/>
              </a:defRPr>
            </a:pPr>
            <a:r>
              <a:t>GitHub Copilot + Claude Code</a:t>
            </a:r>
            <a:br/>
            <a:r>
              <a:t>for 250-400 engineers</a:t>
            </a:r>
            <a:br/>
            <a:br/>
            <a:r>
              <a:t>Microsoft CoPilot for 500</a:t>
            </a:r>
            <a:br/>
            <a:r>
              <a:t>business function staff</a:t>
            </a:r>
            <a:br/>
            <a:br/>
            <a:r>
              <a:t>Quarterly AI innovation forums</a:t>
            </a:r>
          </a:p>
        </p:txBody>
      </p:sp>
      <p:sp>
        <p:nvSpPr>
          <p:cNvPr id="13" name="Rounded Rectangle 12"/>
          <p:cNvSpPr/>
          <p:nvPr/>
        </p:nvSpPr>
        <p:spPr>
          <a:xfrm>
            <a:off x="822960" y="4754880"/>
            <a:ext cx="2423160" cy="9144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14400" y="4846320"/>
            <a:ext cx="2240280" cy="777240"/>
          </a:xfrm>
          <a:prstGeom prst="rect">
            <a:avLst/>
          </a:prstGeom>
          <a:noFill/>
        </p:spPr>
        <p:txBody>
          <a:bodyPr wrap="square">
            <a:spAutoFit/>
          </a:bodyPr>
          <a:lstStyle/>
          <a:p>
            <a:pPr algn="l">
              <a:defRPr sz="1000" b="1" i="0">
                <a:solidFill>
                  <a:srgbClr val="1C1C1E"/>
                </a:solidFill>
                <a:latin typeface="Calibri"/>
              </a:defRPr>
            </a:pPr>
            <a:r>
              <a:t>$400K/yr in</a:t>
            </a:r>
            <a:br/>
            <a:r>
              <a:t>~$2M/yr out  |  5x ROI</a:t>
            </a:r>
          </a:p>
        </p:txBody>
      </p:sp>
      <p:sp>
        <p:nvSpPr>
          <p:cNvPr id="15" name="Rounded Rectangle 14"/>
          <p:cNvSpPr/>
          <p:nvPr/>
        </p:nvSpPr>
        <p:spPr>
          <a:xfrm>
            <a:off x="3447288" y="1691640"/>
            <a:ext cx="2606040" cy="4206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447288" y="1691640"/>
            <a:ext cx="2606040" cy="63500"/>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630168" y="1856232"/>
            <a:ext cx="2240280" cy="201168"/>
          </a:xfrm>
          <a:prstGeom prst="rect">
            <a:avLst/>
          </a:prstGeom>
          <a:noFill/>
        </p:spPr>
        <p:txBody>
          <a:bodyPr wrap="square">
            <a:spAutoFit/>
          </a:bodyPr>
          <a:lstStyle/>
          <a:p>
            <a:pPr algn="l">
              <a:defRPr sz="900" b="1" i="0">
                <a:solidFill>
                  <a:srgbClr val="2D5F8A"/>
                </a:solidFill>
                <a:latin typeface="Calibri"/>
              </a:defRPr>
            </a:pPr>
            <a:r>
              <a:t>Step 2</a:t>
            </a:r>
          </a:p>
        </p:txBody>
      </p:sp>
      <p:sp>
        <p:nvSpPr>
          <p:cNvPr id="18" name="TextBox 17"/>
          <p:cNvSpPr txBox="1"/>
          <p:nvPr/>
        </p:nvSpPr>
        <p:spPr>
          <a:xfrm>
            <a:off x="3630168" y="2093976"/>
            <a:ext cx="2240280" cy="347472"/>
          </a:xfrm>
          <a:prstGeom prst="rect">
            <a:avLst/>
          </a:prstGeom>
          <a:noFill/>
        </p:spPr>
        <p:txBody>
          <a:bodyPr wrap="square">
            <a:spAutoFit/>
          </a:bodyPr>
          <a:lstStyle/>
          <a:p>
            <a:pPr algn="l">
              <a:defRPr sz="1800" b="1" i="0">
                <a:solidFill>
                  <a:srgbClr val="1C1C1E"/>
                </a:solidFill>
                <a:latin typeface="Calibri"/>
              </a:defRPr>
            </a:pPr>
            <a:r>
              <a:t>Data Foundations</a:t>
            </a:r>
          </a:p>
        </p:txBody>
      </p:sp>
      <p:sp>
        <p:nvSpPr>
          <p:cNvPr id="19" name="TextBox 18"/>
          <p:cNvSpPr txBox="1"/>
          <p:nvPr/>
        </p:nvSpPr>
        <p:spPr>
          <a:xfrm>
            <a:off x="3630168" y="2514600"/>
            <a:ext cx="2240280" cy="201168"/>
          </a:xfrm>
          <a:prstGeom prst="rect">
            <a:avLst/>
          </a:prstGeom>
          <a:noFill/>
        </p:spPr>
        <p:txBody>
          <a:bodyPr wrap="square">
            <a:spAutoFit/>
          </a:bodyPr>
          <a:lstStyle/>
          <a:p>
            <a:pPr algn="l">
              <a:defRPr sz="1000" b="1" i="0">
                <a:solidFill>
                  <a:srgbClr val="767676"/>
                </a:solidFill>
                <a:latin typeface="Calibri"/>
              </a:defRPr>
            </a:pPr>
            <a:r>
              <a:t>Month 0-24</a:t>
            </a:r>
          </a:p>
        </p:txBody>
      </p:sp>
      <p:sp>
        <p:nvSpPr>
          <p:cNvPr id="20" name="TextBox 19"/>
          <p:cNvSpPr txBox="1"/>
          <p:nvPr/>
        </p:nvSpPr>
        <p:spPr>
          <a:xfrm>
            <a:off x="3630168" y="2788920"/>
            <a:ext cx="2240280" cy="2011680"/>
          </a:xfrm>
          <a:prstGeom prst="rect">
            <a:avLst/>
          </a:prstGeom>
          <a:noFill/>
        </p:spPr>
        <p:txBody>
          <a:bodyPr wrap="square">
            <a:spAutoFit/>
          </a:bodyPr>
          <a:lstStyle/>
          <a:p>
            <a:pPr algn="l">
              <a:defRPr sz="1100" b="0" i="0">
                <a:solidFill>
                  <a:srgbClr val="3A3A3C"/>
                </a:solidFill>
                <a:latin typeface="Calibri"/>
              </a:defRPr>
            </a:pPr>
            <a:r>
              <a:t>AWS-native data lakehouse</a:t>
            </a:r>
            <a:br/>
            <a:r>
              <a:t>on existing AWS infrastructure</a:t>
            </a:r>
            <a:br/>
            <a:br/>
            <a:r>
              <a:t>SAP ERP + Salesforce CRM</a:t>
            </a:r>
            <a:br/>
            <a:r>
              <a:t>connected to central platform</a:t>
            </a:r>
            <a:br/>
            <a:br/>
            <a:r>
              <a:t>Prerequisite for Steps 3B + 4</a:t>
            </a:r>
          </a:p>
        </p:txBody>
      </p:sp>
      <p:sp>
        <p:nvSpPr>
          <p:cNvPr id="21" name="Rounded Rectangle 20"/>
          <p:cNvSpPr/>
          <p:nvPr/>
        </p:nvSpPr>
        <p:spPr>
          <a:xfrm>
            <a:off x="3538728" y="4754880"/>
            <a:ext cx="2423160" cy="9144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630168" y="4846320"/>
            <a:ext cx="2240280" cy="777240"/>
          </a:xfrm>
          <a:prstGeom prst="rect">
            <a:avLst/>
          </a:prstGeom>
          <a:noFill/>
        </p:spPr>
        <p:txBody>
          <a:bodyPr wrap="square">
            <a:spAutoFit/>
          </a:bodyPr>
          <a:lstStyle/>
          <a:p>
            <a:pPr algn="l">
              <a:defRPr sz="1000" b="1" i="0">
                <a:solidFill>
                  <a:srgbClr val="1C1C1E"/>
                </a:solidFill>
                <a:latin typeface="Calibri"/>
              </a:defRPr>
            </a:pPr>
            <a:r>
              <a:t>$6-10M investment</a:t>
            </a:r>
            <a:br/>
            <a:r>
              <a:t>Unlocks $34M+ downstream</a:t>
            </a:r>
          </a:p>
        </p:txBody>
      </p:sp>
      <p:sp>
        <p:nvSpPr>
          <p:cNvPr id="23" name="Rounded Rectangle 22"/>
          <p:cNvSpPr/>
          <p:nvPr/>
        </p:nvSpPr>
        <p:spPr>
          <a:xfrm>
            <a:off x="6163056" y="1691640"/>
            <a:ext cx="2606040" cy="4206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163056" y="1691640"/>
            <a:ext cx="2606040" cy="63500"/>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45936" y="1856232"/>
            <a:ext cx="2240280" cy="201168"/>
          </a:xfrm>
          <a:prstGeom prst="rect">
            <a:avLst/>
          </a:prstGeom>
          <a:noFill/>
        </p:spPr>
        <p:txBody>
          <a:bodyPr wrap="square">
            <a:spAutoFit/>
          </a:bodyPr>
          <a:lstStyle/>
          <a:p>
            <a:pPr algn="l">
              <a:defRPr sz="900" b="1" i="0">
                <a:solidFill>
                  <a:srgbClr val="2D5F8A"/>
                </a:solidFill>
                <a:latin typeface="Calibri"/>
              </a:defRPr>
            </a:pPr>
            <a:r>
              <a:t>Step 3</a:t>
            </a:r>
          </a:p>
        </p:txBody>
      </p:sp>
      <p:sp>
        <p:nvSpPr>
          <p:cNvPr id="26" name="TextBox 25"/>
          <p:cNvSpPr txBox="1"/>
          <p:nvPr/>
        </p:nvSpPr>
        <p:spPr>
          <a:xfrm>
            <a:off x="6345936" y="2093976"/>
            <a:ext cx="2240280" cy="347472"/>
          </a:xfrm>
          <a:prstGeom prst="rect">
            <a:avLst/>
          </a:prstGeom>
          <a:noFill/>
        </p:spPr>
        <p:txBody>
          <a:bodyPr wrap="square">
            <a:spAutoFit/>
          </a:bodyPr>
          <a:lstStyle/>
          <a:p>
            <a:pPr algn="l">
              <a:defRPr sz="1800" b="1" i="0">
                <a:solidFill>
                  <a:srgbClr val="1C1C1E"/>
                </a:solidFill>
                <a:latin typeface="Calibri"/>
              </a:defRPr>
            </a:pPr>
            <a:r>
              <a:t>Cost Reduction</a:t>
            </a:r>
          </a:p>
        </p:txBody>
      </p:sp>
      <p:sp>
        <p:nvSpPr>
          <p:cNvPr id="27" name="TextBox 26"/>
          <p:cNvSpPr txBox="1"/>
          <p:nvPr/>
        </p:nvSpPr>
        <p:spPr>
          <a:xfrm>
            <a:off x="6345936" y="2514600"/>
            <a:ext cx="2240280" cy="201168"/>
          </a:xfrm>
          <a:prstGeom prst="rect">
            <a:avLst/>
          </a:prstGeom>
          <a:noFill/>
        </p:spPr>
        <p:txBody>
          <a:bodyPr wrap="square">
            <a:spAutoFit/>
          </a:bodyPr>
          <a:lstStyle/>
          <a:p>
            <a:pPr algn="l">
              <a:defRPr sz="1000" b="1" i="0">
                <a:solidFill>
                  <a:srgbClr val="767676"/>
                </a:solidFill>
                <a:latin typeface="Calibri"/>
              </a:defRPr>
            </a:pPr>
            <a:r>
              <a:t>Month 0-36</a:t>
            </a:r>
          </a:p>
        </p:txBody>
      </p:sp>
      <p:sp>
        <p:nvSpPr>
          <p:cNvPr id="28" name="TextBox 27"/>
          <p:cNvSpPr txBox="1"/>
          <p:nvPr/>
        </p:nvSpPr>
        <p:spPr>
          <a:xfrm>
            <a:off x="6345936" y="2788920"/>
            <a:ext cx="2240280" cy="2011680"/>
          </a:xfrm>
          <a:prstGeom prst="rect">
            <a:avLst/>
          </a:prstGeom>
          <a:noFill/>
        </p:spPr>
        <p:txBody>
          <a:bodyPr wrap="square">
            <a:spAutoFit/>
          </a:bodyPr>
          <a:lstStyle/>
          <a:p>
            <a:pPr algn="l">
              <a:defRPr sz="1100" b="0" i="0">
                <a:solidFill>
                  <a:srgbClr val="3A3A3C"/>
                </a:solidFill>
                <a:latin typeface="Calibri"/>
              </a:defRPr>
            </a:pPr>
            <a:r>
              <a:t>3A: AI support agent for</a:t>
            </a:r>
            <a:br/>
            <a:r>
              <a:t>AXS + Hammerhead dealers</a:t>
            </a:r>
            <a:br/>
            <a:br/>
            <a:r>
              <a:t>3B: SageMaker demand</a:t>
            </a:r>
            <a:br/>
            <a:r>
              <a:t>forecasting on pilot SKUs</a:t>
            </a:r>
            <a:br/>
            <a:br/>
            <a:r>
              <a:t>Bounded, measurable pilots</a:t>
            </a:r>
          </a:p>
        </p:txBody>
      </p:sp>
      <p:sp>
        <p:nvSpPr>
          <p:cNvPr id="29" name="Rounded Rectangle 28"/>
          <p:cNvSpPr/>
          <p:nvPr/>
        </p:nvSpPr>
        <p:spPr>
          <a:xfrm>
            <a:off x="6254496" y="4754880"/>
            <a:ext cx="2423160" cy="9144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345936" y="4846320"/>
            <a:ext cx="2240280" cy="777240"/>
          </a:xfrm>
          <a:prstGeom prst="rect">
            <a:avLst/>
          </a:prstGeom>
          <a:noFill/>
        </p:spPr>
        <p:txBody>
          <a:bodyPr wrap="square">
            <a:spAutoFit/>
          </a:bodyPr>
          <a:lstStyle/>
          <a:p>
            <a:pPr algn="l">
              <a:defRPr sz="1000" b="1" i="0">
                <a:solidFill>
                  <a:srgbClr val="1C1C1E"/>
                </a:solidFill>
                <a:latin typeface="Calibri"/>
              </a:defRPr>
            </a:pPr>
            <a:r>
              <a:t>3A: ~$4.5M net Y1  |  9x</a:t>
            </a:r>
            <a:br/>
            <a:r>
              <a:t>3B: ~$4.5M net  |  9x</a:t>
            </a:r>
          </a:p>
        </p:txBody>
      </p:sp>
      <p:sp>
        <p:nvSpPr>
          <p:cNvPr id="31" name="Rounded Rectangle 30"/>
          <p:cNvSpPr/>
          <p:nvPr/>
        </p:nvSpPr>
        <p:spPr>
          <a:xfrm>
            <a:off x="8878824" y="1691640"/>
            <a:ext cx="2606040" cy="4206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8878824" y="1691640"/>
            <a:ext cx="2606040" cy="63500"/>
          </a:xfrm>
          <a:prstGeom prst="rect">
            <a:avLst/>
          </a:prstGeom>
          <a:solidFill>
            <a:srgbClr val="C43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061704" y="1856232"/>
            <a:ext cx="2240280" cy="201168"/>
          </a:xfrm>
          <a:prstGeom prst="rect">
            <a:avLst/>
          </a:prstGeom>
          <a:noFill/>
        </p:spPr>
        <p:txBody>
          <a:bodyPr wrap="square">
            <a:spAutoFit/>
          </a:bodyPr>
          <a:lstStyle/>
          <a:p>
            <a:pPr algn="l">
              <a:defRPr sz="900" b="1" i="0">
                <a:solidFill>
                  <a:srgbClr val="C43B4F"/>
                </a:solidFill>
                <a:latin typeface="Calibri"/>
              </a:defRPr>
            </a:pPr>
            <a:r>
              <a:t>Step 4</a:t>
            </a:r>
          </a:p>
        </p:txBody>
      </p:sp>
      <p:sp>
        <p:nvSpPr>
          <p:cNvPr id="34" name="TextBox 33"/>
          <p:cNvSpPr txBox="1"/>
          <p:nvPr/>
        </p:nvSpPr>
        <p:spPr>
          <a:xfrm>
            <a:off x="9061704" y="2093976"/>
            <a:ext cx="2240280" cy="347472"/>
          </a:xfrm>
          <a:prstGeom prst="rect">
            <a:avLst/>
          </a:prstGeom>
          <a:noFill/>
        </p:spPr>
        <p:txBody>
          <a:bodyPr wrap="square">
            <a:spAutoFit/>
          </a:bodyPr>
          <a:lstStyle/>
          <a:p>
            <a:pPr algn="l">
              <a:defRPr sz="1800" b="1" i="0">
                <a:solidFill>
                  <a:srgbClr val="1C1C1E"/>
                </a:solidFill>
                <a:latin typeface="Calibri"/>
              </a:defRPr>
            </a:pPr>
            <a:r>
              <a:t>Revenue + Innovation</a:t>
            </a:r>
          </a:p>
        </p:txBody>
      </p:sp>
      <p:sp>
        <p:nvSpPr>
          <p:cNvPr id="35" name="TextBox 34"/>
          <p:cNvSpPr txBox="1"/>
          <p:nvPr/>
        </p:nvSpPr>
        <p:spPr>
          <a:xfrm>
            <a:off x="9061704" y="2514600"/>
            <a:ext cx="2240280" cy="201168"/>
          </a:xfrm>
          <a:prstGeom prst="rect">
            <a:avLst/>
          </a:prstGeom>
          <a:noFill/>
        </p:spPr>
        <p:txBody>
          <a:bodyPr wrap="square">
            <a:spAutoFit/>
          </a:bodyPr>
          <a:lstStyle/>
          <a:p>
            <a:pPr algn="l">
              <a:defRPr sz="1000" b="1" i="0">
                <a:solidFill>
                  <a:srgbClr val="767676"/>
                </a:solidFill>
                <a:latin typeface="Calibri"/>
              </a:defRPr>
            </a:pPr>
            <a:r>
              <a:t>Month 36-60+</a:t>
            </a:r>
          </a:p>
        </p:txBody>
      </p:sp>
      <p:sp>
        <p:nvSpPr>
          <p:cNvPr id="36" name="TextBox 35"/>
          <p:cNvSpPr txBox="1"/>
          <p:nvPr/>
        </p:nvSpPr>
        <p:spPr>
          <a:xfrm>
            <a:off x="9061704" y="2788920"/>
            <a:ext cx="2240280" cy="2011680"/>
          </a:xfrm>
          <a:prstGeom prst="rect">
            <a:avLst/>
          </a:prstGeom>
          <a:noFill/>
        </p:spPr>
        <p:txBody>
          <a:bodyPr wrap="square">
            <a:spAutoFit/>
          </a:bodyPr>
          <a:lstStyle/>
          <a:p>
            <a:pPr algn="l">
              <a:defRPr sz="1100" b="0" i="0">
                <a:solidFill>
                  <a:srgbClr val="3A3A3C"/>
                </a:solidFill>
                <a:latin typeface="Calibri"/>
              </a:defRPr>
            </a:pPr>
            <a:r>
              <a:t>AXS Intelligence Platform</a:t>
            </a:r>
            <a:br/>
            <a:r>
              <a:t>(unified rider data layer)</a:t>
            </a:r>
            <a:br/>
            <a:br/>
            <a:r>
              <a:t>OEM Automation + Upgrade Recs</a:t>
            </a:r>
            <a:br/>
            <a:r>
              <a:t>Generative Design + R&amp;D</a:t>
            </a:r>
          </a:p>
        </p:txBody>
      </p:sp>
      <p:sp>
        <p:nvSpPr>
          <p:cNvPr id="37" name="Rounded Rectangle 36"/>
          <p:cNvSpPr/>
          <p:nvPr/>
        </p:nvSpPr>
        <p:spPr>
          <a:xfrm>
            <a:off x="8970264" y="4754880"/>
            <a:ext cx="2423160" cy="9144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061704" y="4846320"/>
            <a:ext cx="2240280" cy="777240"/>
          </a:xfrm>
          <a:prstGeom prst="rect">
            <a:avLst/>
          </a:prstGeom>
          <a:noFill/>
        </p:spPr>
        <p:txBody>
          <a:bodyPr wrap="square">
            <a:spAutoFit/>
          </a:bodyPr>
          <a:lstStyle/>
          <a:p>
            <a:pPr algn="l">
              <a:defRPr sz="1000" b="1" i="0">
                <a:solidFill>
                  <a:srgbClr val="1C1C1E"/>
                </a:solidFill>
                <a:latin typeface="Calibri"/>
              </a:defRPr>
            </a:pPr>
            <a:r>
              <a:t>~$20M ARR at scale</a:t>
            </a:r>
            <a:br/>
            <a:r>
              <a:t>~$39M+ total at maturity</a:t>
            </a:r>
          </a:p>
        </p:txBody>
      </p:sp>
      <p:sp>
        <p:nvSpPr>
          <p:cNvPr id="39" name="TextBox 38"/>
          <p:cNvSpPr txBox="1"/>
          <p:nvPr/>
        </p:nvSpPr>
        <p:spPr>
          <a:xfrm>
            <a:off x="731520" y="6080760"/>
            <a:ext cx="10515600" cy="228600"/>
          </a:xfrm>
          <a:prstGeom prst="rect">
            <a:avLst/>
          </a:prstGeom>
          <a:noFill/>
        </p:spPr>
        <p:txBody>
          <a:bodyPr wrap="square">
            <a:spAutoFit/>
          </a:bodyPr>
          <a:lstStyle/>
          <a:p>
            <a:pPr algn="ctr">
              <a:defRPr sz="1000" b="0" i="0">
                <a:solidFill>
                  <a:srgbClr val="767676"/>
                </a:solidFill>
                <a:latin typeface="Calibri"/>
              </a:defRPr>
            </a:pPr>
            <a:r>
              <a:t>Step 2 runs in parallel with Steps 1 and 3A  |  Steps 3B and 4 depend on Step 2 data infrastructure</a:t>
            </a:r>
          </a:p>
        </p:txBody>
      </p:sp>
      <p:sp>
        <p:nvSpPr>
          <p:cNvPr id="40" name="TextBox 39"/>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41" name="TextBox 40"/>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STEP 1: EARLY WINS</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AI productivity tools deliver 5x ROI before the data infrastructure is built</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No new hires. No infrastructure. Deploy into existing tools and measure adoption before committing to Steps 3 and 4.</a:t>
            </a:r>
          </a:p>
        </p:txBody>
      </p:sp>
      <p:sp>
        <p:nvSpPr>
          <p:cNvPr id="7" name="Rounded Rectangle 6"/>
          <p:cNvSpPr/>
          <p:nvPr/>
        </p:nvSpPr>
        <p:spPr>
          <a:xfrm>
            <a:off x="731520" y="1828800"/>
            <a:ext cx="5120640" cy="3200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60120" y="1938528"/>
            <a:ext cx="4663440" cy="274320"/>
          </a:xfrm>
          <a:prstGeom prst="rect">
            <a:avLst/>
          </a:prstGeom>
          <a:noFill/>
        </p:spPr>
        <p:txBody>
          <a:bodyPr wrap="square">
            <a:spAutoFit/>
          </a:bodyPr>
          <a:lstStyle/>
          <a:p>
            <a:pPr algn="l">
              <a:defRPr sz="1400" b="1" i="0">
                <a:solidFill>
                  <a:srgbClr val="1C1C1E"/>
                </a:solidFill>
                <a:latin typeface="Calibri"/>
              </a:defRPr>
            </a:pPr>
            <a:r>
              <a:t>GitHub Copilot + Claude Code</a:t>
            </a:r>
          </a:p>
        </p:txBody>
      </p:sp>
      <p:sp>
        <p:nvSpPr>
          <p:cNvPr id="9" name="TextBox 8"/>
          <p:cNvSpPr txBox="1"/>
          <p:nvPr/>
        </p:nvSpPr>
        <p:spPr>
          <a:xfrm>
            <a:off x="960120" y="2286000"/>
            <a:ext cx="4663440" cy="201168"/>
          </a:xfrm>
          <a:prstGeom prst="rect">
            <a:avLst/>
          </a:prstGeom>
          <a:noFill/>
        </p:spPr>
        <p:txBody>
          <a:bodyPr wrap="square">
            <a:spAutoFit/>
          </a:bodyPr>
          <a:lstStyle/>
          <a:p>
            <a:pPr algn="l">
              <a:defRPr sz="1100" b="1" i="0">
                <a:solidFill>
                  <a:srgbClr val="2D5F8A"/>
                </a:solidFill>
                <a:latin typeface="Calibri"/>
              </a:defRPr>
            </a:pPr>
            <a:r>
              <a:t>SRAM's 250-400 software engineers</a:t>
            </a:r>
          </a:p>
        </p:txBody>
      </p:sp>
      <p:sp>
        <p:nvSpPr>
          <p:cNvPr id="10" name="TextBox 9"/>
          <p:cNvSpPr txBox="1"/>
          <p:nvPr/>
        </p:nvSpPr>
        <p:spPr>
          <a:xfrm>
            <a:off x="960120" y="2560320"/>
            <a:ext cx="4663440" cy="1005840"/>
          </a:xfrm>
          <a:prstGeom prst="rect">
            <a:avLst/>
          </a:prstGeom>
          <a:noFill/>
        </p:spPr>
        <p:txBody>
          <a:bodyPr wrap="square">
            <a:spAutoFit/>
          </a:bodyPr>
          <a:lstStyle/>
          <a:p>
            <a:pPr algn="l">
              <a:defRPr sz="1100" b="0" i="0">
                <a:solidFill>
                  <a:srgbClr val="3A3A3C"/>
                </a:solidFill>
                <a:latin typeface="Calibri"/>
              </a:defRPr>
            </a:pPr>
            <a:r>
              <a:t>AI pair programming in existing IDEs.</a:t>
            </a:r>
            <a:br/>
            <a:r>
              <a:t>Accelerates the technical work Steps 2-4 require.</a:t>
            </a:r>
            <a:br/>
            <a:r>
              <a:t>Integrates directly into existing GitHub workflows.</a:t>
            </a:r>
          </a:p>
        </p:txBody>
      </p:sp>
      <p:sp>
        <p:nvSpPr>
          <p:cNvPr id="11" name="TextBox 10"/>
          <p:cNvSpPr txBox="1"/>
          <p:nvPr/>
        </p:nvSpPr>
        <p:spPr>
          <a:xfrm>
            <a:off x="960120" y="3611880"/>
            <a:ext cx="4663440" cy="201168"/>
          </a:xfrm>
          <a:prstGeom prst="rect">
            <a:avLst/>
          </a:prstGeom>
          <a:noFill/>
        </p:spPr>
        <p:txBody>
          <a:bodyPr wrap="square">
            <a:spAutoFit/>
          </a:bodyPr>
          <a:lstStyle/>
          <a:p>
            <a:pPr algn="l">
              <a:defRPr sz="1000" b="0" i="0">
                <a:solidFill>
                  <a:srgbClr val="767676"/>
                </a:solidFill>
                <a:latin typeface="Calibri"/>
              </a:defRPr>
            </a:pPr>
            <a:r>
              <a:t>Annual cost: $140K/yr</a:t>
            </a:r>
          </a:p>
        </p:txBody>
      </p:sp>
      <p:sp>
        <p:nvSpPr>
          <p:cNvPr id="12" name="TextBox 11"/>
          <p:cNvSpPr txBox="1"/>
          <p:nvPr/>
        </p:nvSpPr>
        <p:spPr>
          <a:xfrm>
            <a:off x="960120" y="3931920"/>
            <a:ext cx="4663440" cy="457200"/>
          </a:xfrm>
          <a:prstGeom prst="rect">
            <a:avLst/>
          </a:prstGeom>
          <a:noFill/>
        </p:spPr>
        <p:txBody>
          <a:bodyPr wrap="square">
            <a:spAutoFit/>
          </a:bodyPr>
          <a:lstStyle/>
          <a:p>
            <a:pPr algn="l">
              <a:defRPr sz="1000" b="1" i="0">
                <a:solidFill>
                  <a:srgbClr val="1C1C1E"/>
                </a:solidFill>
                <a:latin typeface="Calibri"/>
              </a:defRPr>
            </a:pPr>
            <a:r>
              <a:t>75% of engineers active weekly by Month 6</a:t>
            </a:r>
          </a:p>
        </p:txBody>
      </p:sp>
      <p:sp>
        <p:nvSpPr>
          <p:cNvPr id="13" name="Rounded Rectangle 12"/>
          <p:cNvSpPr/>
          <p:nvPr/>
        </p:nvSpPr>
        <p:spPr>
          <a:xfrm>
            <a:off x="6126480" y="1828800"/>
            <a:ext cx="5120640" cy="3200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55080" y="1938528"/>
            <a:ext cx="4663440" cy="274320"/>
          </a:xfrm>
          <a:prstGeom prst="rect">
            <a:avLst/>
          </a:prstGeom>
          <a:noFill/>
        </p:spPr>
        <p:txBody>
          <a:bodyPr wrap="square">
            <a:spAutoFit/>
          </a:bodyPr>
          <a:lstStyle/>
          <a:p>
            <a:pPr algn="l">
              <a:defRPr sz="1400" b="1" i="0">
                <a:solidFill>
                  <a:srgbClr val="1C1C1E"/>
                </a:solidFill>
                <a:latin typeface="Calibri"/>
              </a:defRPr>
            </a:pPr>
            <a:r>
              <a:t>Microsoft CoPilot</a:t>
            </a:r>
          </a:p>
        </p:txBody>
      </p:sp>
      <p:sp>
        <p:nvSpPr>
          <p:cNvPr id="15" name="TextBox 14"/>
          <p:cNvSpPr txBox="1"/>
          <p:nvPr/>
        </p:nvSpPr>
        <p:spPr>
          <a:xfrm>
            <a:off x="6355080" y="2286000"/>
            <a:ext cx="4663440" cy="201168"/>
          </a:xfrm>
          <a:prstGeom prst="rect">
            <a:avLst/>
          </a:prstGeom>
          <a:noFill/>
        </p:spPr>
        <p:txBody>
          <a:bodyPr wrap="square">
            <a:spAutoFit/>
          </a:bodyPr>
          <a:lstStyle/>
          <a:p>
            <a:pPr algn="l">
              <a:defRPr sz="1100" b="1" i="0">
                <a:solidFill>
                  <a:srgbClr val="2D5F8A"/>
                </a:solidFill>
                <a:latin typeface="Calibri"/>
              </a:defRPr>
            </a:pPr>
            <a:r>
              <a:t>500 business function staff</a:t>
            </a:r>
          </a:p>
        </p:txBody>
      </p:sp>
      <p:sp>
        <p:nvSpPr>
          <p:cNvPr id="16" name="TextBox 15"/>
          <p:cNvSpPr txBox="1"/>
          <p:nvPr/>
        </p:nvSpPr>
        <p:spPr>
          <a:xfrm>
            <a:off x="6355080" y="2560320"/>
            <a:ext cx="4663440" cy="1005840"/>
          </a:xfrm>
          <a:prstGeom prst="rect">
            <a:avLst/>
          </a:prstGeom>
          <a:noFill/>
        </p:spPr>
        <p:txBody>
          <a:bodyPr wrap="square">
            <a:spAutoFit/>
          </a:bodyPr>
          <a:lstStyle/>
          <a:p>
            <a:pPr algn="l">
              <a:defRPr sz="1100" b="0" i="0">
                <a:solidFill>
                  <a:srgbClr val="3A3A3C"/>
                </a:solidFill>
                <a:latin typeface="Calibri"/>
              </a:defRPr>
            </a:pPr>
            <a:r>
              <a:t>AI-assisted notes, email, and meeting</a:t>
            </a:r>
            <a:br/>
            <a:r>
              <a:t>summarization across all business functions.</a:t>
            </a:r>
            <a:br/>
            <a:r>
              <a:t>Integrates directly into Microsoft 365.</a:t>
            </a:r>
          </a:p>
        </p:txBody>
      </p:sp>
      <p:sp>
        <p:nvSpPr>
          <p:cNvPr id="17" name="TextBox 16"/>
          <p:cNvSpPr txBox="1"/>
          <p:nvPr/>
        </p:nvSpPr>
        <p:spPr>
          <a:xfrm>
            <a:off x="6355080" y="3611880"/>
            <a:ext cx="4663440" cy="201168"/>
          </a:xfrm>
          <a:prstGeom prst="rect">
            <a:avLst/>
          </a:prstGeom>
          <a:noFill/>
        </p:spPr>
        <p:txBody>
          <a:bodyPr wrap="square">
            <a:spAutoFit/>
          </a:bodyPr>
          <a:lstStyle/>
          <a:p>
            <a:pPr algn="l">
              <a:defRPr sz="1000" b="0" i="0">
                <a:solidFill>
                  <a:srgbClr val="767676"/>
                </a:solidFill>
                <a:latin typeface="Calibri"/>
              </a:defRPr>
            </a:pPr>
            <a:r>
              <a:t>Annual cost: $180K/yr</a:t>
            </a:r>
          </a:p>
        </p:txBody>
      </p:sp>
      <p:sp>
        <p:nvSpPr>
          <p:cNvPr id="18" name="TextBox 17"/>
          <p:cNvSpPr txBox="1"/>
          <p:nvPr/>
        </p:nvSpPr>
        <p:spPr>
          <a:xfrm>
            <a:off x="6355080" y="3931920"/>
            <a:ext cx="4663440" cy="457200"/>
          </a:xfrm>
          <a:prstGeom prst="rect">
            <a:avLst/>
          </a:prstGeom>
          <a:noFill/>
        </p:spPr>
        <p:txBody>
          <a:bodyPr wrap="square">
            <a:spAutoFit/>
          </a:bodyPr>
          <a:lstStyle/>
          <a:p>
            <a:pPr algn="l">
              <a:defRPr sz="1000" b="1" i="0">
                <a:solidFill>
                  <a:srgbClr val="1C1C1E"/>
                </a:solidFill>
                <a:latin typeface="Calibri"/>
              </a:defRPr>
            </a:pPr>
            <a:r>
              <a:t>60% of staff active weekly by Month 9</a:t>
            </a:r>
          </a:p>
        </p:txBody>
      </p:sp>
      <p:sp>
        <p:nvSpPr>
          <p:cNvPr id="19" name="Rounded Rectangle 18"/>
          <p:cNvSpPr/>
          <p:nvPr/>
        </p:nvSpPr>
        <p:spPr>
          <a:xfrm>
            <a:off x="731520" y="5120640"/>
            <a:ext cx="10698480" cy="4572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97280" y="5193792"/>
            <a:ext cx="6858000" cy="292608"/>
          </a:xfrm>
          <a:prstGeom prst="rect">
            <a:avLst/>
          </a:prstGeom>
          <a:noFill/>
        </p:spPr>
        <p:txBody>
          <a:bodyPr wrap="square">
            <a:spAutoFit/>
          </a:bodyPr>
          <a:lstStyle/>
          <a:p>
            <a:pPr algn="l">
              <a:defRPr sz="1100" b="0" i="0">
                <a:solidFill>
                  <a:srgbClr val="3A3A3C"/>
                </a:solidFill>
                <a:latin typeface="Calibri"/>
              </a:defRPr>
            </a:pPr>
            <a:r>
              <a:t>Quarterly AI Innovation Forums  |  $80K/yr  |  Surface grassroots use cases, identify AI champions</a:t>
            </a:r>
          </a:p>
        </p:txBody>
      </p:sp>
      <p:sp>
        <p:nvSpPr>
          <p:cNvPr id="21" name="TextBox 20"/>
          <p:cNvSpPr txBox="1"/>
          <p:nvPr/>
        </p:nvSpPr>
        <p:spPr>
          <a:xfrm>
            <a:off x="8229600" y="5193792"/>
            <a:ext cx="2926080" cy="292608"/>
          </a:xfrm>
          <a:prstGeom prst="rect">
            <a:avLst/>
          </a:prstGeom>
          <a:noFill/>
        </p:spPr>
        <p:txBody>
          <a:bodyPr wrap="square">
            <a:spAutoFit/>
          </a:bodyPr>
          <a:lstStyle/>
          <a:p>
            <a:pPr algn="r">
              <a:defRPr sz="1000" b="1" i="0">
                <a:solidFill>
                  <a:srgbClr val="1C1C1E"/>
                </a:solidFill>
                <a:latin typeface="Calibri"/>
              </a:defRPr>
            </a:pPr>
            <a:r>
              <a:t>5+ champions named by Month 12</a:t>
            </a:r>
          </a:p>
        </p:txBody>
      </p:sp>
      <p:sp>
        <p:nvSpPr>
          <p:cNvPr id="22" name="Rounded Rectangle 21"/>
          <p:cNvSpPr/>
          <p:nvPr/>
        </p:nvSpPr>
        <p:spPr>
          <a:xfrm>
            <a:off x="731520" y="5760720"/>
            <a:ext cx="10698480" cy="594360"/>
          </a:xfrm>
          <a:prstGeom prst="roundRect">
            <a:avLst>
              <a:gd name="adj" fmla="val 2000"/>
            </a:avLst>
          </a:prstGeom>
          <a:solidFill>
            <a:srgbClr val="FDF0F2"/>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097280" y="5870448"/>
            <a:ext cx="9601200" cy="411480"/>
          </a:xfrm>
          <a:prstGeom prst="rect">
            <a:avLst/>
          </a:prstGeom>
          <a:noFill/>
        </p:spPr>
        <p:txBody>
          <a:bodyPr wrap="square">
            <a:spAutoFit/>
          </a:bodyPr>
          <a:lstStyle/>
          <a:p>
            <a:pPr algn="l">
              <a:defRPr sz="1200" b="1" i="0">
                <a:solidFill>
                  <a:srgbClr val="1C1C1E"/>
                </a:solidFill>
                <a:latin typeface="Calibri"/>
              </a:defRPr>
            </a:pPr>
            <a:r>
              <a:t>Total investment: ~$400K/yr  |  Total benefit: ~$2.0M/yr labor-equivalent  |  Net value: ~$1.6M/yr  |  ROI: ~5x</a:t>
            </a:r>
          </a:p>
        </p:txBody>
      </p:sp>
      <p:sp>
        <p:nvSpPr>
          <p:cNvPr id="24" name="TextBox 23"/>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5" name="TextBox 24"/>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STEP 2: DATA FOUNDATIONS</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Data infrastructure is the prerequisite, not an optional investment</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SRAM has no centralized ERP, CRM, or data warehouse today. Customer data lives in Shopify. AXS telemetry is siloed from Hammerhead ride data.</a:t>
            </a:r>
          </a:p>
        </p:txBody>
      </p:sp>
      <p:sp>
        <p:nvSpPr>
          <p:cNvPr id="7" name="Rounded Rectangle 6"/>
          <p:cNvSpPr/>
          <p:nvPr/>
        </p:nvSpPr>
        <p:spPr>
          <a:xfrm>
            <a:off x="731520" y="1828800"/>
            <a:ext cx="3200400" cy="27432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938528"/>
            <a:ext cx="2834640" cy="228600"/>
          </a:xfrm>
          <a:prstGeom prst="rect">
            <a:avLst/>
          </a:prstGeom>
          <a:noFill/>
        </p:spPr>
        <p:txBody>
          <a:bodyPr wrap="square">
            <a:spAutoFit/>
          </a:bodyPr>
          <a:lstStyle/>
          <a:p>
            <a:pPr algn="l">
              <a:defRPr sz="1000" b="1" i="0">
                <a:solidFill>
                  <a:srgbClr val="2D5F8A"/>
                </a:solidFill>
                <a:latin typeface="Calibri"/>
              </a:defRPr>
            </a:pPr>
            <a:r>
              <a:t>SOURCE SYSTEMS</a:t>
            </a:r>
          </a:p>
        </p:txBody>
      </p:sp>
      <p:sp>
        <p:nvSpPr>
          <p:cNvPr id="9" name="TextBox 8"/>
          <p:cNvSpPr txBox="1"/>
          <p:nvPr/>
        </p:nvSpPr>
        <p:spPr>
          <a:xfrm>
            <a:off x="960120" y="2304288"/>
            <a:ext cx="2743200" cy="347472"/>
          </a:xfrm>
          <a:prstGeom prst="rect">
            <a:avLst/>
          </a:prstGeom>
          <a:noFill/>
        </p:spPr>
        <p:txBody>
          <a:bodyPr wrap="square">
            <a:spAutoFit/>
          </a:bodyPr>
          <a:lstStyle/>
          <a:p>
            <a:pPr algn="l">
              <a:defRPr sz="1100" b="0" i="0">
                <a:solidFill>
                  <a:srgbClr val="3A3A3C"/>
                </a:solidFill>
                <a:latin typeface="Calibri"/>
              </a:defRPr>
            </a:pPr>
            <a:r>
              <a:t>SAP ERP (order + inventory)</a:t>
            </a:r>
          </a:p>
        </p:txBody>
      </p:sp>
      <p:sp>
        <p:nvSpPr>
          <p:cNvPr id="10" name="TextBox 9"/>
          <p:cNvSpPr txBox="1"/>
          <p:nvPr/>
        </p:nvSpPr>
        <p:spPr>
          <a:xfrm>
            <a:off x="960120" y="2734056"/>
            <a:ext cx="2743200" cy="347472"/>
          </a:xfrm>
          <a:prstGeom prst="rect">
            <a:avLst/>
          </a:prstGeom>
          <a:noFill/>
        </p:spPr>
        <p:txBody>
          <a:bodyPr wrap="square">
            <a:spAutoFit/>
          </a:bodyPr>
          <a:lstStyle/>
          <a:p>
            <a:pPr algn="l">
              <a:defRPr sz="1100" b="0" i="0">
                <a:solidFill>
                  <a:srgbClr val="3A3A3C"/>
                </a:solidFill>
                <a:latin typeface="Calibri"/>
              </a:defRPr>
            </a:pPr>
            <a:r>
              <a:t>Salesforce CRM (dealers + warranty)</a:t>
            </a:r>
          </a:p>
        </p:txBody>
      </p:sp>
      <p:sp>
        <p:nvSpPr>
          <p:cNvPr id="11" name="TextBox 10"/>
          <p:cNvSpPr txBox="1"/>
          <p:nvPr/>
        </p:nvSpPr>
        <p:spPr>
          <a:xfrm>
            <a:off x="960120" y="3163824"/>
            <a:ext cx="2743200" cy="347472"/>
          </a:xfrm>
          <a:prstGeom prst="rect">
            <a:avLst/>
          </a:prstGeom>
          <a:noFill/>
        </p:spPr>
        <p:txBody>
          <a:bodyPr wrap="square">
            <a:spAutoFit/>
          </a:bodyPr>
          <a:lstStyle/>
          <a:p>
            <a:pPr algn="l">
              <a:defRPr sz="1100" b="0" i="0">
                <a:solidFill>
                  <a:srgbClr val="3A3A3C"/>
                </a:solidFill>
                <a:latin typeface="Calibri"/>
              </a:defRPr>
            </a:pPr>
            <a:r>
              <a:t>AXS + Hammerhead telemetry</a:t>
            </a:r>
          </a:p>
        </p:txBody>
      </p:sp>
      <p:sp>
        <p:nvSpPr>
          <p:cNvPr id="12" name="TextBox 11"/>
          <p:cNvSpPr txBox="1"/>
          <p:nvPr/>
        </p:nvSpPr>
        <p:spPr>
          <a:xfrm>
            <a:off x="960120" y="3593592"/>
            <a:ext cx="2743200" cy="347472"/>
          </a:xfrm>
          <a:prstGeom prst="rect">
            <a:avLst/>
          </a:prstGeom>
          <a:noFill/>
        </p:spPr>
        <p:txBody>
          <a:bodyPr wrap="square">
            <a:spAutoFit/>
          </a:bodyPr>
          <a:lstStyle/>
          <a:p>
            <a:pPr algn="l">
              <a:defRPr sz="1100" b="0" i="0">
                <a:solidFill>
                  <a:srgbClr val="3A3A3C"/>
                </a:solidFill>
                <a:latin typeface="Calibri"/>
              </a:defRPr>
            </a:pPr>
            <a:r>
              <a:t>Shopify (DTC orders)</a:t>
            </a:r>
          </a:p>
        </p:txBody>
      </p:sp>
      <p:sp>
        <p:nvSpPr>
          <p:cNvPr id="13" name="TextBox 12"/>
          <p:cNvSpPr txBox="1"/>
          <p:nvPr/>
        </p:nvSpPr>
        <p:spPr>
          <a:xfrm>
            <a:off x="960120" y="4023360"/>
            <a:ext cx="2743200" cy="347472"/>
          </a:xfrm>
          <a:prstGeom prst="rect">
            <a:avLst/>
          </a:prstGeom>
          <a:noFill/>
        </p:spPr>
        <p:txBody>
          <a:bodyPr wrap="square">
            <a:spAutoFit/>
          </a:bodyPr>
          <a:lstStyle/>
          <a:p>
            <a:pPr algn="l">
              <a:defRPr sz="1100" b="0" i="0">
                <a:solidFill>
                  <a:srgbClr val="3A3A3C"/>
                </a:solidFill>
                <a:latin typeface="Calibri"/>
              </a:defRPr>
            </a:pPr>
            <a:r>
              <a:t>Quarq power data</a:t>
            </a:r>
          </a:p>
        </p:txBody>
      </p:sp>
      <p:sp>
        <p:nvSpPr>
          <p:cNvPr id="14" name="Isosceles Triangle 13"/>
          <p:cNvSpPr/>
          <p:nvPr/>
        </p:nvSpPr>
        <p:spPr>
          <a:xfrm rot="5400000">
            <a:off x="4041648" y="3108960"/>
            <a:ext cx="182880" cy="18288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343400" y="1828800"/>
            <a:ext cx="3200400" cy="2743200"/>
          </a:xfrm>
          <a:prstGeom prst="roundRect">
            <a:avLst>
              <a:gd name="adj" fmla="val 4000"/>
            </a:avLst>
          </a:prstGeom>
          <a:solidFill>
            <a:srgbClr val="D4E4F0"/>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26280" y="1938528"/>
            <a:ext cx="2834640" cy="228600"/>
          </a:xfrm>
          <a:prstGeom prst="rect">
            <a:avLst/>
          </a:prstGeom>
          <a:noFill/>
        </p:spPr>
        <p:txBody>
          <a:bodyPr wrap="square">
            <a:spAutoFit/>
          </a:bodyPr>
          <a:lstStyle/>
          <a:p>
            <a:pPr algn="l">
              <a:defRPr sz="1000" b="1" i="0">
                <a:solidFill>
                  <a:srgbClr val="2D5F8A"/>
                </a:solidFill>
                <a:latin typeface="Calibri"/>
              </a:defRPr>
            </a:pPr>
            <a:r>
              <a:t>AWS DATA LAKEHOUSE</a:t>
            </a:r>
          </a:p>
        </p:txBody>
      </p:sp>
      <p:sp>
        <p:nvSpPr>
          <p:cNvPr id="17" name="TextBox 16"/>
          <p:cNvSpPr txBox="1"/>
          <p:nvPr/>
        </p:nvSpPr>
        <p:spPr>
          <a:xfrm>
            <a:off x="4572000" y="2304288"/>
            <a:ext cx="2743200" cy="347472"/>
          </a:xfrm>
          <a:prstGeom prst="rect">
            <a:avLst/>
          </a:prstGeom>
          <a:noFill/>
        </p:spPr>
        <p:txBody>
          <a:bodyPr wrap="square">
            <a:spAutoFit/>
          </a:bodyPr>
          <a:lstStyle/>
          <a:p>
            <a:pPr algn="l">
              <a:defRPr sz="1100" b="0" i="0">
                <a:solidFill>
                  <a:srgbClr val="3A3A3C"/>
                </a:solidFill>
                <a:latin typeface="Calibri"/>
              </a:defRPr>
            </a:pPr>
            <a:r>
              <a:t>S3 + Glue + Redshift</a:t>
            </a:r>
          </a:p>
        </p:txBody>
      </p:sp>
      <p:sp>
        <p:nvSpPr>
          <p:cNvPr id="18" name="TextBox 17"/>
          <p:cNvSpPr txBox="1"/>
          <p:nvPr/>
        </p:nvSpPr>
        <p:spPr>
          <a:xfrm>
            <a:off x="4572000" y="2734056"/>
            <a:ext cx="2743200" cy="347472"/>
          </a:xfrm>
          <a:prstGeom prst="rect">
            <a:avLst/>
          </a:prstGeom>
          <a:noFill/>
        </p:spPr>
        <p:txBody>
          <a:bodyPr wrap="square">
            <a:spAutoFit/>
          </a:bodyPr>
          <a:lstStyle/>
          <a:p>
            <a:pPr algn="l">
              <a:defRPr sz="1100" b="0" i="0">
                <a:solidFill>
                  <a:srgbClr val="3A3A3C"/>
                </a:solidFill>
                <a:latin typeface="Calibri"/>
              </a:defRPr>
            </a:pPr>
            <a:r>
              <a:t>Unified SKU-level order data</a:t>
            </a:r>
          </a:p>
        </p:txBody>
      </p:sp>
      <p:sp>
        <p:nvSpPr>
          <p:cNvPr id="19" name="TextBox 18"/>
          <p:cNvSpPr txBox="1"/>
          <p:nvPr/>
        </p:nvSpPr>
        <p:spPr>
          <a:xfrm>
            <a:off x="4572000" y="3163824"/>
            <a:ext cx="2743200" cy="347472"/>
          </a:xfrm>
          <a:prstGeom prst="rect">
            <a:avLst/>
          </a:prstGeom>
          <a:noFill/>
        </p:spPr>
        <p:txBody>
          <a:bodyPr wrap="square">
            <a:spAutoFit/>
          </a:bodyPr>
          <a:lstStyle/>
          <a:p>
            <a:pPr algn="l">
              <a:defRPr sz="1100" b="0" i="0">
                <a:solidFill>
                  <a:srgbClr val="3A3A3C"/>
                </a:solidFill>
                <a:latin typeface="Calibri"/>
              </a:defRPr>
            </a:pPr>
            <a:r>
              <a:t>Dealer sell-through rates</a:t>
            </a:r>
          </a:p>
        </p:txBody>
      </p:sp>
      <p:sp>
        <p:nvSpPr>
          <p:cNvPr id="20" name="TextBox 19"/>
          <p:cNvSpPr txBox="1"/>
          <p:nvPr/>
        </p:nvSpPr>
        <p:spPr>
          <a:xfrm>
            <a:off x="4572000" y="3593592"/>
            <a:ext cx="2743200" cy="347472"/>
          </a:xfrm>
          <a:prstGeom prst="rect">
            <a:avLst/>
          </a:prstGeom>
          <a:noFill/>
        </p:spPr>
        <p:txBody>
          <a:bodyPr wrap="square">
            <a:spAutoFit/>
          </a:bodyPr>
          <a:lstStyle/>
          <a:p>
            <a:pPr algn="l">
              <a:defRPr sz="1100" b="0" i="0">
                <a:solidFill>
                  <a:srgbClr val="3A3A3C"/>
                </a:solidFill>
                <a:latin typeface="Calibri"/>
              </a:defRPr>
            </a:pPr>
            <a:r>
              <a:t>PowerBI + Databricks (BI layer)</a:t>
            </a:r>
          </a:p>
        </p:txBody>
      </p:sp>
      <p:sp>
        <p:nvSpPr>
          <p:cNvPr id="21" name="TextBox 20"/>
          <p:cNvSpPr txBox="1"/>
          <p:nvPr/>
        </p:nvSpPr>
        <p:spPr>
          <a:xfrm>
            <a:off x="4572000" y="4023360"/>
            <a:ext cx="2743200" cy="347472"/>
          </a:xfrm>
          <a:prstGeom prst="rect">
            <a:avLst/>
          </a:prstGeom>
          <a:noFill/>
        </p:spPr>
        <p:txBody>
          <a:bodyPr wrap="square">
            <a:spAutoFit/>
          </a:bodyPr>
          <a:lstStyle/>
          <a:p>
            <a:pPr algn="l">
              <a:defRPr sz="1100" b="0" i="0">
                <a:solidFill>
                  <a:srgbClr val="3A3A3C"/>
                </a:solidFill>
                <a:latin typeface="Calibri"/>
              </a:defRPr>
            </a:pPr>
            <a:r>
              <a:t>Data quality gates enforced</a:t>
            </a:r>
          </a:p>
        </p:txBody>
      </p:sp>
      <p:sp>
        <p:nvSpPr>
          <p:cNvPr id="22" name="Isosceles Triangle 21"/>
          <p:cNvSpPr/>
          <p:nvPr/>
        </p:nvSpPr>
        <p:spPr>
          <a:xfrm rot="5400000">
            <a:off x="7653528" y="3108960"/>
            <a:ext cx="182880" cy="18288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955280" y="1828800"/>
            <a:ext cx="3200400" cy="27432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138160" y="1938528"/>
            <a:ext cx="2834640" cy="228600"/>
          </a:xfrm>
          <a:prstGeom prst="rect">
            <a:avLst/>
          </a:prstGeom>
          <a:noFill/>
        </p:spPr>
        <p:txBody>
          <a:bodyPr wrap="square">
            <a:spAutoFit/>
          </a:bodyPr>
          <a:lstStyle/>
          <a:p>
            <a:pPr algn="l">
              <a:defRPr sz="1000" b="1" i="0">
                <a:solidFill>
                  <a:srgbClr val="2D5F8A"/>
                </a:solidFill>
                <a:latin typeface="Calibri"/>
              </a:defRPr>
            </a:pPr>
            <a:r>
              <a:t>AI / ML LAYER</a:t>
            </a:r>
          </a:p>
        </p:txBody>
      </p:sp>
      <p:sp>
        <p:nvSpPr>
          <p:cNvPr id="25" name="TextBox 24"/>
          <p:cNvSpPr txBox="1"/>
          <p:nvPr/>
        </p:nvSpPr>
        <p:spPr>
          <a:xfrm>
            <a:off x="8183880" y="2304288"/>
            <a:ext cx="2743200" cy="347472"/>
          </a:xfrm>
          <a:prstGeom prst="rect">
            <a:avLst/>
          </a:prstGeom>
          <a:noFill/>
        </p:spPr>
        <p:txBody>
          <a:bodyPr wrap="square">
            <a:spAutoFit/>
          </a:bodyPr>
          <a:lstStyle/>
          <a:p>
            <a:pPr algn="l">
              <a:defRPr sz="1100" b="0" i="0">
                <a:solidFill>
                  <a:srgbClr val="3A3A3C"/>
                </a:solidFill>
                <a:latin typeface="Calibri"/>
              </a:defRPr>
            </a:pPr>
            <a:r>
              <a:t>Amazon Bedrock (LLM agents)</a:t>
            </a:r>
          </a:p>
        </p:txBody>
      </p:sp>
      <p:sp>
        <p:nvSpPr>
          <p:cNvPr id="26" name="TextBox 25"/>
          <p:cNvSpPr txBox="1"/>
          <p:nvPr/>
        </p:nvSpPr>
        <p:spPr>
          <a:xfrm>
            <a:off x="8183880" y="2734056"/>
            <a:ext cx="2743200" cy="347472"/>
          </a:xfrm>
          <a:prstGeom prst="rect">
            <a:avLst/>
          </a:prstGeom>
          <a:noFill/>
        </p:spPr>
        <p:txBody>
          <a:bodyPr wrap="square">
            <a:spAutoFit/>
          </a:bodyPr>
          <a:lstStyle/>
          <a:p>
            <a:pPr algn="l">
              <a:defRPr sz="1100" b="0" i="0">
                <a:solidFill>
                  <a:srgbClr val="3A3A3C"/>
                </a:solidFill>
                <a:latin typeface="Calibri"/>
              </a:defRPr>
            </a:pPr>
            <a:r>
              <a:t>Amazon SageMaker (forecasting)</a:t>
            </a:r>
          </a:p>
        </p:txBody>
      </p:sp>
      <p:sp>
        <p:nvSpPr>
          <p:cNvPr id="27" name="TextBox 26"/>
          <p:cNvSpPr txBox="1"/>
          <p:nvPr/>
        </p:nvSpPr>
        <p:spPr>
          <a:xfrm>
            <a:off x="8183880" y="3163824"/>
            <a:ext cx="2743200" cy="347472"/>
          </a:xfrm>
          <a:prstGeom prst="rect">
            <a:avLst/>
          </a:prstGeom>
          <a:noFill/>
        </p:spPr>
        <p:txBody>
          <a:bodyPr wrap="square">
            <a:spAutoFit/>
          </a:bodyPr>
          <a:lstStyle/>
          <a:p>
            <a:pPr algn="l">
              <a:defRPr sz="1100" b="0" i="0">
                <a:solidFill>
                  <a:srgbClr val="3A3A3C"/>
                </a:solidFill>
                <a:latin typeface="Calibri"/>
              </a:defRPr>
            </a:pPr>
            <a:r>
              <a:t>Amazon Kendra (doc retrieval)</a:t>
            </a:r>
          </a:p>
        </p:txBody>
      </p:sp>
      <p:sp>
        <p:nvSpPr>
          <p:cNvPr id="28" name="TextBox 27"/>
          <p:cNvSpPr txBox="1"/>
          <p:nvPr/>
        </p:nvSpPr>
        <p:spPr>
          <a:xfrm>
            <a:off x="8183880" y="3593592"/>
            <a:ext cx="2743200" cy="347472"/>
          </a:xfrm>
          <a:prstGeom prst="rect">
            <a:avLst/>
          </a:prstGeom>
          <a:noFill/>
        </p:spPr>
        <p:txBody>
          <a:bodyPr wrap="square">
            <a:spAutoFit/>
          </a:bodyPr>
          <a:lstStyle/>
          <a:p>
            <a:pPr algn="l">
              <a:defRPr sz="1100" b="0" i="0">
                <a:solidFill>
                  <a:srgbClr val="3A3A3C"/>
                </a:solidFill>
                <a:latin typeface="Calibri"/>
              </a:defRPr>
            </a:pPr>
            <a:r>
              <a:t>Salesforce AgentForce</a:t>
            </a:r>
          </a:p>
        </p:txBody>
      </p:sp>
      <p:sp>
        <p:nvSpPr>
          <p:cNvPr id="29" name="TextBox 28"/>
          <p:cNvSpPr txBox="1"/>
          <p:nvPr/>
        </p:nvSpPr>
        <p:spPr>
          <a:xfrm>
            <a:off x="8183880" y="4023360"/>
            <a:ext cx="2743200" cy="347472"/>
          </a:xfrm>
          <a:prstGeom prst="rect">
            <a:avLst/>
          </a:prstGeom>
          <a:noFill/>
        </p:spPr>
        <p:txBody>
          <a:bodyPr wrap="square">
            <a:spAutoFit/>
          </a:bodyPr>
          <a:lstStyle/>
          <a:p>
            <a:pPr algn="l">
              <a:defRPr sz="1100" b="0" i="0">
                <a:solidFill>
                  <a:srgbClr val="3A3A3C"/>
                </a:solidFill>
                <a:latin typeface="Calibri"/>
              </a:defRPr>
            </a:pPr>
            <a:r>
              <a:t>All Step 3 + 4 tools run here</a:t>
            </a:r>
          </a:p>
        </p:txBody>
      </p:sp>
      <p:sp>
        <p:nvSpPr>
          <p:cNvPr id="30" name="Rounded Rectangle 29"/>
          <p:cNvSpPr/>
          <p:nvPr/>
        </p:nvSpPr>
        <p:spPr>
          <a:xfrm>
            <a:off x="731520" y="4754880"/>
            <a:ext cx="256032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60120" y="4892040"/>
            <a:ext cx="2103120" cy="228600"/>
          </a:xfrm>
          <a:prstGeom prst="rect">
            <a:avLst/>
          </a:prstGeom>
          <a:noFill/>
        </p:spPr>
        <p:txBody>
          <a:bodyPr wrap="square">
            <a:spAutoFit/>
          </a:bodyPr>
          <a:lstStyle/>
          <a:p>
            <a:pPr algn="l">
              <a:defRPr sz="1000" b="0" i="0">
                <a:solidFill>
                  <a:srgbClr val="767676"/>
                </a:solidFill>
                <a:latin typeface="Calibri"/>
              </a:defRPr>
            </a:pPr>
            <a:r>
              <a:t>24-MONTH INVESTMENT</a:t>
            </a:r>
          </a:p>
        </p:txBody>
      </p:sp>
      <p:sp>
        <p:nvSpPr>
          <p:cNvPr id="32" name="TextBox 31"/>
          <p:cNvSpPr txBox="1"/>
          <p:nvPr/>
        </p:nvSpPr>
        <p:spPr>
          <a:xfrm>
            <a:off x="960120" y="5120640"/>
            <a:ext cx="2103120" cy="411480"/>
          </a:xfrm>
          <a:prstGeom prst="rect">
            <a:avLst/>
          </a:prstGeom>
          <a:noFill/>
        </p:spPr>
        <p:txBody>
          <a:bodyPr wrap="square">
            <a:spAutoFit/>
          </a:bodyPr>
          <a:lstStyle/>
          <a:p>
            <a:pPr algn="l">
              <a:defRPr sz="2600" b="1" i="0">
                <a:solidFill>
                  <a:srgbClr val="1C1C1E"/>
                </a:solidFill>
                <a:latin typeface="Calibri"/>
              </a:defRPr>
            </a:pPr>
            <a:r>
              <a:t>$6-10M</a:t>
            </a:r>
          </a:p>
        </p:txBody>
      </p:sp>
      <p:sp>
        <p:nvSpPr>
          <p:cNvPr id="33" name="TextBox 32"/>
          <p:cNvSpPr txBox="1"/>
          <p:nvPr/>
        </p:nvSpPr>
        <p:spPr>
          <a:xfrm>
            <a:off x="960120" y="5577840"/>
            <a:ext cx="2103120" cy="228600"/>
          </a:xfrm>
          <a:prstGeom prst="rect">
            <a:avLst/>
          </a:prstGeom>
          <a:noFill/>
        </p:spPr>
        <p:txBody>
          <a:bodyPr wrap="square">
            <a:spAutoFit/>
          </a:bodyPr>
          <a:lstStyle/>
          <a:p>
            <a:pPr algn="l">
              <a:defRPr sz="900" b="0" i="0">
                <a:solidFill>
                  <a:srgbClr val="767676"/>
                </a:solidFill>
                <a:latin typeface="Calibri"/>
              </a:defRPr>
            </a:pPr>
            <a:r>
              <a:t>SAP + Salesforce + Lakehouse</a:t>
            </a:r>
          </a:p>
        </p:txBody>
      </p:sp>
      <p:sp>
        <p:nvSpPr>
          <p:cNvPr id="34" name="Rounded Rectangle 33"/>
          <p:cNvSpPr/>
          <p:nvPr/>
        </p:nvSpPr>
        <p:spPr>
          <a:xfrm>
            <a:off x="3474720" y="4754880"/>
            <a:ext cx="256032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3703320" y="4892040"/>
            <a:ext cx="2103120" cy="228600"/>
          </a:xfrm>
          <a:prstGeom prst="rect">
            <a:avLst/>
          </a:prstGeom>
          <a:noFill/>
        </p:spPr>
        <p:txBody>
          <a:bodyPr wrap="square">
            <a:spAutoFit/>
          </a:bodyPr>
          <a:lstStyle/>
          <a:p>
            <a:pPr algn="l">
              <a:defRPr sz="1000" b="0" i="0">
                <a:solidFill>
                  <a:srgbClr val="767676"/>
                </a:solidFill>
                <a:latin typeface="Calibri"/>
              </a:defRPr>
            </a:pPr>
            <a:r>
              <a:t>DIRECT ANNUAL SAVINGS</a:t>
            </a:r>
          </a:p>
        </p:txBody>
      </p:sp>
      <p:sp>
        <p:nvSpPr>
          <p:cNvPr id="36" name="TextBox 35"/>
          <p:cNvSpPr txBox="1"/>
          <p:nvPr/>
        </p:nvSpPr>
        <p:spPr>
          <a:xfrm>
            <a:off x="3703320" y="5120640"/>
            <a:ext cx="2103120" cy="411480"/>
          </a:xfrm>
          <a:prstGeom prst="rect">
            <a:avLst/>
          </a:prstGeom>
          <a:noFill/>
        </p:spPr>
        <p:txBody>
          <a:bodyPr wrap="square">
            <a:spAutoFit/>
          </a:bodyPr>
          <a:lstStyle/>
          <a:p>
            <a:pPr algn="l">
              <a:defRPr sz="2600" b="1" i="0">
                <a:solidFill>
                  <a:srgbClr val="1C1C1E"/>
                </a:solidFill>
                <a:latin typeface="Calibri"/>
              </a:defRPr>
            </a:pPr>
            <a:r>
              <a:t>~$1.5M/yr</a:t>
            </a:r>
          </a:p>
        </p:txBody>
      </p:sp>
      <p:sp>
        <p:nvSpPr>
          <p:cNvPr id="37" name="TextBox 36"/>
          <p:cNvSpPr txBox="1"/>
          <p:nvPr/>
        </p:nvSpPr>
        <p:spPr>
          <a:xfrm>
            <a:off x="3703320" y="5577840"/>
            <a:ext cx="2103120" cy="228600"/>
          </a:xfrm>
          <a:prstGeom prst="rect">
            <a:avLst/>
          </a:prstGeom>
          <a:noFill/>
        </p:spPr>
        <p:txBody>
          <a:bodyPr wrap="square">
            <a:spAutoFit/>
          </a:bodyPr>
          <a:lstStyle/>
          <a:p>
            <a:pPr algn="l">
              <a:defRPr sz="900" b="0" i="0">
                <a:solidFill>
                  <a:srgbClr val="767676"/>
                </a:solidFill>
                <a:latin typeface="Calibri"/>
              </a:defRPr>
            </a:pPr>
            <a:r>
              <a:t>Reporting + reconciliation</a:t>
            </a:r>
          </a:p>
        </p:txBody>
      </p:sp>
      <p:sp>
        <p:nvSpPr>
          <p:cNvPr id="38" name="Rounded Rectangle 37"/>
          <p:cNvSpPr/>
          <p:nvPr/>
        </p:nvSpPr>
        <p:spPr>
          <a:xfrm>
            <a:off x="6217920" y="4754880"/>
            <a:ext cx="256032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446520" y="4892040"/>
            <a:ext cx="2103120" cy="228600"/>
          </a:xfrm>
          <a:prstGeom prst="rect">
            <a:avLst/>
          </a:prstGeom>
          <a:noFill/>
        </p:spPr>
        <p:txBody>
          <a:bodyPr wrap="square">
            <a:spAutoFit/>
          </a:bodyPr>
          <a:lstStyle/>
          <a:p>
            <a:pPr algn="l">
              <a:defRPr sz="1000" b="0" i="0">
                <a:solidFill>
                  <a:srgbClr val="767676"/>
                </a:solidFill>
                <a:latin typeface="Calibri"/>
              </a:defRPr>
            </a:pPr>
            <a:r>
              <a:t>DOWNSTREAM VALUE</a:t>
            </a:r>
          </a:p>
        </p:txBody>
      </p:sp>
      <p:sp>
        <p:nvSpPr>
          <p:cNvPr id="40" name="TextBox 39"/>
          <p:cNvSpPr txBox="1"/>
          <p:nvPr/>
        </p:nvSpPr>
        <p:spPr>
          <a:xfrm>
            <a:off x="6446520" y="5120640"/>
            <a:ext cx="2103120" cy="411480"/>
          </a:xfrm>
          <a:prstGeom prst="rect">
            <a:avLst/>
          </a:prstGeom>
          <a:noFill/>
        </p:spPr>
        <p:txBody>
          <a:bodyPr wrap="square">
            <a:spAutoFit/>
          </a:bodyPr>
          <a:lstStyle/>
          <a:p>
            <a:pPr algn="l">
              <a:defRPr sz="2600" b="1" i="0">
                <a:solidFill>
                  <a:srgbClr val="C43B4F"/>
                </a:solidFill>
                <a:latin typeface="Calibri"/>
              </a:defRPr>
            </a:pPr>
            <a:r>
              <a:t>$34M+/yr</a:t>
            </a:r>
          </a:p>
        </p:txBody>
      </p:sp>
      <p:sp>
        <p:nvSpPr>
          <p:cNvPr id="41" name="TextBox 40"/>
          <p:cNvSpPr txBox="1"/>
          <p:nvPr/>
        </p:nvSpPr>
        <p:spPr>
          <a:xfrm>
            <a:off x="6446520" y="5577840"/>
            <a:ext cx="2103120" cy="228600"/>
          </a:xfrm>
          <a:prstGeom prst="rect">
            <a:avLst/>
          </a:prstGeom>
          <a:noFill/>
        </p:spPr>
        <p:txBody>
          <a:bodyPr wrap="square">
            <a:spAutoFit/>
          </a:bodyPr>
          <a:lstStyle/>
          <a:p>
            <a:pPr algn="l">
              <a:defRPr sz="900" b="0" i="0">
                <a:solidFill>
                  <a:srgbClr val="767676"/>
                </a:solidFill>
                <a:latin typeface="Calibri"/>
              </a:defRPr>
            </a:pPr>
            <a:r>
              <a:t>Steps 3B + 4 depend on this</a:t>
            </a:r>
          </a:p>
        </p:txBody>
      </p:sp>
      <p:sp>
        <p:nvSpPr>
          <p:cNvPr id="42" name="Rounded Rectangle 41"/>
          <p:cNvSpPr/>
          <p:nvPr/>
        </p:nvSpPr>
        <p:spPr>
          <a:xfrm>
            <a:off x="8961120" y="4754880"/>
            <a:ext cx="256032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9189720" y="4892040"/>
            <a:ext cx="2103120" cy="228600"/>
          </a:xfrm>
          <a:prstGeom prst="rect">
            <a:avLst/>
          </a:prstGeom>
          <a:noFill/>
        </p:spPr>
        <p:txBody>
          <a:bodyPr wrap="square">
            <a:spAutoFit/>
          </a:bodyPr>
          <a:lstStyle/>
          <a:p>
            <a:pPr algn="l">
              <a:defRPr sz="1000" b="0" i="0">
                <a:solidFill>
                  <a:srgbClr val="767676"/>
                </a:solidFill>
                <a:latin typeface="Calibri"/>
              </a:defRPr>
            </a:pPr>
            <a:r>
              <a:t>DATA READINESS TODAY</a:t>
            </a:r>
          </a:p>
        </p:txBody>
      </p:sp>
      <p:sp>
        <p:nvSpPr>
          <p:cNvPr id="44" name="TextBox 43"/>
          <p:cNvSpPr txBox="1"/>
          <p:nvPr/>
        </p:nvSpPr>
        <p:spPr>
          <a:xfrm>
            <a:off x="9189720" y="5120640"/>
            <a:ext cx="2103120" cy="411480"/>
          </a:xfrm>
          <a:prstGeom prst="rect">
            <a:avLst/>
          </a:prstGeom>
          <a:noFill/>
        </p:spPr>
        <p:txBody>
          <a:bodyPr wrap="square">
            <a:spAutoFit/>
          </a:bodyPr>
          <a:lstStyle/>
          <a:p>
            <a:pPr algn="l">
              <a:defRPr sz="2600" b="1" i="0">
                <a:solidFill>
                  <a:srgbClr val="2D5F8A"/>
                </a:solidFill>
                <a:latin typeface="Calibri"/>
              </a:defRPr>
            </a:pPr>
            <a:r>
              <a:t>60-70%</a:t>
            </a:r>
          </a:p>
        </p:txBody>
      </p:sp>
      <p:sp>
        <p:nvSpPr>
          <p:cNvPr id="45" name="TextBox 44"/>
          <p:cNvSpPr txBox="1"/>
          <p:nvPr/>
        </p:nvSpPr>
        <p:spPr>
          <a:xfrm>
            <a:off x="9189720" y="5577840"/>
            <a:ext cx="2103120" cy="228600"/>
          </a:xfrm>
          <a:prstGeom prst="rect">
            <a:avLst/>
          </a:prstGeom>
          <a:noFill/>
        </p:spPr>
        <p:txBody>
          <a:bodyPr wrap="square">
            <a:spAutoFit/>
          </a:bodyPr>
          <a:lstStyle/>
          <a:p>
            <a:pPr algn="l">
              <a:defRPr sz="900" b="0" i="0">
                <a:solidFill>
                  <a:srgbClr val="767676"/>
                </a:solidFill>
                <a:latin typeface="Calibri"/>
              </a:defRPr>
            </a:pPr>
            <a:r>
              <a:t>AXS + Hammerhead pilot-ready</a:t>
            </a:r>
          </a:p>
        </p:txBody>
      </p:sp>
      <p:sp>
        <p:nvSpPr>
          <p:cNvPr id="46" name="TextBox 45"/>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47" name="TextBox 46"/>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WHERE AI ADDS VALUE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12 AI initiatives across four business functions</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34440"/>
            <a:ext cx="10058400" cy="320040"/>
          </a:xfrm>
          <a:prstGeom prst="rect">
            <a:avLst/>
          </a:prstGeom>
          <a:noFill/>
        </p:spPr>
        <p:txBody>
          <a:bodyPr wrap="square">
            <a:spAutoFit/>
          </a:bodyPr>
          <a:lstStyle/>
          <a:p>
            <a:pPr algn="l">
              <a:defRPr sz="1300" b="0" i="0">
                <a:solidFill>
                  <a:srgbClr val="3A3A3C"/>
                </a:solidFill>
                <a:latin typeface="Calibri"/>
              </a:defRPr>
            </a:pPr>
            <a:r>
              <a:t>AI opportunities exist across every function at SRAM.</a:t>
            </a:r>
          </a:p>
        </p:txBody>
      </p:sp>
      <p:sp>
        <p:nvSpPr>
          <p:cNvPr id="7" name="TextBox 6"/>
          <p:cNvSpPr txBox="1"/>
          <p:nvPr/>
        </p:nvSpPr>
        <p:spPr>
          <a:xfrm>
            <a:off x="2194560" y="1600200"/>
            <a:ext cx="2926080" cy="201168"/>
          </a:xfrm>
          <a:prstGeom prst="rect">
            <a:avLst/>
          </a:prstGeom>
          <a:noFill/>
        </p:spPr>
        <p:txBody>
          <a:bodyPr wrap="square">
            <a:spAutoFit/>
          </a:bodyPr>
          <a:lstStyle/>
          <a:p>
            <a:pPr algn="ctr">
              <a:defRPr sz="900" b="1" i="0">
                <a:solidFill>
                  <a:srgbClr val="767676"/>
                </a:solidFill>
                <a:latin typeface="Calibri"/>
              </a:defRPr>
            </a:pPr>
            <a:r>
              <a:t>Quick Win</a:t>
            </a:r>
          </a:p>
        </p:txBody>
      </p:sp>
      <p:sp>
        <p:nvSpPr>
          <p:cNvPr id="8" name="TextBox 7"/>
          <p:cNvSpPr txBox="1"/>
          <p:nvPr/>
        </p:nvSpPr>
        <p:spPr>
          <a:xfrm>
            <a:off x="5257800" y="1600200"/>
            <a:ext cx="2926080" cy="201168"/>
          </a:xfrm>
          <a:prstGeom prst="rect">
            <a:avLst/>
          </a:prstGeom>
          <a:noFill/>
        </p:spPr>
        <p:txBody>
          <a:bodyPr wrap="square">
            <a:spAutoFit/>
          </a:bodyPr>
          <a:lstStyle/>
          <a:p>
            <a:pPr algn="ctr">
              <a:defRPr sz="900" b="1" i="0">
                <a:solidFill>
                  <a:srgbClr val="767676"/>
                </a:solidFill>
                <a:latin typeface="Calibri"/>
              </a:defRPr>
            </a:pPr>
            <a:r>
              <a:t>Medium Effort</a:t>
            </a:r>
          </a:p>
        </p:txBody>
      </p:sp>
      <p:sp>
        <p:nvSpPr>
          <p:cNvPr id="9" name="TextBox 8"/>
          <p:cNvSpPr txBox="1"/>
          <p:nvPr/>
        </p:nvSpPr>
        <p:spPr>
          <a:xfrm>
            <a:off x="8321040" y="1600200"/>
            <a:ext cx="2926080" cy="201168"/>
          </a:xfrm>
          <a:prstGeom prst="rect">
            <a:avLst/>
          </a:prstGeom>
          <a:noFill/>
        </p:spPr>
        <p:txBody>
          <a:bodyPr wrap="square">
            <a:spAutoFit/>
          </a:bodyPr>
          <a:lstStyle/>
          <a:p>
            <a:pPr algn="ctr">
              <a:defRPr sz="900" b="1" i="0">
                <a:solidFill>
                  <a:srgbClr val="767676"/>
                </a:solidFill>
                <a:latin typeface="Calibri"/>
              </a:defRPr>
            </a:pPr>
            <a:r>
              <a:t>Long-Term Bet</a:t>
            </a:r>
          </a:p>
        </p:txBody>
      </p:sp>
      <p:sp>
        <p:nvSpPr>
          <p:cNvPr id="10" name="Rectangle 9"/>
          <p:cNvSpPr/>
          <p:nvPr/>
        </p:nvSpPr>
        <p:spPr>
          <a:xfrm>
            <a:off x="2194560" y="1801368"/>
            <a:ext cx="9189720" cy="25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Isosceles Triangle 10"/>
          <p:cNvSpPr/>
          <p:nvPr/>
        </p:nvSpPr>
        <p:spPr>
          <a:xfrm rot="5400000">
            <a:off x="11338560" y="1746504"/>
            <a:ext cx="137160" cy="128016"/>
          </a:xfrm>
          <a:prstGeom prst="triangle">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731520" y="1920240"/>
            <a:ext cx="50800" cy="822960"/>
          </a:xfrm>
          <a:prstGeom prst="rect">
            <a:avLst/>
          </a:prstGeom>
          <a:solidFill>
            <a:srgbClr val="7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2148840"/>
            <a:ext cx="1234440" cy="365760"/>
          </a:xfrm>
          <a:prstGeom prst="rect">
            <a:avLst/>
          </a:prstGeom>
          <a:noFill/>
        </p:spPr>
        <p:txBody>
          <a:bodyPr wrap="square">
            <a:spAutoFit/>
          </a:bodyPr>
          <a:lstStyle/>
          <a:p>
            <a:pPr algn="l">
              <a:defRPr sz="900" b="1" i="0">
                <a:solidFill>
                  <a:srgbClr val="7A5C8A"/>
                </a:solidFill>
                <a:latin typeface="Calibri"/>
              </a:defRPr>
            </a:pPr>
            <a:r>
              <a:t>ENGINEERING</a:t>
            </a:r>
          </a:p>
        </p:txBody>
      </p:sp>
      <p:sp>
        <p:nvSpPr>
          <p:cNvPr id="14" name="Rounded Rectangle 13"/>
          <p:cNvSpPr/>
          <p:nvPr/>
        </p:nvSpPr>
        <p:spPr>
          <a:xfrm>
            <a:off x="219456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377440" y="2148840"/>
            <a:ext cx="2560320" cy="274320"/>
          </a:xfrm>
          <a:prstGeom prst="rect">
            <a:avLst/>
          </a:prstGeom>
          <a:noFill/>
        </p:spPr>
        <p:txBody>
          <a:bodyPr wrap="square">
            <a:spAutoFit/>
          </a:bodyPr>
          <a:lstStyle/>
          <a:p>
            <a:pPr algn="l">
              <a:defRPr sz="1200" b="1" i="0">
                <a:solidFill>
                  <a:srgbClr val="1C1C1E"/>
                </a:solidFill>
                <a:latin typeface="Calibri"/>
              </a:defRPr>
            </a:pPr>
            <a:r>
              <a:t>Generative Design</a:t>
            </a:r>
          </a:p>
        </p:txBody>
      </p:sp>
      <p:sp>
        <p:nvSpPr>
          <p:cNvPr id="16" name="TextBox 15"/>
          <p:cNvSpPr txBox="1"/>
          <p:nvPr/>
        </p:nvSpPr>
        <p:spPr>
          <a:xfrm>
            <a:off x="2377440" y="2423160"/>
            <a:ext cx="2560320" cy="274320"/>
          </a:xfrm>
          <a:prstGeom prst="rect">
            <a:avLst/>
          </a:prstGeom>
          <a:noFill/>
        </p:spPr>
        <p:txBody>
          <a:bodyPr wrap="square">
            <a:spAutoFit/>
          </a:bodyPr>
          <a:lstStyle/>
          <a:p>
            <a:pPr algn="l">
              <a:defRPr sz="900" b="0" i="0">
                <a:solidFill>
                  <a:srgbClr val="767676"/>
                </a:solidFill>
                <a:latin typeface="Calibri"/>
              </a:defRPr>
            </a:pPr>
            <a:r>
              <a:t>Physical testing is slow and expensive</a:t>
            </a:r>
          </a:p>
        </p:txBody>
      </p:sp>
      <p:sp>
        <p:nvSpPr>
          <p:cNvPr id="17" name="Rounded Rectangle 16"/>
          <p:cNvSpPr/>
          <p:nvPr/>
        </p:nvSpPr>
        <p:spPr>
          <a:xfrm>
            <a:off x="525780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40680" y="2148840"/>
            <a:ext cx="2560320" cy="274320"/>
          </a:xfrm>
          <a:prstGeom prst="rect">
            <a:avLst/>
          </a:prstGeom>
          <a:noFill/>
        </p:spPr>
        <p:txBody>
          <a:bodyPr wrap="square">
            <a:spAutoFit/>
          </a:bodyPr>
          <a:lstStyle/>
          <a:p>
            <a:pPr algn="l">
              <a:defRPr sz="1200" b="1" i="0">
                <a:solidFill>
                  <a:srgbClr val="1C1C1E"/>
                </a:solidFill>
                <a:latin typeface="Calibri"/>
              </a:defRPr>
            </a:pPr>
            <a:r>
              <a:t>AXS Intelligence</a:t>
            </a:r>
          </a:p>
        </p:txBody>
      </p:sp>
      <p:sp>
        <p:nvSpPr>
          <p:cNvPr id="19" name="TextBox 18"/>
          <p:cNvSpPr txBox="1"/>
          <p:nvPr/>
        </p:nvSpPr>
        <p:spPr>
          <a:xfrm>
            <a:off x="5440680" y="2423160"/>
            <a:ext cx="2560320" cy="274320"/>
          </a:xfrm>
          <a:prstGeom prst="rect">
            <a:avLst/>
          </a:prstGeom>
          <a:noFill/>
        </p:spPr>
        <p:txBody>
          <a:bodyPr wrap="square">
            <a:spAutoFit/>
          </a:bodyPr>
          <a:lstStyle/>
          <a:p>
            <a:pPr algn="l">
              <a:defRPr sz="900" b="0" i="0">
                <a:solidFill>
                  <a:srgbClr val="767676"/>
                </a:solidFill>
                <a:latin typeface="Calibri"/>
              </a:defRPr>
            </a:pPr>
            <a:r>
              <a:t>Telemetry data is collected but unused</a:t>
            </a:r>
          </a:p>
        </p:txBody>
      </p:sp>
      <p:sp>
        <p:nvSpPr>
          <p:cNvPr id="20" name="Rounded Rectangle 19"/>
          <p:cNvSpPr/>
          <p:nvPr/>
        </p:nvSpPr>
        <p:spPr>
          <a:xfrm>
            <a:off x="832104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503920" y="2148840"/>
            <a:ext cx="2560320" cy="274320"/>
          </a:xfrm>
          <a:prstGeom prst="rect">
            <a:avLst/>
          </a:prstGeom>
          <a:noFill/>
        </p:spPr>
        <p:txBody>
          <a:bodyPr wrap="square">
            <a:spAutoFit/>
          </a:bodyPr>
          <a:lstStyle/>
          <a:p>
            <a:pPr algn="l">
              <a:defRPr sz="1200" b="1" i="0">
                <a:solidFill>
                  <a:srgbClr val="1C1C1E"/>
                </a:solidFill>
                <a:latin typeface="Calibri"/>
              </a:defRPr>
            </a:pPr>
            <a:r>
              <a:t>AI-Tuned Components</a:t>
            </a:r>
          </a:p>
        </p:txBody>
      </p:sp>
      <p:sp>
        <p:nvSpPr>
          <p:cNvPr id="22" name="TextBox 21"/>
          <p:cNvSpPr txBox="1"/>
          <p:nvPr/>
        </p:nvSpPr>
        <p:spPr>
          <a:xfrm>
            <a:off x="8503920" y="2423160"/>
            <a:ext cx="2560320" cy="274320"/>
          </a:xfrm>
          <a:prstGeom prst="rect">
            <a:avLst/>
          </a:prstGeom>
          <a:noFill/>
        </p:spPr>
        <p:txBody>
          <a:bodyPr wrap="square">
            <a:spAutoFit/>
          </a:bodyPr>
          <a:lstStyle/>
          <a:p>
            <a:pPr algn="l">
              <a:defRPr sz="900" b="0" i="0">
                <a:solidFill>
                  <a:srgbClr val="767676"/>
                </a:solidFill>
                <a:latin typeface="Calibri"/>
              </a:defRPr>
            </a:pPr>
            <a:r>
              <a:t>Suspension and shifting are static</a:t>
            </a:r>
          </a:p>
        </p:txBody>
      </p:sp>
      <p:sp>
        <p:nvSpPr>
          <p:cNvPr id="23" name="TextBox 22"/>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4" name="TextBox 23"/>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WHERE AI ADDS VALUE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12 AI initiatives across four business functions</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34440"/>
            <a:ext cx="10058400" cy="320040"/>
          </a:xfrm>
          <a:prstGeom prst="rect">
            <a:avLst/>
          </a:prstGeom>
          <a:noFill/>
        </p:spPr>
        <p:txBody>
          <a:bodyPr wrap="square">
            <a:spAutoFit/>
          </a:bodyPr>
          <a:lstStyle/>
          <a:p>
            <a:pPr algn="l">
              <a:defRPr sz="1300" b="0" i="0">
                <a:solidFill>
                  <a:srgbClr val="3A3A3C"/>
                </a:solidFill>
                <a:latin typeface="Calibri"/>
              </a:defRPr>
            </a:pPr>
            <a:r>
              <a:t>AI opportunities exist across every function at SRAM.</a:t>
            </a:r>
          </a:p>
        </p:txBody>
      </p:sp>
      <p:sp>
        <p:nvSpPr>
          <p:cNvPr id="7" name="TextBox 6"/>
          <p:cNvSpPr txBox="1"/>
          <p:nvPr/>
        </p:nvSpPr>
        <p:spPr>
          <a:xfrm>
            <a:off x="2194560" y="1600200"/>
            <a:ext cx="2926080" cy="201168"/>
          </a:xfrm>
          <a:prstGeom prst="rect">
            <a:avLst/>
          </a:prstGeom>
          <a:noFill/>
        </p:spPr>
        <p:txBody>
          <a:bodyPr wrap="square">
            <a:spAutoFit/>
          </a:bodyPr>
          <a:lstStyle/>
          <a:p>
            <a:pPr algn="ctr">
              <a:defRPr sz="900" b="1" i="0">
                <a:solidFill>
                  <a:srgbClr val="767676"/>
                </a:solidFill>
                <a:latin typeface="Calibri"/>
              </a:defRPr>
            </a:pPr>
            <a:r>
              <a:t>Quick Win</a:t>
            </a:r>
          </a:p>
        </p:txBody>
      </p:sp>
      <p:sp>
        <p:nvSpPr>
          <p:cNvPr id="8" name="TextBox 7"/>
          <p:cNvSpPr txBox="1"/>
          <p:nvPr/>
        </p:nvSpPr>
        <p:spPr>
          <a:xfrm>
            <a:off x="5257800" y="1600200"/>
            <a:ext cx="2926080" cy="201168"/>
          </a:xfrm>
          <a:prstGeom prst="rect">
            <a:avLst/>
          </a:prstGeom>
          <a:noFill/>
        </p:spPr>
        <p:txBody>
          <a:bodyPr wrap="square">
            <a:spAutoFit/>
          </a:bodyPr>
          <a:lstStyle/>
          <a:p>
            <a:pPr algn="ctr">
              <a:defRPr sz="900" b="1" i="0">
                <a:solidFill>
                  <a:srgbClr val="767676"/>
                </a:solidFill>
                <a:latin typeface="Calibri"/>
              </a:defRPr>
            </a:pPr>
            <a:r>
              <a:t>Medium Effort</a:t>
            </a:r>
          </a:p>
        </p:txBody>
      </p:sp>
      <p:sp>
        <p:nvSpPr>
          <p:cNvPr id="9" name="TextBox 8"/>
          <p:cNvSpPr txBox="1"/>
          <p:nvPr/>
        </p:nvSpPr>
        <p:spPr>
          <a:xfrm>
            <a:off x="8321040" y="1600200"/>
            <a:ext cx="2926080" cy="201168"/>
          </a:xfrm>
          <a:prstGeom prst="rect">
            <a:avLst/>
          </a:prstGeom>
          <a:noFill/>
        </p:spPr>
        <p:txBody>
          <a:bodyPr wrap="square">
            <a:spAutoFit/>
          </a:bodyPr>
          <a:lstStyle/>
          <a:p>
            <a:pPr algn="ctr">
              <a:defRPr sz="900" b="1" i="0">
                <a:solidFill>
                  <a:srgbClr val="767676"/>
                </a:solidFill>
                <a:latin typeface="Calibri"/>
              </a:defRPr>
            </a:pPr>
            <a:r>
              <a:t>Long-Term Bet</a:t>
            </a:r>
          </a:p>
        </p:txBody>
      </p:sp>
      <p:sp>
        <p:nvSpPr>
          <p:cNvPr id="10" name="Rectangle 9"/>
          <p:cNvSpPr/>
          <p:nvPr/>
        </p:nvSpPr>
        <p:spPr>
          <a:xfrm>
            <a:off x="2194560" y="1801368"/>
            <a:ext cx="9189720" cy="25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Isosceles Triangle 10"/>
          <p:cNvSpPr/>
          <p:nvPr/>
        </p:nvSpPr>
        <p:spPr>
          <a:xfrm rot="5400000">
            <a:off x="11338560" y="1746504"/>
            <a:ext cx="137160" cy="128016"/>
          </a:xfrm>
          <a:prstGeom prst="triangle">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731520" y="1920240"/>
            <a:ext cx="50800" cy="822960"/>
          </a:xfrm>
          <a:prstGeom prst="rect">
            <a:avLst/>
          </a:prstGeom>
          <a:solidFill>
            <a:srgbClr val="7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2148840"/>
            <a:ext cx="1234440" cy="365760"/>
          </a:xfrm>
          <a:prstGeom prst="rect">
            <a:avLst/>
          </a:prstGeom>
          <a:noFill/>
        </p:spPr>
        <p:txBody>
          <a:bodyPr wrap="square">
            <a:spAutoFit/>
          </a:bodyPr>
          <a:lstStyle/>
          <a:p>
            <a:pPr algn="l">
              <a:defRPr sz="900" b="1" i="0">
                <a:solidFill>
                  <a:srgbClr val="7A5C8A"/>
                </a:solidFill>
                <a:latin typeface="Calibri"/>
              </a:defRPr>
            </a:pPr>
            <a:r>
              <a:t>ENGINEERING</a:t>
            </a:r>
          </a:p>
        </p:txBody>
      </p:sp>
      <p:sp>
        <p:nvSpPr>
          <p:cNvPr id="14" name="Rounded Rectangle 13"/>
          <p:cNvSpPr/>
          <p:nvPr/>
        </p:nvSpPr>
        <p:spPr>
          <a:xfrm>
            <a:off x="219456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377440" y="2148840"/>
            <a:ext cx="2560320" cy="274320"/>
          </a:xfrm>
          <a:prstGeom prst="rect">
            <a:avLst/>
          </a:prstGeom>
          <a:noFill/>
        </p:spPr>
        <p:txBody>
          <a:bodyPr wrap="square">
            <a:spAutoFit/>
          </a:bodyPr>
          <a:lstStyle/>
          <a:p>
            <a:pPr algn="l">
              <a:defRPr sz="1200" b="1" i="0">
                <a:solidFill>
                  <a:srgbClr val="1C1C1E"/>
                </a:solidFill>
                <a:latin typeface="Calibri"/>
              </a:defRPr>
            </a:pPr>
            <a:r>
              <a:t>Generative Design</a:t>
            </a:r>
          </a:p>
        </p:txBody>
      </p:sp>
      <p:sp>
        <p:nvSpPr>
          <p:cNvPr id="16" name="TextBox 15"/>
          <p:cNvSpPr txBox="1"/>
          <p:nvPr/>
        </p:nvSpPr>
        <p:spPr>
          <a:xfrm>
            <a:off x="2377440" y="2423160"/>
            <a:ext cx="2560320" cy="274320"/>
          </a:xfrm>
          <a:prstGeom prst="rect">
            <a:avLst/>
          </a:prstGeom>
          <a:noFill/>
        </p:spPr>
        <p:txBody>
          <a:bodyPr wrap="square">
            <a:spAutoFit/>
          </a:bodyPr>
          <a:lstStyle/>
          <a:p>
            <a:pPr algn="l">
              <a:defRPr sz="900" b="0" i="0">
                <a:solidFill>
                  <a:srgbClr val="767676"/>
                </a:solidFill>
                <a:latin typeface="Calibri"/>
              </a:defRPr>
            </a:pPr>
            <a:r>
              <a:t>Physical testing is slow and expensive</a:t>
            </a:r>
          </a:p>
        </p:txBody>
      </p:sp>
      <p:sp>
        <p:nvSpPr>
          <p:cNvPr id="17" name="Rounded Rectangle 16"/>
          <p:cNvSpPr/>
          <p:nvPr/>
        </p:nvSpPr>
        <p:spPr>
          <a:xfrm>
            <a:off x="525780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40680" y="2148840"/>
            <a:ext cx="2560320" cy="274320"/>
          </a:xfrm>
          <a:prstGeom prst="rect">
            <a:avLst/>
          </a:prstGeom>
          <a:noFill/>
        </p:spPr>
        <p:txBody>
          <a:bodyPr wrap="square">
            <a:spAutoFit/>
          </a:bodyPr>
          <a:lstStyle/>
          <a:p>
            <a:pPr algn="l">
              <a:defRPr sz="1200" b="1" i="0">
                <a:solidFill>
                  <a:srgbClr val="1C1C1E"/>
                </a:solidFill>
                <a:latin typeface="Calibri"/>
              </a:defRPr>
            </a:pPr>
            <a:r>
              <a:t>AXS Intelligence</a:t>
            </a:r>
          </a:p>
        </p:txBody>
      </p:sp>
      <p:sp>
        <p:nvSpPr>
          <p:cNvPr id="19" name="TextBox 18"/>
          <p:cNvSpPr txBox="1"/>
          <p:nvPr/>
        </p:nvSpPr>
        <p:spPr>
          <a:xfrm>
            <a:off x="5440680" y="2423160"/>
            <a:ext cx="2560320" cy="274320"/>
          </a:xfrm>
          <a:prstGeom prst="rect">
            <a:avLst/>
          </a:prstGeom>
          <a:noFill/>
        </p:spPr>
        <p:txBody>
          <a:bodyPr wrap="square">
            <a:spAutoFit/>
          </a:bodyPr>
          <a:lstStyle/>
          <a:p>
            <a:pPr algn="l">
              <a:defRPr sz="900" b="0" i="0">
                <a:solidFill>
                  <a:srgbClr val="767676"/>
                </a:solidFill>
                <a:latin typeface="Calibri"/>
              </a:defRPr>
            </a:pPr>
            <a:r>
              <a:t>Telemetry data is collected but unused</a:t>
            </a:r>
          </a:p>
        </p:txBody>
      </p:sp>
      <p:sp>
        <p:nvSpPr>
          <p:cNvPr id="20" name="Rounded Rectangle 19"/>
          <p:cNvSpPr/>
          <p:nvPr/>
        </p:nvSpPr>
        <p:spPr>
          <a:xfrm>
            <a:off x="832104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503920" y="2148840"/>
            <a:ext cx="2560320" cy="274320"/>
          </a:xfrm>
          <a:prstGeom prst="rect">
            <a:avLst/>
          </a:prstGeom>
          <a:noFill/>
        </p:spPr>
        <p:txBody>
          <a:bodyPr wrap="square">
            <a:spAutoFit/>
          </a:bodyPr>
          <a:lstStyle/>
          <a:p>
            <a:pPr algn="l">
              <a:defRPr sz="1200" b="1" i="0">
                <a:solidFill>
                  <a:srgbClr val="1C1C1E"/>
                </a:solidFill>
                <a:latin typeface="Calibri"/>
              </a:defRPr>
            </a:pPr>
            <a:r>
              <a:t>AI-Tuned Components</a:t>
            </a:r>
          </a:p>
        </p:txBody>
      </p:sp>
      <p:sp>
        <p:nvSpPr>
          <p:cNvPr id="22" name="TextBox 21"/>
          <p:cNvSpPr txBox="1"/>
          <p:nvPr/>
        </p:nvSpPr>
        <p:spPr>
          <a:xfrm>
            <a:off x="8503920" y="2423160"/>
            <a:ext cx="2560320" cy="274320"/>
          </a:xfrm>
          <a:prstGeom prst="rect">
            <a:avLst/>
          </a:prstGeom>
          <a:noFill/>
        </p:spPr>
        <p:txBody>
          <a:bodyPr wrap="square">
            <a:spAutoFit/>
          </a:bodyPr>
          <a:lstStyle/>
          <a:p>
            <a:pPr algn="l">
              <a:defRPr sz="900" b="0" i="0">
                <a:solidFill>
                  <a:srgbClr val="767676"/>
                </a:solidFill>
                <a:latin typeface="Calibri"/>
              </a:defRPr>
            </a:pPr>
            <a:r>
              <a:t>Suspension and shifting are static</a:t>
            </a:r>
          </a:p>
        </p:txBody>
      </p:sp>
      <p:sp>
        <p:nvSpPr>
          <p:cNvPr id="23" name="Rectangle 22"/>
          <p:cNvSpPr/>
          <p:nvPr/>
        </p:nvSpPr>
        <p:spPr>
          <a:xfrm>
            <a:off x="731520" y="2971800"/>
            <a:ext cx="50800" cy="822960"/>
          </a:xfrm>
          <a:prstGeom prst="rect">
            <a:avLst/>
          </a:prstGeom>
          <a:solidFill>
            <a:srgbClr val="8B6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68680" y="3200400"/>
            <a:ext cx="1234440" cy="365760"/>
          </a:xfrm>
          <a:prstGeom prst="rect">
            <a:avLst/>
          </a:prstGeom>
          <a:noFill/>
        </p:spPr>
        <p:txBody>
          <a:bodyPr wrap="square">
            <a:spAutoFit/>
          </a:bodyPr>
          <a:lstStyle/>
          <a:p>
            <a:pPr algn="l">
              <a:defRPr sz="900" b="1" i="0">
                <a:solidFill>
                  <a:srgbClr val="8B6D2E"/>
                </a:solidFill>
                <a:latin typeface="Calibri"/>
              </a:defRPr>
            </a:pPr>
            <a:r>
              <a:t>SALES</a:t>
            </a:r>
          </a:p>
        </p:txBody>
      </p:sp>
      <p:sp>
        <p:nvSpPr>
          <p:cNvPr id="25" name="Rounded Rectangle 24"/>
          <p:cNvSpPr/>
          <p:nvPr/>
        </p:nvSpPr>
        <p:spPr>
          <a:xfrm>
            <a:off x="219456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377440" y="3200400"/>
            <a:ext cx="2560320" cy="274320"/>
          </a:xfrm>
          <a:prstGeom prst="rect">
            <a:avLst/>
          </a:prstGeom>
          <a:noFill/>
        </p:spPr>
        <p:txBody>
          <a:bodyPr wrap="square">
            <a:spAutoFit/>
          </a:bodyPr>
          <a:lstStyle/>
          <a:p>
            <a:pPr algn="l">
              <a:defRPr sz="1200" b="1" i="0">
                <a:solidFill>
                  <a:srgbClr val="1C1C1E"/>
                </a:solidFill>
                <a:latin typeface="Calibri"/>
              </a:defRPr>
            </a:pPr>
            <a:r>
              <a:t>OEM Proposal Automation</a:t>
            </a:r>
          </a:p>
        </p:txBody>
      </p:sp>
      <p:sp>
        <p:nvSpPr>
          <p:cNvPr id="27" name="TextBox 26"/>
          <p:cNvSpPr txBox="1"/>
          <p:nvPr/>
        </p:nvSpPr>
        <p:spPr>
          <a:xfrm>
            <a:off x="2377440" y="3474720"/>
            <a:ext cx="2560320" cy="274320"/>
          </a:xfrm>
          <a:prstGeom prst="rect">
            <a:avLst/>
          </a:prstGeom>
          <a:noFill/>
        </p:spPr>
        <p:txBody>
          <a:bodyPr wrap="square">
            <a:spAutoFit/>
          </a:bodyPr>
          <a:lstStyle/>
          <a:p>
            <a:pPr algn="l">
              <a:defRPr sz="900" b="0" i="0">
                <a:solidFill>
                  <a:srgbClr val="767676"/>
                </a:solidFill>
                <a:latin typeface="Calibri"/>
              </a:defRPr>
            </a:pPr>
            <a:r>
              <a:t>Proposal cycles are slow, manual</a:t>
            </a:r>
          </a:p>
        </p:txBody>
      </p:sp>
      <p:sp>
        <p:nvSpPr>
          <p:cNvPr id="28" name="Rounded Rectangle 27"/>
          <p:cNvSpPr/>
          <p:nvPr/>
        </p:nvSpPr>
        <p:spPr>
          <a:xfrm>
            <a:off x="525780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440680" y="3200400"/>
            <a:ext cx="2560320" cy="274320"/>
          </a:xfrm>
          <a:prstGeom prst="rect">
            <a:avLst/>
          </a:prstGeom>
          <a:noFill/>
        </p:spPr>
        <p:txBody>
          <a:bodyPr wrap="square">
            <a:spAutoFit/>
          </a:bodyPr>
          <a:lstStyle/>
          <a:p>
            <a:pPr algn="l">
              <a:defRPr sz="1200" b="1" i="0">
                <a:solidFill>
                  <a:srgbClr val="1C1C1E"/>
                </a:solidFill>
                <a:latin typeface="Calibri"/>
              </a:defRPr>
            </a:pPr>
            <a:r>
              <a:t>Part Recommendations</a:t>
            </a:r>
          </a:p>
        </p:txBody>
      </p:sp>
      <p:sp>
        <p:nvSpPr>
          <p:cNvPr id="30" name="TextBox 29"/>
          <p:cNvSpPr txBox="1"/>
          <p:nvPr/>
        </p:nvSpPr>
        <p:spPr>
          <a:xfrm>
            <a:off x="5440680" y="3474720"/>
            <a:ext cx="2560320" cy="274320"/>
          </a:xfrm>
          <a:prstGeom prst="rect">
            <a:avLst/>
          </a:prstGeom>
          <a:noFill/>
        </p:spPr>
        <p:txBody>
          <a:bodyPr wrap="square">
            <a:spAutoFit/>
          </a:bodyPr>
          <a:lstStyle/>
          <a:p>
            <a:pPr algn="l">
              <a:defRPr sz="900" b="0" i="0">
                <a:solidFill>
                  <a:srgbClr val="767676"/>
                </a:solidFill>
                <a:latin typeface="Calibri"/>
              </a:defRPr>
            </a:pPr>
            <a:r>
              <a:t>No guided upsell at point of service</a:t>
            </a:r>
          </a:p>
        </p:txBody>
      </p:sp>
      <p:sp>
        <p:nvSpPr>
          <p:cNvPr id="31" name="Rounded Rectangle 30"/>
          <p:cNvSpPr/>
          <p:nvPr/>
        </p:nvSpPr>
        <p:spPr>
          <a:xfrm>
            <a:off x="832104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503920" y="3200400"/>
            <a:ext cx="2560320" cy="274320"/>
          </a:xfrm>
          <a:prstGeom prst="rect">
            <a:avLst/>
          </a:prstGeom>
          <a:noFill/>
        </p:spPr>
        <p:txBody>
          <a:bodyPr wrap="square">
            <a:spAutoFit/>
          </a:bodyPr>
          <a:lstStyle/>
          <a:p>
            <a:pPr algn="l">
              <a:defRPr sz="1200" b="1" i="0">
                <a:solidFill>
                  <a:srgbClr val="1C1C1E"/>
                </a:solidFill>
                <a:latin typeface="Calibri"/>
              </a:defRPr>
            </a:pPr>
            <a:r>
              <a:t>DTC Personalization</a:t>
            </a:r>
          </a:p>
        </p:txBody>
      </p:sp>
      <p:sp>
        <p:nvSpPr>
          <p:cNvPr id="33" name="TextBox 32"/>
          <p:cNvSpPr txBox="1"/>
          <p:nvPr/>
        </p:nvSpPr>
        <p:spPr>
          <a:xfrm>
            <a:off x="8503920" y="3474720"/>
            <a:ext cx="2560320" cy="274320"/>
          </a:xfrm>
          <a:prstGeom prst="rect">
            <a:avLst/>
          </a:prstGeom>
          <a:noFill/>
        </p:spPr>
        <p:txBody>
          <a:bodyPr wrap="square">
            <a:spAutoFit/>
          </a:bodyPr>
          <a:lstStyle/>
          <a:p>
            <a:pPr algn="l">
              <a:defRPr sz="900" b="0" i="0">
                <a:solidFill>
                  <a:srgbClr val="767676"/>
                </a:solidFill>
                <a:latin typeface="Calibri"/>
              </a:defRPr>
            </a:pPr>
            <a:r>
              <a:t>Velocio has no targeting capability</a:t>
            </a:r>
          </a:p>
        </p:txBody>
      </p:sp>
      <p:sp>
        <p:nvSpPr>
          <p:cNvPr id="34" name="TextBox 33"/>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35" name="TextBox 34"/>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WHERE AI ADDS VALUE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12 AI initiatives across four business functions</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34440"/>
            <a:ext cx="10058400" cy="320040"/>
          </a:xfrm>
          <a:prstGeom prst="rect">
            <a:avLst/>
          </a:prstGeom>
          <a:noFill/>
        </p:spPr>
        <p:txBody>
          <a:bodyPr wrap="square">
            <a:spAutoFit/>
          </a:bodyPr>
          <a:lstStyle/>
          <a:p>
            <a:pPr algn="l">
              <a:defRPr sz="1300" b="0" i="0">
                <a:solidFill>
                  <a:srgbClr val="3A3A3C"/>
                </a:solidFill>
                <a:latin typeface="Calibri"/>
              </a:defRPr>
            </a:pPr>
            <a:r>
              <a:t>AI opportunities exist across every function at SRAM.</a:t>
            </a:r>
          </a:p>
        </p:txBody>
      </p:sp>
      <p:sp>
        <p:nvSpPr>
          <p:cNvPr id="7" name="TextBox 6"/>
          <p:cNvSpPr txBox="1"/>
          <p:nvPr/>
        </p:nvSpPr>
        <p:spPr>
          <a:xfrm>
            <a:off x="2194560" y="1600200"/>
            <a:ext cx="2926080" cy="201168"/>
          </a:xfrm>
          <a:prstGeom prst="rect">
            <a:avLst/>
          </a:prstGeom>
          <a:noFill/>
        </p:spPr>
        <p:txBody>
          <a:bodyPr wrap="square">
            <a:spAutoFit/>
          </a:bodyPr>
          <a:lstStyle/>
          <a:p>
            <a:pPr algn="ctr">
              <a:defRPr sz="900" b="1" i="0">
                <a:solidFill>
                  <a:srgbClr val="767676"/>
                </a:solidFill>
                <a:latin typeface="Calibri"/>
              </a:defRPr>
            </a:pPr>
            <a:r>
              <a:t>Quick Win</a:t>
            </a:r>
          </a:p>
        </p:txBody>
      </p:sp>
      <p:sp>
        <p:nvSpPr>
          <p:cNvPr id="8" name="TextBox 7"/>
          <p:cNvSpPr txBox="1"/>
          <p:nvPr/>
        </p:nvSpPr>
        <p:spPr>
          <a:xfrm>
            <a:off x="5257800" y="1600200"/>
            <a:ext cx="2926080" cy="201168"/>
          </a:xfrm>
          <a:prstGeom prst="rect">
            <a:avLst/>
          </a:prstGeom>
          <a:noFill/>
        </p:spPr>
        <p:txBody>
          <a:bodyPr wrap="square">
            <a:spAutoFit/>
          </a:bodyPr>
          <a:lstStyle/>
          <a:p>
            <a:pPr algn="ctr">
              <a:defRPr sz="900" b="1" i="0">
                <a:solidFill>
                  <a:srgbClr val="767676"/>
                </a:solidFill>
                <a:latin typeface="Calibri"/>
              </a:defRPr>
            </a:pPr>
            <a:r>
              <a:t>Medium Effort</a:t>
            </a:r>
          </a:p>
        </p:txBody>
      </p:sp>
      <p:sp>
        <p:nvSpPr>
          <p:cNvPr id="9" name="TextBox 8"/>
          <p:cNvSpPr txBox="1"/>
          <p:nvPr/>
        </p:nvSpPr>
        <p:spPr>
          <a:xfrm>
            <a:off x="8321040" y="1600200"/>
            <a:ext cx="2926080" cy="201168"/>
          </a:xfrm>
          <a:prstGeom prst="rect">
            <a:avLst/>
          </a:prstGeom>
          <a:noFill/>
        </p:spPr>
        <p:txBody>
          <a:bodyPr wrap="square">
            <a:spAutoFit/>
          </a:bodyPr>
          <a:lstStyle/>
          <a:p>
            <a:pPr algn="ctr">
              <a:defRPr sz="900" b="1" i="0">
                <a:solidFill>
                  <a:srgbClr val="767676"/>
                </a:solidFill>
                <a:latin typeface="Calibri"/>
              </a:defRPr>
            </a:pPr>
            <a:r>
              <a:t>Long-Term Bet</a:t>
            </a:r>
          </a:p>
        </p:txBody>
      </p:sp>
      <p:sp>
        <p:nvSpPr>
          <p:cNvPr id="10" name="Rectangle 9"/>
          <p:cNvSpPr/>
          <p:nvPr/>
        </p:nvSpPr>
        <p:spPr>
          <a:xfrm>
            <a:off x="2194560" y="1801368"/>
            <a:ext cx="9189720" cy="25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Isosceles Triangle 10"/>
          <p:cNvSpPr/>
          <p:nvPr/>
        </p:nvSpPr>
        <p:spPr>
          <a:xfrm rot="5400000">
            <a:off x="11338560" y="1746504"/>
            <a:ext cx="137160" cy="128016"/>
          </a:xfrm>
          <a:prstGeom prst="triangle">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731520" y="1920240"/>
            <a:ext cx="50800" cy="822960"/>
          </a:xfrm>
          <a:prstGeom prst="rect">
            <a:avLst/>
          </a:prstGeom>
          <a:solidFill>
            <a:srgbClr val="7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2148840"/>
            <a:ext cx="1234440" cy="365760"/>
          </a:xfrm>
          <a:prstGeom prst="rect">
            <a:avLst/>
          </a:prstGeom>
          <a:noFill/>
        </p:spPr>
        <p:txBody>
          <a:bodyPr wrap="square">
            <a:spAutoFit/>
          </a:bodyPr>
          <a:lstStyle/>
          <a:p>
            <a:pPr algn="l">
              <a:defRPr sz="900" b="1" i="0">
                <a:solidFill>
                  <a:srgbClr val="7A5C8A"/>
                </a:solidFill>
                <a:latin typeface="Calibri"/>
              </a:defRPr>
            </a:pPr>
            <a:r>
              <a:t>ENGINEERING</a:t>
            </a:r>
          </a:p>
        </p:txBody>
      </p:sp>
      <p:sp>
        <p:nvSpPr>
          <p:cNvPr id="14" name="Rounded Rectangle 13"/>
          <p:cNvSpPr/>
          <p:nvPr/>
        </p:nvSpPr>
        <p:spPr>
          <a:xfrm>
            <a:off x="219456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377440" y="2148840"/>
            <a:ext cx="2560320" cy="274320"/>
          </a:xfrm>
          <a:prstGeom prst="rect">
            <a:avLst/>
          </a:prstGeom>
          <a:noFill/>
        </p:spPr>
        <p:txBody>
          <a:bodyPr wrap="square">
            <a:spAutoFit/>
          </a:bodyPr>
          <a:lstStyle/>
          <a:p>
            <a:pPr algn="l">
              <a:defRPr sz="1200" b="1" i="0">
                <a:solidFill>
                  <a:srgbClr val="1C1C1E"/>
                </a:solidFill>
                <a:latin typeface="Calibri"/>
              </a:defRPr>
            </a:pPr>
            <a:r>
              <a:t>Generative Design</a:t>
            </a:r>
          </a:p>
        </p:txBody>
      </p:sp>
      <p:sp>
        <p:nvSpPr>
          <p:cNvPr id="16" name="TextBox 15"/>
          <p:cNvSpPr txBox="1"/>
          <p:nvPr/>
        </p:nvSpPr>
        <p:spPr>
          <a:xfrm>
            <a:off x="2377440" y="2423160"/>
            <a:ext cx="2560320" cy="274320"/>
          </a:xfrm>
          <a:prstGeom prst="rect">
            <a:avLst/>
          </a:prstGeom>
          <a:noFill/>
        </p:spPr>
        <p:txBody>
          <a:bodyPr wrap="square">
            <a:spAutoFit/>
          </a:bodyPr>
          <a:lstStyle/>
          <a:p>
            <a:pPr algn="l">
              <a:defRPr sz="900" b="0" i="0">
                <a:solidFill>
                  <a:srgbClr val="767676"/>
                </a:solidFill>
                <a:latin typeface="Calibri"/>
              </a:defRPr>
            </a:pPr>
            <a:r>
              <a:t>Physical testing is slow and expensive</a:t>
            </a:r>
          </a:p>
        </p:txBody>
      </p:sp>
      <p:sp>
        <p:nvSpPr>
          <p:cNvPr id="17" name="Rounded Rectangle 16"/>
          <p:cNvSpPr/>
          <p:nvPr/>
        </p:nvSpPr>
        <p:spPr>
          <a:xfrm>
            <a:off x="525780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40680" y="2148840"/>
            <a:ext cx="2560320" cy="274320"/>
          </a:xfrm>
          <a:prstGeom prst="rect">
            <a:avLst/>
          </a:prstGeom>
          <a:noFill/>
        </p:spPr>
        <p:txBody>
          <a:bodyPr wrap="square">
            <a:spAutoFit/>
          </a:bodyPr>
          <a:lstStyle/>
          <a:p>
            <a:pPr algn="l">
              <a:defRPr sz="1200" b="1" i="0">
                <a:solidFill>
                  <a:srgbClr val="1C1C1E"/>
                </a:solidFill>
                <a:latin typeface="Calibri"/>
              </a:defRPr>
            </a:pPr>
            <a:r>
              <a:t>AXS Intelligence</a:t>
            </a:r>
          </a:p>
        </p:txBody>
      </p:sp>
      <p:sp>
        <p:nvSpPr>
          <p:cNvPr id="19" name="TextBox 18"/>
          <p:cNvSpPr txBox="1"/>
          <p:nvPr/>
        </p:nvSpPr>
        <p:spPr>
          <a:xfrm>
            <a:off x="5440680" y="2423160"/>
            <a:ext cx="2560320" cy="274320"/>
          </a:xfrm>
          <a:prstGeom prst="rect">
            <a:avLst/>
          </a:prstGeom>
          <a:noFill/>
        </p:spPr>
        <p:txBody>
          <a:bodyPr wrap="square">
            <a:spAutoFit/>
          </a:bodyPr>
          <a:lstStyle/>
          <a:p>
            <a:pPr algn="l">
              <a:defRPr sz="900" b="0" i="0">
                <a:solidFill>
                  <a:srgbClr val="767676"/>
                </a:solidFill>
                <a:latin typeface="Calibri"/>
              </a:defRPr>
            </a:pPr>
            <a:r>
              <a:t>Telemetry data is collected but unused</a:t>
            </a:r>
          </a:p>
        </p:txBody>
      </p:sp>
      <p:sp>
        <p:nvSpPr>
          <p:cNvPr id="20" name="Rounded Rectangle 19"/>
          <p:cNvSpPr/>
          <p:nvPr/>
        </p:nvSpPr>
        <p:spPr>
          <a:xfrm>
            <a:off x="832104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503920" y="2148840"/>
            <a:ext cx="2560320" cy="274320"/>
          </a:xfrm>
          <a:prstGeom prst="rect">
            <a:avLst/>
          </a:prstGeom>
          <a:noFill/>
        </p:spPr>
        <p:txBody>
          <a:bodyPr wrap="square">
            <a:spAutoFit/>
          </a:bodyPr>
          <a:lstStyle/>
          <a:p>
            <a:pPr algn="l">
              <a:defRPr sz="1200" b="1" i="0">
                <a:solidFill>
                  <a:srgbClr val="1C1C1E"/>
                </a:solidFill>
                <a:latin typeface="Calibri"/>
              </a:defRPr>
            </a:pPr>
            <a:r>
              <a:t>AI-Tuned Components</a:t>
            </a:r>
          </a:p>
        </p:txBody>
      </p:sp>
      <p:sp>
        <p:nvSpPr>
          <p:cNvPr id="22" name="TextBox 21"/>
          <p:cNvSpPr txBox="1"/>
          <p:nvPr/>
        </p:nvSpPr>
        <p:spPr>
          <a:xfrm>
            <a:off x="8503920" y="2423160"/>
            <a:ext cx="2560320" cy="274320"/>
          </a:xfrm>
          <a:prstGeom prst="rect">
            <a:avLst/>
          </a:prstGeom>
          <a:noFill/>
        </p:spPr>
        <p:txBody>
          <a:bodyPr wrap="square">
            <a:spAutoFit/>
          </a:bodyPr>
          <a:lstStyle/>
          <a:p>
            <a:pPr algn="l">
              <a:defRPr sz="900" b="0" i="0">
                <a:solidFill>
                  <a:srgbClr val="767676"/>
                </a:solidFill>
                <a:latin typeface="Calibri"/>
              </a:defRPr>
            </a:pPr>
            <a:r>
              <a:t>Suspension and shifting are static</a:t>
            </a:r>
          </a:p>
        </p:txBody>
      </p:sp>
      <p:sp>
        <p:nvSpPr>
          <p:cNvPr id="23" name="Rectangle 22"/>
          <p:cNvSpPr/>
          <p:nvPr/>
        </p:nvSpPr>
        <p:spPr>
          <a:xfrm>
            <a:off x="731520" y="2971800"/>
            <a:ext cx="50800" cy="822960"/>
          </a:xfrm>
          <a:prstGeom prst="rect">
            <a:avLst/>
          </a:prstGeom>
          <a:solidFill>
            <a:srgbClr val="8B6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68680" y="3200400"/>
            <a:ext cx="1234440" cy="365760"/>
          </a:xfrm>
          <a:prstGeom prst="rect">
            <a:avLst/>
          </a:prstGeom>
          <a:noFill/>
        </p:spPr>
        <p:txBody>
          <a:bodyPr wrap="square">
            <a:spAutoFit/>
          </a:bodyPr>
          <a:lstStyle/>
          <a:p>
            <a:pPr algn="l">
              <a:defRPr sz="900" b="1" i="0">
                <a:solidFill>
                  <a:srgbClr val="8B6D2E"/>
                </a:solidFill>
                <a:latin typeface="Calibri"/>
              </a:defRPr>
            </a:pPr>
            <a:r>
              <a:t>SALES</a:t>
            </a:r>
          </a:p>
        </p:txBody>
      </p:sp>
      <p:sp>
        <p:nvSpPr>
          <p:cNvPr id="25" name="Rounded Rectangle 24"/>
          <p:cNvSpPr/>
          <p:nvPr/>
        </p:nvSpPr>
        <p:spPr>
          <a:xfrm>
            <a:off x="219456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377440" y="3200400"/>
            <a:ext cx="2560320" cy="274320"/>
          </a:xfrm>
          <a:prstGeom prst="rect">
            <a:avLst/>
          </a:prstGeom>
          <a:noFill/>
        </p:spPr>
        <p:txBody>
          <a:bodyPr wrap="square">
            <a:spAutoFit/>
          </a:bodyPr>
          <a:lstStyle/>
          <a:p>
            <a:pPr algn="l">
              <a:defRPr sz="1200" b="1" i="0">
                <a:solidFill>
                  <a:srgbClr val="1C1C1E"/>
                </a:solidFill>
                <a:latin typeface="Calibri"/>
              </a:defRPr>
            </a:pPr>
            <a:r>
              <a:t>OEM Proposal Automation</a:t>
            </a:r>
          </a:p>
        </p:txBody>
      </p:sp>
      <p:sp>
        <p:nvSpPr>
          <p:cNvPr id="27" name="TextBox 26"/>
          <p:cNvSpPr txBox="1"/>
          <p:nvPr/>
        </p:nvSpPr>
        <p:spPr>
          <a:xfrm>
            <a:off x="2377440" y="3474720"/>
            <a:ext cx="2560320" cy="274320"/>
          </a:xfrm>
          <a:prstGeom prst="rect">
            <a:avLst/>
          </a:prstGeom>
          <a:noFill/>
        </p:spPr>
        <p:txBody>
          <a:bodyPr wrap="square">
            <a:spAutoFit/>
          </a:bodyPr>
          <a:lstStyle/>
          <a:p>
            <a:pPr algn="l">
              <a:defRPr sz="900" b="0" i="0">
                <a:solidFill>
                  <a:srgbClr val="767676"/>
                </a:solidFill>
                <a:latin typeface="Calibri"/>
              </a:defRPr>
            </a:pPr>
            <a:r>
              <a:t>Proposal cycles are slow, manual</a:t>
            </a:r>
          </a:p>
        </p:txBody>
      </p:sp>
      <p:sp>
        <p:nvSpPr>
          <p:cNvPr id="28" name="Rounded Rectangle 27"/>
          <p:cNvSpPr/>
          <p:nvPr/>
        </p:nvSpPr>
        <p:spPr>
          <a:xfrm>
            <a:off x="525780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440680" y="3200400"/>
            <a:ext cx="2560320" cy="274320"/>
          </a:xfrm>
          <a:prstGeom prst="rect">
            <a:avLst/>
          </a:prstGeom>
          <a:noFill/>
        </p:spPr>
        <p:txBody>
          <a:bodyPr wrap="square">
            <a:spAutoFit/>
          </a:bodyPr>
          <a:lstStyle/>
          <a:p>
            <a:pPr algn="l">
              <a:defRPr sz="1200" b="1" i="0">
                <a:solidFill>
                  <a:srgbClr val="1C1C1E"/>
                </a:solidFill>
                <a:latin typeface="Calibri"/>
              </a:defRPr>
            </a:pPr>
            <a:r>
              <a:t>Part Recommendations</a:t>
            </a:r>
          </a:p>
        </p:txBody>
      </p:sp>
      <p:sp>
        <p:nvSpPr>
          <p:cNvPr id="30" name="TextBox 29"/>
          <p:cNvSpPr txBox="1"/>
          <p:nvPr/>
        </p:nvSpPr>
        <p:spPr>
          <a:xfrm>
            <a:off x="5440680" y="3474720"/>
            <a:ext cx="2560320" cy="274320"/>
          </a:xfrm>
          <a:prstGeom prst="rect">
            <a:avLst/>
          </a:prstGeom>
          <a:noFill/>
        </p:spPr>
        <p:txBody>
          <a:bodyPr wrap="square">
            <a:spAutoFit/>
          </a:bodyPr>
          <a:lstStyle/>
          <a:p>
            <a:pPr algn="l">
              <a:defRPr sz="900" b="0" i="0">
                <a:solidFill>
                  <a:srgbClr val="767676"/>
                </a:solidFill>
                <a:latin typeface="Calibri"/>
              </a:defRPr>
            </a:pPr>
            <a:r>
              <a:t>No guided upsell at point of service</a:t>
            </a:r>
          </a:p>
        </p:txBody>
      </p:sp>
      <p:sp>
        <p:nvSpPr>
          <p:cNvPr id="31" name="Rounded Rectangle 30"/>
          <p:cNvSpPr/>
          <p:nvPr/>
        </p:nvSpPr>
        <p:spPr>
          <a:xfrm>
            <a:off x="832104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503920" y="3200400"/>
            <a:ext cx="2560320" cy="274320"/>
          </a:xfrm>
          <a:prstGeom prst="rect">
            <a:avLst/>
          </a:prstGeom>
          <a:noFill/>
        </p:spPr>
        <p:txBody>
          <a:bodyPr wrap="square">
            <a:spAutoFit/>
          </a:bodyPr>
          <a:lstStyle/>
          <a:p>
            <a:pPr algn="l">
              <a:defRPr sz="1200" b="1" i="0">
                <a:solidFill>
                  <a:srgbClr val="1C1C1E"/>
                </a:solidFill>
                <a:latin typeface="Calibri"/>
              </a:defRPr>
            </a:pPr>
            <a:r>
              <a:t>DTC Personalization</a:t>
            </a:r>
          </a:p>
        </p:txBody>
      </p:sp>
      <p:sp>
        <p:nvSpPr>
          <p:cNvPr id="33" name="TextBox 32"/>
          <p:cNvSpPr txBox="1"/>
          <p:nvPr/>
        </p:nvSpPr>
        <p:spPr>
          <a:xfrm>
            <a:off x="8503920" y="3474720"/>
            <a:ext cx="2560320" cy="274320"/>
          </a:xfrm>
          <a:prstGeom prst="rect">
            <a:avLst/>
          </a:prstGeom>
          <a:noFill/>
        </p:spPr>
        <p:txBody>
          <a:bodyPr wrap="square">
            <a:spAutoFit/>
          </a:bodyPr>
          <a:lstStyle/>
          <a:p>
            <a:pPr algn="l">
              <a:defRPr sz="900" b="0" i="0">
                <a:solidFill>
                  <a:srgbClr val="767676"/>
                </a:solidFill>
                <a:latin typeface="Calibri"/>
              </a:defRPr>
            </a:pPr>
            <a:r>
              <a:t>Velocio has no targeting capability</a:t>
            </a:r>
          </a:p>
        </p:txBody>
      </p:sp>
      <p:sp>
        <p:nvSpPr>
          <p:cNvPr id="34" name="Rectangle 33"/>
          <p:cNvSpPr/>
          <p:nvPr/>
        </p:nvSpPr>
        <p:spPr>
          <a:xfrm>
            <a:off x="731520" y="4023360"/>
            <a:ext cx="50800" cy="822960"/>
          </a:xfrm>
          <a:prstGeom prst="rect">
            <a:avLst/>
          </a:prstGeom>
          <a:solidFill>
            <a:srgbClr val="5B8C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68680" y="4251960"/>
            <a:ext cx="1234440" cy="365760"/>
          </a:xfrm>
          <a:prstGeom prst="rect">
            <a:avLst/>
          </a:prstGeom>
          <a:noFill/>
        </p:spPr>
        <p:txBody>
          <a:bodyPr wrap="square">
            <a:spAutoFit/>
          </a:bodyPr>
          <a:lstStyle/>
          <a:p>
            <a:pPr algn="l">
              <a:defRPr sz="900" b="1" i="0">
                <a:solidFill>
                  <a:srgbClr val="5B8C5A"/>
                </a:solidFill>
                <a:latin typeface="Calibri"/>
              </a:defRPr>
            </a:pPr>
            <a:r>
              <a:t>SUPPLY CHAIN</a:t>
            </a:r>
          </a:p>
        </p:txBody>
      </p:sp>
      <p:sp>
        <p:nvSpPr>
          <p:cNvPr id="36" name="Rounded Rectangle 35"/>
          <p:cNvSpPr/>
          <p:nvPr/>
        </p:nvSpPr>
        <p:spPr>
          <a:xfrm>
            <a:off x="2194560" y="402336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377440" y="4251960"/>
            <a:ext cx="2560320" cy="274320"/>
          </a:xfrm>
          <a:prstGeom prst="rect">
            <a:avLst/>
          </a:prstGeom>
          <a:noFill/>
        </p:spPr>
        <p:txBody>
          <a:bodyPr wrap="square">
            <a:spAutoFit/>
          </a:bodyPr>
          <a:lstStyle/>
          <a:p>
            <a:pPr algn="l">
              <a:defRPr sz="1200" b="1" i="0">
                <a:solidFill>
                  <a:srgbClr val="1C1C1E"/>
                </a:solidFill>
                <a:latin typeface="Calibri"/>
              </a:defRPr>
            </a:pPr>
            <a:r>
              <a:t>Demand Forecasting</a:t>
            </a:r>
          </a:p>
        </p:txBody>
      </p:sp>
      <p:sp>
        <p:nvSpPr>
          <p:cNvPr id="38" name="TextBox 37"/>
          <p:cNvSpPr txBox="1"/>
          <p:nvPr/>
        </p:nvSpPr>
        <p:spPr>
          <a:xfrm>
            <a:off x="2377440" y="4526280"/>
            <a:ext cx="2560320" cy="274320"/>
          </a:xfrm>
          <a:prstGeom prst="rect">
            <a:avLst/>
          </a:prstGeom>
          <a:noFill/>
        </p:spPr>
        <p:txBody>
          <a:bodyPr wrap="square">
            <a:spAutoFit/>
          </a:bodyPr>
          <a:lstStyle/>
          <a:p>
            <a:pPr algn="l">
              <a:defRPr sz="900" b="0" i="0">
                <a:solidFill>
                  <a:srgbClr val="767676"/>
                </a:solidFill>
                <a:latin typeface="Calibri"/>
              </a:defRPr>
            </a:pPr>
            <a:r>
              <a:t>No forecasting system exists today</a:t>
            </a:r>
          </a:p>
        </p:txBody>
      </p:sp>
      <p:sp>
        <p:nvSpPr>
          <p:cNvPr id="39" name="Rounded Rectangle 38"/>
          <p:cNvSpPr/>
          <p:nvPr/>
        </p:nvSpPr>
        <p:spPr>
          <a:xfrm>
            <a:off x="5257800" y="402336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5440680" y="4251960"/>
            <a:ext cx="2560320" cy="274320"/>
          </a:xfrm>
          <a:prstGeom prst="rect">
            <a:avLst/>
          </a:prstGeom>
          <a:noFill/>
        </p:spPr>
        <p:txBody>
          <a:bodyPr wrap="square">
            <a:spAutoFit/>
          </a:bodyPr>
          <a:lstStyle/>
          <a:p>
            <a:pPr algn="l">
              <a:defRPr sz="1200" b="1" i="0">
                <a:solidFill>
                  <a:srgbClr val="1C1C1E"/>
                </a:solidFill>
                <a:latin typeface="Calibri"/>
              </a:defRPr>
            </a:pPr>
            <a:r>
              <a:t>Inventory Allocation</a:t>
            </a:r>
          </a:p>
        </p:txBody>
      </p:sp>
      <p:sp>
        <p:nvSpPr>
          <p:cNvPr id="41" name="TextBox 40"/>
          <p:cNvSpPr txBox="1"/>
          <p:nvPr/>
        </p:nvSpPr>
        <p:spPr>
          <a:xfrm>
            <a:off x="5440680" y="4526280"/>
            <a:ext cx="2560320" cy="274320"/>
          </a:xfrm>
          <a:prstGeom prst="rect">
            <a:avLst/>
          </a:prstGeom>
          <a:noFill/>
        </p:spPr>
        <p:txBody>
          <a:bodyPr wrap="square">
            <a:spAutoFit/>
          </a:bodyPr>
          <a:lstStyle/>
          <a:p>
            <a:pPr algn="l">
              <a:defRPr sz="900" b="0" i="0">
                <a:solidFill>
                  <a:srgbClr val="767676"/>
                </a:solidFill>
                <a:latin typeface="Calibri"/>
              </a:defRPr>
            </a:pPr>
            <a:r>
              <a:t>Stockouts and rush shipping losses</a:t>
            </a:r>
          </a:p>
        </p:txBody>
      </p:sp>
      <p:sp>
        <p:nvSpPr>
          <p:cNvPr id="42" name="Rounded Rectangle 41"/>
          <p:cNvSpPr/>
          <p:nvPr/>
        </p:nvSpPr>
        <p:spPr>
          <a:xfrm>
            <a:off x="8321040" y="402336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503920" y="4251960"/>
            <a:ext cx="2560320" cy="274320"/>
          </a:xfrm>
          <a:prstGeom prst="rect">
            <a:avLst/>
          </a:prstGeom>
          <a:noFill/>
        </p:spPr>
        <p:txBody>
          <a:bodyPr wrap="square">
            <a:spAutoFit/>
          </a:bodyPr>
          <a:lstStyle/>
          <a:p>
            <a:pPr algn="l">
              <a:defRPr sz="1200" b="1" i="0">
                <a:solidFill>
                  <a:srgbClr val="1C1C1E"/>
                </a:solidFill>
                <a:latin typeface="Calibri"/>
              </a:defRPr>
            </a:pPr>
            <a:r>
              <a:t>Customer Analytics</a:t>
            </a:r>
          </a:p>
        </p:txBody>
      </p:sp>
      <p:sp>
        <p:nvSpPr>
          <p:cNvPr id="44" name="TextBox 43"/>
          <p:cNvSpPr txBox="1"/>
          <p:nvPr/>
        </p:nvSpPr>
        <p:spPr>
          <a:xfrm>
            <a:off x="8503920" y="4526280"/>
            <a:ext cx="2560320" cy="274320"/>
          </a:xfrm>
          <a:prstGeom prst="rect">
            <a:avLst/>
          </a:prstGeom>
          <a:noFill/>
        </p:spPr>
        <p:txBody>
          <a:bodyPr wrap="square">
            <a:spAutoFit/>
          </a:bodyPr>
          <a:lstStyle/>
          <a:p>
            <a:pPr algn="l">
              <a:defRPr sz="900" b="0" i="0">
                <a:solidFill>
                  <a:srgbClr val="767676"/>
                </a:solidFill>
                <a:latin typeface="Calibri"/>
              </a:defRPr>
            </a:pPr>
            <a:r>
              <a:t>Shopify data is siloed, unused</a:t>
            </a:r>
          </a:p>
        </p:txBody>
      </p:sp>
      <p:sp>
        <p:nvSpPr>
          <p:cNvPr id="45" name="TextBox 44"/>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46" name="TextBox 45"/>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WHERE AI ADDS VALUE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12 AI initiatives across four business functions</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34440"/>
            <a:ext cx="10058400" cy="320040"/>
          </a:xfrm>
          <a:prstGeom prst="rect">
            <a:avLst/>
          </a:prstGeom>
          <a:noFill/>
        </p:spPr>
        <p:txBody>
          <a:bodyPr wrap="square">
            <a:spAutoFit/>
          </a:bodyPr>
          <a:lstStyle/>
          <a:p>
            <a:pPr algn="l">
              <a:defRPr sz="1300" b="0" i="0">
                <a:solidFill>
                  <a:srgbClr val="3A3A3C"/>
                </a:solidFill>
                <a:latin typeface="Calibri"/>
              </a:defRPr>
            </a:pPr>
            <a:r>
              <a:t>Start where domain knowledge is high and outcomes are measurable. Support is the proving ground for everything that follows.</a:t>
            </a:r>
          </a:p>
        </p:txBody>
      </p:sp>
      <p:sp>
        <p:nvSpPr>
          <p:cNvPr id="7" name="TextBox 6"/>
          <p:cNvSpPr txBox="1"/>
          <p:nvPr/>
        </p:nvSpPr>
        <p:spPr>
          <a:xfrm>
            <a:off x="2194560" y="1600200"/>
            <a:ext cx="2926080" cy="201168"/>
          </a:xfrm>
          <a:prstGeom prst="rect">
            <a:avLst/>
          </a:prstGeom>
          <a:noFill/>
        </p:spPr>
        <p:txBody>
          <a:bodyPr wrap="square">
            <a:spAutoFit/>
          </a:bodyPr>
          <a:lstStyle/>
          <a:p>
            <a:pPr algn="ctr">
              <a:defRPr sz="900" b="1" i="0">
                <a:solidFill>
                  <a:srgbClr val="767676"/>
                </a:solidFill>
                <a:latin typeface="Calibri"/>
              </a:defRPr>
            </a:pPr>
            <a:r>
              <a:t>Quick Win</a:t>
            </a:r>
          </a:p>
        </p:txBody>
      </p:sp>
      <p:sp>
        <p:nvSpPr>
          <p:cNvPr id="8" name="TextBox 7"/>
          <p:cNvSpPr txBox="1"/>
          <p:nvPr/>
        </p:nvSpPr>
        <p:spPr>
          <a:xfrm>
            <a:off x="5257800" y="1600200"/>
            <a:ext cx="2926080" cy="201168"/>
          </a:xfrm>
          <a:prstGeom prst="rect">
            <a:avLst/>
          </a:prstGeom>
          <a:noFill/>
        </p:spPr>
        <p:txBody>
          <a:bodyPr wrap="square">
            <a:spAutoFit/>
          </a:bodyPr>
          <a:lstStyle/>
          <a:p>
            <a:pPr algn="ctr">
              <a:defRPr sz="900" b="1" i="0">
                <a:solidFill>
                  <a:srgbClr val="767676"/>
                </a:solidFill>
                <a:latin typeface="Calibri"/>
              </a:defRPr>
            </a:pPr>
            <a:r>
              <a:t>Medium Effort</a:t>
            </a:r>
          </a:p>
        </p:txBody>
      </p:sp>
      <p:sp>
        <p:nvSpPr>
          <p:cNvPr id="9" name="TextBox 8"/>
          <p:cNvSpPr txBox="1"/>
          <p:nvPr/>
        </p:nvSpPr>
        <p:spPr>
          <a:xfrm>
            <a:off x="8321040" y="1600200"/>
            <a:ext cx="2926080" cy="201168"/>
          </a:xfrm>
          <a:prstGeom prst="rect">
            <a:avLst/>
          </a:prstGeom>
          <a:noFill/>
        </p:spPr>
        <p:txBody>
          <a:bodyPr wrap="square">
            <a:spAutoFit/>
          </a:bodyPr>
          <a:lstStyle/>
          <a:p>
            <a:pPr algn="ctr">
              <a:defRPr sz="900" b="1" i="0">
                <a:solidFill>
                  <a:srgbClr val="767676"/>
                </a:solidFill>
                <a:latin typeface="Calibri"/>
              </a:defRPr>
            </a:pPr>
            <a:r>
              <a:t>Long-Term Bet</a:t>
            </a:r>
          </a:p>
        </p:txBody>
      </p:sp>
      <p:sp>
        <p:nvSpPr>
          <p:cNvPr id="10" name="Rectangle 9"/>
          <p:cNvSpPr/>
          <p:nvPr/>
        </p:nvSpPr>
        <p:spPr>
          <a:xfrm>
            <a:off x="2194560" y="1801368"/>
            <a:ext cx="9189720" cy="25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Isosceles Triangle 10"/>
          <p:cNvSpPr/>
          <p:nvPr/>
        </p:nvSpPr>
        <p:spPr>
          <a:xfrm rot="5400000">
            <a:off x="11338560" y="1746504"/>
            <a:ext cx="137160" cy="128016"/>
          </a:xfrm>
          <a:prstGeom prst="triangle">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731520" y="1920240"/>
            <a:ext cx="50800" cy="822960"/>
          </a:xfrm>
          <a:prstGeom prst="rect">
            <a:avLst/>
          </a:prstGeom>
          <a:solidFill>
            <a:srgbClr val="7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2148840"/>
            <a:ext cx="1234440" cy="365760"/>
          </a:xfrm>
          <a:prstGeom prst="rect">
            <a:avLst/>
          </a:prstGeom>
          <a:noFill/>
        </p:spPr>
        <p:txBody>
          <a:bodyPr wrap="square">
            <a:spAutoFit/>
          </a:bodyPr>
          <a:lstStyle/>
          <a:p>
            <a:pPr algn="l">
              <a:defRPr sz="900" b="1" i="0">
                <a:solidFill>
                  <a:srgbClr val="7A5C8A"/>
                </a:solidFill>
                <a:latin typeface="Calibri"/>
              </a:defRPr>
            </a:pPr>
            <a:r>
              <a:t>ENGINEERING</a:t>
            </a:r>
          </a:p>
        </p:txBody>
      </p:sp>
      <p:sp>
        <p:nvSpPr>
          <p:cNvPr id="14" name="Rounded Rectangle 13"/>
          <p:cNvSpPr/>
          <p:nvPr/>
        </p:nvSpPr>
        <p:spPr>
          <a:xfrm>
            <a:off x="219456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377440" y="2148840"/>
            <a:ext cx="2560320" cy="274320"/>
          </a:xfrm>
          <a:prstGeom prst="rect">
            <a:avLst/>
          </a:prstGeom>
          <a:noFill/>
        </p:spPr>
        <p:txBody>
          <a:bodyPr wrap="square">
            <a:spAutoFit/>
          </a:bodyPr>
          <a:lstStyle/>
          <a:p>
            <a:pPr algn="l">
              <a:defRPr sz="1200" b="1" i="0">
                <a:solidFill>
                  <a:srgbClr val="1C1C1E"/>
                </a:solidFill>
                <a:latin typeface="Calibri"/>
              </a:defRPr>
            </a:pPr>
            <a:r>
              <a:t>Generative Design</a:t>
            </a:r>
          </a:p>
        </p:txBody>
      </p:sp>
      <p:sp>
        <p:nvSpPr>
          <p:cNvPr id="16" name="TextBox 15"/>
          <p:cNvSpPr txBox="1"/>
          <p:nvPr/>
        </p:nvSpPr>
        <p:spPr>
          <a:xfrm>
            <a:off x="2377440" y="2423160"/>
            <a:ext cx="2560320" cy="274320"/>
          </a:xfrm>
          <a:prstGeom prst="rect">
            <a:avLst/>
          </a:prstGeom>
          <a:noFill/>
        </p:spPr>
        <p:txBody>
          <a:bodyPr wrap="square">
            <a:spAutoFit/>
          </a:bodyPr>
          <a:lstStyle/>
          <a:p>
            <a:pPr algn="l">
              <a:defRPr sz="900" b="0" i="0">
                <a:solidFill>
                  <a:srgbClr val="767676"/>
                </a:solidFill>
                <a:latin typeface="Calibri"/>
              </a:defRPr>
            </a:pPr>
            <a:r>
              <a:t>Physical testing is slow and expensive</a:t>
            </a:r>
          </a:p>
        </p:txBody>
      </p:sp>
      <p:sp>
        <p:nvSpPr>
          <p:cNvPr id="17" name="Rounded Rectangle 16"/>
          <p:cNvSpPr/>
          <p:nvPr/>
        </p:nvSpPr>
        <p:spPr>
          <a:xfrm>
            <a:off x="525780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40680" y="2148840"/>
            <a:ext cx="2560320" cy="274320"/>
          </a:xfrm>
          <a:prstGeom prst="rect">
            <a:avLst/>
          </a:prstGeom>
          <a:noFill/>
        </p:spPr>
        <p:txBody>
          <a:bodyPr wrap="square">
            <a:spAutoFit/>
          </a:bodyPr>
          <a:lstStyle/>
          <a:p>
            <a:pPr algn="l">
              <a:defRPr sz="1200" b="1" i="0">
                <a:solidFill>
                  <a:srgbClr val="1C1C1E"/>
                </a:solidFill>
                <a:latin typeface="Calibri"/>
              </a:defRPr>
            </a:pPr>
            <a:r>
              <a:t>AXS Intelligence</a:t>
            </a:r>
          </a:p>
        </p:txBody>
      </p:sp>
      <p:sp>
        <p:nvSpPr>
          <p:cNvPr id="19" name="TextBox 18"/>
          <p:cNvSpPr txBox="1"/>
          <p:nvPr/>
        </p:nvSpPr>
        <p:spPr>
          <a:xfrm>
            <a:off x="5440680" y="2423160"/>
            <a:ext cx="2560320" cy="274320"/>
          </a:xfrm>
          <a:prstGeom prst="rect">
            <a:avLst/>
          </a:prstGeom>
          <a:noFill/>
        </p:spPr>
        <p:txBody>
          <a:bodyPr wrap="square">
            <a:spAutoFit/>
          </a:bodyPr>
          <a:lstStyle/>
          <a:p>
            <a:pPr algn="l">
              <a:defRPr sz="900" b="0" i="0">
                <a:solidFill>
                  <a:srgbClr val="767676"/>
                </a:solidFill>
                <a:latin typeface="Calibri"/>
              </a:defRPr>
            </a:pPr>
            <a:r>
              <a:t>Telemetry data is collected but unused</a:t>
            </a:r>
          </a:p>
        </p:txBody>
      </p:sp>
      <p:sp>
        <p:nvSpPr>
          <p:cNvPr id="20" name="Rounded Rectangle 19"/>
          <p:cNvSpPr/>
          <p:nvPr/>
        </p:nvSpPr>
        <p:spPr>
          <a:xfrm>
            <a:off x="832104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503920" y="2148840"/>
            <a:ext cx="2560320" cy="274320"/>
          </a:xfrm>
          <a:prstGeom prst="rect">
            <a:avLst/>
          </a:prstGeom>
          <a:noFill/>
        </p:spPr>
        <p:txBody>
          <a:bodyPr wrap="square">
            <a:spAutoFit/>
          </a:bodyPr>
          <a:lstStyle/>
          <a:p>
            <a:pPr algn="l">
              <a:defRPr sz="1200" b="1" i="0">
                <a:solidFill>
                  <a:srgbClr val="1C1C1E"/>
                </a:solidFill>
                <a:latin typeface="Calibri"/>
              </a:defRPr>
            </a:pPr>
            <a:r>
              <a:t>AI-Tuned Components</a:t>
            </a:r>
          </a:p>
        </p:txBody>
      </p:sp>
      <p:sp>
        <p:nvSpPr>
          <p:cNvPr id="22" name="TextBox 21"/>
          <p:cNvSpPr txBox="1"/>
          <p:nvPr/>
        </p:nvSpPr>
        <p:spPr>
          <a:xfrm>
            <a:off x="8503920" y="2423160"/>
            <a:ext cx="2560320" cy="274320"/>
          </a:xfrm>
          <a:prstGeom prst="rect">
            <a:avLst/>
          </a:prstGeom>
          <a:noFill/>
        </p:spPr>
        <p:txBody>
          <a:bodyPr wrap="square">
            <a:spAutoFit/>
          </a:bodyPr>
          <a:lstStyle/>
          <a:p>
            <a:pPr algn="l">
              <a:defRPr sz="900" b="0" i="0">
                <a:solidFill>
                  <a:srgbClr val="767676"/>
                </a:solidFill>
                <a:latin typeface="Calibri"/>
              </a:defRPr>
            </a:pPr>
            <a:r>
              <a:t>Suspension and shifting are static</a:t>
            </a:r>
          </a:p>
        </p:txBody>
      </p:sp>
      <p:sp>
        <p:nvSpPr>
          <p:cNvPr id="23" name="Rectangle 22"/>
          <p:cNvSpPr/>
          <p:nvPr/>
        </p:nvSpPr>
        <p:spPr>
          <a:xfrm>
            <a:off x="731520" y="2971800"/>
            <a:ext cx="50800" cy="822960"/>
          </a:xfrm>
          <a:prstGeom prst="rect">
            <a:avLst/>
          </a:prstGeom>
          <a:solidFill>
            <a:srgbClr val="8B6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68680" y="3200400"/>
            <a:ext cx="1234440" cy="365760"/>
          </a:xfrm>
          <a:prstGeom prst="rect">
            <a:avLst/>
          </a:prstGeom>
          <a:noFill/>
        </p:spPr>
        <p:txBody>
          <a:bodyPr wrap="square">
            <a:spAutoFit/>
          </a:bodyPr>
          <a:lstStyle/>
          <a:p>
            <a:pPr algn="l">
              <a:defRPr sz="900" b="1" i="0">
                <a:solidFill>
                  <a:srgbClr val="8B6D2E"/>
                </a:solidFill>
                <a:latin typeface="Calibri"/>
              </a:defRPr>
            </a:pPr>
            <a:r>
              <a:t>SALES</a:t>
            </a:r>
          </a:p>
        </p:txBody>
      </p:sp>
      <p:sp>
        <p:nvSpPr>
          <p:cNvPr id="25" name="Rounded Rectangle 24"/>
          <p:cNvSpPr/>
          <p:nvPr/>
        </p:nvSpPr>
        <p:spPr>
          <a:xfrm>
            <a:off x="219456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377440" y="3200400"/>
            <a:ext cx="2560320" cy="274320"/>
          </a:xfrm>
          <a:prstGeom prst="rect">
            <a:avLst/>
          </a:prstGeom>
          <a:noFill/>
        </p:spPr>
        <p:txBody>
          <a:bodyPr wrap="square">
            <a:spAutoFit/>
          </a:bodyPr>
          <a:lstStyle/>
          <a:p>
            <a:pPr algn="l">
              <a:defRPr sz="1200" b="1" i="0">
                <a:solidFill>
                  <a:srgbClr val="1C1C1E"/>
                </a:solidFill>
                <a:latin typeface="Calibri"/>
              </a:defRPr>
            </a:pPr>
            <a:r>
              <a:t>OEM Proposal Automation</a:t>
            </a:r>
          </a:p>
        </p:txBody>
      </p:sp>
      <p:sp>
        <p:nvSpPr>
          <p:cNvPr id="27" name="TextBox 26"/>
          <p:cNvSpPr txBox="1"/>
          <p:nvPr/>
        </p:nvSpPr>
        <p:spPr>
          <a:xfrm>
            <a:off x="2377440" y="3474720"/>
            <a:ext cx="2560320" cy="274320"/>
          </a:xfrm>
          <a:prstGeom prst="rect">
            <a:avLst/>
          </a:prstGeom>
          <a:noFill/>
        </p:spPr>
        <p:txBody>
          <a:bodyPr wrap="square">
            <a:spAutoFit/>
          </a:bodyPr>
          <a:lstStyle/>
          <a:p>
            <a:pPr algn="l">
              <a:defRPr sz="900" b="0" i="0">
                <a:solidFill>
                  <a:srgbClr val="767676"/>
                </a:solidFill>
                <a:latin typeface="Calibri"/>
              </a:defRPr>
            </a:pPr>
            <a:r>
              <a:t>Proposal cycles are slow, manual</a:t>
            </a:r>
          </a:p>
        </p:txBody>
      </p:sp>
      <p:sp>
        <p:nvSpPr>
          <p:cNvPr id="28" name="Rounded Rectangle 27"/>
          <p:cNvSpPr/>
          <p:nvPr/>
        </p:nvSpPr>
        <p:spPr>
          <a:xfrm>
            <a:off x="525780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440680" y="3200400"/>
            <a:ext cx="2560320" cy="274320"/>
          </a:xfrm>
          <a:prstGeom prst="rect">
            <a:avLst/>
          </a:prstGeom>
          <a:noFill/>
        </p:spPr>
        <p:txBody>
          <a:bodyPr wrap="square">
            <a:spAutoFit/>
          </a:bodyPr>
          <a:lstStyle/>
          <a:p>
            <a:pPr algn="l">
              <a:defRPr sz="1200" b="1" i="0">
                <a:solidFill>
                  <a:srgbClr val="1C1C1E"/>
                </a:solidFill>
                <a:latin typeface="Calibri"/>
              </a:defRPr>
            </a:pPr>
            <a:r>
              <a:t>Part Recommendations</a:t>
            </a:r>
          </a:p>
        </p:txBody>
      </p:sp>
      <p:sp>
        <p:nvSpPr>
          <p:cNvPr id="30" name="TextBox 29"/>
          <p:cNvSpPr txBox="1"/>
          <p:nvPr/>
        </p:nvSpPr>
        <p:spPr>
          <a:xfrm>
            <a:off x="5440680" y="3474720"/>
            <a:ext cx="2560320" cy="274320"/>
          </a:xfrm>
          <a:prstGeom prst="rect">
            <a:avLst/>
          </a:prstGeom>
          <a:noFill/>
        </p:spPr>
        <p:txBody>
          <a:bodyPr wrap="square">
            <a:spAutoFit/>
          </a:bodyPr>
          <a:lstStyle/>
          <a:p>
            <a:pPr algn="l">
              <a:defRPr sz="900" b="0" i="0">
                <a:solidFill>
                  <a:srgbClr val="767676"/>
                </a:solidFill>
                <a:latin typeface="Calibri"/>
              </a:defRPr>
            </a:pPr>
            <a:r>
              <a:t>No guided upsell at point of service</a:t>
            </a:r>
          </a:p>
        </p:txBody>
      </p:sp>
      <p:sp>
        <p:nvSpPr>
          <p:cNvPr id="31" name="Rounded Rectangle 30"/>
          <p:cNvSpPr/>
          <p:nvPr/>
        </p:nvSpPr>
        <p:spPr>
          <a:xfrm>
            <a:off x="832104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503920" y="3200400"/>
            <a:ext cx="2560320" cy="274320"/>
          </a:xfrm>
          <a:prstGeom prst="rect">
            <a:avLst/>
          </a:prstGeom>
          <a:noFill/>
        </p:spPr>
        <p:txBody>
          <a:bodyPr wrap="square">
            <a:spAutoFit/>
          </a:bodyPr>
          <a:lstStyle/>
          <a:p>
            <a:pPr algn="l">
              <a:defRPr sz="1200" b="1" i="0">
                <a:solidFill>
                  <a:srgbClr val="1C1C1E"/>
                </a:solidFill>
                <a:latin typeface="Calibri"/>
              </a:defRPr>
            </a:pPr>
            <a:r>
              <a:t>DTC Personalization</a:t>
            </a:r>
          </a:p>
        </p:txBody>
      </p:sp>
      <p:sp>
        <p:nvSpPr>
          <p:cNvPr id="33" name="TextBox 32"/>
          <p:cNvSpPr txBox="1"/>
          <p:nvPr/>
        </p:nvSpPr>
        <p:spPr>
          <a:xfrm>
            <a:off x="8503920" y="3474720"/>
            <a:ext cx="2560320" cy="274320"/>
          </a:xfrm>
          <a:prstGeom prst="rect">
            <a:avLst/>
          </a:prstGeom>
          <a:noFill/>
        </p:spPr>
        <p:txBody>
          <a:bodyPr wrap="square">
            <a:spAutoFit/>
          </a:bodyPr>
          <a:lstStyle/>
          <a:p>
            <a:pPr algn="l">
              <a:defRPr sz="900" b="0" i="0">
                <a:solidFill>
                  <a:srgbClr val="767676"/>
                </a:solidFill>
                <a:latin typeface="Calibri"/>
              </a:defRPr>
            </a:pPr>
            <a:r>
              <a:t>Velocio has no targeting capability</a:t>
            </a:r>
          </a:p>
        </p:txBody>
      </p:sp>
      <p:sp>
        <p:nvSpPr>
          <p:cNvPr id="34" name="Rectangle 33"/>
          <p:cNvSpPr/>
          <p:nvPr/>
        </p:nvSpPr>
        <p:spPr>
          <a:xfrm>
            <a:off x="731520" y="4023360"/>
            <a:ext cx="50800" cy="822960"/>
          </a:xfrm>
          <a:prstGeom prst="rect">
            <a:avLst/>
          </a:prstGeom>
          <a:solidFill>
            <a:srgbClr val="5B8C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68680" y="4251960"/>
            <a:ext cx="1234440" cy="365760"/>
          </a:xfrm>
          <a:prstGeom prst="rect">
            <a:avLst/>
          </a:prstGeom>
          <a:noFill/>
        </p:spPr>
        <p:txBody>
          <a:bodyPr wrap="square">
            <a:spAutoFit/>
          </a:bodyPr>
          <a:lstStyle/>
          <a:p>
            <a:pPr algn="l">
              <a:defRPr sz="900" b="1" i="0">
                <a:solidFill>
                  <a:srgbClr val="5B8C5A"/>
                </a:solidFill>
                <a:latin typeface="Calibri"/>
              </a:defRPr>
            </a:pPr>
            <a:r>
              <a:t>SUPPLY CHAIN</a:t>
            </a:r>
          </a:p>
        </p:txBody>
      </p:sp>
      <p:sp>
        <p:nvSpPr>
          <p:cNvPr id="36" name="Rounded Rectangle 35"/>
          <p:cNvSpPr/>
          <p:nvPr/>
        </p:nvSpPr>
        <p:spPr>
          <a:xfrm>
            <a:off x="2194560" y="402336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377440" y="4251960"/>
            <a:ext cx="2560320" cy="274320"/>
          </a:xfrm>
          <a:prstGeom prst="rect">
            <a:avLst/>
          </a:prstGeom>
          <a:noFill/>
        </p:spPr>
        <p:txBody>
          <a:bodyPr wrap="square">
            <a:spAutoFit/>
          </a:bodyPr>
          <a:lstStyle/>
          <a:p>
            <a:pPr algn="l">
              <a:defRPr sz="1200" b="1" i="0">
                <a:solidFill>
                  <a:srgbClr val="1C1C1E"/>
                </a:solidFill>
                <a:latin typeface="Calibri"/>
              </a:defRPr>
            </a:pPr>
            <a:r>
              <a:t>Demand Forecasting</a:t>
            </a:r>
          </a:p>
        </p:txBody>
      </p:sp>
      <p:sp>
        <p:nvSpPr>
          <p:cNvPr id="38" name="TextBox 37"/>
          <p:cNvSpPr txBox="1"/>
          <p:nvPr/>
        </p:nvSpPr>
        <p:spPr>
          <a:xfrm>
            <a:off x="2377440" y="4526280"/>
            <a:ext cx="2560320" cy="274320"/>
          </a:xfrm>
          <a:prstGeom prst="rect">
            <a:avLst/>
          </a:prstGeom>
          <a:noFill/>
        </p:spPr>
        <p:txBody>
          <a:bodyPr wrap="square">
            <a:spAutoFit/>
          </a:bodyPr>
          <a:lstStyle/>
          <a:p>
            <a:pPr algn="l">
              <a:defRPr sz="900" b="0" i="0">
                <a:solidFill>
                  <a:srgbClr val="767676"/>
                </a:solidFill>
                <a:latin typeface="Calibri"/>
              </a:defRPr>
            </a:pPr>
            <a:r>
              <a:t>No forecasting system exists today</a:t>
            </a:r>
          </a:p>
        </p:txBody>
      </p:sp>
      <p:sp>
        <p:nvSpPr>
          <p:cNvPr id="39" name="Rounded Rectangle 38"/>
          <p:cNvSpPr/>
          <p:nvPr/>
        </p:nvSpPr>
        <p:spPr>
          <a:xfrm>
            <a:off x="5257800" y="402336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5440680" y="4251960"/>
            <a:ext cx="2560320" cy="274320"/>
          </a:xfrm>
          <a:prstGeom prst="rect">
            <a:avLst/>
          </a:prstGeom>
          <a:noFill/>
        </p:spPr>
        <p:txBody>
          <a:bodyPr wrap="square">
            <a:spAutoFit/>
          </a:bodyPr>
          <a:lstStyle/>
          <a:p>
            <a:pPr algn="l">
              <a:defRPr sz="1200" b="1" i="0">
                <a:solidFill>
                  <a:srgbClr val="1C1C1E"/>
                </a:solidFill>
                <a:latin typeface="Calibri"/>
              </a:defRPr>
            </a:pPr>
            <a:r>
              <a:t>Inventory Allocation</a:t>
            </a:r>
          </a:p>
        </p:txBody>
      </p:sp>
      <p:sp>
        <p:nvSpPr>
          <p:cNvPr id="41" name="TextBox 40"/>
          <p:cNvSpPr txBox="1"/>
          <p:nvPr/>
        </p:nvSpPr>
        <p:spPr>
          <a:xfrm>
            <a:off x="5440680" y="4526280"/>
            <a:ext cx="2560320" cy="274320"/>
          </a:xfrm>
          <a:prstGeom prst="rect">
            <a:avLst/>
          </a:prstGeom>
          <a:noFill/>
        </p:spPr>
        <p:txBody>
          <a:bodyPr wrap="square">
            <a:spAutoFit/>
          </a:bodyPr>
          <a:lstStyle/>
          <a:p>
            <a:pPr algn="l">
              <a:defRPr sz="900" b="0" i="0">
                <a:solidFill>
                  <a:srgbClr val="767676"/>
                </a:solidFill>
                <a:latin typeface="Calibri"/>
              </a:defRPr>
            </a:pPr>
            <a:r>
              <a:t>Stockouts and rush shipping losses</a:t>
            </a:r>
          </a:p>
        </p:txBody>
      </p:sp>
      <p:sp>
        <p:nvSpPr>
          <p:cNvPr id="42" name="Rounded Rectangle 41"/>
          <p:cNvSpPr/>
          <p:nvPr/>
        </p:nvSpPr>
        <p:spPr>
          <a:xfrm>
            <a:off x="8321040" y="402336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503920" y="4251960"/>
            <a:ext cx="2560320" cy="274320"/>
          </a:xfrm>
          <a:prstGeom prst="rect">
            <a:avLst/>
          </a:prstGeom>
          <a:noFill/>
        </p:spPr>
        <p:txBody>
          <a:bodyPr wrap="square">
            <a:spAutoFit/>
          </a:bodyPr>
          <a:lstStyle/>
          <a:p>
            <a:pPr algn="l">
              <a:defRPr sz="1200" b="1" i="0">
                <a:solidFill>
                  <a:srgbClr val="1C1C1E"/>
                </a:solidFill>
                <a:latin typeface="Calibri"/>
              </a:defRPr>
            </a:pPr>
            <a:r>
              <a:t>Customer Analytics</a:t>
            </a:r>
          </a:p>
        </p:txBody>
      </p:sp>
      <p:sp>
        <p:nvSpPr>
          <p:cNvPr id="44" name="TextBox 43"/>
          <p:cNvSpPr txBox="1"/>
          <p:nvPr/>
        </p:nvSpPr>
        <p:spPr>
          <a:xfrm>
            <a:off x="8503920" y="4526280"/>
            <a:ext cx="2560320" cy="274320"/>
          </a:xfrm>
          <a:prstGeom prst="rect">
            <a:avLst/>
          </a:prstGeom>
          <a:noFill/>
        </p:spPr>
        <p:txBody>
          <a:bodyPr wrap="square">
            <a:spAutoFit/>
          </a:bodyPr>
          <a:lstStyle/>
          <a:p>
            <a:pPr algn="l">
              <a:defRPr sz="900" b="0" i="0">
                <a:solidFill>
                  <a:srgbClr val="767676"/>
                </a:solidFill>
                <a:latin typeface="Calibri"/>
              </a:defRPr>
            </a:pPr>
            <a:r>
              <a:t>Shopify data is siloed, unused</a:t>
            </a:r>
          </a:p>
        </p:txBody>
      </p:sp>
      <p:sp>
        <p:nvSpPr>
          <p:cNvPr id="45" name="Rectangle 44"/>
          <p:cNvSpPr/>
          <p:nvPr/>
        </p:nvSpPr>
        <p:spPr>
          <a:xfrm>
            <a:off x="731520" y="5074919"/>
            <a:ext cx="50800" cy="822960"/>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868680" y="5303519"/>
            <a:ext cx="1234440" cy="365760"/>
          </a:xfrm>
          <a:prstGeom prst="rect">
            <a:avLst/>
          </a:prstGeom>
          <a:noFill/>
        </p:spPr>
        <p:txBody>
          <a:bodyPr wrap="square">
            <a:spAutoFit/>
          </a:bodyPr>
          <a:lstStyle/>
          <a:p>
            <a:pPr algn="l">
              <a:defRPr sz="900" b="1" i="0">
                <a:solidFill>
                  <a:srgbClr val="2D5F8A"/>
                </a:solidFill>
                <a:latin typeface="Calibri"/>
              </a:defRPr>
            </a:pPr>
            <a:r>
              <a:t>SUPPORT</a:t>
            </a:r>
          </a:p>
        </p:txBody>
      </p:sp>
      <p:sp>
        <p:nvSpPr>
          <p:cNvPr id="47" name="Rounded Rectangle 46"/>
          <p:cNvSpPr/>
          <p:nvPr/>
        </p:nvSpPr>
        <p:spPr>
          <a:xfrm>
            <a:off x="2194560" y="5074919"/>
            <a:ext cx="2926080" cy="822960"/>
          </a:xfrm>
          <a:prstGeom prst="roundRect">
            <a:avLst>
              <a:gd name="adj" fmla="val 4000"/>
            </a:avLst>
          </a:prstGeom>
          <a:solidFill>
            <a:srgbClr val="FDF0F2"/>
          </a:solidFill>
          <a:ln w="12700">
            <a:solidFill>
              <a:srgbClr val="E51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2194560" y="5074919"/>
            <a:ext cx="50800" cy="82296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2377440" y="5148071"/>
            <a:ext cx="2286000" cy="182880"/>
          </a:xfrm>
          <a:prstGeom prst="rect">
            <a:avLst/>
          </a:prstGeom>
          <a:noFill/>
        </p:spPr>
        <p:txBody>
          <a:bodyPr wrap="square">
            <a:spAutoFit/>
          </a:bodyPr>
          <a:lstStyle/>
          <a:p>
            <a:pPr algn="l">
              <a:defRPr sz="800" b="1" i="0">
                <a:solidFill>
                  <a:srgbClr val="E51937"/>
                </a:solidFill>
                <a:latin typeface="Calibri"/>
              </a:defRPr>
            </a:pPr>
            <a:r>
              <a:t>RECOMMENDED PILOT</a:t>
            </a:r>
          </a:p>
        </p:txBody>
      </p:sp>
      <p:sp>
        <p:nvSpPr>
          <p:cNvPr id="50" name="TextBox 49"/>
          <p:cNvSpPr txBox="1"/>
          <p:nvPr/>
        </p:nvSpPr>
        <p:spPr>
          <a:xfrm>
            <a:off x="2377440" y="5303519"/>
            <a:ext cx="2560320" cy="274320"/>
          </a:xfrm>
          <a:prstGeom prst="rect">
            <a:avLst/>
          </a:prstGeom>
          <a:noFill/>
        </p:spPr>
        <p:txBody>
          <a:bodyPr wrap="square">
            <a:spAutoFit/>
          </a:bodyPr>
          <a:lstStyle/>
          <a:p>
            <a:pPr algn="l">
              <a:defRPr sz="1200" b="1" i="0">
                <a:solidFill>
                  <a:srgbClr val="1C1C1E"/>
                </a:solidFill>
                <a:latin typeface="Calibri"/>
              </a:defRPr>
            </a:pPr>
            <a:r>
              <a:t>AI Support Agent</a:t>
            </a:r>
          </a:p>
        </p:txBody>
      </p:sp>
      <p:sp>
        <p:nvSpPr>
          <p:cNvPr id="51" name="TextBox 50"/>
          <p:cNvSpPr txBox="1"/>
          <p:nvPr/>
        </p:nvSpPr>
        <p:spPr>
          <a:xfrm>
            <a:off x="2377440" y="5577839"/>
            <a:ext cx="2560320" cy="274320"/>
          </a:xfrm>
          <a:prstGeom prst="rect">
            <a:avLst/>
          </a:prstGeom>
          <a:noFill/>
        </p:spPr>
        <p:txBody>
          <a:bodyPr wrap="square">
            <a:spAutoFit/>
          </a:bodyPr>
          <a:lstStyle/>
          <a:p>
            <a:pPr algn="l">
              <a:defRPr sz="900" b="0" i="0">
                <a:solidFill>
                  <a:srgbClr val="767676"/>
                </a:solidFill>
                <a:latin typeface="Calibri"/>
              </a:defRPr>
            </a:pPr>
            <a:r>
              <a:t>70% of dealer questions are repetitive</a:t>
            </a:r>
          </a:p>
        </p:txBody>
      </p:sp>
      <p:sp>
        <p:nvSpPr>
          <p:cNvPr id="52" name="Rounded Rectangle 51"/>
          <p:cNvSpPr/>
          <p:nvPr/>
        </p:nvSpPr>
        <p:spPr>
          <a:xfrm>
            <a:off x="5257800" y="5074919"/>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5440680" y="5303519"/>
            <a:ext cx="2560320" cy="274320"/>
          </a:xfrm>
          <a:prstGeom prst="rect">
            <a:avLst/>
          </a:prstGeom>
          <a:noFill/>
        </p:spPr>
        <p:txBody>
          <a:bodyPr wrap="square">
            <a:spAutoFit/>
          </a:bodyPr>
          <a:lstStyle/>
          <a:p>
            <a:pPr algn="l">
              <a:defRPr sz="1200" b="1" i="0">
                <a:solidFill>
                  <a:srgbClr val="1C1C1E"/>
                </a:solidFill>
                <a:latin typeface="Calibri"/>
              </a:defRPr>
            </a:pPr>
            <a:r>
              <a:t>Warranty Automation</a:t>
            </a:r>
          </a:p>
        </p:txBody>
      </p:sp>
      <p:sp>
        <p:nvSpPr>
          <p:cNvPr id="54" name="TextBox 53"/>
          <p:cNvSpPr txBox="1"/>
          <p:nvPr/>
        </p:nvSpPr>
        <p:spPr>
          <a:xfrm>
            <a:off x="5440680" y="5577839"/>
            <a:ext cx="2560320" cy="274320"/>
          </a:xfrm>
          <a:prstGeom prst="rect">
            <a:avLst/>
          </a:prstGeom>
          <a:noFill/>
        </p:spPr>
        <p:txBody>
          <a:bodyPr wrap="square">
            <a:spAutoFit/>
          </a:bodyPr>
          <a:lstStyle/>
          <a:p>
            <a:pPr algn="l">
              <a:defRPr sz="900" b="0" i="0">
                <a:solidFill>
                  <a:srgbClr val="767676"/>
                </a:solidFill>
                <a:latin typeface="Calibri"/>
              </a:defRPr>
            </a:pPr>
            <a:r>
              <a:t>Fraudulent and mis-filed claims cost time</a:t>
            </a:r>
          </a:p>
        </p:txBody>
      </p:sp>
      <p:sp>
        <p:nvSpPr>
          <p:cNvPr id="55" name="Rounded Rectangle 54"/>
          <p:cNvSpPr/>
          <p:nvPr/>
        </p:nvSpPr>
        <p:spPr>
          <a:xfrm>
            <a:off x="8321040" y="5074919"/>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8503920" y="5303519"/>
            <a:ext cx="2560320" cy="274320"/>
          </a:xfrm>
          <a:prstGeom prst="rect">
            <a:avLst/>
          </a:prstGeom>
          <a:noFill/>
        </p:spPr>
        <p:txBody>
          <a:bodyPr wrap="square">
            <a:spAutoFit/>
          </a:bodyPr>
          <a:lstStyle/>
          <a:p>
            <a:pPr algn="l">
              <a:defRPr sz="1200" b="1" i="0">
                <a:solidFill>
                  <a:srgbClr val="1C1C1E"/>
                </a:solidFill>
                <a:latin typeface="Calibri"/>
              </a:defRPr>
            </a:pPr>
            <a:r>
              <a:t>Compatibility Assistant</a:t>
            </a:r>
          </a:p>
        </p:txBody>
      </p:sp>
      <p:sp>
        <p:nvSpPr>
          <p:cNvPr id="57" name="TextBox 56"/>
          <p:cNvSpPr txBox="1"/>
          <p:nvPr/>
        </p:nvSpPr>
        <p:spPr>
          <a:xfrm>
            <a:off x="8503920" y="5577839"/>
            <a:ext cx="2560320" cy="274320"/>
          </a:xfrm>
          <a:prstGeom prst="rect">
            <a:avLst/>
          </a:prstGeom>
          <a:noFill/>
        </p:spPr>
        <p:txBody>
          <a:bodyPr wrap="square">
            <a:spAutoFit/>
          </a:bodyPr>
          <a:lstStyle/>
          <a:p>
            <a:pPr algn="l">
              <a:defRPr sz="900" b="0" i="0">
                <a:solidFill>
                  <a:srgbClr val="767676"/>
                </a:solidFill>
                <a:latin typeface="Calibri"/>
              </a:defRPr>
            </a:pPr>
            <a:r>
              <a:t>Riders get wrong parts, return them</a:t>
            </a:r>
          </a:p>
        </p:txBody>
      </p:sp>
      <p:sp>
        <p:nvSpPr>
          <p:cNvPr id="58" name="Rectangle 57"/>
          <p:cNvSpPr/>
          <p:nvPr/>
        </p:nvSpPr>
        <p:spPr>
          <a:xfrm>
            <a:off x="594360" y="5001767"/>
            <a:ext cx="10927080" cy="969264"/>
          </a:xfrm>
          <a:prstGeom prst="rect">
            <a:avLst/>
          </a:prstGeom>
          <a:noFill/>
          <a:ln w="31750">
            <a:solidFill>
              <a:srgbClr val="2D5F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9784080" y="4782311"/>
            <a:ext cx="1645920" cy="201168"/>
          </a:xfrm>
          <a:prstGeom prst="rect">
            <a:avLst/>
          </a:prstGeom>
          <a:noFill/>
        </p:spPr>
        <p:txBody>
          <a:bodyPr wrap="square">
            <a:spAutoFit/>
          </a:bodyPr>
          <a:lstStyle/>
          <a:p>
            <a:pPr algn="r">
              <a:defRPr sz="1000" b="1" i="0">
                <a:solidFill>
                  <a:srgbClr val="2D5F8A"/>
                </a:solidFill>
                <a:latin typeface="Calibri"/>
              </a:defRPr>
            </a:pPr>
            <a:r>
              <a:t>START HERE</a:t>
            </a:r>
          </a:p>
        </p:txBody>
      </p:sp>
      <p:sp>
        <p:nvSpPr>
          <p:cNvPr id="60" name="TextBox 59"/>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61" name="TextBox 60"/>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PROBLEM</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Support quality drives churn, not product quality</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34440"/>
            <a:ext cx="10058400" cy="320040"/>
          </a:xfrm>
          <a:prstGeom prst="rect">
            <a:avLst/>
          </a:prstGeom>
          <a:noFill/>
        </p:spPr>
        <p:txBody>
          <a:bodyPr wrap="square">
            <a:spAutoFit/>
          </a:bodyPr>
          <a:lstStyle/>
          <a:p>
            <a:pPr algn="l">
              <a:defRPr sz="1300" b="0" i="0">
                <a:solidFill>
                  <a:srgbClr val="3A3A3C"/>
                </a:solidFill>
                <a:latin typeface="Calibri"/>
              </a:defRPr>
            </a:pPr>
            <a:r>
              <a:t>Riders love SRAM hardware. They struggle with firmware updates, part compatibility, and warranty resolution.</a:t>
            </a:r>
          </a:p>
        </p:txBody>
      </p:sp>
      <p:sp>
        <p:nvSpPr>
          <p:cNvPr id="7" name="Rounded Rectangle 6"/>
          <p:cNvSpPr/>
          <p:nvPr/>
        </p:nvSpPr>
        <p:spPr>
          <a:xfrm>
            <a:off x="731520" y="2011680"/>
            <a:ext cx="329184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60120" y="2148840"/>
            <a:ext cx="2834640" cy="228600"/>
          </a:xfrm>
          <a:prstGeom prst="rect">
            <a:avLst/>
          </a:prstGeom>
          <a:noFill/>
        </p:spPr>
        <p:txBody>
          <a:bodyPr wrap="square">
            <a:spAutoFit/>
          </a:bodyPr>
          <a:lstStyle/>
          <a:p>
            <a:pPr algn="l">
              <a:defRPr sz="1000" b="0" i="0">
                <a:solidFill>
                  <a:srgbClr val="767676"/>
                </a:solidFill>
                <a:latin typeface="Calibri"/>
              </a:defRPr>
            </a:pPr>
            <a:r>
              <a:t>TRUSTPILOT RATING</a:t>
            </a:r>
          </a:p>
        </p:txBody>
      </p:sp>
      <p:sp>
        <p:nvSpPr>
          <p:cNvPr id="9" name="TextBox 8"/>
          <p:cNvSpPr txBox="1"/>
          <p:nvPr/>
        </p:nvSpPr>
        <p:spPr>
          <a:xfrm>
            <a:off x="960120" y="2377440"/>
            <a:ext cx="2834640" cy="411480"/>
          </a:xfrm>
          <a:prstGeom prst="rect">
            <a:avLst/>
          </a:prstGeom>
          <a:noFill/>
        </p:spPr>
        <p:txBody>
          <a:bodyPr wrap="square">
            <a:spAutoFit/>
          </a:bodyPr>
          <a:lstStyle/>
          <a:p>
            <a:pPr algn="l">
              <a:defRPr sz="2600" b="1" i="0">
                <a:solidFill>
                  <a:srgbClr val="C43B4F"/>
                </a:solidFill>
                <a:latin typeface="Calibri"/>
              </a:defRPr>
            </a:pPr>
            <a:r>
              <a:t>1.6 / 5.0</a:t>
            </a:r>
          </a:p>
        </p:txBody>
      </p:sp>
      <p:sp>
        <p:nvSpPr>
          <p:cNvPr id="10" name="TextBox 9"/>
          <p:cNvSpPr txBox="1"/>
          <p:nvPr/>
        </p:nvSpPr>
        <p:spPr>
          <a:xfrm>
            <a:off x="960120" y="2834640"/>
            <a:ext cx="2834640" cy="228600"/>
          </a:xfrm>
          <a:prstGeom prst="rect">
            <a:avLst/>
          </a:prstGeom>
          <a:noFill/>
        </p:spPr>
        <p:txBody>
          <a:bodyPr wrap="square">
            <a:spAutoFit/>
          </a:bodyPr>
          <a:lstStyle/>
          <a:p>
            <a:pPr algn="l">
              <a:defRPr sz="900" b="0" i="0">
                <a:solidFill>
                  <a:srgbClr val="767676"/>
                </a:solidFill>
                <a:latin typeface="Calibri"/>
              </a:defRPr>
            </a:pPr>
            <a:r>
              <a:t>Warranty friction and support delays</a:t>
            </a:r>
          </a:p>
        </p:txBody>
      </p:sp>
      <p:sp>
        <p:nvSpPr>
          <p:cNvPr id="11" name="Rounded Rectangle 10"/>
          <p:cNvSpPr/>
          <p:nvPr/>
        </p:nvSpPr>
        <p:spPr>
          <a:xfrm>
            <a:off x="4480560" y="2011680"/>
            <a:ext cx="329184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09160" y="2148840"/>
            <a:ext cx="2834640" cy="228600"/>
          </a:xfrm>
          <a:prstGeom prst="rect">
            <a:avLst/>
          </a:prstGeom>
          <a:noFill/>
        </p:spPr>
        <p:txBody>
          <a:bodyPr wrap="square">
            <a:spAutoFit/>
          </a:bodyPr>
          <a:lstStyle/>
          <a:p>
            <a:pPr algn="l">
              <a:defRPr sz="1000" b="0" i="0">
                <a:solidFill>
                  <a:srgbClr val="767676"/>
                </a:solidFill>
                <a:latin typeface="Calibri"/>
              </a:defRPr>
            </a:pPr>
            <a:r>
              <a:t>AUTOMATABLE</a:t>
            </a:r>
          </a:p>
        </p:txBody>
      </p:sp>
      <p:sp>
        <p:nvSpPr>
          <p:cNvPr id="13" name="TextBox 12"/>
          <p:cNvSpPr txBox="1"/>
          <p:nvPr/>
        </p:nvSpPr>
        <p:spPr>
          <a:xfrm>
            <a:off x="4709160" y="2377440"/>
            <a:ext cx="2834640" cy="411480"/>
          </a:xfrm>
          <a:prstGeom prst="rect">
            <a:avLst/>
          </a:prstGeom>
          <a:noFill/>
        </p:spPr>
        <p:txBody>
          <a:bodyPr wrap="square">
            <a:spAutoFit/>
          </a:bodyPr>
          <a:lstStyle/>
          <a:p>
            <a:pPr algn="l">
              <a:defRPr sz="2600" b="1" i="0">
                <a:solidFill>
                  <a:srgbClr val="1C1C1E"/>
                </a:solidFill>
                <a:latin typeface="Calibri"/>
              </a:defRPr>
            </a:pPr>
            <a:r>
              <a:t>~70%</a:t>
            </a:r>
          </a:p>
        </p:txBody>
      </p:sp>
      <p:sp>
        <p:nvSpPr>
          <p:cNvPr id="14" name="TextBox 13"/>
          <p:cNvSpPr txBox="1"/>
          <p:nvPr/>
        </p:nvSpPr>
        <p:spPr>
          <a:xfrm>
            <a:off x="4709160" y="2834640"/>
            <a:ext cx="2834640" cy="228600"/>
          </a:xfrm>
          <a:prstGeom prst="rect">
            <a:avLst/>
          </a:prstGeom>
          <a:noFill/>
        </p:spPr>
        <p:txBody>
          <a:bodyPr wrap="square">
            <a:spAutoFit/>
          </a:bodyPr>
          <a:lstStyle/>
          <a:p>
            <a:pPr algn="l">
              <a:defRPr sz="900" b="0" i="0">
                <a:solidFill>
                  <a:srgbClr val="767676"/>
                </a:solidFill>
                <a:latin typeface="Calibri"/>
              </a:defRPr>
            </a:pPr>
            <a:r>
              <a:t>Questions follow documented patterns</a:t>
            </a:r>
          </a:p>
        </p:txBody>
      </p:sp>
      <p:sp>
        <p:nvSpPr>
          <p:cNvPr id="15" name="Rounded Rectangle 14"/>
          <p:cNvSpPr/>
          <p:nvPr/>
        </p:nvSpPr>
        <p:spPr>
          <a:xfrm>
            <a:off x="8229600" y="2011680"/>
            <a:ext cx="329184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458200" y="2148840"/>
            <a:ext cx="2834640" cy="228600"/>
          </a:xfrm>
          <a:prstGeom prst="rect">
            <a:avLst/>
          </a:prstGeom>
          <a:noFill/>
        </p:spPr>
        <p:txBody>
          <a:bodyPr wrap="square">
            <a:spAutoFit/>
          </a:bodyPr>
          <a:lstStyle/>
          <a:p>
            <a:pPr algn="l">
              <a:defRPr sz="1000" b="0" i="0">
                <a:solidFill>
                  <a:srgbClr val="767676"/>
                </a:solidFill>
                <a:latin typeface="Calibri"/>
              </a:defRPr>
            </a:pPr>
            <a:r>
              <a:t>TOP COMPLAINTS</a:t>
            </a:r>
          </a:p>
        </p:txBody>
      </p:sp>
      <p:sp>
        <p:nvSpPr>
          <p:cNvPr id="17" name="TextBox 16"/>
          <p:cNvSpPr txBox="1"/>
          <p:nvPr/>
        </p:nvSpPr>
        <p:spPr>
          <a:xfrm>
            <a:off x="8458200" y="2377440"/>
            <a:ext cx="2834640" cy="411480"/>
          </a:xfrm>
          <a:prstGeom prst="rect">
            <a:avLst/>
          </a:prstGeom>
          <a:noFill/>
        </p:spPr>
        <p:txBody>
          <a:bodyPr wrap="square">
            <a:spAutoFit/>
          </a:bodyPr>
          <a:lstStyle/>
          <a:p>
            <a:pPr algn="l">
              <a:defRPr sz="2600" b="1" i="0">
                <a:solidFill>
                  <a:srgbClr val="C43B4F"/>
                </a:solidFill>
                <a:latin typeface="Calibri"/>
              </a:defRPr>
            </a:pPr>
            <a:r>
              <a:t>Firmware + Pairing</a:t>
            </a:r>
          </a:p>
        </p:txBody>
      </p:sp>
      <p:sp>
        <p:nvSpPr>
          <p:cNvPr id="18" name="TextBox 17"/>
          <p:cNvSpPr txBox="1"/>
          <p:nvPr/>
        </p:nvSpPr>
        <p:spPr>
          <a:xfrm>
            <a:off x="8458200" y="2834640"/>
            <a:ext cx="2834640" cy="228600"/>
          </a:xfrm>
          <a:prstGeom prst="rect">
            <a:avLst/>
          </a:prstGeom>
          <a:noFill/>
        </p:spPr>
        <p:txBody>
          <a:bodyPr wrap="square">
            <a:spAutoFit/>
          </a:bodyPr>
          <a:lstStyle/>
          <a:p>
            <a:pPr algn="l">
              <a:defRPr sz="900" b="0" i="0">
                <a:solidFill>
                  <a:srgbClr val="767676"/>
                </a:solidFill>
                <a:latin typeface="Calibri"/>
              </a:defRPr>
            </a:pPr>
            <a:r>
              <a:t>Reddit, app stores, Trustpilot</a:t>
            </a:r>
          </a:p>
        </p:txBody>
      </p:sp>
      <p:sp>
        <p:nvSpPr>
          <p:cNvPr id="19" name="TextBox 18"/>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0" name="TextBox 19"/>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7</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PROBLEM</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Support quality drives churn, not product quality</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34440"/>
            <a:ext cx="10058400" cy="320040"/>
          </a:xfrm>
          <a:prstGeom prst="rect">
            <a:avLst/>
          </a:prstGeom>
          <a:noFill/>
        </p:spPr>
        <p:txBody>
          <a:bodyPr wrap="square">
            <a:spAutoFit/>
          </a:bodyPr>
          <a:lstStyle/>
          <a:p>
            <a:pPr algn="l">
              <a:defRPr sz="1300" b="0" i="0">
                <a:solidFill>
                  <a:srgbClr val="3A3A3C"/>
                </a:solidFill>
                <a:latin typeface="Calibri"/>
              </a:defRPr>
            </a:pPr>
            <a:r>
              <a:t>Riders love SRAM hardware. They struggle with firmware updates, part compatibility, and warranty resolution.</a:t>
            </a:r>
          </a:p>
        </p:txBody>
      </p:sp>
      <p:sp>
        <p:nvSpPr>
          <p:cNvPr id="7" name="Rounded Rectangle 6"/>
          <p:cNvSpPr/>
          <p:nvPr/>
        </p:nvSpPr>
        <p:spPr>
          <a:xfrm>
            <a:off x="731520" y="2011680"/>
            <a:ext cx="329184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60120" y="2148840"/>
            <a:ext cx="2834640" cy="228600"/>
          </a:xfrm>
          <a:prstGeom prst="rect">
            <a:avLst/>
          </a:prstGeom>
          <a:noFill/>
        </p:spPr>
        <p:txBody>
          <a:bodyPr wrap="square">
            <a:spAutoFit/>
          </a:bodyPr>
          <a:lstStyle/>
          <a:p>
            <a:pPr algn="l">
              <a:defRPr sz="1000" b="0" i="0">
                <a:solidFill>
                  <a:srgbClr val="767676"/>
                </a:solidFill>
                <a:latin typeface="Calibri"/>
              </a:defRPr>
            </a:pPr>
            <a:r>
              <a:t>TRUSTPILOT RATING</a:t>
            </a:r>
          </a:p>
        </p:txBody>
      </p:sp>
      <p:sp>
        <p:nvSpPr>
          <p:cNvPr id="9" name="TextBox 8"/>
          <p:cNvSpPr txBox="1"/>
          <p:nvPr/>
        </p:nvSpPr>
        <p:spPr>
          <a:xfrm>
            <a:off x="960120" y="2377440"/>
            <a:ext cx="2834640" cy="411480"/>
          </a:xfrm>
          <a:prstGeom prst="rect">
            <a:avLst/>
          </a:prstGeom>
          <a:noFill/>
        </p:spPr>
        <p:txBody>
          <a:bodyPr wrap="square">
            <a:spAutoFit/>
          </a:bodyPr>
          <a:lstStyle/>
          <a:p>
            <a:pPr algn="l">
              <a:defRPr sz="2600" b="1" i="0">
                <a:solidFill>
                  <a:srgbClr val="C43B4F"/>
                </a:solidFill>
                <a:latin typeface="Calibri"/>
              </a:defRPr>
            </a:pPr>
            <a:r>
              <a:t>1.6 / 5.0</a:t>
            </a:r>
          </a:p>
        </p:txBody>
      </p:sp>
      <p:sp>
        <p:nvSpPr>
          <p:cNvPr id="10" name="TextBox 9"/>
          <p:cNvSpPr txBox="1"/>
          <p:nvPr/>
        </p:nvSpPr>
        <p:spPr>
          <a:xfrm>
            <a:off x="960120" y="2834640"/>
            <a:ext cx="2834640" cy="228600"/>
          </a:xfrm>
          <a:prstGeom prst="rect">
            <a:avLst/>
          </a:prstGeom>
          <a:noFill/>
        </p:spPr>
        <p:txBody>
          <a:bodyPr wrap="square">
            <a:spAutoFit/>
          </a:bodyPr>
          <a:lstStyle/>
          <a:p>
            <a:pPr algn="l">
              <a:defRPr sz="900" b="0" i="0">
                <a:solidFill>
                  <a:srgbClr val="767676"/>
                </a:solidFill>
                <a:latin typeface="Calibri"/>
              </a:defRPr>
            </a:pPr>
            <a:r>
              <a:t>Warranty friction and support delays</a:t>
            </a:r>
          </a:p>
        </p:txBody>
      </p:sp>
      <p:sp>
        <p:nvSpPr>
          <p:cNvPr id="11" name="Rounded Rectangle 10"/>
          <p:cNvSpPr/>
          <p:nvPr/>
        </p:nvSpPr>
        <p:spPr>
          <a:xfrm>
            <a:off x="4480560" y="2011680"/>
            <a:ext cx="329184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09160" y="2148840"/>
            <a:ext cx="2834640" cy="228600"/>
          </a:xfrm>
          <a:prstGeom prst="rect">
            <a:avLst/>
          </a:prstGeom>
          <a:noFill/>
        </p:spPr>
        <p:txBody>
          <a:bodyPr wrap="square">
            <a:spAutoFit/>
          </a:bodyPr>
          <a:lstStyle/>
          <a:p>
            <a:pPr algn="l">
              <a:defRPr sz="1000" b="0" i="0">
                <a:solidFill>
                  <a:srgbClr val="767676"/>
                </a:solidFill>
                <a:latin typeface="Calibri"/>
              </a:defRPr>
            </a:pPr>
            <a:r>
              <a:t>AUTOMATABLE</a:t>
            </a:r>
          </a:p>
        </p:txBody>
      </p:sp>
      <p:sp>
        <p:nvSpPr>
          <p:cNvPr id="13" name="TextBox 12"/>
          <p:cNvSpPr txBox="1"/>
          <p:nvPr/>
        </p:nvSpPr>
        <p:spPr>
          <a:xfrm>
            <a:off x="4709160" y="2377440"/>
            <a:ext cx="2834640" cy="411480"/>
          </a:xfrm>
          <a:prstGeom prst="rect">
            <a:avLst/>
          </a:prstGeom>
          <a:noFill/>
        </p:spPr>
        <p:txBody>
          <a:bodyPr wrap="square">
            <a:spAutoFit/>
          </a:bodyPr>
          <a:lstStyle/>
          <a:p>
            <a:pPr algn="l">
              <a:defRPr sz="2600" b="1" i="0">
                <a:solidFill>
                  <a:srgbClr val="1C1C1E"/>
                </a:solidFill>
                <a:latin typeface="Calibri"/>
              </a:defRPr>
            </a:pPr>
            <a:r>
              <a:t>~70%</a:t>
            </a:r>
          </a:p>
        </p:txBody>
      </p:sp>
      <p:sp>
        <p:nvSpPr>
          <p:cNvPr id="14" name="TextBox 13"/>
          <p:cNvSpPr txBox="1"/>
          <p:nvPr/>
        </p:nvSpPr>
        <p:spPr>
          <a:xfrm>
            <a:off x="4709160" y="2834640"/>
            <a:ext cx="2834640" cy="228600"/>
          </a:xfrm>
          <a:prstGeom prst="rect">
            <a:avLst/>
          </a:prstGeom>
          <a:noFill/>
        </p:spPr>
        <p:txBody>
          <a:bodyPr wrap="square">
            <a:spAutoFit/>
          </a:bodyPr>
          <a:lstStyle/>
          <a:p>
            <a:pPr algn="l">
              <a:defRPr sz="900" b="0" i="0">
                <a:solidFill>
                  <a:srgbClr val="767676"/>
                </a:solidFill>
                <a:latin typeface="Calibri"/>
              </a:defRPr>
            </a:pPr>
            <a:r>
              <a:t>Questions follow documented patterns</a:t>
            </a:r>
          </a:p>
        </p:txBody>
      </p:sp>
      <p:sp>
        <p:nvSpPr>
          <p:cNvPr id="15" name="Rounded Rectangle 14"/>
          <p:cNvSpPr/>
          <p:nvPr/>
        </p:nvSpPr>
        <p:spPr>
          <a:xfrm>
            <a:off x="8229600" y="2011680"/>
            <a:ext cx="329184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458200" y="2148840"/>
            <a:ext cx="2834640" cy="228600"/>
          </a:xfrm>
          <a:prstGeom prst="rect">
            <a:avLst/>
          </a:prstGeom>
          <a:noFill/>
        </p:spPr>
        <p:txBody>
          <a:bodyPr wrap="square">
            <a:spAutoFit/>
          </a:bodyPr>
          <a:lstStyle/>
          <a:p>
            <a:pPr algn="l">
              <a:defRPr sz="1000" b="0" i="0">
                <a:solidFill>
                  <a:srgbClr val="767676"/>
                </a:solidFill>
                <a:latin typeface="Calibri"/>
              </a:defRPr>
            </a:pPr>
            <a:r>
              <a:t>TOP COMPLAINTS</a:t>
            </a:r>
          </a:p>
        </p:txBody>
      </p:sp>
      <p:sp>
        <p:nvSpPr>
          <p:cNvPr id="17" name="TextBox 16"/>
          <p:cNvSpPr txBox="1"/>
          <p:nvPr/>
        </p:nvSpPr>
        <p:spPr>
          <a:xfrm>
            <a:off x="8458200" y="2377440"/>
            <a:ext cx="2834640" cy="411480"/>
          </a:xfrm>
          <a:prstGeom prst="rect">
            <a:avLst/>
          </a:prstGeom>
          <a:noFill/>
        </p:spPr>
        <p:txBody>
          <a:bodyPr wrap="square">
            <a:spAutoFit/>
          </a:bodyPr>
          <a:lstStyle/>
          <a:p>
            <a:pPr algn="l">
              <a:defRPr sz="2600" b="1" i="0">
                <a:solidFill>
                  <a:srgbClr val="C43B4F"/>
                </a:solidFill>
                <a:latin typeface="Calibri"/>
              </a:defRPr>
            </a:pPr>
            <a:r>
              <a:t>Firmware + Pairing</a:t>
            </a:r>
          </a:p>
        </p:txBody>
      </p:sp>
      <p:sp>
        <p:nvSpPr>
          <p:cNvPr id="18" name="TextBox 17"/>
          <p:cNvSpPr txBox="1"/>
          <p:nvPr/>
        </p:nvSpPr>
        <p:spPr>
          <a:xfrm>
            <a:off x="8458200" y="2834640"/>
            <a:ext cx="2834640" cy="228600"/>
          </a:xfrm>
          <a:prstGeom prst="rect">
            <a:avLst/>
          </a:prstGeom>
          <a:noFill/>
        </p:spPr>
        <p:txBody>
          <a:bodyPr wrap="square">
            <a:spAutoFit/>
          </a:bodyPr>
          <a:lstStyle/>
          <a:p>
            <a:pPr algn="l">
              <a:defRPr sz="900" b="0" i="0">
                <a:solidFill>
                  <a:srgbClr val="767676"/>
                </a:solidFill>
                <a:latin typeface="Calibri"/>
              </a:defRPr>
            </a:pPr>
            <a:r>
              <a:t>Reddit, app stores, Trustpilot</a:t>
            </a:r>
          </a:p>
        </p:txBody>
      </p:sp>
      <p:sp>
        <p:nvSpPr>
          <p:cNvPr id="19" name="Rounded Rectangle 18"/>
          <p:cNvSpPr/>
          <p:nvPr/>
        </p:nvSpPr>
        <p:spPr>
          <a:xfrm>
            <a:off x="731520" y="4389120"/>
            <a:ext cx="1078992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731520" y="4389120"/>
            <a:ext cx="50800" cy="77724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51560" y="4480560"/>
            <a:ext cx="10241280" cy="411480"/>
          </a:xfrm>
          <a:prstGeom prst="rect">
            <a:avLst/>
          </a:prstGeom>
          <a:noFill/>
        </p:spPr>
        <p:txBody>
          <a:bodyPr wrap="square">
            <a:spAutoFit/>
          </a:bodyPr>
          <a:lstStyle/>
          <a:p>
            <a:pPr algn="l">
              <a:defRPr sz="1200" b="0" i="1">
                <a:solidFill>
                  <a:srgbClr val="3A3A3C"/>
                </a:solidFill>
                <a:latin typeface="Calibri"/>
              </a:defRPr>
            </a:pPr>
            <a:r>
              <a:t>“The first question I ask anyone skeptical about AI is: do you want to spend your day searching a 200-page compatibility PDF, or do you want to spend it talking to dealers?”</a:t>
            </a:r>
          </a:p>
        </p:txBody>
      </p:sp>
      <p:sp>
        <p:nvSpPr>
          <p:cNvPr id="22" name="TextBox 21"/>
          <p:cNvSpPr txBox="1"/>
          <p:nvPr/>
        </p:nvSpPr>
        <p:spPr>
          <a:xfrm>
            <a:off x="1051560" y="4892040"/>
            <a:ext cx="10241280" cy="228600"/>
          </a:xfrm>
          <a:prstGeom prst="rect">
            <a:avLst/>
          </a:prstGeom>
          <a:noFill/>
        </p:spPr>
        <p:txBody>
          <a:bodyPr wrap="square">
            <a:spAutoFit/>
          </a:bodyPr>
          <a:lstStyle/>
          <a:p>
            <a:pPr algn="l">
              <a:defRPr sz="1000" b="1" i="0">
                <a:solidFill>
                  <a:srgbClr val="767676"/>
                </a:solidFill>
                <a:latin typeface="Calibri"/>
              </a:defRPr>
            </a:pPr>
            <a:r>
              <a:t>Clint Weber, VP Global Sales &amp; Manufacturing, SRAM</a:t>
            </a:r>
          </a:p>
        </p:txBody>
      </p:sp>
      <p:sp>
        <p:nvSpPr>
          <p:cNvPr id="23" name="TextBox 22"/>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4" name="TextBox 23"/>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7</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SOLUTION</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AI drafts responses, humans approve them, nobody gets a wrong answer</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371600"/>
            <a:ext cx="5029200" cy="274320"/>
          </a:xfrm>
          <a:prstGeom prst="rect">
            <a:avLst/>
          </a:prstGeom>
          <a:noFill/>
        </p:spPr>
        <p:txBody>
          <a:bodyPr wrap="square">
            <a:spAutoFit/>
          </a:bodyPr>
          <a:lstStyle/>
          <a:p>
            <a:pPr algn="l">
              <a:defRPr sz="1400" b="1" i="0">
                <a:solidFill>
                  <a:srgbClr val="C43B4F"/>
                </a:solidFill>
                <a:latin typeface="Calibri"/>
              </a:defRPr>
            </a:pPr>
            <a:r>
              <a:t>TODAY</a:t>
            </a:r>
          </a:p>
        </p:txBody>
      </p:sp>
      <p:sp>
        <p:nvSpPr>
          <p:cNvPr id="7" name="Rounded Rectangle 6"/>
          <p:cNvSpPr/>
          <p:nvPr/>
        </p:nvSpPr>
        <p:spPr>
          <a:xfrm>
            <a:off x="731520" y="1737360"/>
            <a:ext cx="502920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810512"/>
            <a:ext cx="4663440" cy="228600"/>
          </a:xfrm>
          <a:prstGeom prst="rect">
            <a:avLst/>
          </a:prstGeom>
          <a:noFill/>
        </p:spPr>
        <p:txBody>
          <a:bodyPr wrap="square">
            <a:spAutoFit/>
          </a:bodyPr>
          <a:lstStyle/>
          <a:p>
            <a:pPr algn="l">
              <a:defRPr sz="1200" b="1" i="0">
                <a:solidFill>
                  <a:srgbClr val="1C1C1E"/>
                </a:solidFill>
                <a:latin typeface="Calibri"/>
              </a:defRPr>
            </a:pPr>
            <a:r>
              <a:t>1. Dealer emails a question</a:t>
            </a:r>
          </a:p>
        </p:txBody>
      </p:sp>
      <p:sp>
        <p:nvSpPr>
          <p:cNvPr id="9" name="TextBox 8"/>
          <p:cNvSpPr txBox="1"/>
          <p:nvPr/>
        </p:nvSpPr>
        <p:spPr>
          <a:xfrm>
            <a:off x="914400" y="2084832"/>
            <a:ext cx="4663440" cy="502920"/>
          </a:xfrm>
          <a:prstGeom prst="rect">
            <a:avLst/>
          </a:prstGeom>
          <a:noFill/>
        </p:spPr>
        <p:txBody>
          <a:bodyPr wrap="square">
            <a:spAutoFit/>
          </a:bodyPr>
          <a:lstStyle/>
          <a:p>
            <a:pPr algn="l">
              <a:defRPr sz="1000" b="0" i="0">
                <a:solidFill>
                  <a:srgbClr val="767676"/>
                </a:solidFill>
                <a:latin typeface="Calibri"/>
              </a:defRPr>
            </a:pPr>
            <a:r>
              <a:t>"Which AXS derailleur firmware works with my 2024 Eagle cassette?"</a:t>
            </a:r>
          </a:p>
        </p:txBody>
      </p:sp>
      <p:sp>
        <p:nvSpPr>
          <p:cNvPr id="10" name="Rounded Rectangle 9"/>
          <p:cNvSpPr/>
          <p:nvPr/>
        </p:nvSpPr>
        <p:spPr>
          <a:xfrm>
            <a:off x="731520" y="2788920"/>
            <a:ext cx="502920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4400" y="2862072"/>
            <a:ext cx="4663440" cy="228600"/>
          </a:xfrm>
          <a:prstGeom prst="rect">
            <a:avLst/>
          </a:prstGeom>
          <a:noFill/>
        </p:spPr>
        <p:txBody>
          <a:bodyPr wrap="square">
            <a:spAutoFit/>
          </a:bodyPr>
          <a:lstStyle/>
          <a:p>
            <a:pPr algn="l">
              <a:defRPr sz="1200" b="1" i="0">
                <a:solidFill>
                  <a:srgbClr val="1C1C1E"/>
                </a:solidFill>
                <a:latin typeface="Calibri"/>
              </a:defRPr>
            </a:pPr>
            <a:r>
              <a:t>2. Agent searches manually</a:t>
            </a:r>
          </a:p>
        </p:txBody>
      </p:sp>
      <p:sp>
        <p:nvSpPr>
          <p:cNvPr id="12" name="TextBox 11"/>
          <p:cNvSpPr txBox="1"/>
          <p:nvPr/>
        </p:nvSpPr>
        <p:spPr>
          <a:xfrm>
            <a:off x="914400" y="3136392"/>
            <a:ext cx="4663440" cy="502920"/>
          </a:xfrm>
          <a:prstGeom prst="rect">
            <a:avLst/>
          </a:prstGeom>
          <a:noFill/>
        </p:spPr>
        <p:txBody>
          <a:bodyPr wrap="square">
            <a:spAutoFit/>
          </a:bodyPr>
          <a:lstStyle/>
          <a:p>
            <a:pPr algn="l">
              <a:defRPr sz="1000" b="0" i="0">
                <a:solidFill>
                  <a:srgbClr val="767676"/>
                </a:solidFill>
                <a:latin typeface="Calibri"/>
              </a:defRPr>
            </a:pPr>
            <a:r>
              <a:t>Opens a 200-page compatibility PDF.</a:t>
            </a:r>
            <a:br/>
            <a:r>
              <a:t>Searches across multiple documents and wikis.</a:t>
            </a:r>
          </a:p>
        </p:txBody>
      </p:sp>
      <p:sp>
        <p:nvSpPr>
          <p:cNvPr id="13" name="Rounded Rectangle 12"/>
          <p:cNvSpPr/>
          <p:nvPr/>
        </p:nvSpPr>
        <p:spPr>
          <a:xfrm>
            <a:off x="731520" y="3840480"/>
            <a:ext cx="502920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14400" y="3913632"/>
            <a:ext cx="4663440" cy="228600"/>
          </a:xfrm>
          <a:prstGeom prst="rect">
            <a:avLst/>
          </a:prstGeom>
          <a:noFill/>
        </p:spPr>
        <p:txBody>
          <a:bodyPr wrap="square">
            <a:spAutoFit/>
          </a:bodyPr>
          <a:lstStyle/>
          <a:p>
            <a:pPr algn="l">
              <a:defRPr sz="1200" b="1" i="0">
                <a:solidFill>
                  <a:srgbClr val="1C1C1E"/>
                </a:solidFill>
                <a:latin typeface="Calibri"/>
              </a:defRPr>
            </a:pPr>
            <a:r>
              <a:t>3. Agent writes a response from scratch</a:t>
            </a:r>
          </a:p>
        </p:txBody>
      </p:sp>
      <p:sp>
        <p:nvSpPr>
          <p:cNvPr id="15" name="TextBox 14"/>
          <p:cNvSpPr txBox="1"/>
          <p:nvPr/>
        </p:nvSpPr>
        <p:spPr>
          <a:xfrm>
            <a:off x="914400" y="4187952"/>
            <a:ext cx="4663440" cy="502920"/>
          </a:xfrm>
          <a:prstGeom prst="rect">
            <a:avLst/>
          </a:prstGeom>
          <a:noFill/>
        </p:spPr>
        <p:txBody>
          <a:bodyPr wrap="square">
            <a:spAutoFit/>
          </a:bodyPr>
          <a:lstStyle/>
          <a:p>
            <a:pPr algn="l">
              <a:defRPr sz="1000" b="0" i="0">
                <a:solidFill>
                  <a:srgbClr val="767676"/>
                </a:solidFill>
                <a:latin typeface="Calibri"/>
              </a:defRPr>
            </a:pPr>
            <a:r>
              <a:t>Types out the answer, double-checks part numbers,</a:t>
            </a:r>
            <a:br/>
            <a:r>
              <a:t>hopes nothing changed since last update.</a:t>
            </a:r>
          </a:p>
        </p:txBody>
      </p:sp>
      <p:sp>
        <p:nvSpPr>
          <p:cNvPr id="16" name="Rounded Rectangle 15"/>
          <p:cNvSpPr/>
          <p:nvPr/>
        </p:nvSpPr>
        <p:spPr>
          <a:xfrm>
            <a:off x="731520" y="4892039"/>
            <a:ext cx="502920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14400" y="4965191"/>
            <a:ext cx="4663440" cy="228600"/>
          </a:xfrm>
          <a:prstGeom prst="rect">
            <a:avLst/>
          </a:prstGeom>
          <a:noFill/>
        </p:spPr>
        <p:txBody>
          <a:bodyPr wrap="square">
            <a:spAutoFit/>
          </a:bodyPr>
          <a:lstStyle/>
          <a:p>
            <a:pPr algn="l">
              <a:defRPr sz="1200" b="1" i="0">
                <a:solidFill>
                  <a:srgbClr val="1C1C1E"/>
                </a:solidFill>
                <a:latin typeface="Calibri"/>
              </a:defRPr>
            </a:pPr>
            <a:r>
              <a:t>4. Dealer waits</a:t>
            </a:r>
          </a:p>
        </p:txBody>
      </p:sp>
      <p:sp>
        <p:nvSpPr>
          <p:cNvPr id="18" name="TextBox 17"/>
          <p:cNvSpPr txBox="1"/>
          <p:nvPr/>
        </p:nvSpPr>
        <p:spPr>
          <a:xfrm>
            <a:off x="914400" y="5239511"/>
            <a:ext cx="4663440" cy="502920"/>
          </a:xfrm>
          <a:prstGeom prst="rect">
            <a:avLst/>
          </a:prstGeom>
          <a:noFill/>
        </p:spPr>
        <p:txBody>
          <a:bodyPr wrap="square">
            <a:spAutoFit/>
          </a:bodyPr>
          <a:lstStyle/>
          <a:p>
            <a:pPr algn="l">
              <a:defRPr sz="1000" b="0" i="0">
                <a:solidFill>
                  <a:srgbClr val="767676"/>
                </a:solidFill>
                <a:latin typeface="Calibri"/>
              </a:defRPr>
            </a:pPr>
            <a:r>
              <a:t>Average first response: ~4 hours.</a:t>
            </a:r>
            <a:br/>
            <a:r>
              <a:t>70% of questions follow the same patterns.</a:t>
            </a:r>
          </a:p>
        </p:txBody>
      </p:sp>
      <p:sp>
        <p:nvSpPr>
          <p:cNvPr id="19" name="TextBox 18"/>
          <p:cNvSpPr txBox="1"/>
          <p:nvPr/>
        </p:nvSpPr>
        <p:spPr>
          <a:xfrm>
            <a:off x="6217920" y="1371600"/>
            <a:ext cx="5029200" cy="274320"/>
          </a:xfrm>
          <a:prstGeom prst="rect">
            <a:avLst/>
          </a:prstGeom>
          <a:noFill/>
        </p:spPr>
        <p:txBody>
          <a:bodyPr wrap="square">
            <a:spAutoFit/>
          </a:bodyPr>
          <a:lstStyle/>
          <a:p>
            <a:pPr algn="l">
              <a:defRPr sz="1400" b="1" i="0">
                <a:solidFill>
                  <a:srgbClr val="2D5F8A"/>
                </a:solidFill>
                <a:latin typeface="Calibri"/>
              </a:defRPr>
            </a:pPr>
            <a:r>
              <a:t>WITH AI PILOT</a:t>
            </a:r>
          </a:p>
        </p:txBody>
      </p:sp>
      <p:sp>
        <p:nvSpPr>
          <p:cNvPr id="20" name="Rounded Rectangle 19"/>
          <p:cNvSpPr/>
          <p:nvPr/>
        </p:nvSpPr>
        <p:spPr>
          <a:xfrm>
            <a:off x="6217920" y="1737360"/>
            <a:ext cx="502920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00800" y="1810512"/>
            <a:ext cx="4663440" cy="228600"/>
          </a:xfrm>
          <a:prstGeom prst="rect">
            <a:avLst/>
          </a:prstGeom>
          <a:noFill/>
        </p:spPr>
        <p:txBody>
          <a:bodyPr wrap="square">
            <a:spAutoFit/>
          </a:bodyPr>
          <a:lstStyle/>
          <a:p>
            <a:pPr algn="l">
              <a:defRPr sz="1200" b="1" i="0">
                <a:solidFill>
                  <a:srgbClr val="1C1C1E"/>
                </a:solidFill>
                <a:latin typeface="Calibri"/>
              </a:defRPr>
            </a:pPr>
            <a:r>
              <a:t>1. Same question arrives</a:t>
            </a:r>
          </a:p>
        </p:txBody>
      </p:sp>
      <p:sp>
        <p:nvSpPr>
          <p:cNvPr id="22" name="TextBox 21"/>
          <p:cNvSpPr txBox="1"/>
          <p:nvPr/>
        </p:nvSpPr>
        <p:spPr>
          <a:xfrm>
            <a:off x="6400800" y="2084832"/>
            <a:ext cx="4663440" cy="502920"/>
          </a:xfrm>
          <a:prstGeom prst="rect">
            <a:avLst/>
          </a:prstGeom>
          <a:noFill/>
        </p:spPr>
        <p:txBody>
          <a:bodyPr wrap="square">
            <a:spAutoFit/>
          </a:bodyPr>
          <a:lstStyle/>
          <a:p>
            <a:pPr algn="l">
              <a:defRPr sz="1000" b="0" i="0">
                <a:solidFill>
                  <a:srgbClr val="767676"/>
                </a:solidFill>
                <a:latin typeface="Calibri"/>
              </a:defRPr>
            </a:pPr>
            <a:r>
              <a:t>Dealer submits via Zendesk. Nothing changes for them.</a:t>
            </a:r>
          </a:p>
        </p:txBody>
      </p:sp>
      <p:sp>
        <p:nvSpPr>
          <p:cNvPr id="23" name="Rounded Rectangle 22"/>
          <p:cNvSpPr/>
          <p:nvPr/>
        </p:nvSpPr>
        <p:spPr>
          <a:xfrm>
            <a:off x="6217920" y="2788920"/>
            <a:ext cx="502920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0" y="2862072"/>
            <a:ext cx="4663440" cy="228600"/>
          </a:xfrm>
          <a:prstGeom prst="rect">
            <a:avLst/>
          </a:prstGeom>
          <a:noFill/>
        </p:spPr>
        <p:txBody>
          <a:bodyPr wrap="square">
            <a:spAutoFit/>
          </a:bodyPr>
          <a:lstStyle/>
          <a:p>
            <a:pPr algn="l">
              <a:defRPr sz="1200" b="1" i="0">
                <a:solidFill>
                  <a:srgbClr val="1C1C1E"/>
                </a:solidFill>
                <a:latin typeface="Calibri"/>
              </a:defRPr>
            </a:pPr>
            <a:r>
              <a:t>2. AI searches approved docs instantly</a:t>
            </a:r>
          </a:p>
        </p:txBody>
      </p:sp>
      <p:sp>
        <p:nvSpPr>
          <p:cNvPr id="25" name="TextBox 24"/>
          <p:cNvSpPr txBox="1"/>
          <p:nvPr/>
        </p:nvSpPr>
        <p:spPr>
          <a:xfrm>
            <a:off x="6400800" y="3136392"/>
            <a:ext cx="4663440" cy="502920"/>
          </a:xfrm>
          <a:prstGeom prst="rect">
            <a:avLst/>
          </a:prstGeom>
          <a:noFill/>
        </p:spPr>
        <p:txBody>
          <a:bodyPr wrap="square">
            <a:spAutoFit/>
          </a:bodyPr>
          <a:lstStyle/>
          <a:p>
            <a:pPr algn="l">
              <a:defRPr sz="1000" b="0" i="0">
                <a:solidFill>
                  <a:srgbClr val="767676"/>
                </a:solidFill>
                <a:latin typeface="Calibri"/>
              </a:defRPr>
            </a:pPr>
            <a:r>
              <a:t>Amazon Kendra indexes SRAM's compatibility tables,</a:t>
            </a:r>
            <a:br/>
            <a:r>
              <a:t>firmware notes, and service bulletins.</a:t>
            </a:r>
          </a:p>
        </p:txBody>
      </p:sp>
      <p:sp>
        <p:nvSpPr>
          <p:cNvPr id="26" name="Rounded Rectangle 25"/>
          <p:cNvSpPr/>
          <p:nvPr/>
        </p:nvSpPr>
        <p:spPr>
          <a:xfrm>
            <a:off x="6217920" y="3840480"/>
            <a:ext cx="502920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00800" y="3913632"/>
            <a:ext cx="4663440" cy="228600"/>
          </a:xfrm>
          <a:prstGeom prst="rect">
            <a:avLst/>
          </a:prstGeom>
          <a:noFill/>
        </p:spPr>
        <p:txBody>
          <a:bodyPr wrap="square">
            <a:spAutoFit/>
          </a:bodyPr>
          <a:lstStyle/>
          <a:p>
            <a:pPr algn="l">
              <a:defRPr sz="1200" b="1" i="0">
                <a:solidFill>
                  <a:srgbClr val="1C1C1E"/>
                </a:solidFill>
                <a:latin typeface="Calibri"/>
              </a:defRPr>
            </a:pPr>
            <a:r>
              <a:t>3. AI drafts a response for the agent</a:t>
            </a:r>
          </a:p>
        </p:txBody>
      </p:sp>
      <p:sp>
        <p:nvSpPr>
          <p:cNvPr id="28" name="TextBox 27"/>
          <p:cNvSpPr txBox="1"/>
          <p:nvPr/>
        </p:nvSpPr>
        <p:spPr>
          <a:xfrm>
            <a:off x="6400800" y="4187952"/>
            <a:ext cx="4663440" cy="502920"/>
          </a:xfrm>
          <a:prstGeom prst="rect">
            <a:avLst/>
          </a:prstGeom>
          <a:noFill/>
        </p:spPr>
        <p:txBody>
          <a:bodyPr wrap="square">
            <a:spAutoFit/>
          </a:bodyPr>
          <a:lstStyle/>
          <a:p>
            <a:pPr algn="l">
              <a:defRPr sz="1000" b="0" i="0">
                <a:solidFill>
                  <a:srgbClr val="767676"/>
                </a:solidFill>
                <a:latin typeface="Calibri"/>
              </a:defRPr>
            </a:pPr>
            <a:r>
              <a:t>Amazon Bedrock generates an answer from the knowledge</a:t>
            </a:r>
            <a:br/>
            <a:r>
              <a:t>base. Agent reviews and edits before sending.</a:t>
            </a:r>
          </a:p>
        </p:txBody>
      </p:sp>
      <p:sp>
        <p:nvSpPr>
          <p:cNvPr id="29" name="Rounded Rectangle 28"/>
          <p:cNvSpPr/>
          <p:nvPr/>
        </p:nvSpPr>
        <p:spPr>
          <a:xfrm>
            <a:off x="6217920" y="4892039"/>
            <a:ext cx="5029200" cy="914400"/>
          </a:xfrm>
          <a:prstGeom prst="roundRect">
            <a:avLst>
              <a:gd name="adj" fmla="val 4000"/>
            </a:avLst>
          </a:prstGeom>
          <a:solidFill>
            <a:srgbClr val="FDF0F2"/>
          </a:solidFill>
          <a:ln w="12700">
            <a:solidFill>
              <a:srgbClr val="2D5F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400800" y="4965191"/>
            <a:ext cx="4663440" cy="228600"/>
          </a:xfrm>
          <a:prstGeom prst="rect">
            <a:avLst/>
          </a:prstGeom>
          <a:noFill/>
        </p:spPr>
        <p:txBody>
          <a:bodyPr wrap="square">
            <a:spAutoFit/>
          </a:bodyPr>
          <a:lstStyle/>
          <a:p>
            <a:pPr algn="l">
              <a:defRPr sz="1200" b="1" i="0">
                <a:solidFill>
                  <a:srgbClr val="1C1C1E"/>
                </a:solidFill>
                <a:latin typeface="Calibri"/>
              </a:defRPr>
            </a:pPr>
            <a:r>
              <a:t>4. Dealer gets a faster, verified answer</a:t>
            </a:r>
          </a:p>
        </p:txBody>
      </p:sp>
      <p:sp>
        <p:nvSpPr>
          <p:cNvPr id="31" name="TextBox 30"/>
          <p:cNvSpPr txBox="1"/>
          <p:nvPr/>
        </p:nvSpPr>
        <p:spPr>
          <a:xfrm>
            <a:off x="6400800" y="5239511"/>
            <a:ext cx="4663440" cy="502920"/>
          </a:xfrm>
          <a:prstGeom prst="rect">
            <a:avLst/>
          </a:prstGeom>
          <a:noFill/>
        </p:spPr>
        <p:txBody>
          <a:bodyPr wrap="square">
            <a:spAutoFit/>
          </a:bodyPr>
          <a:lstStyle/>
          <a:p>
            <a:pPr algn="l">
              <a:defRPr sz="1000" b="0" i="0">
                <a:solidFill>
                  <a:srgbClr val="767676"/>
                </a:solidFill>
                <a:latin typeface="Calibri"/>
              </a:defRPr>
            </a:pPr>
            <a:r>
              <a:t>Target first response: ~2.5 hours.</a:t>
            </a:r>
            <a:br/>
            <a:r>
              <a:t>Agent spends time on hard problems, not repetitive ones.</a:t>
            </a:r>
          </a:p>
        </p:txBody>
      </p:sp>
      <p:sp>
        <p:nvSpPr>
          <p:cNvPr id="32" name="Isosceles Triangle 31"/>
          <p:cNvSpPr/>
          <p:nvPr/>
        </p:nvSpPr>
        <p:spPr>
          <a:xfrm rot="5400000">
            <a:off x="5806440" y="3200400"/>
            <a:ext cx="320040" cy="32004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34" name="TextBox 33"/>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8</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SOLUTION</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AI drafts responses, humans approve them, nobody gets a wrong answer</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731520" y="1463040"/>
            <a:ext cx="352044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572768"/>
            <a:ext cx="3154680" cy="182880"/>
          </a:xfrm>
          <a:prstGeom prst="rect">
            <a:avLst/>
          </a:prstGeom>
          <a:noFill/>
        </p:spPr>
        <p:txBody>
          <a:bodyPr wrap="square">
            <a:spAutoFit/>
          </a:bodyPr>
          <a:lstStyle/>
          <a:p>
            <a:pPr algn="l">
              <a:defRPr sz="900" b="1" i="0">
                <a:solidFill>
                  <a:srgbClr val="2D5F8A"/>
                </a:solidFill>
                <a:latin typeface="Calibri"/>
              </a:defRPr>
            </a:pPr>
            <a:r>
              <a:t>SCOPE</a:t>
            </a:r>
          </a:p>
        </p:txBody>
      </p:sp>
      <p:sp>
        <p:nvSpPr>
          <p:cNvPr id="8" name="TextBox 7"/>
          <p:cNvSpPr txBox="1"/>
          <p:nvPr/>
        </p:nvSpPr>
        <p:spPr>
          <a:xfrm>
            <a:off x="914400" y="1828800"/>
            <a:ext cx="3154680" cy="320040"/>
          </a:xfrm>
          <a:prstGeom prst="rect">
            <a:avLst/>
          </a:prstGeom>
          <a:noFill/>
        </p:spPr>
        <p:txBody>
          <a:bodyPr wrap="square">
            <a:spAutoFit/>
          </a:bodyPr>
          <a:lstStyle/>
          <a:p>
            <a:pPr algn="l">
              <a:defRPr sz="1600" b="1" i="0">
                <a:solidFill>
                  <a:srgbClr val="1C1C1E"/>
                </a:solidFill>
                <a:latin typeface="Calibri"/>
              </a:defRPr>
            </a:pPr>
            <a:r>
              <a:t>AXS + Hammerhead only</a:t>
            </a:r>
          </a:p>
        </p:txBody>
      </p:sp>
      <p:sp>
        <p:nvSpPr>
          <p:cNvPr id="9" name="TextBox 8"/>
          <p:cNvSpPr txBox="1"/>
          <p:nvPr/>
        </p:nvSpPr>
        <p:spPr>
          <a:xfrm>
            <a:off x="914400" y="2331720"/>
            <a:ext cx="3154680" cy="731520"/>
          </a:xfrm>
          <a:prstGeom prst="rect">
            <a:avLst/>
          </a:prstGeom>
          <a:noFill/>
        </p:spPr>
        <p:txBody>
          <a:bodyPr wrap="square">
            <a:spAutoFit/>
          </a:bodyPr>
          <a:lstStyle/>
          <a:p>
            <a:pPr algn="l">
              <a:defRPr sz="1200" b="0" i="0">
                <a:solidFill>
                  <a:srgbClr val="3A3A3C"/>
                </a:solidFill>
                <a:latin typeface="Calibri"/>
              </a:defRPr>
            </a:pPr>
            <a:r>
              <a:t>Products where SRAM's documentation</a:t>
            </a:r>
            <a:br/>
            <a:r>
              <a:t>is complete and structured.</a:t>
            </a:r>
          </a:p>
        </p:txBody>
      </p:sp>
      <p:sp>
        <p:nvSpPr>
          <p:cNvPr id="10" name="Rounded Rectangle 9"/>
          <p:cNvSpPr/>
          <p:nvPr/>
        </p:nvSpPr>
        <p:spPr>
          <a:xfrm>
            <a:off x="4480559" y="1463040"/>
            <a:ext cx="352044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663439" y="1572768"/>
            <a:ext cx="3154680" cy="182880"/>
          </a:xfrm>
          <a:prstGeom prst="rect">
            <a:avLst/>
          </a:prstGeom>
          <a:noFill/>
        </p:spPr>
        <p:txBody>
          <a:bodyPr wrap="square">
            <a:spAutoFit/>
          </a:bodyPr>
          <a:lstStyle/>
          <a:p>
            <a:pPr algn="l">
              <a:defRPr sz="900" b="1" i="0">
                <a:solidFill>
                  <a:srgbClr val="2D5F8A"/>
                </a:solidFill>
                <a:latin typeface="Calibri"/>
              </a:defRPr>
            </a:pPr>
            <a:r>
              <a:t>GUARDRAIL</a:t>
            </a:r>
          </a:p>
        </p:txBody>
      </p:sp>
      <p:sp>
        <p:nvSpPr>
          <p:cNvPr id="12" name="TextBox 11"/>
          <p:cNvSpPr txBox="1"/>
          <p:nvPr/>
        </p:nvSpPr>
        <p:spPr>
          <a:xfrm>
            <a:off x="4663439" y="1828800"/>
            <a:ext cx="3154680" cy="320040"/>
          </a:xfrm>
          <a:prstGeom prst="rect">
            <a:avLst/>
          </a:prstGeom>
          <a:noFill/>
        </p:spPr>
        <p:txBody>
          <a:bodyPr wrap="square">
            <a:spAutoFit/>
          </a:bodyPr>
          <a:lstStyle/>
          <a:p>
            <a:pPr algn="l">
              <a:defRPr sz="1600" b="1" i="0">
                <a:solidFill>
                  <a:srgbClr val="1C1C1E"/>
                </a:solidFill>
                <a:latin typeface="Calibri"/>
              </a:defRPr>
            </a:pPr>
            <a:r>
              <a:t>Human approves every response</a:t>
            </a:r>
          </a:p>
        </p:txBody>
      </p:sp>
      <p:sp>
        <p:nvSpPr>
          <p:cNvPr id="13" name="TextBox 12"/>
          <p:cNvSpPr txBox="1"/>
          <p:nvPr/>
        </p:nvSpPr>
        <p:spPr>
          <a:xfrm>
            <a:off x="4663439" y="2331720"/>
            <a:ext cx="3154680" cy="731520"/>
          </a:xfrm>
          <a:prstGeom prst="rect">
            <a:avLst/>
          </a:prstGeom>
          <a:noFill/>
        </p:spPr>
        <p:txBody>
          <a:bodyPr wrap="square">
            <a:spAutoFit/>
          </a:bodyPr>
          <a:lstStyle/>
          <a:p>
            <a:pPr algn="l">
              <a:defRPr sz="1200" b="0" i="0">
                <a:solidFill>
                  <a:srgbClr val="3A3A3C"/>
                </a:solidFill>
                <a:latin typeface="Calibri"/>
              </a:defRPr>
            </a:pPr>
            <a:r>
              <a:t>No AI answer reaches a dealer without</a:t>
            </a:r>
            <a:br/>
            <a:r>
              <a:t>an agent reviewing and sending it.</a:t>
            </a:r>
          </a:p>
        </p:txBody>
      </p:sp>
      <p:sp>
        <p:nvSpPr>
          <p:cNvPr id="14" name="Rounded Rectangle 13"/>
          <p:cNvSpPr/>
          <p:nvPr/>
        </p:nvSpPr>
        <p:spPr>
          <a:xfrm>
            <a:off x="8229599" y="1463040"/>
            <a:ext cx="352044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412479" y="1572768"/>
            <a:ext cx="3154680" cy="182880"/>
          </a:xfrm>
          <a:prstGeom prst="rect">
            <a:avLst/>
          </a:prstGeom>
          <a:noFill/>
        </p:spPr>
        <p:txBody>
          <a:bodyPr wrap="square">
            <a:spAutoFit/>
          </a:bodyPr>
          <a:lstStyle/>
          <a:p>
            <a:pPr algn="l">
              <a:defRPr sz="900" b="1" i="0">
                <a:solidFill>
                  <a:srgbClr val="2D5F8A"/>
                </a:solidFill>
                <a:latin typeface="Calibri"/>
              </a:defRPr>
            </a:pPr>
            <a:r>
              <a:t>KILL SWITCH</a:t>
            </a:r>
          </a:p>
        </p:txBody>
      </p:sp>
      <p:sp>
        <p:nvSpPr>
          <p:cNvPr id="16" name="TextBox 15"/>
          <p:cNvSpPr txBox="1"/>
          <p:nvPr/>
        </p:nvSpPr>
        <p:spPr>
          <a:xfrm>
            <a:off x="8412479" y="1828800"/>
            <a:ext cx="3154680" cy="320040"/>
          </a:xfrm>
          <a:prstGeom prst="rect">
            <a:avLst/>
          </a:prstGeom>
          <a:noFill/>
        </p:spPr>
        <p:txBody>
          <a:bodyPr wrap="square">
            <a:spAutoFit/>
          </a:bodyPr>
          <a:lstStyle/>
          <a:p>
            <a:pPr algn="l">
              <a:defRPr sz="1600" b="1" i="0">
                <a:solidFill>
                  <a:srgbClr val="1C1C1E"/>
                </a:solidFill>
                <a:latin typeface="Calibri"/>
              </a:defRPr>
            </a:pPr>
            <a:r>
              <a:t>Weekly quality review</a:t>
            </a:r>
          </a:p>
        </p:txBody>
      </p:sp>
      <p:sp>
        <p:nvSpPr>
          <p:cNvPr id="17" name="TextBox 16"/>
          <p:cNvSpPr txBox="1"/>
          <p:nvPr/>
        </p:nvSpPr>
        <p:spPr>
          <a:xfrm>
            <a:off x="8412479" y="2331720"/>
            <a:ext cx="3154680" cy="731520"/>
          </a:xfrm>
          <a:prstGeom prst="rect">
            <a:avLst/>
          </a:prstGeom>
          <a:noFill/>
        </p:spPr>
        <p:txBody>
          <a:bodyPr wrap="square">
            <a:spAutoFit/>
          </a:bodyPr>
          <a:lstStyle/>
          <a:p>
            <a:pPr algn="l">
              <a:defRPr sz="1200" b="0" i="0">
                <a:solidFill>
                  <a:srgbClr val="3A3A3C"/>
                </a:solidFill>
                <a:latin typeface="Calibri"/>
              </a:defRPr>
            </a:pPr>
            <a:r>
              <a:t>2 weeks of quality decline, any safety</a:t>
            </a:r>
            <a:br/>
            <a:r>
              <a:t>error, or 15% dealer opt-out stops the pilot.</a:t>
            </a:r>
          </a:p>
        </p:txBody>
      </p:sp>
      <p:sp>
        <p:nvSpPr>
          <p:cNvPr id="18" name="Rounded Rectangle 17"/>
          <p:cNvSpPr/>
          <p:nvPr/>
        </p:nvSpPr>
        <p:spPr>
          <a:xfrm>
            <a:off x="731520" y="4206240"/>
            <a:ext cx="1078992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31520" y="4206240"/>
            <a:ext cx="50800" cy="77724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51560" y="4297680"/>
            <a:ext cx="10241280" cy="411480"/>
          </a:xfrm>
          <a:prstGeom prst="rect">
            <a:avLst/>
          </a:prstGeom>
          <a:noFill/>
        </p:spPr>
        <p:txBody>
          <a:bodyPr wrap="square">
            <a:spAutoFit/>
          </a:bodyPr>
          <a:lstStyle/>
          <a:p>
            <a:pPr algn="l">
              <a:defRPr sz="1200" b="0" i="1">
                <a:solidFill>
                  <a:srgbClr val="3A3A3C"/>
                </a:solidFill>
                <a:latin typeface="Calibri"/>
              </a:defRPr>
            </a:pPr>
            <a:r>
              <a:t>“If it doesn't hit the metric, you shut it down, you learn from it, and you redeploy the resources. That discipline is what separates companies that build real AI capability from companies that accumulate AI debt.”</a:t>
            </a:r>
          </a:p>
        </p:txBody>
      </p:sp>
      <p:sp>
        <p:nvSpPr>
          <p:cNvPr id="21" name="TextBox 20"/>
          <p:cNvSpPr txBox="1"/>
          <p:nvPr/>
        </p:nvSpPr>
        <p:spPr>
          <a:xfrm>
            <a:off x="1051560" y="4709160"/>
            <a:ext cx="10241280" cy="228600"/>
          </a:xfrm>
          <a:prstGeom prst="rect">
            <a:avLst/>
          </a:prstGeom>
          <a:noFill/>
        </p:spPr>
        <p:txBody>
          <a:bodyPr wrap="square">
            <a:spAutoFit/>
          </a:bodyPr>
          <a:lstStyle/>
          <a:p>
            <a:pPr algn="l">
              <a:defRPr sz="1000" b="1" i="0">
                <a:solidFill>
                  <a:srgbClr val="767676"/>
                </a:solidFill>
                <a:latin typeface="Calibri"/>
              </a:defRPr>
            </a:pPr>
            <a:r>
              <a:t>Clint Weber, VP Global Sales &amp; Manufacturing, SRAM</a:t>
            </a:r>
          </a:p>
        </p:txBody>
      </p:sp>
      <p:sp>
        <p:nvSpPr>
          <p:cNvPr id="22" name="TextBox 21"/>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3" name="TextBox 22"/>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8</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GOALS</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Five SMART goals define success at the Day-90 go/no-go gate</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Weber set the bar: a 30% reduction in handle time on AXS support tickets with dealer satisfaction scores holding flat or improving.</a:t>
            </a:r>
          </a:p>
        </p:txBody>
      </p:sp>
      <p:sp>
        <p:nvSpPr>
          <p:cNvPr id="7" name="Rounded Rectangle 6"/>
          <p:cNvSpPr/>
          <p:nvPr/>
        </p:nvSpPr>
        <p:spPr>
          <a:xfrm>
            <a:off x="731520" y="1783080"/>
            <a:ext cx="10698480" cy="6858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005840" y="193852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defRPr>
            </a:pPr>
            <a:r>
              <a:t>G1</a:t>
            </a:r>
          </a:p>
        </p:txBody>
      </p:sp>
      <p:sp>
        <p:nvSpPr>
          <p:cNvPr id="9" name="TextBox 8"/>
          <p:cNvSpPr txBox="1"/>
          <p:nvPr/>
        </p:nvSpPr>
        <p:spPr>
          <a:xfrm>
            <a:off x="1737360" y="1901952"/>
            <a:ext cx="5029200" cy="365760"/>
          </a:xfrm>
          <a:prstGeom prst="rect">
            <a:avLst/>
          </a:prstGeom>
          <a:noFill/>
        </p:spPr>
        <p:txBody>
          <a:bodyPr wrap="square">
            <a:spAutoFit/>
          </a:bodyPr>
          <a:lstStyle/>
          <a:p>
            <a:pPr algn="l">
              <a:defRPr sz="1600" b="1" i="0">
                <a:solidFill>
                  <a:srgbClr val="1C1C1E"/>
                </a:solidFill>
                <a:latin typeface="Calibri"/>
              </a:defRPr>
            </a:pPr>
            <a:r>
              <a:t>Cut first-response time</a:t>
            </a:r>
          </a:p>
        </p:txBody>
      </p:sp>
      <p:sp>
        <p:nvSpPr>
          <p:cNvPr id="10" name="TextBox 9"/>
          <p:cNvSpPr txBox="1"/>
          <p:nvPr/>
        </p:nvSpPr>
        <p:spPr>
          <a:xfrm>
            <a:off x="6858000" y="1874520"/>
            <a:ext cx="1828800" cy="411480"/>
          </a:xfrm>
          <a:prstGeom prst="rect">
            <a:avLst/>
          </a:prstGeom>
          <a:noFill/>
        </p:spPr>
        <p:txBody>
          <a:bodyPr wrap="square">
            <a:spAutoFit/>
          </a:bodyPr>
          <a:lstStyle/>
          <a:p>
            <a:pPr algn="l">
              <a:defRPr sz="2200" b="1" i="0">
                <a:solidFill>
                  <a:srgbClr val="E51937"/>
                </a:solidFill>
                <a:latin typeface="Calibri"/>
              </a:defRPr>
            </a:pPr>
            <a:r>
              <a:t>-40%</a:t>
            </a:r>
          </a:p>
        </p:txBody>
      </p:sp>
      <p:sp>
        <p:nvSpPr>
          <p:cNvPr id="11" name="TextBox 10"/>
          <p:cNvSpPr txBox="1"/>
          <p:nvPr/>
        </p:nvSpPr>
        <p:spPr>
          <a:xfrm>
            <a:off x="8686800" y="1965960"/>
            <a:ext cx="2743200" cy="320040"/>
          </a:xfrm>
          <a:prstGeom prst="rect">
            <a:avLst/>
          </a:prstGeom>
          <a:noFill/>
        </p:spPr>
        <p:txBody>
          <a:bodyPr wrap="square">
            <a:spAutoFit/>
          </a:bodyPr>
          <a:lstStyle/>
          <a:p>
            <a:pPr algn="l">
              <a:defRPr sz="1100" b="0" i="0">
                <a:solidFill>
                  <a:srgbClr val="767676"/>
                </a:solidFill>
                <a:latin typeface="Calibri"/>
              </a:defRPr>
            </a:pPr>
            <a:r>
              <a:t>Measured weekly vs. SLA baseline</a:t>
            </a:r>
          </a:p>
        </p:txBody>
      </p:sp>
      <p:sp>
        <p:nvSpPr>
          <p:cNvPr id="12" name="TextBox 11"/>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13" name="TextBox 12"/>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9</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GOALS</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Five SMART goals define success at the Day-90 go/no-go gate</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Weber set the bar: a 30% reduction in handle time on AXS support tickets with dealer satisfaction scores holding flat or improving.</a:t>
            </a:r>
          </a:p>
        </p:txBody>
      </p:sp>
      <p:sp>
        <p:nvSpPr>
          <p:cNvPr id="7" name="Rounded Rectangle 6"/>
          <p:cNvSpPr/>
          <p:nvPr/>
        </p:nvSpPr>
        <p:spPr>
          <a:xfrm>
            <a:off x="731520" y="1783080"/>
            <a:ext cx="10698480" cy="6858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005840" y="193852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defRPr>
            </a:pPr>
            <a:r>
              <a:t>G1</a:t>
            </a:r>
          </a:p>
        </p:txBody>
      </p:sp>
      <p:sp>
        <p:nvSpPr>
          <p:cNvPr id="9" name="TextBox 8"/>
          <p:cNvSpPr txBox="1"/>
          <p:nvPr/>
        </p:nvSpPr>
        <p:spPr>
          <a:xfrm>
            <a:off x="1737360" y="1901952"/>
            <a:ext cx="5029200" cy="365760"/>
          </a:xfrm>
          <a:prstGeom prst="rect">
            <a:avLst/>
          </a:prstGeom>
          <a:noFill/>
        </p:spPr>
        <p:txBody>
          <a:bodyPr wrap="square">
            <a:spAutoFit/>
          </a:bodyPr>
          <a:lstStyle/>
          <a:p>
            <a:pPr algn="l">
              <a:defRPr sz="1600" b="1" i="0">
                <a:solidFill>
                  <a:srgbClr val="1C1C1E"/>
                </a:solidFill>
                <a:latin typeface="Calibri"/>
              </a:defRPr>
            </a:pPr>
            <a:r>
              <a:t>Cut first-response time</a:t>
            </a:r>
          </a:p>
        </p:txBody>
      </p:sp>
      <p:sp>
        <p:nvSpPr>
          <p:cNvPr id="10" name="TextBox 9"/>
          <p:cNvSpPr txBox="1"/>
          <p:nvPr/>
        </p:nvSpPr>
        <p:spPr>
          <a:xfrm>
            <a:off x="6858000" y="1874520"/>
            <a:ext cx="1828800" cy="411480"/>
          </a:xfrm>
          <a:prstGeom prst="rect">
            <a:avLst/>
          </a:prstGeom>
          <a:noFill/>
        </p:spPr>
        <p:txBody>
          <a:bodyPr wrap="square">
            <a:spAutoFit/>
          </a:bodyPr>
          <a:lstStyle/>
          <a:p>
            <a:pPr algn="l">
              <a:defRPr sz="2200" b="1" i="0">
                <a:solidFill>
                  <a:srgbClr val="E51937"/>
                </a:solidFill>
                <a:latin typeface="Calibri"/>
              </a:defRPr>
            </a:pPr>
            <a:r>
              <a:t>-40%</a:t>
            </a:r>
          </a:p>
        </p:txBody>
      </p:sp>
      <p:sp>
        <p:nvSpPr>
          <p:cNvPr id="11" name="TextBox 10"/>
          <p:cNvSpPr txBox="1"/>
          <p:nvPr/>
        </p:nvSpPr>
        <p:spPr>
          <a:xfrm>
            <a:off x="8686800" y="1965960"/>
            <a:ext cx="2743200" cy="320040"/>
          </a:xfrm>
          <a:prstGeom prst="rect">
            <a:avLst/>
          </a:prstGeom>
          <a:noFill/>
        </p:spPr>
        <p:txBody>
          <a:bodyPr wrap="square">
            <a:spAutoFit/>
          </a:bodyPr>
          <a:lstStyle/>
          <a:p>
            <a:pPr algn="l">
              <a:defRPr sz="1100" b="0" i="0">
                <a:solidFill>
                  <a:srgbClr val="767676"/>
                </a:solidFill>
                <a:latin typeface="Calibri"/>
              </a:defRPr>
            </a:pPr>
            <a:r>
              <a:t>Measured weekly vs. SLA baseline</a:t>
            </a:r>
          </a:p>
        </p:txBody>
      </p:sp>
      <p:sp>
        <p:nvSpPr>
          <p:cNvPr id="12" name="Rounded Rectangle 11"/>
          <p:cNvSpPr/>
          <p:nvPr/>
        </p:nvSpPr>
        <p:spPr>
          <a:xfrm>
            <a:off x="1005840" y="271576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defRPr>
            </a:pPr>
            <a:r>
              <a:t>G2</a:t>
            </a:r>
          </a:p>
        </p:txBody>
      </p:sp>
      <p:sp>
        <p:nvSpPr>
          <p:cNvPr id="13" name="TextBox 12"/>
          <p:cNvSpPr txBox="1"/>
          <p:nvPr/>
        </p:nvSpPr>
        <p:spPr>
          <a:xfrm>
            <a:off x="1737360" y="2679192"/>
            <a:ext cx="5029200" cy="365760"/>
          </a:xfrm>
          <a:prstGeom prst="rect">
            <a:avLst/>
          </a:prstGeom>
          <a:noFill/>
        </p:spPr>
        <p:txBody>
          <a:bodyPr wrap="square">
            <a:spAutoFit/>
          </a:bodyPr>
          <a:lstStyle/>
          <a:p>
            <a:pPr algn="l">
              <a:defRPr sz="1600" b="1" i="0">
                <a:solidFill>
                  <a:srgbClr val="1C1C1E"/>
                </a:solidFill>
                <a:latin typeface="Calibri"/>
              </a:defRPr>
            </a:pPr>
            <a:r>
              <a:t>Resolve more tickets without escalation</a:t>
            </a:r>
          </a:p>
        </p:txBody>
      </p:sp>
      <p:sp>
        <p:nvSpPr>
          <p:cNvPr id="14" name="TextBox 13"/>
          <p:cNvSpPr txBox="1"/>
          <p:nvPr/>
        </p:nvSpPr>
        <p:spPr>
          <a:xfrm>
            <a:off x="6858000" y="2651760"/>
            <a:ext cx="1828800" cy="411480"/>
          </a:xfrm>
          <a:prstGeom prst="rect">
            <a:avLst/>
          </a:prstGeom>
          <a:noFill/>
        </p:spPr>
        <p:txBody>
          <a:bodyPr wrap="square">
            <a:spAutoFit/>
          </a:bodyPr>
          <a:lstStyle/>
          <a:p>
            <a:pPr algn="l">
              <a:defRPr sz="2200" b="1" i="0">
                <a:solidFill>
                  <a:srgbClr val="E51937"/>
                </a:solidFill>
                <a:latin typeface="Calibri"/>
              </a:defRPr>
            </a:pPr>
            <a:r>
              <a:t>+15 pts</a:t>
            </a:r>
          </a:p>
        </p:txBody>
      </p:sp>
      <p:sp>
        <p:nvSpPr>
          <p:cNvPr id="15" name="TextBox 14"/>
          <p:cNvSpPr txBox="1"/>
          <p:nvPr/>
        </p:nvSpPr>
        <p:spPr>
          <a:xfrm>
            <a:off x="8686800" y="2743200"/>
            <a:ext cx="2743200" cy="320040"/>
          </a:xfrm>
          <a:prstGeom prst="rect">
            <a:avLst/>
          </a:prstGeom>
          <a:noFill/>
        </p:spPr>
        <p:txBody>
          <a:bodyPr wrap="square">
            <a:spAutoFit/>
          </a:bodyPr>
          <a:lstStyle/>
          <a:p>
            <a:pPr algn="l">
              <a:defRPr sz="1100" b="0" i="0">
                <a:solidFill>
                  <a:srgbClr val="767676"/>
                </a:solidFill>
                <a:latin typeface="Calibri"/>
              </a:defRPr>
            </a:pPr>
            <a:r>
              <a:t>Measured weekly vs. current rate</a:t>
            </a:r>
          </a:p>
        </p:txBody>
      </p:sp>
      <p:sp>
        <p:nvSpPr>
          <p:cNvPr id="16" name="TextBox 15"/>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17" name="TextBox 16"/>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9</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GOALS</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Five SMART goals define success at the Day-90 go/no-go gate</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Weber set the bar: a 30% reduction in handle time on AXS support tickets with dealer satisfaction scores holding flat or improving.</a:t>
            </a:r>
          </a:p>
        </p:txBody>
      </p:sp>
      <p:sp>
        <p:nvSpPr>
          <p:cNvPr id="7" name="Rounded Rectangle 6"/>
          <p:cNvSpPr/>
          <p:nvPr/>
        </p:nvSpPr>
        <p:spPr>
          <a:xfrm>
            <a:off x="731520" y="1783080"/>
            <a:ext cx="10698480" cy="6858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005840" y="193852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defRPr>
            </a:pPr>
            <a:r>
              <a:t>G1</a:t>
            </a:r>
          </a:p>
        </p:txBody>
      </p:sp>
      <p:sp>
        <p:nvSpPr>
          <p:cNvPr id="9" name="TextBox 8"/>
          <p:cNvSpPr txBox="1"/>
          <p:nvPr/>
        </p:nvSpPr>
        <p:spPr>
          <a:xfrm>
            <a:off x="1737360" y="1901952"/>
            <a:ext cx="5029200" cy="365760"/>
          </a:xfrm>
          <a:prstGeom prst="rect">
            <a:avLst/>
          </a:prstGeom>
          <a:noFill/>
        </p:spPr>
        <p:txBody>
          <a:bodyPr wrap="square">
            <a:spAutoFit/>
          </a:bodyPr>
          <a:lstStyle/>
          <a:p>
            <a:pPr algn="l">
              <a:defRPr sz="1600" b="1" i="0">
                <a:solidFill>
                  <a:srgbClr val="1C1C1E"/>
                </a:solidFill>
                <a:latin typeface="Calibri"/>
              </a:defRPr>
            </a:pPr>
            <a:r>
              <a:t>Cut first-response time</a:t>
            </a:r>
          </a:p>
        </p:txBody>
      </p:sp>
      <p:sp>
        <p:nvSpPr>
          <p:cNvPr id="10" name="TextBox 9"/>
          <p:cNvSpPr txBox="1"/>
          <p:nvPr/>
        </p:nvSpPr>
        <p:spPr>
          <a:xfrm>
            <a:off x="6858000" y="1874520"/>
            <a:ext cx="1828800" cy="411480"/>
          </a:xfrm>
          <a:prstGeom prst="rect">
            <a:avLst/>
          </a:prstGeom>
          <a:noFill/>
        </p:spPr>
        <p:txBody>
          <a:bodyPr wrap="square">
            <a:spAutoFit/>
          </a:bodyPr>
          <a:lstStyle/>
          <a:p>
            <a:pPr algn="l">
              <a:defRPr sz="2200" b="1" i="0">
                <a:solidFill>
                  <a:srgbClr val="E51937"/>
                </a:solidFill>
                <a:latin typeface="Calibri"/>
              </a:defRPr>
            </a:pPr>
            <a:r>
              <a:t>-40%</a:t>
            </a:r>
          </a:p>
        </p:txBody>
      </p:sp>
      <p:sp>
        <p:nvSpPr>
          <p:cNvPr id="11" name="TextBox 10"/>
          <p:cNvSpPr txBox="1"/>
          <p:nvPr/>
        </p:nvSpPr>
        <p:spPr>
          <a:xfrm>
            <a:off x="8686800" y="1965960"/>
            <a:ext cx="2743200" cy="320040"/>
          </a:xfrm>
          <a:prstGeom prst="rect">
            <a:avLst/>
          </a:prstGeom>
          <a:noFill/>
        </p:spPr>
        <p:txBody>
          <a:bodyPr wrap="square">
            <a:spAutoFit/>
          </a:bodyPr>
          <a:lstStyle/>
          <a:p>
            <a:pPr algn="l">
              <a:defRPr sz="1100" b="0" i="0">
                <a:solidFill>
                  <a:srgbClr val="767676"/>
                </a:solidFill>
                <a:latin typeface="Calibri"/>
              </a:defRPr>
            </a:pPr>
            <a:r>
              <a:t>Measured weekly vs. SLA baseline</a:t>
            </a:r>
          </a:p>
        </p:txBody>
      </p:sp>
      <p:sp>
        <p:nvSpPr>
          <p:cNvPr id="12" name="Rounded Rectangle 11"/>
          <p:cNvSpPr/>
          <p:nvPr/>
        </p:nvSpPr>
        <p:spPr>
          <a:xfrm>
            <a:off x="1005840" y="271576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defRPr>
            </a:pPr>
            <a:r>
              <a:t>G2</a:t>
            </a:r>
          </a:p>
        </p:txBody>
      </p:sp>
      <p:sp>
        <p:nvSpPr>
          <p:cNvPr id="13" name="TextBox 12"/>
          <p:cNvSpPr txBox="1"/>
          <p:nvPr/>
        </p:nvSpPr>
        <p:spPr>
          <a:xfrm>
            <a:off x="1737360" y="2679192"/>
            <a:ext cx="5029200" cy="365760"/>
          </a:xfrm>
          <a:prstGeom prst="rect">
            <a:avLst/>
          </a:prstGeom>
          <a:noFill/>
        </p:spPr>
        <p:txBody>
          <a:bodyPr wrap="square">
            <a:spAutoFit/>
          </a:bodyPr>
          <a:lstStyle/>
          <a:p>
            <a:pPr algn="l">
              <a:defRPr sz="1600" b="1" i="0">
                <a:solidFill>
                  <a:srgbClr val="1C1C1E"/>
                </a:solidFill>
                <a:latin typeface="Calibri"/>
              </a:defRPr>
            </a:pPr>
            <a:r>
              <a:t>Resolve more tickets without escalation</a:t>
            </a:r>
          </a:p>
        </p:txBody>
      </p:sp>
      <p:sp>
        <p:nvSpPr>
          <p:cNvPr id="14" name="TextBox 13"/>
          <p:cNvSpPr txBox="1"/>
          <p:nvPr/>
        </p:nvSpPr>
        <p:spPr>
          <a:xfrm>
            <a:off x="6858000" y="2651760"/>
            <a:ext cx="1828800" cy="411480"/>
          </a:xfrm>
          <a:prstGeom prst="rect">
            <a:avLst/>
          </a:prstGeom>
          <a:noFill/>
        </p:spPr>
        <p:txBody>
          <a:bodyPr wrap="square">
            <a:spAutoFit/>
          </a:bodyPr>
          <a:lstStyle/>
          <a:p>
            <a:pPr algn="l">
              <a:defRPr sz="2200" b="1" i="0">
                <a:solidFill>
                  <a:srgbClr val="E51937"/>
                </a:solidFill>
                <a:latin typeface="Calibri"/>
              </a:defRPr>
            </a:pPr>
            <a:r>
              <a:t>+15 pts</a:t>
            </a:r>
          </a:p>
        </p:txBody>
      </p:sp>
      <p:sp>
        <p:nvSpPr>
          <p:cNvPr id="15" name="TextBox 14"/>
          <p:cNvSpPr txBox="1"/>
          <p:nvPr/>
        </p:nvSpPr>
        <p:spPr>
          <a:xfrm>
            <a:off x="8686800" y="2743200"/>
            <a:ext cx="2743200" cy="320040"/>
          </a:xfrm>
          <a:prstGeom prst="rect">
            <a:avLst/>
          </a:prstGeom>
          <a:noFill/>
        </p:spPr>
        <p:txBody>
          <a:bodyPr wrap="square">
            <a:spAutoFit/>
          </a:bodyPr>
          <a:lstStyle/>
          <a:p>
            <a:pPr algn="l">
              <a:defRPr sz="1100" b="0" i="0">
                <a:solidFill>
                  <a:srgbClr val="767676"/>
                </a:solidFill>
                <a:latin typeface="Calibri"/>
              </a:defRPr>
            </a:pPr>
            <a:r>
              <a:t>Measured weekly vs. current rate</a:t>
            </a:r>
          </a:p>
        </p:txBody>
      </p:sp>
      <p:sp>
        <p:nvSpPr>
          <p:cNvPr id="16" name="Rounded Rectangle 15"/>
          <p:cNvSpPr/>
          <p:nvPr/>
        </p:nvSpPr>
        <p:spPr>
          <a:xfrm>
            <a:off x="731520" y="3337560"/>
            <a:ext cx="10698480" cy="6858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1005840" y="349300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defRPr>
            </a:pPr>
            <a:r>
              <a:t>G3</a:t>
            </a:r>
          </a:p>
        </p:txBody>
      </p:sp>
      <p:sp>
        <p:nvSpPr>
          <p:cNvPr id="18" name="TextBox 17"/>
          <p:cNvSpPr txBox="1"/>
          <p:nvPr/>
        </p:nvSpPr>
        <p:spPr>
          <a:xfrm>
            <a:off x="1737360" y="3456432"/>
            <a:ext cx="5029200" cy="365760"/>
          </a:xfrm>
          <a:prstGeom prst="rect">
            <a:avLst/>
          </a:prstGeom>
          <a:noFill/>
        </p:spPr>
        <p:txBody>
          <a:bodyPr wrap="square">
            <a:spAutoFit/>
          </a:bodyPr>
          <a:lstStyle/>
          <a:p>
            <a:pPr algn="l">
              <a:defRPr sz="1600" b="1" i="0">
                <a:solidFill>
                  <a:srgbClr val="1C1C1E"/>
                </a:solidFill>
                <a:latin typeface="Calibri"/>
              </a:defRPr>
            </a:pPr>
            <a:r>
              <a:t>AI draft acceptance rate</a:t>
            </a:r>
          </a:p>
        </p:txBody>
      </p:sp>
      <p:sp>
        <p:nvSpPr>
          <p:cNvPr id="19" name="TextBox 18"/>
          <p:cNvSpPr txBox="1"/>
          <p:nvPr/>
        </p:nvSpPr>
        <p:spPr>
          <a:xfrm>
            <a:off x="6858000" y="3429000"/>
            <a:ext cx="1828800" cy="411480"/>
          </a:xfrm>
          <a:prstGeom prst="rect">
            <a:avLst/>
          </a:prstGeom>
          <a:noFill/>
        </p:spPr>
        <p:txBody>
          <a:bodyPr wrap="square">
            <a:spAutoFit/>
          </a:bodyPr>
          <a:lstStyle/>
          <a:p>
            <a:pPr algn="l">
              <a:defRPr sz="2200" b="1" i="0">
                <a:solidFill>
                  <a:srgbClr val="E51937"/>
                </a:solidFill>
                <a:latin typeface="Calibri"/>
              </a:defRPr>
            </a:pPr>
            <a:r>
              <a:t>&gt;70%</a:t>
            </a:r>
          </a:p>
        </p:txBody>
      </p:sp>
      <p:sp>
        <p:nvSpPr>
          <p:cNvPr id="20" name="TextBox 19"/>
          <p:cNvSpPr txBox="1"/>
          <p:nvPr/>
        </p:nvSpPr>
        <p:spPr>
          <a:xfrm>
            <a:off x="8686800" y="3520440"/>
            <a:ext cx="2743200" cy="320040"/>
          </a:xfrm>
          <a:prstGeom prst="rect">
            <a:avLst/>
          </a:prstGeom>
          <a:noFill/>
        </p:spPr>
        <p:txBody>
          <a:bodyPr wrap="square">
            <a:spAutoFit/>
          </a:bodyPr>
          <a:lstStyle/>
          <a:p>
            <a:pPr algn="l">
              <a:defRPr sz="1100" b="0" i="0">
                <a:solidFill>
                  <a:srgbClr val="767676"/>
                </a:solidFill>
                <a:latin typeface="Calibri"/>
              </a:defRPr>
            </a:pPr>
            <a:r>
              <a:t>Below 50% at day 45 triggers scope review</a:t>
            </a:r>
          </a:p>
        </p:txBody>
      </p:sp>
      <p:sp>
        <p:nvSpPr>
          <p:cNvPr id="21" name="TextBox 20"/>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2" name="TextBox 21"/>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9</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GOALS</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Five SMART goals define success at the Day-90 go/no-go gate</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Weber set the bar: a 30% reduction in handle time on AXS support tickets with dealer satisfaction scores holding flat or improving.</a:t>
            </a:r>
          </a:p>
        </p:txBody>
      </p:sp>
      <p:sp>
        <p:nvSpPr>
          <p:cNvPr id="7" name="Rounded Rectangle 6"/>
          <p:cNvSpPr/>
          <p:nvPr/>
        </p:nvSpPr>
        <p:spPr>
          <a:xfrm>
            <a:off x="731520" y="1783080"/>
            <a:ext cx="10698480" cy="6858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005840" y="193852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defRPr>
            </a:pPr>
            <a:r>
              <a:t>G1</a:t>
            </a:r>
          </a:p>
        </p:txBody>
      </p:sp>
      <p:sp>
        <p:nvSpPr>
          <p:cNvPr id="9" name="TextBox 8"/>
          <p:cNvSpPr txBox="1"/>
          <p:nvPr/>
        </p:nvSpPr>
        <p:spPr>
          <a:xfrm>
            <a:off x="1737360" y="1901952"/>
            <a:ext cx="5029200" cy="365760"/>
          </a:xfrm>
          <a:prstGeom prst="rect">
            <a:avLst/>
          </a:prstGeom>
          <a:noFill/>
        </p:spPr>
        <p:txBody>
          <a:bodyPr wrap="square">
            <a:spAutoFit/>
          </a:bodyPr>
          <a:lstStyle/>
          <a:p>
            <a:pPr algn="l">
              <a:defRPr sz="1600" b="1" i="0">
                <a:solidFill>
                  <a:srgbClr val="1C1C1E"/>
                </a:solidFill>
                <a:latin typeface="Calibri"/>
              </a:defRPr>
            </a:pPr>
            <a:r>
              <a:t>Cut first-response time</a:t>
            </a:r>
          </a:p>
        </p:txBody>
      </p:sp>
      <p:sp>
        <p:nvSpPr>
          <p:cNvPr id="10" name="TextBox 9"/>
          <p:cNvSpPr txBox="1"/>
          <p:nvPr/>
        </p:nvSpPr>
        <p:spPr>
          <a:xfrm>
            <a:off x="6858000" y="1874520"/>
            <a:ext cx="1828800" cy="411480"/>
          </a:xfrm>
          <a:prstGeom prst="rect">
            <a:avLst/>
          </a:prstGeom>
          <a:noFill/>
        </p:spPr>
        <p:txBody>
          <a:bodyPr wrap="square">
            <a:spAutoFit/>
          </a:bodyPr>
          <a:lstStyle/>
          <a:p>
            <a:pPr algn="l">
              <a:defRPr sz="2200" b="1" i="0">
                <a:solidFill>
                  <a:srgbClr val="E51937"/>
                </a:solidFill>
                <a:latin typeface="Calibri"/>
              </a:defRPr>
            </a:pPr>
            <a:r>
              <a:t>-40%</a:t>
            </a:r>
          </a:p>
        </p:txBody>
      </p:sp>
      <p:sp>
        <p:nvSpPr>
          <p:cNvPr id="11" name="TextBox 10"/>
          <p:cNvSpPr txBox="1"/>
          <p:nvPr/>
        </p:nvSpPr>
        <p:spPr>
          <a:xfrm>
            <a:off x="8686800" y="1965960"/>
            <a:ext cx="2743200" cy="320040"/>
          </a:xfrm>
          <a:prstGeom prst="rect">
            <a:avLst/>
          </a:prstGeom>
          <a:noFill/>
        </p:spPr>
        <p:txBody>
          <a:bodyPr wrap="square">
            <a:spAutoFit/>
          </a:bodyPr>
          <a:lstStyle/>
          <a:p>
            <a:pPr algn="l">
              <a:defRPr sz="1100" b="0" i="0">
                <a:solidFill>
                  <a:srgbClr val="767676"/>
                </a:solidFill>
                <a:latin typeface="Calibri"/>
              </a:defRPr>
            </a:pPr>
            <a:r>
              <a:t>Measured weekly vs. SLA baseline</a:t>
            </a:r>
          </a:p>
        </p:txBody>
      </p:sp>
      <p:sp>
        <p:nvSpPr>
          <p:cNvPr id="12" name="Rounded Rectangle 11"/>
          <p:cNvSpPr/>
          <p:nvPr/>
        </p:nvSpPr>
        <p:spPr>
          <a:xfrm>
            <a:off x="1005840" y="271576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defRPr>
            </a:pPr>
            <a:r>
              <a:t>G2</a:t>
            </a:r>
          </a:p>
        </p:txBody>
      </p:sp>
      <p:sp>
        <p:nvSpPr>
          <p:cNvPr id="13" name="TextBox 12"/>
          <p:cNvSpPr txBox="1"/>
          <p:nvPr/>
        </p:nvSpPr>
        <p:spPr>
          <a:xfrm>
            <a:off x="1737360" y="2679192"/>
            <a:ext cx="5029200" cy="365760"/>
          </a:xfrm>
          <a:prstGeom prst="rect">
            <a:avLst/>
          </a:prstGeom>
          <a:noFill/>
        </p:spPr>
        <p:txBody>
          <a:bodyPr wrap="square">
            <a:spAutoFit/>
          </a:bodyPr>
          <a:lstStyle/>
          <a:p>
            <a:pPr algn="l">
              <a:defRPr sz="1600" b="1" i="0">
                <a:solidFill>
                  <a:srgbClr val="1C1C1E"/>
                </a:solidFill>
                <a:latin typeface="Calibri"/>
              </a:defRPr>
            </a:pPr>
            <a:r>
              <a:t>Resolve more tickets without escalation</a:t>
            </a:r>
          </a:p>
        </p:txBody>
      </p:sp>
      <p:sp>
        <p:nvSpPr>
          <p:cNvPr id="14" name="TextBox 13"/>
          <p:cNvSpPr txBox="1"/>
          <p:nvPr/>
        </p:nvSpPr>
        <p:spPr>
          <a:xfrm>
            <a:off x="6858000" y="2651760"/>
            <a:ext cx="1828800" cy="411480"/>
          </a:xfrm>
          <a:prstGeom prst="rect">
            <a:avLst/>
          </a:prstGeom>
          <a:noFill/>
        </p:spPr>
        <p:txBody>
          <a:bodyPr wrap="square">
            <a:spAutoFit/>
          </a:bodyPr>
          <a:lstStyle/>
          <a:p>
            <a:pPr algn="l">
              <a:defRPr sz="2200" b="1" i="0">
                <a:solidFill>
                  <a:srgbClr val="E51937"/>
                </a:solidFill>
                <a:latin typeface="Calibri"/>
              </a:defRPr>
            </a:pPr>
            <a:r>
              <a:t>+15 pts</a:t>
            </a:r>
          </a:p>
        </p:txBody>
      </p:sp>
      <p:sp>
        <p:nvSpPr>
          <p:cNvPr id="15" name="TextBox 14"/>
          <p:cNvSpPr txBox="1"/>
          <p:nvPr/>
        </p:nvSpPr>
        <p:spPr>
          <a:xfrm>
            <a:off x="8686800" y="2743200"/>
            <a:ext cx="2743200" cy="320040"/>
          </a:xfrm>
          <a:prstGeom prst="rect">
            <a:avLst/>
          </a:prstGeom>
          <a:noFill/>
        </p:spPr>
        <p:txBody>
          <a:bodyPr wrap="square">
            <a:spAutoFit/>
          </a:bodyPr>
          <a:lstStyle/>
          <a:p>
            <a:pPr algn="l">
              <a:defRPr sz="1100" b="0" i="0">
                <a:solidFill>
                  <a:srgbClr val="767676"/>
                </a:solidFill>
                <a:latin typeface="Calibri"/>
              </a:defRPr>
            </a:pPr>
            <a:r>
              <a:t>Measured weekly vs. current rate</a:t>
            </a:r>
          </a:p>
        </p:txBody>
      </p:sp>
      <p:sp>
        <p:nvSpPr>
          <p:cNvPr id="16" name="Rounded Rectangle 15"/>
          <p:cNvSpPr/>
          <p:nvPr/>
        </p:nvSpPr>
        <p:spPr>
          <a:xfrm>
            <a:off x="731520" y="3337560"/>
            <a:ext cx="10698480" cy="6858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1005840" y="349300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defRPr>
            </a:pPr>
            <a:r>
              <a:t>G3</a:t>
            </a:r>
          </a:p>
        </p:txBody>
      </p:sp>
      <p:sp>
        <p:nvSpPr>
          <p:cNvPr id="18" name="TextBox 17"/>
          <p:cNvSpPr txBox="1"/>
          <p:nvPr/>
        </p:nvSpPr>
        <p:spPr>
          <a:xfrm>
            <a:off x="1737360" y="3456432"/>
            <a:ext cx="5029200" cy="365760"/>
          </a:xfrm>
          <a:prstGeom prst="rect">
            <a:avLst/>
          </a:prstGeom>
          <a:noFill/>
        </p:spPr>
        <p:txBody>
          <a:bodyPr wrap="square">
            <a:spAutoFit/>
          </a:bodyPr>
          <a:lstStyle/>
          <a:p>
            <a:pPr algn="l">
              <a:defRPr sz="1600" b="1" i="0">
                <a:solidFill>
                  <a:srgbClr val="1C1C1E"/>
                </a:solidFill>
                <a:latin typeface="Calibri"/>
              </a:defRPr>
            </a:pPr>
            <a:r>
              <a:t>AI draft acceptance rate</a:t>
            </a:r>
          </a:p>
        </p:txBody>
      </p:sp>
      <p:sp>
        <p:nvSpPr>
          <p:cNvPr id="19" name="TextBox 18"/>
          <p:cNvSpPr txBox="1"/>
          <p:nvPr/>
        </p:nvSpPr>
        <p:spPr>
          <a:xfrm>
            <a:off x="6858000" y="3429000"/>
            <a:ext cx="1828800" cy="411480"/>
          </a:xfrm>
          <a:prstGeom prst="rect">
            <a:avLst/>
          </a:prstGeom>
          <a:noFill/>
        </p:spPr>
        <p:txBody>
          <a:bodyPr wrap="square">
            <a:spAutoFit/>
          </a:bodyPr>
          <a:lstStyle/>
          <a:p>
            <a:pPr algn="l">
              <a:defRPr sz="2200" b="1" i="0">
                <a:solidFill>
                  <a:srgbClr val="E51937"/>
                </a:solidFill>
                <a:latin typeface="Calibri"/>
              </a:defRPr>
            </a:pPr>
            <a:r>
              <a:t>&gt;70%</a:t>
            </a:r>
          </a:p>
        </p:txBody>
      </p:sp>
      <p:sp>
        <p:nvSpPr>
          <p:cNvPr id="20" name="TextBox 19"/>
          <p:cNvSpPr txBox="1"/>
          <p:nvPr/>
        </p:nvSpPr>
        <p:spPr>
          <a:xfrm>
            <a:off x="8686800" y="3520440"/>
            <a:ext cx="2743200" cy="320040"/>
          </a:xfrm>
          <a:prstGeom prst="rect">
            <a:avLst/>
          </a:prstGeom>
          <a:noFill/>
        </p:spPr>
        <p:txBody>
          <a:bodyPr wrap="square">
            <a:spAutoFit/>
          </a:bodyPr>
          <a:lstStyle/>
          <a:p>
            <a:pPr algn="l">
              <a:defRPr sz="1100" b="0" i="0">
                <a:solidFill>
                  <a:srgbClr val="767676"/>
                </a:solidFill>
                <a:latin typeface="Calibri"/>
              </a:defRPr>
            </a:pPr>
            <a:r>
              <a:t>Below 50% at day 45 triggers scope review</a:t>
            </a:r>
          </a:p>
        </p:txBody>
      </p:sp>
      <p:sp>
        <p:nvSpPr>
          <p:cNvPr id="21" name="Rounded Rectangle 20"/>
          <p:cNvSpPr/>
          <p:nvPr/>
        </p:nvSpPr>
        <p:spPr>
          <a:xfrm>
            <a:off x="1005840" y="427024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defRPr>
            </a:pPr>
            <a:r>
              <a:t>G4</a:t>
            </a:r>
          </a:p>
        </p:txBody>
      </p:sp>
      <p:sp>
        <p:nvSpPr>
          <p:cNvPr id="22" name="TextBox 21"/>
          <p:cNvSpPr txBox="1"/>
          <p:nvPr/>
        </p:nvSpPr>
        <p:spPr>
          <a:xfrm>
            <a:off x="1737360" y="4233672"/>
            <a:ext cx="5029200" cy="365760"/>
          </a:xfrm>
          <a:prstGeom prst="rect">
            <a:avLst/>
          </a:prstGeom>
          <a:noFill/>
        </p:spPr>
        <p:txBody>
          <a:bodyPr wrap="square">
            <a:spAutoFit/>
          </a:bodyPr>
          <a:lstStyle/>
          <a:p>
            <a:pPr algn="l">
              <a:defRPr sz="1600" b="1" i="0">
                <a:solidFill>
                  <a:srgbClr val="1C1C1E"/>
                </a:solidFill>
                <a:latin typeface="Calibri"/>
              </a:defRPr>
            </a:pPr>
            <a:r>
              <a:t>Increase agent throughput</a:t>
            </a:r>
          </a:p>
        </p:txBody>
      </p:sp>
      <p:sp>
        <p:nvSpPr>
          <p:cNvPr id="23" name="TextBox 22"/>
          <p:cNvSpPr txBox="1"/>
          <p:nvPr/>
        </p:nvSpPr>
        <p:spPr>
          <a:xfrm>
            <a:off x="6858000" y="4206240"/>
            <a:ext cx="1828800" cy="411480"/>
          </a:xfrm>
          <a:prstGeom prst="rect">
            <a:avLst/>
          </a:prstGeom>
          <a:noFill/>
        </p:spPr>
        <p:txBody>
          <a:bodyPr wrap="square">
            <a:spAutoFit/>
          </a:bodyPr>
          <a:lstStyle/>
          <a:p>
            <a:pPr algn="l">
              <a:defRPr sz="2200" b="1" i="0">
                <a:solidFill>
                  <a:srgbClr val="E51937"/>
                </a:solidFill>
                <a:latin typeface="Calibri"/>
              </a:defRPr>
            </a:pPr>
            <a:r>
              <a:t>+25%</a:t>
            </a:r>
          </a:p>
        </p:txBody>
      </p:sp>
      <p:sp>
        <p:nvSpPr>
          <p:cNvPr id="24" name="TextBox 23"/>
          <p:cNvSpPr txBox="1"/>
          <p:nvPr/>
        </p:nvSpPr>
        <p:spPr>
          <a:xfrm>
            <a:off x="8686800" y="4297680"/>
            <a:ext cx="2743200" cy="320040"/>
          </a:xfrm>
          <a:prstGeom prst="rect">
            <a:avLst/>
          </a:prstGeom>
          <a:noFill/>
        </p:spPr>
        <p:txBody>
          <a:bodyPr wrap="square">
            <a:spAutoFit/>
          </a:bodyPr>
          <a:lstStyle/>
          <a:p>
            <a:pPr algn="l">
              <a:defRPr sz="1100" b="0" i="0">
                <a:solidFill>
                  <a:srgbClr val="767676"/>
                </a:solidFill>
                <a:latin typeface="Calibri"/>
              </a:defRPr>
            </a:pPr>
            <a:r>
              <a:t>Tickets handled per agent per day</a:t>
            </a:r>
          </a:p>
        </p:txBody>
      </p:sp>
      <p:sp>
        <p:nvSpPr>
          <p:cNvPr id="25" name="TextBox 24"/>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6" name="TextBox 25"/>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9</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GOALS</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Five SMART goals define success at the Day-90 go/no-go gate</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Weber set the bar: a 30% reduction in handle time on AXS support tickets with dealer satisfaction scores holding flat or improving.</a:t>
            </a:r>
          </a:p>
        </p:txBody>
      </p:sp>
      <p:sp>
        <p:nvSpPr>
          <p:cNvPr id="7" name="Rounded Rectangle 6"/>
          <p:cNvSpPr/>
          <p:nvPr/>
        </p:nvSpPr>
        <p:spPr>
          <a:xfrm>
            <a:off x="731520" y="1783080"/>
            <a:ext cx="10698480" cy="6858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005840" y="193852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defRPr>
            </a:pPr>
            <a:r>
              <a:t>G1</a:t>
            </a:r>
          </a:p>
        </p:txBody>
      </p:sp>
      <p:sp>
        <p:nvSpPr>
          <p:cNvPr id="9" name="TextBox 8"/>
          <p:cNvSpPr txBox="1"/>
          <p:nvPr/>
        </p:nvSpPr>
        <p:spPr>
          <a:xfrm>
            <a:off x="1737360" y="1901952"/>
            <a:ext cx="5029200" cy="365760"/>
          </a:xfrm>
          <a:prstGeom prst="rect">
            <a:avLst/>
          </a:prstGeom>
          <a:noFill/>
        </p:spPr>
        <p:txBody>
          <a:bodyPr wrap="square">
            <a:spAutoFit/>
          </a:bodyPr>
          <a:lstStyle/>
          <a:p>
            <a:pPr algn="l">
              <a:defRPr sz="1600" b="1" i="0">
                <a:solidFill>
                  <a:srgbClr val="1C1C1E"/>
                </a:solidFill>
                <a:latin typeface="Calibri"/>
              </a:defRPr>
            </a:pPr>
            <a:r>
              <a:t>Cut first-response time</a:t>
            </a:r>
          </a:p>
        </p:txBody>
      </p:sp>
      <p:sp>
        <p:nvSpPr>
          <p:cNvPr id="10" name="TextBox 9"/>
          <p:cNvSpPr txBox="1"/>
          <p:nvPr/>
        </p:nvSpPr>
        <p:spPr>
          <a:xfrm>
            <a:off x="6858000" y="1874520"/>
            <a:ext cx="1828800" cy="411480"/>
          </a:xfrm>
          <a:prstGeom prst="rect">
            <a:avLst/>
          </a:prstGeom>
          <a:noFill/>
        </p:spPr>
        <p:txBody>
          <a:bodyPr wrap="square">
            <a:spAutoFit/>
          </a:bodyPr>
          <a:lstStyle/>
          <a:p>
            <a:pPr algn="l">
              <a:defRPr sz="2200" b="1" i="0">
                <a:solidFill>
                  <a:srgbClr val="E51937"/>
                </a:solidFill>
                <a:latin typeface="Calibri"/>
              </a:defRPr>
            </a:pPr>
            <a:r>
              <a:t>-40%</a:t>
            </a:r>
          </a:p>
        </p:txBody>
      </p:sp>
      <p:sp>
        <p:nvSpPr>
          <p:cNvPr id="11" name="TextBox 10"/>
          <p:cNvSpPr txBox="1"/>
          <p:nvPr/>
        </p:nvSpPr>
        <p:spPr>
          <a:xfrm>
            <a:off x="8686800" y="1965960"/>
            <a:ext cx="2743200" cy="320040"/>
          </a:xfrm>
          <a:prstGeom prst="rect">
            <a:avLst/>
          </a:prstGeom>
          <a:noFill/>
        </p:spPr>
        <p:txBody>
          <a:bodyPr wrap="square">
            <a:spAutoFit/>
          </a:bodyPr>
          <a:lstStyle/>
          <a:p>
            <a:pPr algn="l">
              <a:defRPr sz="1100" b="0" i="0">
                <a:solidFill>
                  <a:srgbClr val="767676"/>
                </a:solidFill>
                <a:latin typeface="Calibri"/>
              </a:defRPr>
            </a:pPr>
            <a:r>
              <a:t>Measured weekly vs. SLA baseline</a:t>
            </a:r>
          </a:p>
        </p:txBody>
      </p:sp>
      <p:sp>
        <p:nvSpPr>
          <p:cNvPr id="12" name="Rounded Rectangle 11"/>
          <p:cNvSpPr/>
          <p:nvPr/>
        </p:nvSpPr>
        <p:spPr>
          <a:xfrm>
            <a:off x="1005840" y="271576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defRPr>
            </a:pPr>
            <a:r>
              <a:t>G2</a:t>
            </a:r>
          </a:p>
        </p:txBody>
      </p:sp>
      <p:sp>
        <p:nvSpPr>
          <p:cNvPr id="13" name="TextBox 12"/>
          <p:cNvSpPr txBox="1"/>
          <p:nvPr/>
        </p:nvSpPr>
        <p:spPr>
          <a:xfrm>
            <a:off x="1737360" y="2679192"/>
            <a:ext cx="5029200" cy="365760"/>
          </a:xfrm>
          <a:prstGeom prst="rect">
            <a:avLst/>
          </a:prstGeom>
          <a:noFill/>
        </p:spPr>
        <p:txBody>
          <a:bodyPr wrap="square">
            <a:spAutoFit/>
          </a:bodyPr>
          <a:lstStyle/>
          <a:p>
            <a:pPr algn="l">
              <a:defRPr sz="1600" b="1" i="0">
                <a:solidFill>
                  <a:srgbClr val="1C1C1E"/>
                </a:solidFill>
                <a:latin typeface="Calibri"/>
              </a:defRPr>
            </a:pPr>
            <a:r>
              <a:t>Resolve more tickets without escalation</a:t>
            </a:r>
          </a:p>
        </p:txBody>
      </p:sp>
      <p:sp>
        <p:nvSpPr>
          <p:cNvPr id="14" name="TextBox 13"/>
          <p:cNvSpPr txBox="1"/>
          <p:nvPr/>
        </p:nvSpPr>
        <p:spPr>
          <a:xfrm>
            <a:off x="6858000" y="2651760"/>
            <a:ext cx="1828800" cy="411480"/>
          </a:xfrm>
          <a:prstGeom prst="rect">
            <a:avLst/>
          </a:prstGeom>
          <a:noFill/>
        </p:spPr>
        <p:txBody>
          <a:bodyPr wrap="square">
            <a:spAutoFit/>
          </a:bodyPr>
          <a:lstStyle/>
          <a:p>
            <a:pPr algn="l">
              <a:defRPr sz="2200" b="1" i="0">
                <a:solidFill>
                  <a:srgbClr val="E51937"/>
                </a:solidFill>
                <a:latin typeface="Calibri"/>
              </a:defRPr>
            </a:pPr>
            <a:r>
              <a:t>+15 pts</a:t>
            </a:r>
          </a:p>
        </p:txBody>
      </p:sp>
      <p:sp>
        <p:nvSpPr>
          <p:cNvPr id="15" name="TextBox 14"/>
          <p:cNvSpPr txBox="1"/>
          <p:nvPr/>
        </p:nvSpPr>
        <p:spPr>
          <a:xfrm>
            <a:off x="8686800" y="2743200"/>
            <a:ext cx="2743200" cy="320040"/>
          </a:xfrm>
          <a:prstGeom prst="rect">
            <a:avLst/>
          </a:prstGeom>
          <a:noFill/>
        </p:spPr>
        <p:txBody>
          <a:bodyPr wrap="square">
            <a:spAutoFit/>
          </a:bodyPr>
          <a:lstStyle/>
          <a:p>
            <a:pPr algn="l">
              <a:defRPr sz="1100" b="0" i="0">
                <a:solidFill>
                  <a:srgbClr val="767676"/>
                </a:solidFill>
                <a:latin typeface="Calibri"/>
              </a:defRPr>
            </a:pPr>
            <a:r>
              <a:t>Measured weekly vs. current rate</a:t>
            </a:r>
          </a:p>
        </p:txBody>
      </p:sp>
      <p:sp>
        <p:nvSpPr>
          <p:cNvPr id="16" name="Rounded Rectangle 15"/>
          <p:cNvSpPr/>
          <p:nvPr/>
        </p:nvSpPr>
        <p:spPr>
          <a:xfrm>
            <a:off x="731520" y="3337560"/>
            <a:ext cx="10698480" cy="6858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1005840" y="349300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defRPr>
            </a:pPr>
            <a:r>
              <a:t>G3</a:t>
            </a:r>
          </a:p>
        </p:txBody>
      </p:sp>
      <p:sp>
        <p:nvSpPr>
          <p:cNvPr id="18" name="TextBox 17"/>
          <p:cNvSpPr txBox="1"/>
          <p:nvPr/>
        </p:nvSpPr>
        <p:spPr>
          <a:xfrm>
            <a:off x="1737360" y="3456432"/>
            <a:ext cx="5029200" cy="365760"/>
          </a:xfrm>
          <a:prstGeom prst="rect">
            <a:avLst/>
          </a:prstGeom>
          <a:noFill/>
        </p:spPr>
        <p:txBody>
          <a:bodyPr wrap="square">
            <a:spAutoFit/>
          </a:bodyPr>
          <a:lstStyle/>
          <a:p>
            <a:pPr algn="l">
              <a:defRPr sz="1600" b="1" i="0">
                <a:solidFill>
                  <a:srgbClr val="1C1C1E"/>
                </a:solidFill>
                <a:latin typeface="Calibri"/>
              </a:defRPr>
            </a:pPr>
            <a:r>
              <a:t>AI draft acceptance rate</a:t>
            </a:r>
          </a:p>
        </p:txBody>
      </p:sp>
      <p:sp>
        <p:nvSpPr>
          <p:cNvPr id="19" name="TextBox 18"/>
          <p:cNvSpPr txBox="1"/>
          <p:nvPr/>
        </p:nvSpPr>
        <p:spPr>
          <a:xfrm>
            <a:off x="6858000" y="3429000"/>
            <a:ext cx="1828800" cy="411480"/>
          </a:xfrm>
          <a:prstGeom prst="rect">
            <a:avLst/>
          </a:prstGeom>
          <a:noFill/>
        </p:spPr>
        <p:txBody>
          <a:bodyPr wrap="square">
            <a:spAutoFit/>
          </a:bodyPr>
          <a:lstStyle/>
          <a:p>
            <a:pPr algn="l">
              <a:defRPr sz="2200" b="1" i="0">
                <a:solidFill>
                  <a:srgbClr val="E51937"/>
                </a:solidFill>
                <a:latin typeface="Calibri"/>
              </a:defRPr>
            </a:pPr>
            <a:r>
              <a:t>&gt;70%</a:t>
            </a:r>
          </a:p>
        </p:txBody>
      </p:sp>
      <p:sp>
        <p:nvSpPr>
          <p:cNvPr id="20" name="TextBox 19"/>
          <p:cNvSpPr txBox="1"/>
          <p:nvPr/>
        </p:nvSpPr>
        <p:spPr>
          <a:xfrm>
            <a:off x="8686800" y="3520440"/>
            <a:ext cx="2743200" cy="320040"/>
          </a:xfrm>
          <a:prstGeom prst="rect">
            <a:avLst/>
          </a:prstGeom>
          <a:noFill/>
        </p:spPr>
        <p:txBody>
          <a:bodyPr wrap="square">
            <a:spAutoFit/>
          </a:bodyPr>
          <a:lstStyle/>
          <a:p>
            <a:pPr algn="l">
              <a:defRPr sz="1100" b="0" i="0">
                <a:solidFill>
                  <a:srgbClr val="767676"/>
                </a:solidFill>
                <a:latin typeface="Calibri"/>
              </a:defRPr>
            </a:pPr>
            <a:r>
              <a:t>Below 50% at day 45 triggers scope review</a:t>
            </a:r>
          </a:p>
        </p:txBody>
      </p:sp>
      <p:sp>
        <p:nvSpPr>
          <p:cNvPr id="21" name="Rounded Rectangle 20"/>
          <p:cNvSpPr/>
          <p:nvPr/>
        </p:nvSpPr>
        <p:spPr>
          <a:xfrm>
            <a:off x="1005840" y="427024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defRPr>
            </a:pPr>
            <a:r>
              <a:t>G4</a:t>
            </a:r>
          </a:p>
        </p:txBody>
      </p:sp>
      <p:sp>
        <p:nvSpPr>
          <p:cNvPr id="22" name="TextBox 21"/>
          <p:cNvSpPr txBox="1"/>
          <p:nvPr/>
        </p:nvSpPr>
        <p:spPr>
          <a:xfrm>
            <a:off x="1737360" y="4233672"/>
            <a:ext cx="5029200" cy="365760"/>
          </a:xfrm>
          <a:prstGeom prst="rect">
            <a:avLst/>
          </a:prstGeom>
          <a:noFill/>
        </p:spPr>
        <p:txBody>
          <a:bodyPr wrap="square">
            <a:spAutoFit/>
          </a:bodyPr>
          <a:lstStyle/>
          <a:p>
            <a:pPr algn="l">
              <a:defRPr sz="1600" b="1" i="0">
                <a:solidFill>
                  <a:srgbClr val="1C1C1E"/>
                </a:solidFill>
                <a:latin typeface="Calibri"/>
              </a:defRPr>
            </a:pPr>
            <a:r>
              <a:t>Increase agent throughput</a:t>
            </a:r>
          </a:p>
        </p:txBody>
      </p:sp>
      <p:sp>
        <p:nvSpPr>
          <p:cNvPr id="23" name="TextBox 22"/>
          <p:cNvSpPr txBox="1"/>
          <p:nvPr/>
        </p:nvSpPr>
        <p:spPr>
          <a:xfrm>
            <a:off x="6858000" y="4206240"/>
            <a:ext cx="1828800" cy="411480"/>
          </a:xfrm>
          <a:prstGeom prst="rect">
            <a:avLst/>
          </a:prstGeom>
          <a:noFill/>
        </p:spPr>
        <p:txBody>
          <a:bodyPr wrap="square">
            <a:spAutoFit/>
          </a:bodyPr>
          <a:lstStyle/>
          <a:p>
            <a:pPr algn="l">
              <a:defRPr sz="2200" b="1" i="0">
                <a:solidFill>
                  <a:srgbClr val="E51937"/>
                </a:solidFill>
                <a:latin typeface="Calibri"/>
              </a:defRPr>
            </a:pPr>
            <a:r>
              <a:t>+25%</a:t>
            </a:r>
          </a:p>
        </p:txBody>
      </p:sp>
      <p:sp>
        <p:nvSpPr>
          <p:cNvPr id="24" name="TextBox 23"/>
          <p:cNvSpPr txBox="1"/>
          <p:nvPr/>
        </p:nvSpPr>
        <p:spPr>
          <a:xfrm>
            <a:off x="8686800" y="4297680"/>
            <a:ext cx="2743200" cy="320040"/>
          </a:xfrm>
          <a:prstGeom prst="rect">
            <a:avLst/>
          </a:prstGeom>
          <a:noFill/>
        </p:spPr>
        <p:txBody>
          <a:bodyPr wrap="square">
            <a:spAutoFit/>
          </a:bodyPr>
          <a:lstStyle/>
          <a:p>
            <a:pPr algn="l">
              <a:defRPr sz="1100" b="0" i="0">
                <a:solidFill>
                  <a:srgbClr val="767676"/>
                </a:solidFill>
                <a:latin typeface="Calibri"/>
              </a:defRPr>
            </a:pPr>
            <a:r>
              <a:t>Tickets handled per agent per day</a:t>
            </a:r>
          </a:p>
        </p:txBody>
      </p:sp>
      <p:sp>
        <p:nvSpPr>
          <p:cNvPr id="25" name="Rounded Rectangle 24"/>
          <p:cNvSpPr/>
          <p:nvPr/>
        </p:nvSpPr>
        <p:spPr>
          <a:xfrm>
            <a:off x="731520" y="4892040"/>
            <a:ext cx="10698480" cy="6858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1005840" y="5047488"/>
            <a:ext cx="502920" cy="365760"/>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defRPr>
            </a:pPr>
            <a:r>
              <a:t>G5</a:t>
            </a:r>
          </a:p>
        </p:txBody>
      </p:sp>
      <p:sp>
        <p:nvSpPr>
          <p:cNvPr id="27" name="TextBox 26"/>
          <p:cNvSpPr txBox="1"/>
          <p:nvPr/>
        </p:nvSpPr>
        <p:spPr>
          <a:xfrm>
            <a:off x="1737360" y="5010912"/>
            <a:ext cx="5029200" cy="365760"/>
          </a:xfrm>
          <a:prstGeom prst="rect">
            <a:avLst/>
          </a:prstGeom>
          <a:noFill/>
        </p:spPr>
        <p:txBody>
          <a:bodyPr wrap="square">
            <a:spAutoFit/>
          </a:bodyPr>
          <a:lstStyle/>
          <a:p>
            <a:pPr algn="l">
              <a:defRPr sz="1600" b="1" i="0">
                <a:solidFill>
                  <a:srgbClr val="1C1C1E"/>
                </a:solidFill>
                <a:latin typeface="Calibri"/>
              </a:defRPr>
            </a:pPr>
            <a:r>
              <a:t>Hold customer satisfaction flat</a:t>
            </a:r>
          </a:p>
        </p:txBody>
      </p:sp>
      <p:sp>
        <p:nvSpPr>
          <p:cNvPr id="28" name="TextBox 27"/>
          <p:cNvSpPr txBox="1"/>
          <p:nvPr/>
        </p:nvSpPr>
        <p:spPr>
          <a:xfrm>
            <a:off x="6858000" y="4983480"/>
            <a:ext cx="1828800" cy="411480"/>
          </a:xfrm>
          <a:prstGeom prst="rect">
            <a:avLst/>
          </a:prstGeom>
          <a:noFill/>
        </p:spPr>
        <p:txBody>
          <a:bodyPr wrap="square">
            <a:spAutoFit/>
          </a:bodyPr>
          <a:lstStyle/>
          <a:p>
            <a:pPr algn="l">
              <a:defRPr sz="2200" b="1" i="0">
                <a:solidFill>
                  <a:srgbClr val="E51937"/>
                </a:solidFill>
                <a:latin typeface="Calibri"/>
              </a:defRPr>
            </a:pPr>
            <a:r>
              <a:t>No decline</a:t>
            </a:r>
          </a:p>
        </p:txBody>
      </p:sp>
      <p:sp>
        <p:nvSpPr>
          <p:cNvPr id="29" name="TextBox 28"/>
          <p:cNvSpPr txBox="1"/>
          <p:nvPr/>
        </p:nvSpPr>
        <p:spPr>
          <a:xfrm>
            <a:off x="8686800" y="5074920"/>
            <a:ext cx="2743200" cy="320040"/>
          </a:xfrm>
          <a:prstGeom prst="rect">
            <a:avLst/>
          </a:prstGeom>
          <a:noFill/>
        </p:spPr>
        <p:txBody>
          <a:bodyPr wrap="square">
            <a:spAutoFit/>
          </a:bodyPr>
          <a:lstStyle/>
          <a:p>
            <a:pPr algn="l">
              <a:defRPr sz="1100" b="0" i="0">
                <a:solidFill>
                  <a:srgbClr val="767676"/>
                </a:solidFill>
                <a:latin typeface="Calibri"/>
              </a:defRPr>
            </a:pPr>
            <a:r>
              <a:t>Any sustained drop triggers rollback</a:t>
            </a:r>
          </a:p>
        </p:txBody>
      </p:sp>
      <p:sp>
        <p:nvSpPr>
          <p:cNvPr id="30" name="TextBox 29"/>
          <p:cNvSpPr txBox="1"/>
          <p:nvPr/>
        </p:nvSpPr>
        <p:spPr>
          <a:xfrm>
            <a:off x="731520" y="5852160"/>
            <a:ext cx="10698480" cy="274320"/>
          </a:xfrm>
          <a:prstGeom prst="rect">
            <a:avLst/>
          </a:prstGeom>
          <a:noFill/>
        </p:spPr>
        <p:txBody>
          <a:bodyPr wrap="square">
            <a:spAutoFit/>
          </a:bodyPr>
          <a:lstStyle/>
          <a:p>
            <a:pPr algn="ctr">
              <a:defRPr sz="1200" b="0" i="0">
                <a:solidFill>
                  <a:srgbClr val="767676"/>
                </a:solidFill>
                <a:latin typeface="Calibri"/>
              </a:defRPr>
            </a:pPr>
            <a:r>
              <a:t>Kill criteria: 2 weeks quality drop, any safety error reaching a dealer, or dealer opt-out above 15%</a:t>
            </a:r>
          </a:p>
        </p:txBody>
      </p:sp>
      <p:sp>
        <p:nvSpPr>
          <p:cNvPr id="31" name="TextBox 30"/>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32" name="TextBox 31"/>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TIMELINE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6-month pilot: Day-45 scope review, Day-90 go/no-go, Month 7-12 scale</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0" y="1280160"/>
            <a:ext cx="1295400" cy="228600"/>
          </a:xfrm>
          <a:prstGeom prst="rect">
            <a:avLst/>
          </a:prstGeom>
          <a:noFill/>
        </p:spPr>
        <p:txBody>
          <a:bodyPr wrap="square">
            <a:spAutoFit/>
          </a:bodyPr>
          <a:lstStyle/>
          <a:p>
            <a:pPr algn="ctr">
              <a:defRPr sz="900" b="1" i="0">
                <a:solidFill>
                  <a:srgbClr val="767676"/>
                </a:solidFill>
                <a:latin typeface="Calibri"/>
              </a:defRPr>
            </a:pPr>
            <a:r>
              <a:t>Month 1</a:t>
            </a:r>
          </a:p>
        </p:txBody>
      </p:sp>
      <p:sp>
        <p:nvSpPr>
          <p:cNvPr id="7" name="TextBox 6"/>
          <p:cNvSpPr txBox="1"/>
          <p:nvPr/>
        </p:nvSpPr>
        <p:spPr>
          <a:xfrm>
            <a:off x="4953000" y="1280160"/>
            <a:ext cx="1295400" cy="228600"/>
          </a:xfrm>
          <a:prstGeom prst="rect">
            <a:avLst/>
          </a:prstGeom>
          <a:noFill/>
        </p:spPr>
        <p:txBody>
          <a:bodyPr wrap="square">
            <a:spAutoFit/>
          </a:bodyPr>
          <a:lstStyle/>
          <a:p>
            <a:pPr algn="ctr">
              <a:defRPr sz="900" b="1" i="0">
                <a:solidFill>
                  <a:srgbClr val="767676"/>
                </a:solidFill>
                <a:latin typeface="Calibri"/>
              </a:defRPr>
            </a:pPr>
            <a:r>
              <a:t>Month 2</a:t>
            </a:r>
          </a:p>
        </p:txBody>
      </p:sp>
      <p:sp>
        <p:nvSpPr>
          <p:cNvPr id="8" name="TextBox 7"/>
          <p:cNvSpPr txBox="1"/>
          <p:nvPr/>
        </p:nvSpPr>
        <p:spPr>
          <a:xfrm>
            <a:off x="6248400" y="1280160"/>
            <a:ext cx="1295400" cy="228600"/>
          </a:xfrm>
          <a:prstGeom prst="rect">
            <a:avLst/>
          </a:prstGeom>
          <a:noFill/>
        </p:spPr>
        <p:txBody>
          <a:bodyPr wrap="square">
            <a:spAutoFit/>
          </a:bodyPr>
          <a:lstStyle/>
          <a:p>
            <a:pPr algn="ctr">
              <a:defRPr sz="900" b="1" i="0">
                <a:solidFill>
                  <a:srgbClr val="767676"/>
                </a:solidFill>
                <a:latin typeface="Calibri"/>
              </a:defRPr>
            </a:pPr>
            <a:r>
              <a:t>Month 3</a:t>
            </a:r>
          </a:p>
        </p:txBody>
      </p:sp>
      <p:sp>
        <p:nvSpPr>
          <p:cNvPr id="9" name="TextBox 8"/>
          <p:cNvSpPr txBox="1"/>
          <p:nvPr/>
        </p:nvSpPr>
        <p:spPr>
          <a:xfrm>
            <a:off x="7543800" y="1280160"/>
            <a:ext cx="1295400" cy="228600"/>
          </a:xfrm>
          <a:prstGeom prst="rect">
            <a:avLst/>
          </a:prstGeom>
          <a:noFill/>
        </p:spPr>
        <p:txBody>
          <a:bodyPr wrap="square">
            <a:spAutoFit/>
          </a:bodyPr>
          <a:lstStyle/>
          <a:p>
            <a:pPr algn="ctr">
              <a:defRPr sz="900" b="1" i="0">
                <a:solidFill>
                  <a:srgbClr val="767676"/>
                </a:solidFill>
                <a:latin typeface="Calibri"/>
              </a:defRPr>
            </a:pPr>
            <a:r>
              <a:t>Month 4</a:t>
            </a:r>
          </a:p>
        </p:txBody>
      </p:sp>
      <p:sp>
        <p:nvSpPr>
          <p:cNvPr id="10" name="TextBox 9"/>
          <p:cNvSpPr txBox="1"/>
          <p:nvPr/>
        </p:nvSpPr>
        <p:spPr>
          <a:xfrm>
            <a:off x="8839200" y="1280160"/>
            <a:ext cx="1295400" cy="228600"/>
          </a:xfrm>
          <a:prstGeom prst="rect">
            <a:avLst/>
          </a:prstGeom>
          <a:noFill/>
        </p:spPr>
        <p:txBody>
          <a:bodyPr wrap="square">
            <a:spAutoFit/>
          </a:bodyPr>
          <a:lstStyle/>
          <a:p>
            <a:pPr algn="ctr">
              <a:defRPr sz="900" b="1" i="0">
                <a:solidFill>
                  <a:srgbClr val="767676"/>
                </a:solidFill>
                <a:latin typeface="Calibri"/>
              </a:defRPr>
            </a:pPr>
            <a:r>
              <a:t>Month 5</a:t>
            </a:r>
          </a:p>
        </p:txBody>
      </p:sp>
      <p:sp>
        <p:nvSpPr>
          <p:cNvPr id="11" name="TextBox 10"/>
          <p:cNvSpPr txBox="1"/>
          <p:nvPr/>
        </p:nvSpPr>
        <p:spPr>
          <a:xfrm>
            <a:off x="10134600" y="1280160"/>
            <a:ext cx="1295400" cy="228600"/>
          </a:xfrm>
          <a:prstGeom prst="rect">
            <a:avLst/>
          </a:prstGeom>
          <a:noFill/>
        </p:spPr>
        <p:txBody>
          <a:bodyPr wrap="square">
            <a:spAutoFit/>
          </a:bodyPr>
          <a:lstStyle/>
          <a:p>
            <a:pPr algn="ctr">
              <a:defRPr sz="900" b="1" i="0">
                <a:solidFill>
                  <a:srgbClr val="767676"/>
                </a:solidFill>
                <a:latin typeface="Calibri"/>
              </a:defRPr>
            </a:pPr>
            <a:r>
              <a:t>Month 6</a:t>
            </a:r>
          </a:p>
        </p:txBody>
      </p:sp>
      <p:sp>
        <p:nvSpPr>
          <p:cNvPr id="12" name="Rectangle 11"/>
          <p:cNvSpPr/>
          <p:nvPr/>
        </p:nvSpPr>
        <p:spPr>
          <a:xfrm>
            <a:off x="4953000" y="1508760"/>
            <a:ext cx="12700" cy="45720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48400" y="1508760"/>
            <a:ext cx="12700" cy="45720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543800" y="1508760"/>
            <a:ext cx="12700" cy="45720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839200" y="1508760"/>
            <a:ext cx="12700" cy="45720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0134600" y="1508760"/>
            <a:ext cx="12700" cy="45720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731520" y="1554480"/>
            <a:ext cx="10698480" cy="347472"/>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31520" y="1600200"/>
            <a:ext cx="2560320" cy="256032"/>
          </a:xfrm>
          <a:prstGeom prst="rect">
            <a:avLst/>
          </a:prstGeom>
          <a:noFill/>
        </p:spPr>
        <p:txBody>
          <a:bodyPr wrap="square">
            <a:spAutoFit/>
          </a:bodyPr>
          <a:lstStyle/>
          <a:p>
            <a:pPr algn="l">
              <a:defRPr sz="900" b="1" i="0">
                <a:solidFill>
                  <a:srgbClr val="1C1C1E"/>
                </a:solidFill>
                <a:latin typeface="Calibri"/>
              </a:defRPr>
            </a:pPr>
            <a:r>
              <a:t>Setup + Integration</a:t>
            </a:r>
          </a:p>
        </p:txBody>
      </p:sp>
      <p:sp>
        <p:nvSpPr>
          <p:cNvPr id="19" name="Rounded Rectangle 18"/>
          <p:cNvSpPr/>
          <p:nvPr/>
        </p:nvSpPr>
        <p:spPr>
          <a:xfrm>
            <a:off x="3657600" y="1609344"/>
            <a:ext cx="1295400" cy="219456"/>
          </a:xfrm>
          <a:prstGeom prst="roundRect">
            <a:avLst>
              <a:gd name="adj" fmla="val 15000"/>
            </a:avLst>
          </a:prstGeom>
          <a:solidFill>
            <a:srgbClr val="D4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749040" y="1609344"/>
            <a:ext cx="1112520" cy="219456"/>
          </a:xfrm>
          <a:prstGeom prst="rect">
            <a:avLst/>
          </a:prstGeom>
          <a:noFill/>
        </p:spPr>
        <p:txBody>
          <a:bodyPr wrap="square">
            <a:spAutoFit/>
          </a:bodyPr>
          <a:lstStyle/>
          <a:p>
            <a:pPr algn="l">
              <a:defRPr sz="700" b="0" i="0">
                <a:solidFill>
                  <a:srgbClr val="1C1C1E"/>
                </a:solidFill>
                <a:latin typeface="Calibri"/>
              </a:defRPr>
            </a:pPr>
            <a:r>
              <a:t>Zendesk + Kendra + Bedrock; baseline metrics</a:t>
            </a:r>
          </a:p>
        </p:txBody>
      </p:sp>
      <p:sp>
        <p:nvSpPr>
          <p:cNvPr id="21" name="TextBox 20"/>
          <p:cNvSpPr txBox="1"/>
          <p:nvPr/>
        </p:nvSpPr>
        <p:spPr>
          <a:xfrm>
            <a:off x="731520" y="1947672"/>
            <a:ext cx="2560320" cy="256032"/>
          </a:xfrm>
          <a:prstGeom prst="rect">
            <a:avLst/>
          </a:prstGeom>
          <a:noFill/>
        </p:spPr>
        <p:txBody>
          <a:bodyPr wrap="square">
            <a:spAutoFit/>
          </a:bodyPr>
          <a:lstStyle/>
          <a:p>
            <a:pPr algn="l">
              <a:defRPr sz="900" b="1" i="0">
                <a:solidFill>
                  <a:srgbClr val="1C1C1E"/>
                </a:solidFill>
                <a:latin typeface="Calibri"/>
              </a:defRPr>
            </a:pPr>
            <a:r>
              <a:t>Knowledge Base Indexing</a:t>
            </a:r>
          </a:p>
        </p:txBody>
      </p:sp>
      <p:sp>
        <p:nvSpPr>
          <p:cNvPr id="22" name="Rounded Rectangle 21"/>
          <p:cNvSpPr/>
          <p:nvPr/>
        </p:nvSpPr>
        <p:spPr>
          <a:xfrm>
            <a:off x="3657600" y="1956816"/>
            <a:ext cx="1036320" cy="219456"/>
          </a:xfrm>
          <a:prstGeom prst="roundRect">
            <a:avLst>
              <a:gd name="adj" fmla="val 15000"/>
            </a:avLst>
          </a:prstGeom>
          <a:solidFill>
            <a:srgbClr val="D4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4" name="TextBox 23"/>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TIMELINE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6-month pilot: Day-45 scope review, Day-90 go/no-go, Month 7-12 scale</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0" y="1280160"/>
            <a:ext cx="1295400" cy="228600"/>
          </a:xfrm>
          <a:prstGeom prst="rect">
            <a:avLst/>
          </a:prstGeom>
          <a:noFill/>
        </p:spPr>
        <p:txBody>
          <a:bodyPr wrap="square">
            <a:spAutoFit/>
          </a:bodyPr>
          <a:lstStyle/>
          <a:p>
            <a:pPr algn="ctr">
              <a:defRPr sz="900" b="1" i="0">
                <a:solidFill>
                  <a:srgbClr val="767676"/>
                </a:solidFill>
                <a:latin typeface="Calibri"/>
              </a:defRPr>
            </a:pPr>
            <a:r>
              <a:t>Month 1</a:t>
            </a:r>
          </a:p>
        </p:txBody>
      </p:sp>
      <p:sp>
        <p:nvSpPr>
          <p:cNvPr id="7" name="TextBox 6"/>
          <p:cNvSpPr txBox="1"/>
          <p:nvPr/>
        </p:nvSpPr>
        <p:spPr>
          <a:xfrm>
            <a:off x="4953000" y="1280160"/>
            <a:ext cx="1295400" cy="228600"/>
          </a:xfrm>
          <a:prstGeom prst="rect">
            <a:avLst/>
          </a:prstGeom>
          <a:noFill/>
        </p:spPr>
        <p:txBody>
          <a:bodyPr wrap="square">
            <a:spAutoFit/>
          </a:bodyPr>
          <a:lstStyle/>
          <a:p>
            <a:pPr algn="ctr">
              <a:defRPr sz="900" b="1" i="0">
                <a:solidFill>
                  <a:srgbClr val="767676"/>
                </a:solidFill>
                <a:latin typeface="Calibri"/>
              </a:defRPr>
            </a:pPr>
            <a:r>
              <a:t>Month 2</a:t>
            </a:r>
          </a:p>
        </p:txBody>
      </p:sp>
      <p:sp>
        <p:nvSpPr>
          <p:cNvPr id="8" name="TextBox 7"/>
          <p:cNvSpPr txBox="1"/>
          <p:nvPr/>
        </p:nvSpPr>
        <p:spPr>
          <a:xfrm>
            <a:off x="6248400" y="1280160"/>
            <a:ext cx="1295400" cy="228600"/>
          </a:xfrm>
          <a:prstGeom prst="rect">
            <a:avLst/>
          </a:prstGeom>
          <a:noFill/>
        </p:spPr>
        <p:txBody>
          <a:bodyPr wrap="square">
            <a:spAutoFit/>
          </a:bodyPr>
          <a:lstStyle/>
          <a:p>
            <a:pPr algn="ctr">
              <a:defRPr sz="900" b="1" i="0">
                <a:solidFill>
                  <a:srgbClr val="767676"/>
                </a:solidFill>
                <a:latin typeface="Calibri"/>
              </a:defRPr>
            </a:pPr>
            <a:r>
              <a:t>Month 3</a:t>
            </a:r>
          </a:p>
        </p:txBody>
      </p:sp>
      <p:sp>
        <p:nvSpPr>
          <p:cNvPr id="9" name="TextBox 8"/>
          <p:cNvSpPr txBox="1"/>
          <p:nvPr/>
        </p:nvSpPr>
        <p:spPr>
          <a:xfrm>
            <a:off x="7543800" y="1280160"/>
            <a:ext cx="1295400" cy="228600"/>
          </a:xfrm>
          <a:prstGeom prst="rect">
            <a:avLst/>
          </a:prstGeom>
          <a:noFill/>
        </p:spPr>
        <p:txBody>
          <a:bodyPr wrap="square">
            <a:spAutoFit/>
          </a:bodyPr>
          <a:lstStyle/>
          <a:p>
            <a:pPr algn="ctr">
              <a:defRPr sz="900" b="1" i="0">
                <a:solidFill>
                  <a:srgbClr val="767676"/>
                </a:solidFill>
                <a:latin typeface="Calibri"/>
              </a:defRPr>
            </a:pPr>
            <a:r>
              <a:t>Month 4</a:t>
            </a:r>
          </a:p>
        </p:txBody>
      </p:sp>
      <p:sp>
        <p:nvSpPr>
          <p:cNvPr id="10" name="TextBox 9"/>
          <p:cNvSpPr txBox="1"/>
          <p:nvPr/>
        </p:nvSpPr>
        <p:spPr>
          <a:xfrm>
            <a:off x="8839200" y="1280160"/>
            <a:ext cx="1295400" cy="228600"/>
          </a:xfrm>
          <a:prstGeom prst="rect">
            <a:avLst/>
          </a:prstGeom>
          <a:noFill/>
        </p:spPr>
        <p:txBody>
          <a:bodyPr wrap="square">
            <a:spAutoFit/>
          </a:bodyPr>
          <a:lstStyle/>
          <a:p>
            <a:pPr algn="ctr">
              <a:defRPr sz="900" b="1" i="0">
                <a:solidFill>
                  <a:srgbClr val="767676"/>
                </a:solidFill>
                <a:latin typeface="Calibri"/>
              </a:defRPr>
            </a:pPr>
            <a:r>
              <a:t>Month 5</a:t>
            </a:r>
          </a:p>
        </p:txBody>
      </p:sp>
      <p:sp>
        <p:nvSpPr>
          <p:cNvPr id="11" name="TextBox 10"/>
          <p:cNvSpPr txBox="1"/>
          <p:nvPr/>
        </p:nvSpPr>
        <p:spPr>
          <a:xfrm>
            <a:off x="10134600" y="1280160"/>
            <a:ext cx="1295400" cy="228600"/>
          </a:xfrm>
          <a:prstGeom prst="rect">
            <a:avLst/>
          </a:prstGeom>
          <a:noFill/>
        </p:spPr>
        <p:txBody>
          <a:bodyPr wrap="square">
            <a:spAutoFit/>
          </a:bodyPr>
          <a:lstStyle/>
          <a:p>
            <a:pPr algn="ctr">
              <a:defRPr sz="900" b="1" i="0">
                <a:solidFill>
                  <a:srgbClr val="767676"/>
                </a:solidFill>
                <a:latin typeface="Calibri"/>
              </a:defRPr>
            </a:pPr>
            <a:r>
              <a:t>Month 6</a:t>
            </a:r>
          </a:p>
        </p:txBody>
      </p:sp>
      <p:sp>
        <p:nvSpPr>
          <p:cNvPr id="12" name="Rectangle 11"/>
          <p:cNvSpPr/>
          <p:nvPr/>
        </p:nvSpPr>
        <p:spPr>
          <a:xfrm>
            <a:off x="4953000" y="1508760"/>
            <a:ext cx="12700" cy="45720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48400" y="1508760"/>
            <a:ext cx="12700" cy="45720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543800" y="1508760"/>
            <a:ext cx="12700" cy="45720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839200" y="1508760"/>
            <a:ext cx="12700" cy="45720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0134600" y="1508760"/>
            <a:ext cx="12700" cy="45720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731520" y="1554480"/>
            <a:ext cx="10698480" cy="347472"/>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31520" y="1600200"/>
            <a:ext cx="2560320" cy="256032"/>
          </a:xfrm>
          <a:prstGeom prst="rect">
            <a:avLst/>
          </a:prstGeom>
          <a:noFill/>
        </p:spPr>
        <p:txBody>
          <a:bodyPr wrap="square">
            <a:spAutoFit/>
          </a:bodyPr>
          <a:lstStyle/>
          <a:p>
            <a:pPr algn="l">
              <a:defRPr sz="900" b="1" i="0">
                <a:solidFill>
                  <a:srgbClr val="1C1C1E"/>
                </a:solidFill>
                <a:latin typeface="Calibri"/>
              </a:defRPr>
            </a:pPr>
            <a:r>
              <a:t>Setup + Integration</a:t>
            </a:r>
          </a:p>
        </p:txBody>
      </p:sp>
      <p:sp>
        <p:nvSpPr>
          <p:cNvPr id="19" name="Rounded Rectangle 18"/>
          <p:cNvSpPr/>
          <p:nvPr/>
        </p:nvSpPr>
        <p:spPr>
          <a:xfrm>
            <a:off x="3657600" y="1609344"/>
            <a:ext cx="1295400" cy="219456"/>
          </a:xfrm>
          <a:prstGeom prst="roundRect">
            <a:avLst>
              <a:gd name="adj" fmla="val 15000"/>
            </a:avLst>
          </a:prstGeom>
          <a:solidFill>
            <a:srgbClr val="D4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749040" y="1609344"/>
            <a:ext cx="1112520" cy="219456"/>
          </a:xfrm>
          <a:prstGeom prst="rect">
            <a:avLst/>
          </a:prstGeom>
          <a:noFill/>
        </p:spPr>
        <p:txBody>
          <a:bodyPr wrap="square">
            <a:spAutoFit/>
          </a:bodyPr>
          <a:lstStyle/>
          <a:p>
            <a:pPr algn="l">
              <a:defRPr sz="700" b="0" i="0">
                <a:solidFill>
                  <a:srgbClr val="1C1C1E"/>
                </a:solidFill>
                <a:latin typeface="Calibri"/>
              </a:defRPr>
            </a:pPr>
            <a:r>
              <a:t>Zendesk + Kendra + Bedrock; baseline metrics</a:t>
            </a:r>
          </a:p>
        </p:txBody>
      </p:sp>
      <p:sp>
        <p:nvSpPr>
          <p:cNvPr id="21" name="TextBox 20"/>
          <p:cNvSpPr txBox="1"/>
          <p:nvPr/>
        </p:nvSpPr>
        <p:spPr>
          <a:xfrm>
            <a:off x="731520" y="1947672"/>
            <a:ext cx="2560320" cy="256032"/>
          </a:xfrm>
          <a:prstGeom prst="rect">
            <a:avLst/>
          </a:prstGeom>
          <a:noFill/>
        </p:spPr>
        <p:txBody>
          <a:bodyPr wrap="square">
            <a:spAutoFit/>
          </a:bodyPr>
          <a:lstStyle/>
          <a:p>
            <a:pPr algn="l">
              <a:defRPr sz="900" b="1" i="0">
                <a:solidFill>
                  <a:srgbClr val="1C1C1E"/>
                </a:solidFill>
                <a:latin typeface="Calibri"/>
              </a:defRPr>
            </a:pPr>
            <a:r>
              <a:t>Knowledge Base Indexing</a:t>
            </a:r>
          </a:p>
        </p:txBody>
      </p:sp>
      <p:sp>
        <p:nvSpPr>
          <p:cNvPr id="22" name="Rounded Rectangle 21"/>
          <p:cNvSpPr/>
          <p:nvPr/>
        </p:nvSpPr>
        <p:spPr>
          <a:xfrm>
            <a:off x="3657600" y="1956816"/>
            <a:ext cx="1036320" cy="219456"/>
          </a:xfrm>
          <a:prstGeom prst="roundRect">
            <a:avLst>
              <a:gd name="adj" fmla="val 15000"/>
            </a:avLst>
          </a:prstGeom>
          <a:solidFill>
            <a:srgbClr val="D4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31520" y="2249424"/>
            <a:ext cx="10698480" cy="347472"/>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31520" y="2295144"/>
            <a:ext cx="2560320" cy="256032"/>
          </a:xfrm>
          <a:prstGeom prst="rect">
            <a:avLst/>
          </a:prstGeom>
          <a:noFill/>
        </p:spPr>
        <p:txBody>
          <a:bodyPr wrap="square">
            <a:spAutoFit/>
          </a:bodyPr>
          <a:lstStyle/>
          <a:p>
            <a:pPr algn="l">
              <a:defRPr sz="900" b="1" i="0">
                <a:solidFill>
                  <a:srgbClr val="1C1C1E"/>
                </a:solidFill>
                <a:latin typeface="Calibri"/>
              </a:defRPr>
            </a:pPr>
            <a:r>
              <a:t>AI Draft Rollout (AXS)</a:t>
            </a:r>
          </a:p>
        </p:txBody>
      </p:sp>
      <p:sp>
        <p:nvSpPr>
          <p:cNvPr id="25" name="TextBox 24"/>
          <p:cNvSpPr txBox="1"/>
          <p:nvPr/>
        </p:nvSpPr>
        <p:spPr>
          <a:xfrm>
            <a:off x="3108960" y="2295144"/>
            <a:ext cx="457200" cy="256032"/>
          </a:xfrm>
          <a:prstGeom prst="rect">
            <a:avLst/>
          </a:prstGeom>
          <a:noFill/>
        </p:spPr>
        <p:txBody>
          <a:bodyPr wrap="square">
            <a:spAutoFit/>
          </a:bodyPr>
          <a:lstStyle/>
          <a:p>
            <a:pPr algn="l">
              <a:defRPr sz="800" b="1" i="0">
                <a:solidFill>
                  <a:srgbClr val="E51937"/>
                </a:solidFill>
                <a:latin typeface="Calibri"/>
              </a:defRPr>
            </a:pPr>
            <a:r>
              <a:t>G3</a:t>
            </a:r>
          </a:p>
        </p:txBody>
      </p:sp>
      <p:sp>
        <p:nvSpPr>
          <p:cNvPr id="26" name="Rounded Rectangle 25"/>
          <p:cNvSpPr/>
          <p:nvPr/>
        </p:nvSpPr>
        <p:spPr>
          <a:xfrm>
            <a:off x="4953000" y="2304288"/>
            <a:ext cx="2590800" cy="219456"/>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044440" y="2304288"/>
            <a:ext cx="2407920" cy="219456"/>
          </a:xfrm>
          <a:prstGeom prst="rect">
            <a:avLst/>
          </a:prstGeom>
          <a:noFill/>
        </p:spPr>
        <p:txBody>
          <a:bodyPr wrap="square">
            <a:spAutoFit/>
          </a:bodyPr>
          <a:lstStyle/>
          <a:p>
            <a:pPr algn="l">
              <a:defRPr sz="700" b="0" i="0">
                <a:solidFill>
                  <a:srgbClr val="FFFFFF"/>
                </a:solidFill>
                <a:latin typeface="Calibri"/>
              </a:defRPr>
            </a:pPr>
            <a:r>
              <a:t>AI drafts; agents review 100% before sending</a:t>
            </a:r>
          </a:p>
        </p:txBody>
      </p:sp>
      <p:sp>
        <p:nvSpPr>
          <p:cNvPr id="28" name="TextBox 27"/>
          <p:cNvSpPr txBox="1"/>
          <p:nvPr/>
        </p:nvSpPr>
        <p:spPr>
          <a:xfrm>
            <a:off x="731520" y="2642616"/>
            <a:ext cx="2560320" cy="256032"/>
          </a:xfrm>
          <a:prstGeom prst="rect">
            <a:avLst/>
          </a:prstGeom>
          <a:noFill/>
        </p:spPr>
        <p:txBody>
          <a:bodyPr wrap="square">
            <a:spAutoFit/>
          </a:bodyPr>
          <a:lstStyle/>
          <a:p>
            <a:pPr algn="l">
              <a:defRPr sz="900" b="1" i="0">
                <a:solidFill>
                  <a:srgbClr val="1C1C1E"/>
                </a:solidFill>
                <a:latin typeface="Calibri"/>
              </a:defRPr>
            </a:pPr>
            <a:r>
              <a:t>AI Draft Rollout (Hammerhead)</a:t>
            </a:r>
          </a:p>
        </p:txBody>
      </p:sp>
      <p:sp>
        <p:nvSpPr>
          <p:cNvPr id="29" name="TextBox 28"/>
          <p:cNvSpPr txBox="1"/>
          <p:nvPr/>
        </p:nvSpPr>
        <p:spPr>
          <a:xfrm>
            <a:off x="3108960" y="2642616"/>
            <a:ext cx="457200" cy="256032"/>
          </a:xfrm>
          <a:prstGeom prst="rect">
            <a:avLst/>
          </a:prstGeom>
          <a:noFill/>
        </p:spPr>
        <p:txBody>
          <a:bodyPr wrap="square">
            <a:spAutoFit/>
          </a:bodyPr>
          <a:lstStyle/>
          <a:p>
            <a:pPr algn="l">
              <a:defRPr sz="800" b="1" i="0">
                <a:solidFill>
                  <a:srgbClr val="E51937"/>
                </a:solidFill>
                <a:latin typeface="Calibri"/>
              </a:defRPr>
            </a:pPr>
            <a:r>
              <a:t>G3</a:t>
            </a:r>
          </a:p>
        </p:txBody>
      </p:sp>
      <p:sp>
        <p:nvSpPr>
          <p:cNvPr id="30" name="Rounded Rectangle 29"/>
          <p:cNvSpPr/>
          <p:nvPr/>
        </p:nvSpPr>
        <p:spPr>
          <a:xfrm>
            <a:off x="7543800" y="2651760"/>
            <a:ext cx="2590800" cy="219456"/>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635240" y="2651760"/>
            <a:ext cx="2407920" cy="219456"/>
          </a:xfrm>
          <a:prstGeom prst="rect">
            <a:avLst/>
          </a:prstGeom>
          <a:noFill/>
        </p:spPr>
        <p:txBody>
          <a:bodyPr wrap="square">
            <a:spAutoFit/>
          </a:bodyPr>
          <a:lstStyle/>
          <a:p>
            <a:pPr algn="l">
              <a:defRPr sz="700" b="0" i="0">
                <a:solidFill>
                  <a:srgbClr val="FFFFFF"/>
                </a:solidFill>
                <a:latin typeface="Calibri"/>
              </a:defRPr>
            </a:pPr>
            <a:r>
              <a:t>Expand to Hammerhead device tickets</a:t>
            </a:r>
          </a:p>
        </p:txBody>
      </p:sp>
      <p:sp>
        <p:nvSpPr>
          <p:cNvPr id="32" name="Rounded Rectangle 31"/>
          <p:cNvSpPr/>
          <p:nvPr/>
        </p:nvSpPr>
        <p:spPr>
          <a:xfrm>
            <a:off x="731520" y="2944368"/>
            <a:ext cx="10698480" cy="347472"/>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31520" y="2990088"/>
            <a:ext cx="2560320" cy="256032"/>
          </a:xfrm>
          <a:prstGeom prst="rect">
            <a:avLst/>
          </a:prstGeom>
          <a:noFill/>
        </p:spPr>
        <p:txBody>
          <a:bodyPr wrap="square">
            <a:spAutoFit/>
          </a:bodyPr>
          <a:lstStyle/>
          <a:p>
            <a:pPr algn="l">
              <a:defRPr sz="900" b="1" i="0">
                <a:solidFill>
                  <a:srgbClr val="1C1C1E"/>
                </a:solidFill>
                <a:latin typeface="Calibri"/>
              </a:defRPr>
            </a:pPr>
            <a:r>
              <a:t>Response Time Tracking</a:t>
            </a:r>
          </a:p>
        </p:txBody>
      </p:sp>
      <p:sp>
        <p:nvSpPr>
          <p:cNvPr id="34" name="TextBox 33"/>
          <p:cNvSpPr txBox="1"/>
          <p:nvPr/>
        </p:nvSpPr>
        <p:spPr>
          <a:xfrm>
            <a:off x="3108960" y="2990088"/>
            <a:ext cx="457200" cy="256032"/>
          </a:xfrm>
          <a:prstGeom prst="rect">
            <a:avLst/>
          </a:prstGeom>
          <a:noFill/>
        </p:spPr>
        <p:txBody>
          <a:bodyPr wrap="square">
            <a:spAutoFit/>
          </a:bodyPr>
          <a:lstStyle/>
          <a:p>
            <a:pPr algn="l">
              <a:defRPr sz="800" b="1" i="0">
                <a:solidFill>
                  <a:srgbClr val="E51937"/>
                </a:solidFill>
                <a:latin typeface="Calibri"/>
              </a:defRPr>
            </a:pPr>
            <a:r>
              <a:t>G1</a:t>
            </a:r>
          </a:p>
        </p:txBody>
      </p:sp>
      <p:sp>
        <p:nvSpPr>
          <p:cNvPr id="35" name="Rounded Rectangle 34"/>
          <p:cNvSpPr/>
          <p:nvPr/>
        </p:nvSpPr>
        <p:spPr>
          <a:xfrm>
            <a:off x="4953000" y="2999232"/>
            <a:ext cx="6477000" cy="219456"/>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5044440" y="2999232"/>
            <a:ext cx="6294120" cy="219456"/>
          </a:xfrm>
          <a:prstGeom prst="rect">
            <a:avLst/>
          </a:prstGeom>
          <a:noFill/>
        </p:spPr>
        <p:txBody>
          <a:bodyPr wrap="square">
            <a:spAutoFit/>
          </a:bodyPr>
          <a:lstStyle/>
          <a:p>
            <a:pPr algn="l">
              <a:defRPr sz="700" b="0" i="0">
                <a:solidFill>
                  <a:srgbClr val="FFFFFF"/>
                </a:solidFill>
                <a:latin typeface="Calibri"/>
              </a:defRPr>
            </a:pPr>
            <a:r>
              <a:t>Weekly measurement vs. SLA baseline</a:t>
            </a:r>
          </a:p>
        </p:txBody>
      </p:sp>
      <p:sp>
        <p:nvSpPr>
          <p:cNvPr id="37" name="TextBox 36"/>
          <p:cNvSpPr txBox="1"/>
          <p:nvPr/>
        </p:nvSpPr>
        <p:spPr>
          <a:xfrm>
            <a:off x="731520" y="3337560"/>
            <a:ext cx="2560320" cy="256032"/>
          </a:xfrm>
          <a:prstGeom prst="rect">
            <a:avLst/>
          </a:prstGeom>
          <a:noFill/>
        </p:spPr>
        <p:txBody>
          <a:bodyPr wrap="square">
            <a:spAutoFit/>
          </a:bodyPr>
          <a:lstStyle/>
          <a:p>
            <a:pPr algn="l">
              <a:defRPr sz="900" b="1" i="0">
                <a:solidFill>
                  <a:srgbClr val="1C1C1E"/>
                </a:solidFill>
                <a:latin typeface="Calibri"/>
              </a:defRPr>
            </a:pPr>
            <a:r>
              <a:t>Escalation Rate Tracking</a:t>
            </a:r>
          </a:p>
        </p:txBody>
      </p:sp>
      <p:sp>
        <p:nvSpPr>
          <p:cNvPr id="38" name="TextBox 37"/>
          <p:cNvSpPr txBox="1"/>
          <p:nvPr/>
        </p:nvSpPr>
        <p:spPr>
          <a:xfrm>
            <a:off x="3108960" y="3337560"/>
            <a:ext cx="457200" cy="256032"/>
          </a:xfrm>
          <a:prstGeom prst="rect">
            <a:avLst/>
          </a:prstGeom>
          <a:noFill/>
        </p:spPr>
        <p:txBody>
          <a:bodyPr wrap="square">
            <a:spAutoFit/>
          </a:bodyPr>
          <a:lstStyle/>
          <a:p>
            <a:pPr algn="l">
              <a:defRPr sz="800" b="1" i="0">
                <a:solidFill>
                  <a:srgbClr val="E51937"/>
                </a:solidFill>
                <a:latin typeface="Calibri"/>
              </a:defRPr>
            </a:pPr>
            <a:r>
              <a:t>G2</a:t>
            </a:r>
          </a:p>
        </p:txBody>
      </p:sp>
      <p:sp>
        <p:nvSpPr>
          <p:cNvPr id="39" name="Rounded Rectangle 38"/>
          <p:cNvSpPr/>
          <p:nvPr/>
        </p:nvSpPr>
        <p:spPr>
          <a:xfrm>
            <a:off x="4953000" y="3346704"/>
            <a:ext cx="6477000" cy="219456"/>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5044440" y="3346704"/>
            <a:ext cx="6294120" cy="219456"/>
          </a:xfrm>
          <a:prstGeom prst="rect">
            <a:avLst/>
          </a:prstGeom>
          <a:noFill/>
        </p:spPr>
        <p:txBody>
          <a:bodyPr wrap="square">
            <a:spAutoFit/>
          </a:bodyPr>
          <a:lstStyle/>
          <a:p>
            <a:pPr algn="l">
              <a:defRPr sz="700" b="0" i="0">
                <a:solidFill>
                  <a:srgbClr val="FFFFFF"/>
                </a:solidFill>
                <a:latin typeface="Calibri"/>
              </a:defRPr>
            </a:pPr>
            <a:r>
              <a:t>Weekly measurement vs. baseline</a:t>
            </a:r>
          </a:p>
        </p:txBody>
      </p:sp>
      <p:sp>
        <p:nvSpPr>
          <p:cNvPr id="41" name="Rounded Rectangle 40"/>
          <p:cNvSpPr/>
          <p:nvPr/>
        </p:nvSpPr>
        <p:spPr>
          <a:xfrm>
            <a:off x="731520" y="3639312"/>
            <a:ext cx="10698480" cy="347472"/>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31520" y="3685032"/>
            <a:ext cx="2560320" cy="256032"/>
          </a:xfrm>
          <a:prstGeom prst="rect">
            <a:avLst/>
          </a:prstGeom>
          <a:noFill/>
        </p:spPr>
        <p:txBody>
          <a:bodyPr wrap="square">
            <a:spAutoFit/>
          </a:bodyPr>
          <a:lstStyle/>
          <a:p>
            <a:pPr algn="l">
              <a:defRPr sz="900" b="1" i="0">
                <a:solidFill>
                  <a:srgbClr val="1C1C1E"/>
                </a:solidFill>
                <a:latin typeface="Calibri"/>
              </a:defRPr>
            </a:pPr>
            <a:r>
              <a:t>Throughput Measurement</a:t>
            </a:r>
          </a:p>
        </p:txBody>
      </p:sp>
      <p:sp>
        <p:nvSpPr>
          <p:cNvPr id="43" name="TextBox 42"/>
          <p:cNvSpPr txBox="1"/>
          <p:nvPr/>
        </p:nvSpPr>
        <p:spPr>
          <a:xfrm>
            <a:off x="3108960" y="3685032"/>
            <a:ext cx="457200" cy="256032"/>
          </a:xfrm>
          <a:prstGeom prst="rect">
            <a:avLst/>
          </a:prstGeom>
          <a:noFill/>
        </p:spPr>
        <p:txBody>
          <a:bodyPr wrap="square">
            <a:spAutoFit/>
          </a:bodyPr>
          <a:lstStyle/>
          <a:p>
            <a:pPr algn="l">
              <a:defRPr sz="800" b="1" i="0">
                <a:solidFill>
                  <a:srgbClr val="E51937"/>
                </a:solidFill>
                <a:latin typeface="Calibri"/>
              </a:defRPr>
            </a:pPr>
            <a:r>
              <a:t>G4</a:t>
            </a:r>
          </a:p>
        </p:txBody>
      </p:sp>
      <p:sp>
        <p:nvSpPr>
          <p:cNvPr id="44" name="Rounded Rectangle 43"/>
          <p:cNvSpPr/>
          <p:nvPr/>
        </p:nvSpPr>
        <p:spPr>
          <a:xfrm>
            <a:off x="6248400" y="3694176"/>
            <a:ext cx="5181600" cy="219456"/>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339840" y="3694176"/>
            <a:ext cx="4998720" cy="219456"/>
          </a:xfrm>
          <a:prstGeom prst="rect">
            <a:avLst/>
          </a:prstGeom>
          <a:noFill/>
        </p:spPr>
        <p:txBody>
          <a:bodyPr wrap="square">
            <a:spAutoFit/>
          </a:bodyPr>
          <a:lstStyle/>
          <a:p>
            <a:pPr algn="l">
              <a:defRPr sz="700" b="0" i="0">
                <a:solidFill>
                  <a:srgbClr val="FFFFFF"/>
                </a:solidFill>
                <a:latin typeface="Calibri"/>
              </a:defRPr>
            </a:pPr>
            <a:r>
              <a:t>Tickets/agent/day tracked weekly</a:t>
            </a:r>
          </a:p>
        </p:txBody>
      </p:sp>
      <p:sp>
        <p:nvSpPr>
          <p:cNvPr id="46" name="TextBox 45"/>
          <p:cNvSpPr txBox="1"/>
          <p:nvPr/>
        </p:nvSpPr>
        <p:spPr>
          <a:xfrm>
            <a:off x="731520" y="4032504"/>
            <a:ext cx="2560320" cy="256032"/>
          </a:xfrm>
          <a:prstGeom prst="rect">
            <a:avLst/>
          </a:prstGeom>
          <a:noFill/>
        </p:spPr>
        <p:txBody>
          <a:bodyPr wrap="square">
            <a:spAutoFit/>
          </a:bodyPr>
          <a:lstStyle/>
          <a:p>
            <a:pPr algn="l">
              <a:defRPr sz="900" b="1" i="0">
                <a:solidFill>
                  <a:srgbClr val="1C1C1E"/>
                </a:solidFill>
                <a:latin typeface="Calibri"/>
              </a:defRPr>
            </a:pPr>
            <a:r>
              <a:t>CSAT Monitoring</a:t>
            </a:r>
          </a:p>
        </p:txBody>
      </p:sp>
      <p:sp>
        <p:nvSpPr>
          <p:cNvPr id="47" name="TextBox 46"/>
          <p:cNvSpPr txBox="1"/>
          <p:nvPr/>
        </p:nvSpPr>
        <p:spPr>
          <a:xfrm>
            <a:off x="3108960" y="4032504"/>
            <a:ext cx="457200" cy="256032"/>
          </a:xfrm>
          <a:prstGeom prst="rect">
            <a:avLst/>
          </a:prstGeom>
          <a:noFill/>
        </p:spPr>
        <p:txBody>
          <a:bodyPr wrap="square">
            <a:spAutoFit/>
          </a:bodyPr>
          <a:lstStyle/>
          <a:p>
            <a:pPr algn="l">
              <a:defRPr sz="800" b="1" i="0">
                <a:solidFill>
                  <a:srgbClr val="E51937"/>
                </a:solidFill>
                <a:latin typeface="Calibri"/>
              </a:defRPr>
            </a:pPr>
            <a:r>
              <a:t>G5</a:t>
            </a:r>
          </a:p>
        </p:txBody>
      </p:sp>
      <p:sp>
        <p:nvSpPr>
          <p:cNvPr id="48" name="Rounded Rectangle 47"/>
          <p:cNvSpPr/>
          <p:nvPr/>
        </p:nvSpPr>
        <p:spPr>
          <a:xfrm>
            <a:off x="4953000" y="4041648"/>
            <a:ext cx="6477000" cy="219456"/>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5044440" y="4041648"/>
            <a:ext cx="6294120" cy="219456"/>
          </a:xfrm>
          <a:prstGeom prst="rect">
            <a:avLst/>
          </a:prstGeom>
          <a:noFill/>
        </p:spPr>
        <p:txBody>
          <a:bodyPr wrap="square">
            <a:spAutoFit/>
          </a:bodyPr>
          <a:lstStyle/>
          <a:p>
            <a:pPr algn="l">
              <a:defRPr sz="700" b="0" i="0">
                <a:solidFill>
                  <a:srgbClr val="FFFFFF"/>
                </a:solidFill>
                <a:latin typeface="Calibri"/>
              </a:defRPr>
            </a:pPr>
            <a:r>
              <a:t>No decline for 2 consecutive periods</a:t>
            </a:r>
          </a:p>
        </p:txBody>
      </p:sp>
      <p:sp>
        <p:nvSpPr>
          <p:cNvPr id="50" name="TextBox 49"/>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51" name="TextBox 50"/>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10</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TIMELINE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6-month pilot: Day-45 scope review, Day-90 go/no-go, Month 7-12 scale</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0" y="1280160"/>
            <a:ext cx="1295400" cy="228600"/>
          </a:xfrm>
          <a:prstGeom prst="rect">
            <a:avLst/>
          </a:prstGeom>
          <a:noFill/>
        </p:spPr>
        <p:txBody>
          <a:bodyPr wrap="square">
            <a:spAutoFit/>
          </a:bodyPr>
          <a:lstStyle/>
          <a:p>
            <a:pPr algn="ctr">
              <a:defRPr sz="900" b="1" i="0">
                <a:solidFill>
                  <a:srgbClr val="767676"/>
                </a:solidFill>
                <a:latin typeface="Calibri"/>
              </a:defRPr>
            </a:pPr>
            <a:r>
              <a:t>Month 1</a:t>
            </a:r>
          </a:p>
        </p:txBody>
      </p:sp>
      <p:sp>
        <p:nvSpPr>
          <p:cNvPr id="7" name="TextBox 6"/>
          <p:cNvSpPr txBox="1"/>
          <p:nvPr/>
        </p:nvSpPr>
        <p:spPr>
          <a:xfrm>
            <a:off x="4953000" y="1280160"/>
            <a:ext cx="1295400" cy="228600"/>
          </a:xfrm>
          <a:prstGeom prst="rect">
            <a:avLst/>
          </a:prstGeom>
          <a:noFill/>
        </p:spPr>
        <p:txBody>
          <a:bodyPr wrap="square">
            <a:spAutoFit/>
          </a:bodyPr>
          <a:lstStyle/>
          <a:p>
            <a:pPr algn="ctr">
              <a:defRPr sz="900" b="1" i="0">
                <a:solidFill>
                  <a:srgbClr val="767676"/>
                </a:solidFill>
                <a:latin typeface="Calibri"/>
              </a:defRPr>
            </a:pPr>
            <a:r>
              <a:t>Month 2</a:t>
            </a:r>
          </a:p>
        </p:txBody>
      </p:sp>
      <p:sp>
        <p:nvSpPr>
          <p:cNvPr id="8" name="TextBox 7"/>
          <p:cNvSpPr txBox="1"/>
          <p:nvPr/>
        </p:nvSpPr>
        <p:spPr>
          <a:xfrm>
            <a:off x="6248400" y="1280160"/>
            <a:ext cx="1295400" cy="228600"/>
          </a:xfrm>
          <a:prstGeom prst="rect">
            <a:avLst/>
          </a:prstGeom>
          <a:noFill/>
        </p:spPr>
        <p:txBody>
          <a:bodyPr wrap="square">
            <a:spAutoFit/>
          </a:bodyPr>
          <a:lstStyle/>
          <a:p>
            <a:pPr algn="ctr">
              <a:defRPr sz="900" b="1" i="0">
                <a:solidFill>
                  <a:srgbClr val="767676"/>
                </a:solidFill>
                <a:latin typeface="Calibri"/>
              </a:defRPr>
            </a:pPr>
            <a:r>
              <a:t>Month 3</a:t>
            </a:r>
          </a:p>
        </p:txBody>
      </p:sp>
      <p:sp>
        <p:nvSpPr>
          <p:cNvPr id="9" name="TextBox 8"/>
          <p:cNvSpPr txBox="1"/>
          <p:nvPr/>
        </p:nvSpPr>
        <p:spPr>
          <a:xfrm>
            <a:off x="7543800" y="1280160"/>
            <a:ext cx="1295400" cy="228600"/>
          </a:xfrm>
          <a:prstGeom prst="rect">
            <a:avLst/>
          </a:prstGeom>
          <a:noFill/>
        </p:spPr>
        <p:txBody>
          <a:bodyPr wrap="square">
            <a:spAutoFit/>
          </a:bodyPr>
          <a:lstStyle/>
          <a:p>
            <a:pPr algn="ctr">
              <a:defRPr sz="900" b="1" i="0">
                <a:solidFill>
                  <a:srgbClr val="767676"/>
                </a:solidFill>
                <a:latin typeface="Calibri"/>
              </a:defRPr>
            </a:pPr>
            <a:r>
              <a:t>Month 4</a:t>
            </a:r>
          </a:p>
        </p:txBody>
      </p:sp>
      <p:sp>
        <p:nvSpPr>
          <p:cNvPr id="10" name="TextBox 9"/>
          <p:cNvSpPr txBox="1"/>
          <p:nvPr/>
        </p:nvSpPr>
        <p:spPr>
          <a:xfrm>
            <a:off x="8839200" y="1280160"/>
            <a:ext cx="1295400" cy="228600"/>
          </a:xfrm>
          <a:prstGeom prst="rect">
            <a:avLst/>
          </a:prstGeom>
          <a:noFill/>
        </p:spPr>
        <p:txBody>
          <a:bodyPr wrap="square">
            <a:spAutoFit/>
          </a:bodyPr>
          <a:lstStyle/>
          <a:p>
            <a:pPr algn="ctr">
              <a:defRPr sz="900" b="1" i="0">
                <a:solidFill>
                  <a:srgbClr val="767676"/>
                </a:solidFill>
                <a:latin typeface="Calibri"/>
              </a:defRPr>
            </a:pPr>
            <a:r>
              <a:t>Month 5</a:t>
            </a:r>
          </a:p>
        </p:txBody>
      </p:sp>
      <p:sp>
        <p:nvSpPr>
          <p:cNvPr id="11" name="TextBox 10"/>
          <p:cNvSpPr txBox="1"/>
          <p:nvPr/>
        </p:nvSpPr>
        <p:spPr>
          <a:xfrm>
            <a:off x="10134600" y="1280160"/>
            <a:ext cx="1295400" cy="228600"/>
          </a:xfrm>
          <a:prstGeom prst="rect">
            <a:avLst/>
          </a:prstGeom>
          <a:noFill/>
        </p:spPr>
        <p:txBody>
          <a:bodyPr wrap="square">
            <a:spAutoFit/>
          </a:bodyPr>
          <a:lstStyle/>
          <a:p>
            <a:pPr algn="ctr">
              <a:defRPr sz="900" b="1" i="0">
                <a:solidFill>
                  <a:srgbClr val="767676"/>
                </a:solidFill>
                <a:latin typeface="Calibri"/>
              </a:defRPr>
            </a:pPr>
            <a:r>
              <a:t>Month 6</a:t>
            </a:r>
          </a:p>
        </p:txBody>
      </p:sp>
      <p:sp>
        <p:nvSpPr>
          <p:cNvPr id="12" name="Rectangle 11"/>
          <p:cNvSpPr/>
          <p:nvPr/>
        </p:nvSpPr>
        <p:spPr>
          <a:xfrm>
            <a:off x="4953000" y="1508760"/>
            <a:ext cx="12700" cy="45720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48400" y="1508760"/>
            <a:ext cx="12700" cy="45720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543800" y="1508760"/>
            <a:ext cx="12700" cy="45720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839200" y="1508760"/>
            <a:ext cx="12700" cy="45720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0134600" y="1508760"/>
            <a:ext cx="12700" cy="45720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731520" y="1554480"/>
            <a:ext cx="10698480" cy="347472"/>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31520" y="1600200"/>
            <a:ext cx="2560320" cy="256032"/>
          </a:xfrm>
          <a:prstGeom prst="rect">
            <a:avLst/>
          </a:prstGeom>
          <a:noFill/>
        </p:spPr>
        <p:txBody>
          <a:bodyPr wrap="square">
            <a:spAutoFit/>
          </a:bodyPr>
          <a:lstStyle/>
          <a:p>
            <a:pPr algn="l">
              <a:defRPr sz="900" b="1" i="0">
                <a:solidFill>
                  <a:srgbClr val="1C1C1E"/>
                </a:solidFill>
                <a:latin typeface="Calibri"/>
              </a:defRPr>
            </a:pPr>
            <a:r>
              <a:t>Setup + Integration</a:t>
            </a:r>
          </a:p>
        </p:txBody>
      </p:sp>
      <p:sp>
        <p:nvSpPr>
          <p:cNvPr id="19" name="Rounded Rectangle 18"/>
          <p:cNvSpPr/>
          <p:nvPr/>
        </p:nvSpPr>
        <p:spPr>
          <a:xfrm>
            <a:off x="3657600" y="1609344"/>
            <a:ext cx="1295400" cy="219456"/>
          </a:xfrm>
          <a:prstGeom prst="roundRect">
            <a:avLst>
              <a:gd name="adj" fmla="val 15000"/>
            </a:avLst>
          </a:prstGeom>
          <a:solidFill>
            <a:srgbClr val="D4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749040" y="1609344"/>
            <a:ext cx="1112520" cy="219456"/>
          </a:xfrm>
          <a:prstGeom prst="rect">
            <a:avLst/>
          </a:prstGeom>
          <a:noFill/>
        </p:spPr>
        <p:txBody>
          <a:bodyPr wrap="square">
            <a:spAutoFit/>
          </a:bodyPr>
          <a:lstStyle/>
          <a:p>
            <a:pPr algn="l">
              <a:defRPr sz="700" b="0" i="0">
                <a:solidFill>
                  <a:srgbClr val="1C1C1E"/>
                </a:solidFill>
                <a:latin typeface="Calibri"/>
              </a:defRPr>
            </a:pPr>
            <a:r>
              <a:t>Zendesk + Kendra + Bedrock; baseline metrics</a:t>
            </a:r>
          </a:p>
        </p:txBody>
      </p:sp>
      <p:sp>
        <p:nvSpPr>
          <p:cNvPr id="21" name="TextBox 20"/>
          <p:cNvSpPr txBox="1"/>
          <p:nvPr/>
        </p:nvSpPr>
        <p:spPr>
          <a:xfrm>
            <a:off x="731520" y="1947672"/>
            <a:ext cx="2560320" cy="256032"/>
          </a:xfrm>
          <a:prstGeom prst="rect">
            <a:avLst/>
          </a:prstGeom>
          <a:noFill/>
        </p:spPr>
        <p:txBody>
          <a:bodyPr wrap="square">
            <a:spAutoFit/>
          </a:bodyPr>
          <a:lstStyle/>
          <a:p>
            <a:pPr algn="l">
              <a:defRPr sz="900" b="1" i="0">
                <a:solidFill>
                  <a:srgbClr val="1C1C1E"/>
                </a:solidFill>
                <a:latin typeface="Calibri"/>
              </a:defRPr>
            </a:pPr>
            <a:r>
              <a:t>Knowledge Base Indexing</a:t>
            </a:r>
          </a:p>
        </p:txBody>
      </p:sp>
      <p:sp>
        <p:nvSpPr>
          <p:cNvPr id="22" name="Rounded Rectangle 21"/>
          <p:cNvSpPr/>
          <p:nvPr/>
        </p:nvSpPr>
        <p:spPr>
          <a:xfrm>
            <a:off x="3657600" y="1956816"/>
            <a:ext cx="1036320" cy="219456"/>
          </a:xfrm>
          <a:prstGeom prst="roundRect">
            <a:avLst>
              <a:gd name="adj" fmla="val 15000"/>
            </a:avLst>
          </a:prstGeom>
          <a:solidFill>
            <a:srgbClr val="D4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31520" y="2249424"/>
            <a:ext cx="10698480" cy="347472"/>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31520" y="2295144"/>
            <a:ext cx="2560320" cy="256032"/>
          </a:xfrm>
          <a:prstGeom prst="rect">
            <a:avLst/>
          </a:prstGeom>
          <a:noFill/>
        </p:spPr>
        <p:txBody>
          <a:bodyPr wrap="square">
            <a:spAutoFit/>
          </a:bodyPr>
          <a:lstStyle/>
          <a:p>
            <a:pPr algn="l">
              <a:defRPr sz="900" b="1" i="0">
                <a:solidFill>
                  <a:srgbClr val="1C1C1E"/>
                </a:solidFill>
                <a:latin typeface="Calibri"/>
              </a:defRPr>
            </a:pPr>
            <a:r>
              <a:t>AI Draft Rollout (AXS)</a:t>
            </a:r>
          </a:p>
        </p:txBody>
      </p:sp>
      <p:sp>
        <p:nvSpPr>
          <p:cNvPr id="25" name="TextBox 24"/>
          <p:cNvSpPr txBox="1"/>
          <p:nvPr/>
        </p:nvSpPr>
        <p:spPr>
          <a:xfrm>
            <a:off x="3108960" y="2295144"/>
            <a:ext cx="457200" cy="256032"/>
          </a:xfrm>
          <a:prstGeom prst="rect">
            <a:avLst/>
          </a:prstGeom>
          <a:noFill/>
        </p:spPr>
        <p:txBody>
          <a:bodyPr wrap="square">
            <a:spAutoFit/>
          </a:bodyPr>
          <a:lstStyle/>
          <a:p>
            <a:pPr algn="l">
              <a:defRPr sz="800" b="1" i="0">
                <a:solidFill>
                  <a:srgbClr val="E51937"/>
                </a:solidFill>
                <a:latin typeface="Calibri"/>
              </a:defRPr>
            </a:pPr>
            <a:r>
              <a:t>G3</a:t>
            </a:r>
          </a:p>
        </p:txBody>
      </p:sp>
      <p:sp>
        <p:nvSpPr>
          <p:cNvPr id="26" name="Rounded Rectangle 25"/>
          <p:cNvSpPr/>
          <p:nvPr/>
        </p:nvSpPr>
        <p:spPr>
          <a:xfrm>
            <a:off x="4953000" y="2304288"/>
            <a:ext cx="2590800" cy="219456"/>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044440" y="2304288"/>
            <a:ext cx="2407920" cy="219456"/>
          </a:xfrm>
          <a:prstGeom prst="rect">
            <a:avLst/>
          </a:prstGeom>
          <a:noFill/>
        </p:spPr>
        <p:txBody>
          <a:bodyPr wrap="square">
            <a:spAutoFit/>
          </a:bodyPr>
          <a:lstStyle/>
          <a:p>
            <a:pPr algn="l">
              <a:defRPr sz="700" b="0" i="0">
                <a:solidFill>
                  <a:srgbClr val="FFFFFF"/>
                </a:solidFill>
                <a:latin typeface="Calibri"/>
              </a:defRPr>
            </a:pPr>
            <a:r>
              <a:t>AI drafts; agents review 100% before sending</a:t>
            </a:r>
          </a:p>
        </p:txBody>
      </p:sp>
      <p:sp>
        <p:nvSpPr>
          <p:cNvPr id="28" name="TextBox 27"/>
          <p:cNvSpPr txBox="1"/>
          <p:nvPr/>
        </p:nvSpPr>
        <p:spPr>
          <a:xfrm>
            <a:off x="731520" y="2642616"/>
            <a:ext cx="2560320" cy="256032"/>
          </a:xfrm>
          <a:prstGeom prst="rect">
            <a:avLst/>
          </a:prstGeom>
          <a:noFill/>
        </p:spPr>
        <p:txBody>
          <a:bodyPr wrap="square">
            <a:spAutoFit/>
          </a:bodyPr>
          <a:lstStyle/>
          <a:p>
            <a:pPr algn="l">
              <a:defRPr sz="900" b="1" i="0">
                <a:solidFill>
                  <a:srgbClr val="1C1C1E"/>
                </a:solidFill>
                <a:latin typeface="Calibri"/>
              </a:defRPr>
            </a:pPr>
            <a:r>
              <a:t>AI Draft Rollout (Hammerhead)</a:t>
            </a:r>
          </a:p>
        </p:txBody>
      </p:sp>
      <p:sp>
        <p:nvSpPr>
          <p:cNvPr id="29" name="TextBox 28"/>
          <p:cNvSpPr txBox="1"/>
          <p:nvPr/>
        </p:nvSpPr>
        <p:spPr>
          <a:xfrm>
            <a:off x="3108960" y="2642616"/>
            <a:ext cx="457200" cy="256032"/>
          </a:xfrm>
          <a:prstGeom prst="rect">
            <a:avLst/>
          </a:prstGeom>
          <a:noFill/>
        </p:spPr>
        <p:txBody>
          <a:bodyPr wrap="square">
            <a:spAutoFit/>
          </a:bodyPr>
          <a:lstStyle/>
          <a:p>
            <a:pPr algn="l">
              <a:defRPr sz="800" b="1" i="0">
                <a:solidFill>
                  <a:srgbClr val="E51937"/>
                </a:solidFill>
                <a:latin typeface="Calibri"/>
              </a:defRPr>
            </a:pPr>
            <a:r>
              <a:t>G3</a:t>
            </a:r>
          </a:p>
        </p:txBody>
      </p:sp>
      <p:sp>
        <p:nvSpPr>
          <p:cNvPr id="30" name="Rounded Rectangle 29"/>
          <p:cNvSpPr/>
          <p:nvPr/>
        </p:nvSpPr>
        <p:spPr>
          <a:xfrm>
            <a:off x="7543800" y="2651760"/>
            <a:ext cx="2590800" cy="219456"/>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635240" y="2651760"/>
            <a:ext cx="2407920" cy="219456"/>
          </a:xfrm>
          <a:prstGeom prst="rect">
            <a:avLst/>
          </a:prstGeom>
          <a:noFill/>
        </p:spPr>
        <p:txBody>
          <a:bodyPr wrap="square">
            <a:spAutoFit/>
          </a:bodyPr>
          <a:lstStyle/>
          <a:p>
            <a:pPr algn="l">
              <a:defRPr sz="700" b="0" i="0">
                <a:solidFill>
                  <a:srgbClr val="FFFFFF"/>
                </a:solidFill>
                <a:latin typeface="Calibri"/>
              </a:defRPr>
            </a:pPr>
            <a:r>
              <a:t>Expand to Hammerhead device tickets</a:t>
            </a:r>
          </a:p>
        </p:txBody>
      </p:sp>
      <p:sp>
        <p:nvSpPr>
          <p:cNvPr id="32" name="Rounded Rectangle 31"/>
          <p:cNvSpPr/>
          <p:nvPr/>
        </p:nvSpPr>
        <p:spPr>
          <a:xfrm>
            <a:off x="731520" y="2944368"/>
            <a:ext cx="10698480" cy="347472"/>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31520" y="2990088"/>
            <a:ext cx="2560320" cy="256032"/>
          </a:xfrm>
          <a:prstGeom prst="rect">
            <a:avLst/>
          </a:prstGeom>
          <a:noFill/>
        </p:spPr>
        <p:txBody>
          <a:bodyPr wrap="square">
            <a:spAutoFit/>
          </a:bodyPr>
          <a:lstStyle/>
          <a:p>
            <a:pPr algn="l">
              <a:defRPr sz="900" b="1" i="0">
                <a:solidFill>
                  <a:srgbClr val="1C1C1E"/>
                </a:solidFill>
                <a:latin typeface="Calibri"/>
              </a:defRPr>
            </a:pPr>
            <a:r>
              <a:t>Response Time Tracking</a:t>
            </a:r>
          </a:p>
        </p:txBody>
      </p:sp>
      <p:sp>
        <p:nvSpPr>
          <p:cNvPr id="34" name="TextBox 33"/>
          <p:cNvSpPr txBox="1"/>
          <p:nvPr/>
        </p:nvSpPr>
        <p:spPr>
          <a:xfrm>
            <a:off x="3108960" y="2990088"/>
            <a:ext cx="457200" cy="256032"/>
          </a:xfrm>
          <a:prstGeom prst="rect">
            <a:avLst/>
          </a:prstGeom>
          <a:noFill/>
        </p:spPr>
        <p:txBody>
          <a:bodyPr wrap="square">
            <a:spAutoFit/>
          </a:bodyPr>
          <a:lstStyle/>
          <a:p>
            <a:pPr algn="l">
              <a:defRPr sz="800" b="1" i="0">
                <a:solidFill>
                  <a:srgbClr val="E51937"/>
                </a:solidFill>
                <a:latin typeface="Calibri"/>
              </a:defRPr>
            </a:pPr>
            <a:r>
              <a:t>G1</a:t>
            </a:r>
          </a:p>
        </p:txBody>
      </p:sp>
      <p:sp>
        <p:nvSpPr>
          <p:cNvPr id="35" name="Rounded Rectangle 34"/>
          <p:cNvSpPr/>
          <p:nvPr/>
        </p:nvSpPr>
        <p:spPr>
          <a:xfrm>
            <a:off x="4953000" y="2999232"/>
            <a:ext cx="6477000" cy="219456"/>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5044440" y="2999232"/>
            <a:ext cx="6294120" cy="219456"/>
          </a:xfrm>
          <a:prstGeom prst="rect">
            <a:avLst/>
          </a:prstGeom>
          <a:noFill/>
        </p:spPr>
        <p:txBody>
          <a:bodyPr wrap="square">
            <a:spAutoFit/>
          </a:bodyPr>
          <a:lstStyle/>
          <a:p>
            <a:pPr algn="l">
              <a:defRPr sz="700" b="0" i="0">
                <a:solidFill>
                  <a:srgbClr val="FFFFFF"/>
                </a:solidFill>
                <a:latin typeface="Calibri"/>
              </a:defRPr>
            </a:pPr>
            <a:r>
              <a:t>Weekly measurement vs. SLA baseline</a:t>
            </a:r>
          </a:p>
        </p:txBody>
      </p:sp>
      <p:sp>
        <p:nvSpPr>
          <p:cNvPr id="37" name="TextBox 36"/>
          <p:cNvSpPr txBox="1"/>
          <p:nvPr/>
        </p:nvSpPr>
        <p:spPr>
          <a:xfrm>
            <a:off x="731520" y="3337560"/>
            <a:ext cx="2560320" cy="256032"/>
          </a:xfrm>
          <a:prstGeom prst="rect">
            <a:avLst/>
          </a:prstGeom>
          <a:noFill/>
        </p:spPr>
        <p:txBody>
          <a:bodyPr wrap="square">
            <a:spAutoFit/>
          </a:bodyPr>
          <a:lstStyle/>
          <a:p>
            <a:pPr algn="l">
              <a:defRPr sz="900" b="1" i="0">
                <a:solidFill>
                  <a:srgbClr val="1C1C1E"/>
                </a:solidFill>
                <a:latin typeface="Calibri"/>
              </a:defRPr>
            </a:pPr>
            <a:r>
              <a:t>Escalation Rate Tracking</a:t>
            </a:r>
          </a:p>
        </p:txBody>
      </p:sp>
      <p:sp>
        <p:nvSpPr>
          <p:cNvPr id="38" name="TextBox 37"/>
          <p:cNvSpPr txBox="1"/>
          <p:nvPr/>
        </p:nvSpPr>
        <p:spPr>
          <a:xfrm>
            <a:off x="3108960" y="3337560"/>
            <a:ext cx="457200" cy="256032"/>
          </a:xfrm>
          <a:prstGeom prst="rect">
            <a:avLst/>
          </a:prstGeom>
          <a:noFill/>
        </p:spPr>
        <p:txBody>
          <a:bodyPr wrap="square">
            <a:spAutoFit/>
          </a:bodyPr>
          <a:lstStyle/>
          <a:p>
            <a:pPr algn="l">
              <a:defRPr sz="800" b="1" i="0">
                <a:solidFill>
                  <a:srgbClr val="E51937"/>
                </a:solidFill>
                <a:latin typeface="Calibri"/>
              </a:defRPr>
            </a:pPr>
            <a:r>
              <a:t>G2</a:t>
            </a:r>
          </a:p>
        </p:txBody>
      </p:sp>
      <p:sp>
        <p:nvSpPr>
          <p:cNvPr id="39" name="Rounded Rectangle 38"/>
          <p:cNvSpPr/>
          <p:nvPr/>
        </p:nvSpPr>
        <p:spPr>
          <a:xfrm>
            <a:off x="4953000" y="3346704"/>
            <a:ext cx="6477000" cy="219456"/>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5044440" y="3346704"/>
            <a:ext cx="6294120" cy="219456"/>
          </a:xfrm>
          <a:prstGeom prst="rect">
            <a:avLst/>
          </a:prstGeom>
          <a:noFill/>
        </p:spPr>
        <p:txBody>
          <a:bodyPr wrap="square">
            <a:spAutoFit/>
          </a:bodyPr>
          <a:lstStyle/>
          <a:p>
            <a:pPr algn="l">
              <a:defRPr sz="700" b="0" i="0">
                <a:solidFill>
                  <a:srgbClr val="FFFFFF"/>
                </a:solidFill>
                <a:latin typeface="Calibri"/>
              </a:defRPr>
            </a:pPr>
            <a:r>
              <a:t>Weekly measurement vs. baseline</a:t>
            </a:r>
          </a:p>
        </p:txBody>
      </p:sp>
      <p:sp>
        <p:nvSpPr>
          <p:cNvPr id="41" name="Rounded Rectangle 40"/>
          <p:cNvSpPr/>
          <p:nvPr/>
        </p:nvSpPr>
        <p:spPr>
          <a:xfrm>
            <a:off x="731520" y="3639312"/>
            <a:ext cx="10698480" cy="347472"/>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31520" y="3685032"/>
            <a:ext cx="2560320" cy="256032"/>
          </a:xfrm>
          <a:prstGeom prst="rect">
            <a:avLst/>
          </a:prstGeom>
          <a:noFill/>
        </p:spPr>
        <p:txBody>
          <a:bodyPr wrap="square">
            <a:spAutoFit/>
          </a:bodyPr>
          <a:lstStyle/>
          <a:p>
            <a:pPr algn="l">
              <a:defRPr sz="900" b="1" i="0">
                <a:solidFill>
                  <a:srgbClr val="1C1C1E"/>
                </a:solidFill>
                <a:latin typeface="Calibri"/>
              </a:defRPr>
            </a:pPr>
            <a:r>
              <a:t>Throughput Measurement</a:t>
            </a:r>
          </a:p>
        </p:txBody>
      </p:sp>
      <p:sp>
        <p:nvSpPr>
          <p:cNvPr id="43" name="TextBox 42"/>
          <p:cNvSpPr txBox="1"/>
          <p:nvPr/>
        </p:nvSpPr>
        <p:spPr>
          <a:xfrm>
            <a:off x="3108960" y="3685032"/>
            <a:ext cx="457200" cy="256032"/>
          </a:xfrm>
          <a:prstGeom prst="rect">
            <a:avLst/>
          </a:prstGeom>
          <a:noFill/>
        </p:spPr>
        <p:txBody>
          <a:bodyPr wrap="square">
            <a:spAutoFit/>
          </a:bodyPr>
          <a:lstStyle/>
          <a:p>
            <a:pPr algn="l">
              <a:defRPr sz="800" b="1" i="0">
                <a:solidFill>
                  <a:srgbClr val="E51937"/>
                </a:solidFill>
                <a:latin typeface="Calibri"/>
              </a:defRPr>
            </a:pPr>
            <a:r>
              <a:t>G4</a:t>
            </a:r>
          </a:p>
        </p:txBody>
      </p:sp>
      <p:sp>
        <p:nvSpPr>
          <p:cNvPr id="44" name="Rounded Rectangle 43"/>
          <p:cNvSpPr/>
          <p:nvPr/>
        </p:nvSpPr>
        <p:spPr>
          <a:xfrm>
            <a:off x="6248400" y="3694176"/>
            <a:ext cx="5181600" cy="219456"/>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339840" y="3694176"/>
            <a:ext cx="4998720" cy="219456"/>
          </a:xfrm>
          <a:prstGeom prst="rect">
            <a:avLst/>
          </a:prstGeom>
          <a:noFill/>
        </p:spPr>
        <p:txBody>
          <a:bodyPr wrap="square">
            <a:spAutoFit/>
          </a:bodyPr>
          <a:lstStyle/>
          <a:p>
            <a:pPr algn="l">
              <a:defRPr sz="700" b="0" i="0">
                <a:solidFill>
                  <a:srgbClr val="FFFFFF"/>
                </a:solidFill>
                <a:latin typeface="Calibri"/>
              </a:defRPr>
            </a:pPr>
            <a:r>
              <a:t>Tickets/agent/day tracked weekly</a:t>
            </a:r>
          </a:p>
        </p:txBody>
      </p:sp>
      <p:sp>
        <p:nvSpPr>
          <p:cNvPr id="46" name="TextBox 45"/>
          <p:cNvSpPr txBox="1"/>
          <p:nvPr/>
        </p:nvSpPr>
        <p:spPr>
          <a:xfrm>
            <a:off x="731520" y="4032504"/>
            <a:ext cx="2560320" cy="256032"/>
          </a:xfrm>
          <a:prstGeom prst="rect">
            <a:avLst/>
          </a:prstGeom>
          <a:noFill/>
        </p:spPr>
        <p:txBody>
          <a:bodyPr wrap="square">
            <a:spAutoFit/>
          </a:bodyPr>
          <a:lstStyle/>
          <a:p>
            <a:pPr algn="l">
              <a:defRPr sz="900" b="1" i="0">
                <a:solidFill>
                  <a:srgbClr val="1C1C1E"/>
                </a:solidFill>
                <a:latin typeface="Calibri"/>
              </a:defRPr>
            </a:pPr>
            <a:r>
              <a:t>CSAT Monitoring</a:t>
            </a:r>
          </a:p>
        </p:txBody>
      </p:sp>
      <p:sp>
        <p:nvSpPr>
          <p:cNvPr id="47" name="TextBox 46"/>
          <p:cNvSpPr txBox="1"/>
          <p:nvPr/>
        </p:nvSpPr>
        <p:spPr>
          <a:xfrm>
            <a:off x="3108960" y="4032504"/>
            <a:ext cx="457200" cy="256032"/>
          </a:xfrm>
          <a:prstGeom prst="rect">
            <a:avLst/>
          </a:prstGeom>
          <a:noFill/>
        </p:spPr>
        <p:txBody>
          <a:bodyPr wrap="square">
            <a:spAutoFit/>
          </a:bodyPr>
          <a:lstStyle/>
          <a:p>
            <a:pPr algn="l">
              <a:defRPr sz="800" b="1" i="0">
                <a:solidFill>
                  <a:srgbClr val="E51937"/>
                </a:solidFill>
                <a:latin typeface="Calibri"/>
              </a:defRPr>
            </a:pPr>
            <a:r>
              <a:t>G5</a:t>
            </a:r>
          </a:p>
        </p:txBody>
      </p:sp>
      <p:sp>
        <p:nvSpPr>
          <p:cNvPr id="48" name="Rounded Rectangle 47"/>
          <p:cNvSpPr/>
          <p:nvPr/>
        </p:nvSpPr>
        <p:spPr>
          <a:xfrm>
            <a:off x="4953000" y="4041648"/>
            <a:ext cx="6477000" cy="219456"/>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5044440" y="4041648"/>
            <a:ext cx="6294120" cy="219456"/>
          </a:xfrm>
          <a:prstGeom prst="rect">
            <a:avLst/>
          </a:prstGeom>
          <a:noFill/>
        </p:spPr>
        <p:txBody>
          <a:bodyPr wrap="square">
            <a:spAutoFit/>
          </a:bodyPr>
          <a:lstStyle/>
          <a:p>
            <a:pPr algn="l">
              <a:defRPr sz="700" b="0" i="0">
                <a:solidFill>
                  <a:srgbClr val="FFFFFF"/>
                </a:solidFill>
                <a:latin typeface="Calibri"/>
              </a:defRPr>
            </a:pPr>
            <a:r>
              <a:t>No decline for 2 consecutive periods</a:t>
            </a:r>
          </a:p>
        </p:txBody>
      </p:sp>
      <p:sp>
        <p:nvSpPr>
          <p:cNvPr id="50" name="Rounded Rectangle 49"/>
          <p:cNvSpPr/>
          <p:nvPr/>
        </p:nvSpPr>
        <p:spPr>
          <a:xfrm>
            <a:off x="731520" y="4334256"/>
            <a:ext cx="10698480" cy="347472"/>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731520" y="4379976"/>
            <a:ext cx="2560320" cy="256032"/>
          </a:xfrm>
          <a:prstGeom prst="rect">
            <a:avLst/>
          </a:prstGeom>
          <a:noFill/>
        </p:spPr>
        <p:txBody>
          <a:bodyPr wrap="square">
            <a:spAutoFit/>
          </a:bodyPr>
          <a:lstStyle/>
          <a:p>
            <a:pPr algn="l">
              <a:defRPr sz="900" b="1" i="0">
                <a:solidFill>
                  <a:srgbClr val="1C1C1E"/>
                </a:solidFill>
                <a:latin typeface="Calibri"/>
              </a:defRPr>
            </a:pPr>
            <a:r>
              <a:t>Weekly Quality Reviews</a:t>
            </a:r>
          </a:p>
        </p:txBody>
      </p:sp>
      <p:sp>
        <p:nvSpPr>
          <p:cNvPr id="52" name="Rounded Rectangle 51"/>
          <p:cNvSpPr/>
          <p:nvPr/>
        </p:nvSpPr>
        <p:spPr>
          <a:xfrm>
            <a:off x="4953000" y="4389120"/>
            <a:ext cx="6477000" cy="219456"/>
          </a:xfrm>
          <a:prstGeom prst="roundRect">
            <a:avLst>
              <a:gd name="adj" fmla="val 15000"/>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5044440" y="4389120"/>
            <a:ext cx="6294120" cy="219456"/>
          </a:xfrm>
          <a:prstGeom prst="rect">
            <a:avLst/>
          </a:prstGeom>
          <a:noFill/>
        </p:spPr>
        <p:txBody>
          <a:bodyPr wrap="square">
            <a:spAutoFit/>
          </a:bodyPr>
          <a:lstStyle/>
          <a:p>
            <a:pPr algn="l">
              <a:defRPr sz="700" b="0" i="0">
                <a:solidFill>
                  <a:srgbClr val="1C1C1E"/>
                </a:solidFill>
                <a:latin typeface="Calibri"/>
              </a:defRPr>
            </a:pPr>
            <a:r>
              <a:t>Rollback trigger if quality drops 2 weeks</a:t>
            </a:r>
          </a:p>
        </p:txBody>
      </p:sp>
      <p:sp>
        <p:nvSpPr>
          <p:cNvPr id="54" name="TextBox 53"/>
          <p:cNvSpPr txBox="1"/>
          <p:nvPr/>
        </p:nvSpPr>
        <p:spPr>
          <a:xfrm>
            <a:off x="731520" y="4727448"/>
            <a:ext cx="2560320" cy="256032"/>
          </a:xfrm>
          <a:prstGeom prst="rect">
            <a:avLst/>
          </a:prstGeom>
          <a:noFill/>
        </p:spPr>
        <p:txBody>
          <a:bodyPr wrap="square">
            <a:spAutoFit/>
          </a:bodyPr>
          <a:lstStyle/>
          <a:p>
            <a:pPr algn="l">
              <a:defRPr sz="900" b="1" i="0">
                <a:solidFill>
                  <a:srgbClr val="1C1C1E"/>
                </a:solidFill>
                <a:latin typeface="Calibri"/>
              </a:defRPr>
            </a:pPr>
            <a:r>
              <a:t>Day-45 Checkpoint</a:t>
            </a:r>
          </a:p>
        </p:txBody>
      </p:sp>
      <p:sp>
        <p:nvSpPr>
          <p:cNvPr id="55" name="Rounded Rectangle 54"/>
          <p:cNvSpPr/>
          <p:nvPr/>
        </p:nvSpPr>
        <p:spPr>
          <a:xfrm>
            <a:off x="6896100" y="4736592"/>
            <a:ext cx="194310" cy="219456"/>
          </a:xfrm>
          <a:prstGeom prst="roundRect">
            <a:avLst>
              <a:gd name="adj" fmla="val 15000"/>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ounded Rectangle 55"/>
          <p:cNvSpPr/>
          <p:nvPr/>
        </p:nvSpPr>
        <p:spPr>
          <a:xfrm>
            <a:off x="731520" y="5029200"/>
            <a:ext cx="10698480" cy="347472"/>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731520" y="5074920"/>
            <a:ext cx="2560320" cy="256032"/>
          </a:xfrm>
          <a:prstGeom prst="rect">
            <a:avLst/>
          </a:prstGeom>
          <a:noFill/>
        </p:spPr>
        <p:txBody>
          <a:bodyPr wrap="square">
            <a:spAutoFit/>
          </a:bodyPr>
          <a:lstStyle/>
          <a:p>
            <a:pPr algn="l">
              <a:defRPr sz="900" b="1" i="0">
                <a:solidFill>
                  <a:srgbClr val="1C1C1E"/>
                </a:solidFill>
                <a:latin typeface="Calibri"/>
              </a:defRPr>
            </a:pPr>
            <a:r>
              <a:t>Day-90 Go/No-Go</a:t>
            </a:r>
          </a:p>
        </p:txBody>
      </p:sp>
      <p:sp>
        <p:nvSpPr>
          <p:cNvPr id="58" name="Rounded Rectangle 57"/>
          <p:cNvSpPr/>
          <p:nvPr/>
        </p:nvSpPr>
        <p:spPr>
          <a:xfrm>
            <a:off x="11106150" y="5084064"/>
            <a:ext cx="194310" cy="219456"/>
          </a:xfrm>
          <a:prstGeom prst="roundRect">
            <a:avLst>
              <a:gd name="adj" fmla="val 15000"/>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731520" y="5577840"/>
            <a:ext cx="10058400" cy="228600"/>
          </a:xfrm>
          <a:prstGeom prst="rect">
            <a:avLst/>
          </a:prstGeom>
          <a:noFill/>
        </p:spPr>
        <p:txBody>
          <a:bodyPr wrap="square">
            <a:spAutoFit/>
          </a:bodyPr>
          <a:lstStyle/>
          <a:p>
            <a:pPr algn="ctr">
              <a:defRPr sz="900" b="0" i="0">
                <a:solidFill>
                  <a:srgbClr val="767676"/>
                </a:solidFill>
                <a:latin typeface="Calibri"/>
              </a:defRPr>
            </a:pPr>
            <a:r>
              <a:t>Day-45: scope review if draft acceptance &lt; 50%  |  Day-90: go/no-go gate  |  Month 7-12: scale to full product catalog</a:t>
            </a:r>
          </a:p>
        </p:txBody>
      </p:sp>
      <p:sp>
        <p:nvSpPr>
          <p:cNvPr id="60" name="TextBox 59"/>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61" name="TextBox 60"/>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10</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STEP 3B: DEMAND FORECASTING</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No forecasting system exists today; SageMaker fills that gap</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Stockouts, markdown losses, and overproduction are addressable without touching the product. Requires the Step 2 data foundation as a hard gate.</a:t>
            </a:r>
          </a:p>
        </p:txBody>
      </p:sp>
      <p:sp>
        <p:nvSpPr>
          <p:cNvPr id="7" name="TextBox 6"/>
          <p:cNvSpPr txBox="1"/>
          <p:nvPr/>
        </p:nvSpPr>
        <p:spPr>
          <a:xfrm>
            <a:off x="731520" y="1737360"/>
            <a:ext cx="5029200" cy="274320"/>
          </a:xfrm>
          <a:prstGeom prst="rect">
            <a:avLst/>
          </a:prstGeom>
          <a:noFill/>
        </p:spPr>
        <p:txBody>
          <a:bodyPr wrap="square">
            <a:spAutoFit/>
          </a:bodyPr>
          <a:lstStyle/>
          <a:p>
            <a:pPr algn="l">
              <a:defRPr sz="1400" b="1" i="0">
                <a:solidFill>
                  <a:srgbClr val="C43B4F"/>
                </a:solidFill>
                <a:latin typeface="Calibri"/>
              </a:defRPr>
            </a:pPr>
            <a:r>
              <a:t>TODAY</a:t>
            </a:r>
          </a:p>
        </p:txBody>
      </p:sp>
      <p:sp>
        <p:nvSpPr>
          <p:cNvPr id="8" name="Rounded Rectangle 7"/>
          <p:cNvSpPr/>
          <p:nvPr/>
        </p:nvSpPr>
        <p:spPr>
          <a:xfrm>
            <a:off x="731520" y="2103120"/>
            <a:ext cx="5029200" cy="8686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2176272"/>
            <a:ext cx="4663440" cy="228600"/>
          </a:xfrm>
          <a:prstGeom prst="rect">
            <a:avLst/>
          </a:prstGeom>
          <a:noFill/>
        </p:spPr>
        <p:txBody>
          <a:bodyPr wrap="square">
            <a:spAutoFit/>
          </a:bodyPr>
          <a:lstStyle/>
          <a:p>
            <a:pPr algn="l">
              <a:defRPr sz="1200" b="1" i="0">
                <a:solidFill>
                  <a:srgbClr val="1C1C1E"/>
                </a:solidFill>
                <a:latin typeface="Calibri"/>
              </a:defRPr>
            </a:pPr>
            <a:r>
              <a:t>1. Brand-level judgment drives production</a:t>
            </a:r>
          </a:p>
        </p:txBody>
      </p:sp>
      <p:sp>
        <p:nvSpPr>
          <p:cNvPr id="10" name="TextBox 9"/>
          <p:cNvSpPr txBox="1"/>
          <p:nvPr/>
        </p:nvSpPr>
        <p:spPr>
          <a:xfrm>
            <a:off x="914400" y="2450592"/>
            <a:ext cx="4663440" cy="457200"/>
          </a:xfrm>
          <a:prstGeom prst="rect">
            <a:avLst/>
          </a:prstGeom>
          <a:noFill/>
        </p:spPr>
        <p:txBody>
          <a:bodyPr wrap="square">
            <a:spAutoFit/>
          </a:bodyPr>
          <a:lstStyle/>
          <a:p>
            <a:pPr algn="l">
              <a:defRPr sz="1000" b="0" i="0">
                <a:solidFill>
                  <a:srgbClr val="767676"/>
                </a:solidFill>
                <a:latin typeface="Calibri"/>
              </a:defRPr>
            </a:pPr>
            <a:r>
              <a:t>No centralized inventory visibility.</a:t>
            </a:r>
            <a:br/>
            <a:r>
              <a:t>Dealer sell-through not systematically tracked.</a:t>
            </a:r>
          </a:p>
        </p:txBody>
      </p:sp>
      <p:sp>
        <p:nvSpPr>
          <p:cNvPr id="11" name="Rounded Rectangle 10"/>
          <p:cNvSpPr/>
          <p:nvPr/>
        </p:nvSpPr>
        <p:spPr>
          <a:xfrm>
            <a:off x="731520" y="3108960"/>
            <a:ext cx="5029200" cy="8686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4400" y="3182112"/>
            <a:ext cx="4663440" cy="228600"/>
          </a:xfrm>
          <a:prstGeom prst="rect">
            <a:avLst/>
          </a:prstGeom>
          <a:noFill/>
        </p:spPr>
        <p:txBody>
          <a:bodyPr wrap="square">
            <a:spAutoFit/>
          </a:bodyPr>
          <a:lstStyle/>
          <a:p>
            <a:pPr algn="l">
              <a:defRPr sz="1200" b="1" i="0">
                <a:solidFill>
                  <a:srgbClr val="1C1C1E"/>
                </a:solidFill>
                <a:latin typeface="Calibri"/>
              </a:defRPr>
            </a:pPr>
            <a:r>
              <a:t>2. Stockouts surface as surprises</a:t>
            </a:r>
          </a:p>
        </p:txBody>
      </p:sp>
      <p:sp>
        <p:nvSpPr>
          <p:cNvPr id="13" name="TextBox 12"/>
          <p:cNvSpPr txBox="1"/>
          <p:nvPr/>
        </p:nvSpPr>
        <p:spPr>
          <a:xfrm>
            <a:off x="914400" y="3456432"/>
            <a:ext cx="4663440" cy="457200"/>
          </a:xfrm>
          <a:prstGeom prst="rect">
            <a:avLst/>
          </a:prstGeom>
          <a:noFill/>
        </p:spPr>
        <p:txBody>
          <a:bodyPr wrap="square">
            <a:spAutoFit/>
          </a:bodyPr>
          <a:lstStyle/>
          <a:p>
            <a:pPr algn="l">
              <a:defRPr sz="1000" b="0" i="0">
                <a:solidFill>
                  <a:srgbClr val="767676"/>
                </a:solidFill>
                <a:latin typeface="Calibri"/>
              </a:defRPr>
            </a:pPr>
            <a:r>
              <a:t>Rush shipping absorbs margin.</a:t>
            </a:r>
            <a:br/>
            <a:r>
              <a:t>Markdowns clear overstock at loss.</a:t>
            </a:r>
          </a:p>
        </p:txBody>
      </p:sp>
      <p:sp>
        <p:nvSpPr>
          <p:cNvPr id="14" name="Rounded Rectangle 13"/>
          <p:cNvSpPr/>
          <p:nvPr/>
        </p:nvSpPr>
        <p:spPr>
          <a:xfrm>
            <a:off x="731520" y="4114800"/>
            <a:ext cx="5029200" cy="8686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4400" y="4187952"/>
            <a:ext cx="4663440" cy="228600"/>
          </a:xfrm>
          <a:prstGeom prst="rect">
            <a:avLst/>
          </a:prstGeom>
          <a:noFill/>
        </p:spPr>
        <p:txBody>
          <a:bodyPr wrap="square">
            <a:spAutoFit/>
          </a:bodyPr>
          <a:lstStyle/>
          <a:p>
            <a:pPr algn="l">
              <a:defRPr sz="1200" b="1" i="0">
                <a:solidFill>
                  <a:srgbClr val="1C1C1E"/>
                </a:solidFill>
                <a:latin typeface="Calibri"/>
              </a:defRPr>
            </a:pPr>
            <a:r>
              <a:t>3. Planners react to problems</a:t>
            </a:r>
          </a:p>
        </p:txBody>
      </p:sp>
      <p:sp>
        <p:nvSpPr>
          <p:cNvPr id="16" name="TextBox 15"/>
          <p:cNvSpPr txBox="1"/>
          <p:nvPr/>
        </p:nvSpPr>
        <p:spPr>
          <a:xfrm>
            <a:off x="914400" y="4462272"/>
            <a:ext cx="4663440" cy="457200"/>
          </a:xfrm>
          <a:prstGeom prst="rect">
            <a:avLst/>
          </a:prstGeom>
          <a:noFill/>
        </p:spPr>
        <p:txBody>
          <a:bodyPr wrap="square">
            <a:spAutoFit/>
          </a:bodyPr>
          <a:lstStyle/>
          <a:p>
            <a:pPr algn="l">
              <a:defRPr sz="1000" b="0" i="0">
                <a:solidFill>
                  <a:srgbClr val="767676"/>
                </a:solidFill>
                <a:latin typeface="Calibri"/>
              </a:defRPr>
            </a:pPr>
            <a:r>
              <a:t>Decisions made without model support.</a:t>
            </a:r>
            <a:br/>
            <a:r>
              <a:t>Data exists at brand level, not enterprise level.</a:t>
            </a:r>
          </a:p>
        </p:txBody>
      </p:sp>
      <p:sp>
        <p:nvSpPr>
          <p:cNvPr id="17" name="TextBox 16"/>
          <p:cNvSpPr txBox="1"/>
          <p:nvPr/>
        </p:nvSpPr>
        <p:spPr>
          <a:xfrm>
            <a:off x="6217920" y="1737360"/>
            <a:ext cx="5212080" cy="274320"/>
          </a:xfrm>
          <a:prstGeom prst="rect">
            <a:avLst/>
          </a:prstGeom>
          <a:noFill/>
        </p:spPr>
        <p:txBody>
          <a:bodyPr wrap="square">
            <a:spAutoFit/>
          </a:bodyPr>
          <a:lstStyle/>
          <a:p>
            <a:pPr algn="l">
              <a:defRPr sz="1400" b="1" i="0">
                <a:solidFill>
                  <a:srgbClr val="2D5F8A"/>
                </a:solidFill>
                <a:latin typeface="Calibri"/>
              </a:defRPr>
            </a:pPr>
            <a:r>
              <a:t>WITH SAGEMAKER PILOT</a:t>
            </a:r>
          </a:p>
        </p:txBody>
      </p:sp>
      <p:sp>
        <p:nvSpPr>
          <p:cNvPr id="18" name="Rounded Rectangle 17"/>
          <p:cNvSpPr/>
          <p:nvPr/>
        </p:nvSpPr>
        <p:spPr>
          <a:xfrm>
            <a:off x="6217920" y="2103120"/>
            <a:ext cx="5212080" cy="8686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0800" y="2176272"/>
            <a:ext cx="4846320" cy="228600"/>
          </a:xfrm>
          <a:prstGeom prst="rect">
            <a:avLst/>
          </a:prstGeom>
          <a:noFill/>
        </p:spPr>
        <p:txBody>
          <a:bodyPr wrap="square">
            <a:spAutoFit/>
          </a:bodyPr>
          <a:lstStyle/>
          <a:p>
            <a:pPr algn="l">
              <a:defRPr sz="1200" b="1" i="0">
                <a:solidFill>
                  <a:srgbClr val="1C1C1E"/>
                </a:solidFill>
                <a:latin typeface="Calibri"/>
              </a:defRPr>
            </a:pPr>
            <a:r>
              <a:t>Month 22-27: Model development</a:t>
            </a:r>
          </a:p>
        </p:txBody>
      </p:sp>
      <p:sp>
        <p:nvSpPr>
          <p:cNvPr id="20" name="TextBox 19"/>
          <p:cNvSpPr txBox="1"/>
          <p:nvPr/>
        </p:nvSpPr>
        <p:spPr>
          <a:xfrm>
            <a:off x="6400800" y="2450592"/>
            <a:ext cx="4846320" cy="457200"/>
          </a:xfrm>
          <a:prstGeom prst="rect">
            <a:avLst/>
          </a:prstGeom>
          <a:noFill/>
        </p:spPr>
        <p:txBody>
          <a:bodyPr wrap="square">
            <a:spAutoFit/>
          </a:bodyPr>
          <a:lstStyle/>
          <a:p>
            <a:pPr algn="l">
              <a:defRPr sz="1000" b="0" i="0">
                <a:solidFill>
                  <a:srgbClr val="767676"/>
                </a:solidFill>
                <a:latin typeface="Calibri"/>
              </a:defRPr>
            </a:pPr>
            <a:r>
              <a:t>SageMaker trained on unified lakehouse data.</a:t>
            </a:r>
            <a:br/>
            <a:r>
              <a:t>Back-test validates MAPE target of 15% or less.</a:t>
            </a:r>
          </a:p>
        </p:txBody>
      </p:sp>
      <p:sp>
        <p:nvSpPr>
          <p:cNvPr id="21" name="Rounded Rectangle 20"/>
          <p:cNvSpPr/>
          <p:nvPr/>
        </p:nvSpPr>
        <p:spPr>
          <a:xfrm>
            <a:off x="6217920" y="3108960"/>
            <a:ext cx="5212080" cy="8686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00800" y="3182112"/>
            <a:ext cx="4846320" cy="228600"/>
          </a:xfrm>
          <a:prstGeom prst="rect">
            <a:avLst/>
          </a:prstGeom>
          <a:noFill/>
        </p:spPr>
        <p:txBody>
          <a:bodyPr wrap="square">
            <a:spAutoFit/>
          </a:bodyPr>
          <a:lstStyle/>
          <a:p>
            <a:pPr algn="l">
              <a:defRPr sz="1200" b="1" i="0">
                <a:solidFill>
                  <a:srgbClr val="1C1C1E"/>
                </a:solidFill>
                <a:latin typeface="Calibri"/>
              </a:defRPr>
            </a:pPr>
            <a:r>
              <a:t>Month 27-30: Shadow mode</a:t>
            </a:r>
          </a:p>
        </p:txBody>
      </p:sp>
      <p:sp>
        <p:nvSpPr>
          <p:cNvPr id="23" name="TextBox 22"/>
          <p:cNvSpPr txBox="1"/>
          <p:nvPr/>
        </p:nvSpPr>
        <p:spPr>
          <a:xfrm>
            <a:off x="6400800" y="3456432"/>
            <a:ext cx="4846320" cy="457200"/>
          </a:xfrm>
          <a:prstGeom prst="rect">
            <a:avLst/>
          </a:prstGeom>
          <a:noFill/>
        </p:spPr>
        <p:txBody>
          <a:bodyPr wrap="square">
            <a:spAutoFit/>
          </a:bodyPr>
          <a:lstStyle/>
          <a:p>
            <a:pPr algn="l">
              <a:defRPr sz="1000" b="0" i="0">
                <a:solidFill>
                  <a:srgbClr val="767676"/>
                </a:solidFill>
                <a:latin typeface="Calibri"/>
              </a:defRPr>
            </a:pPr>
            <a:r>
              <a:t>Model runs in parallel. Planners receive</a:t>
            </a:r>
            <a:br/>
            <a:r>
              <a:t>recommendations but make decisions as normal.</a:t>
            </a:r>
          </a:p>
        </p:txBody>
      </p:sp>
      <p:sp>
        <p:nvSpPr>
          <p:cNvPr id="24" name="Rounded Rectangle 23"/>
          <p:cNvSpPr/>
          <p:nvPr/>
        </p:nvSpPr>
        <p:spPr>
          <a:xfrm>
            <a:off x="6217920" y="4114800"/>
            <a:ext cx="5212080" cy="868680"/>
          </a:xfrm>
          <a:prstGeom prst="roundRect">
            <a:avLst>
              <a:gd name="adj" fmla="val 4000"/>
            </a:avLst>
          </a:prstGeom>
          <a:solidFill>
            <a:srgbClr val="FDF0F2"/>
          </a:solidFill>
          <a:ln w="12700">
            <a:solidFill>
              <a:srgbClr val="2D5F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00800" y="4187952"/>
            <a:ext cx="4846320" cy="228600"/>
          </a:xfrm>
          <a:prstGeom prst="rect">
            <a:avLst/>
          </a:prstGeom>
          <a:noFill/>
        </p:spPr>
        <p:txBody>
          <a:bodyPr wrap="square">
            <a:spAutoFit/>
          </a:bodyPr>
          <a:lstStyle/>
          <a:p>
            <a:pPr algn="l">
              <a:defRPr sz="1200" b="1" i="0">
                <a:solidFill>
                  <a:srgbClr val="1C1C1E"/>
                </a:solidFill>
                <a:latin typeface="Calibri"/>
              </a:defRPr>
            </a:pPr>
            <a:r>
              <a:t>Month 30-36: Active pilot</a:t>
            </a:r>
          </a:p>
        </p:txBody>
      </p:sp>
      <p:sp>
        <p:nvSpPr>
          <p:cNvPr id="26" name="TextBox 25"/>
          <p:cNvSpPr txBox="1"/>
          <p:nvPr/>
        </p:nvSpPr>
        <p:spPr>
          <a:xfrm>
            <a:off x="6400800" y="4462272"/>
            <a:ext cx="4846320" cy="457200"/>
          </a:xfrm>
          <a:prstGeom prst="rect">
            <a:avLst/>
          </a:prstGeom>
          <a:noFill/>
        </p:spPr>
        <p:txBody>
          <a:bodyPr wrap="square">
            <a:spAutoFit/>
          </a:bodyPr>
          <a:lstStyle/>
          <a:p>
            <a:pPr algn="l">
              <a:defRPr sz="1000" b="0" i="0">
                <a:solidFill>
                  <a:srgbClr val="767676"/>
                </a:solidFill>
                <a:latin typeface="Calibri"/>
              </a:defRPr>
            </a:pPr>
            <a:r>
              <a:t>Planners act on model recommendations</a:t>
            </a:r>
            <a:br/>
            <a:r>
              <a:t>with full override authority. Overrides logged.</a:t>
            </a:r>
          </a:p>
        </p:txBody>
      </p:sp>
      <p:sp>
        <p:nvSpPr>
          <p:cNvPr id="27" name="Isosceles Triangle 26"/>
          <p:cNvSpPr/>
          <p:nvPr/>
        </p:nvSpPr>
        <p:spPr>
          <a:xfrm rot="5400000">
            <a:off x="5806440" y="3017520"/>
            <a:ext cx="320040" cy="32004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731520" y="5166360"/>
            <a:ext cx="256032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60120" y="5303520"/>
            <a:ext cx="2103120" cy="228600"/>
          </a:xfrm>
          <a:prstGeom prst="rect">
            <a:avLst/>
          </a:prstGeom>
          <a:noFill/>
        </p:spPr>
        <p:txBody>
          <a:bodyPr wrap="square">
            <a:spAutoFit/>
          </a:bodyPr>
          <a:lstStyle/>
          <a:p>
            <a:pPr algn="l">
              <a:defRPr sz="1000" b="0" i="0">
                <a:solidFill>
                  <a:srgbClr val="767676"/>
                </a:solidFill>
                <a:latin typeface="Calibri"/>
              </a:defRPr>
            </a:pPr>
            <a:r>
              <a:t>SETUP INVESTMENT</a:t>
            </a:r>
          </a:p>
        </p:txBody>
      </p:sp>
      <p:sp>
        <p:nvSpPr>
          <p:cNvPr id="30" name="TextBox 29"/>
          <p:cNvSpPr txBox="1"/>
          <p:nvPr/>
        </p:nvSpPr>
        <p:spPr>
          <a:xfrm>
            <a:off x="960120" y="5532120"/>
            <a:ext cx="2103120" cy="411480"/>
          </a:xfrm>
          <a:prstGeom prst="rect">
            <a:avLst/>
          </a:prstGeom>
          <a:noFill/>
        </p:spPr>
        <p:txBody>
          <a:bodyPr wrap="square">
            <a:spAutoFit/>
          </a:bodyPr>
          <a:lstStyle/>
          <a:p>
            <a:pPr algn="l">
              <a:defRPr sz="2600" b="1" i="0">
                <a:solidFill>
                  <a:srgbClr val="1C1C1E"/>
                </a:solidFill>
                <a:latin typeface="Calibri"/>
              </a:defRPr>
            </a:pPr>
            <a:r>
              <a:t>~$500K</a:t>
            </a:r>
          </a:p>
        </p:txBody>
      </p:sp>
      <p:sp>
        <p:nvSpPr>
          <p:cNvPr id="31" name="TextBox 30"/>
          <p:cNvSpPr txBox="1"/>
          <p:nvPr/>
        </p:nvSpPr>
        <p:spPr>
          <a:xfrm>
            <a:off x="960120" y="5989320"/>
            <a:ext cx="2103120" cy="228600"/>
          </a:xfrm>
          <a:prstGeom prst="rect">
            <a:avLst/>
          </a:prstGeom>
          <a:noFill/>
        </p:spPr>
        <p:txBody>
          <a:bodyPr wrap="square">
            <a:spAutoFit/>
          </a:bodyPr>
          <a:lstStyle/>
          <a:p>
            <a:pPr algn="l">
              <a:defRPr sz="900" b="0" i="0">
                <a:solidFill>
                  <a:srgbClr val="767676"/>
                </a:solidFill>
                <a:latin typeface="Calibri"/>
              </a:defRPr>
            </a:pPr>
            <a:r>
              <a:t>SageMaker + data science lead</a:t>
            </a:r>
          </a:p>
        </p:txBody>
      </p:sp>
      <p:sp>
        <p:nvSpPr>
          <p:cNvPr id="32" name="Rounded Rectangle 31"/>
          <p:cNvSpPr/>
          <p:nvPr/>
        </p:nvSpPr>
        <p:spPr>
          <a:xfrm>
            <a:off x="3474720" y="5166360"/>
            <a:ext cx="256032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703320" y="5303520"/>
            <a:ext cx="2103120" cy="228600"/>
          </a:xfrm>
          <a:prstGeom prst="rect">
            <a:avLst/>
          </a:prstGeom>
          <a:noFill/>
        </p:spPr>
        <p:txBody>
          <a:bodyPr wrap="square">
            <a:spAutoFit/>
          </a:bodyPr>
          <a:lstStyle/>
          <a:p>
            <a:pPr algn="l">
              <a:defRPr sz="1000" b="0" i="0">
                <a:solidFill>
                  <a:srgbClr val="767676"/>
                </a:solidFill>
                <a:latin typeface="Calibri"/>
              </a:defRPr>
            </a:pPr>
            <a:r>
              <a:t>ANNUAL GROSS BENEFIT</a:t>
            </a:r>
          </a:p>
        </p:txBody>
      </p:sp>
      <p:sp>
        <p:nvSpPr>
          <p:cNvPr id="34" name="TextBox 33"/>
          <p:cNvSpPr txBox="1"/>
          <p:nvPr/>
        </p:nvSpPr>
        <p:spPr>
          <a:xfrm>
            <a:off x="3703320" y="5532120"/>
            <a:ext cx="2103120" cy="411480"/>
          </a:xfrm>
          <a:prstGeom prst="rect">
            <a:avLst/>
          </a:prstGeom>
          <a:noFill/>
        </p:spPr>
        <p:txBody>
          <a:bodyPr wrap="square">
            <a:spAutoFit/>
          </a:bodyPr>
          <a:lstStyle/>
          <a:p>
            <a:pPr algn="l">
              <a:defRPr sz="2600" b="1" i="0">
                <a:solidFill>
                  <a:srgbClr val="1C1C1E"/>
                </a:solidFill>
                <a:latin typeface="Calibri"/>
              </a:defRPr>
            </a:pPr>
            <a:r>
              <a:t>$5.2M</a:t>
            </a:r>
          </a:p>
        </p:txBody>
      </p:sp>
      <p:sp>
        <p:nvSpPr>
          <p:cNvPr id="35" name="TextBox 34"/>
          <p:cNvSpPr txBox="1"/>
          <p:nvPr/>
        </p:nvSpPr>
        <p:spPr>
          <a:xfrm>
            <a:off x="3703320" y="5989320"/>
            <a:ext cx="2103120" cy="228600"/>
          </a:xfrm>
          <a:prstGeom prst="rect">
            <a:avLst/>
          </a:prstGeom>
          <a:noFill/>
        </p:spPr>
        <p:txBody>
          <a:bodyPr wrap="square">
            <a:spAutoFit/>
          </a:bodyPr>
          <a:lstStyle/>
          <a:p>
            <a:pPr algn="l">
              <a:defRPr sz="900" b="0" i="0">
                <a:solidFill>
                  <a:srgbClr val="767676"/>
                </a:solidFill>
                <a:latin typeface="Calibri"/>
              </a:defRPr>
            </a:pPr>
            <a:r>
              <a:t>Expected case: stockouts + markdowns</a:t>
            </a:r>
          </a:p>
        </p:txBody>
      </p:sp>
      <p:sp>
        <p:nvSpPr>
          <p:cNvPr id="36" name="Rounded Rectangle 35"/>
          <p:cNvSpPr/>
          <p:nvPr/>
        </p:nvSpPr>
        <p:spPr>
          <a:xfrm>
            <a:off x="6217920" y="5166360"/>
            <a:ext cx="256032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446520" y="5303520"/>
            <a:ext cx="2103120" cy="228600"/>
          </a:xfrm>
          <a:prstGeom prst="rect">
            <a:avLst/>
          </a:prstGeom>
          <a:noFill/>
        </p:spPr>
        <p:txBody>
          <a:bodyPr wrap="square">
            <a:spAutoFit/>
          </a:bodyPr>
          <a:lstStyle/>
          <a:p>
            <a:pPr algn="l">
              <a:defRPr sz="1000" b="0" i="0">
                <a:solidFill>
                  <a:srgbClr val="767676"/>
                </a:solidFill>
                <a:latin typeface="Calibri"/>
              </a:defRPr>
            </a:pPr>
            <a:r>
              <a:t>NET ANNUAL VALUE</a:t>
            </a:r>
          </a:p>
        </p:txBody>
      </p:sp>
      <p:sp>
        <p:nvSpPr>
          <p:cNvPr id="38" name="TextBox 37"/>
          <p:cNvSpPr txBox="1"/>
          <p:nvPr/>
        </p:nvSpPr>
        <p:spPr>
          <a:xfrm>
            <a:off x="6446520" y="5532120"/>
            <a:ext cx="2103120" cy="411480"/>
          </a:xfrm>
          <a:prstGeom prst="rect">
            <a:avLst/>
          </a:prstGeom>
          <a:noFill/>
        </p:spPr>
        <p:txBody>
          <a:bodyPr wrap="square">
            <a:spAutoFit/>
          </a:bodyPr>
          <a:lstStyle/>
          <a:p>
            <a:pPr algn="l">
              <a:defRPr sz="2600" b="1" i="0">
                <a:solidFill>
                  <a:srgbClr val="1C1C1E"/>
                </a:solidFill>
                <a:latin typeface="Calibri"/>
              </a:defRPr>
            </a:pPr>
            <a:r>
              <a:t>~$4.5M</a:t>
            </a:r>
          </a:p>
        </p:txBody>
      </p:sp>
      <p:sp>
        <p:nvSpPr>
          <p:cNvPr id="39" name="TextBox 38"/>
          <p:cNvSpPr txBox="1"/>
          <p:nvPr/>
        </p:nvSpPr>
        <p:spPr>
          <a:xfrm>
            <a:off x="6446520" y="5989320"/>
            <a:ext cx="2103120" cy="228600"/>
          </a:xfrm>
          <a:prstGeom prst="rect">
            <a:avLst/>
          </a:prstGeom>
          <a:noFill/>
        </p:spPr>
        <p:txBody>
          <a:bodyPr wrap="square">
            <a:spAutoFit/>
          </a:bodyPr>
          <a:lstStyle/>
          <a:p>
            <a:pPr algn="l">
              <a:defRPr sz="900" b="0" i="0">
                <a:solidFill>
                  <a:srgbClr val="767676"/>
                </a:solidFill>
                <a:latin typeface="Calibri"/>
              </a:defRPr>
            </a:pPr>
            <a:r>
              <a:t>After $700K operating cost</a:t>
            </a:r>
          </a:p>
        </p:txBody>
      </p:sp>
      <p:sp>
        <p:nvSpPr>
          <p:cNvPr id="40" name="Rounded Rectangle 39"/>
          <p:cNvSpPr/>
          <p:nvPr/>
        </p:nvSpPr>
        <p:spPr>
          <a:xfrm>
            <a:off x="8961120" y="5166360"/>
            <a:ext cx="256032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9189720" y="5303520"/>
            <a:ext cx="2103120" cy="228600"/>
          </a:xfrm>
          <a:prstGeom prst="rect">
            <a:avLst/>
          </a:prstGeom>
          <a:noFill/>
        </p:spPr>
        <p:txBody>
          <a:bodyPr wrap="square">
            <a:spAutoFit/>
          </a:bodyPr>
          <a:lstStyle/>
          <a:p>
            <a:pPr algn="l">
              <a:defRPr sz="1000" b="0" i="0">
                <a:solidFill>
                  <a:srgbClr val="767676"/>
                </a:solidFill>
                <a:latin typeface="Calibri"/>
              </a:defRPr>
            </a:pPr>
            <a:r>
              <a:t>ONE-TIME BONUS</a:t>
            </a:r>
          </a:p>
        </p:txBody>
      </p:sp>
      <p:sp>
        <p:nvSpPr>
          <p:cNvPr id="42" name="TextBox 41"/>
          <p:cNvSpPr txBox="1"/>
          <p:nvPr/>
        </p:nvSpPr>
        <p:spPr>
          <a:xfrm>
            <a:off x="9189720" y="5532120"/>
            <a:ext cx="2103120" cy="411480"/>
          </a:xfrm>
          <a:prstGeom prst="rect">
            <a:avLst/>
          </a:prstGeom>
          <a:noFill/>
        </p:spPr>
        <p:txBody>
          <a:bodyPr wrap="square">
            <a:spAutoFit/>
          </a:bodyPr>
          <a:lstStyle/>
          <a:p>
            <a:pPr algn="l">
              <a:defRPr sz="2600" b="1" i="0">
                <a:solidFill>
                  <a:srgbClr val="2D5F8A"/>
                </a:solidFill>
                <a:latin typeface="Calibri"/>
              </a:defRPr>
            </a:pPr>
            <a:r>
              <a:t>$15-20M</a:t>
            </a:r>
          </a:p>
        </p:txBody>
      </p:sp>
      <p:sp>
        <p:nvSpPr>
          <p:cNvPr id="43" name="TextBox 42"/>
          <p:cNvSpPr txBox="1"/>
          <p:nvPr/>
        </p:nvSpPr>
        <p:spPr>
          <a:xfrm>
            <a:off x="9189720" y="5989320"/>
            <a:ext cx="2103120" cy="228600"/>
          </a:xfrm>
          <a:prstGeom prst="rect">
            <a:avLst/>
          </a:prstGeom>
          <a:noFill/>
        </p:spPr>
        <p:txBody>
          <a:bodyPr wrap="square">
            <a:spAutoFit/>
          </a:bodyPr>
          <a:lstStyle/>
          <a:p>
            <a:pPr algn="l">
              <a:defRPr sz="900" b="0" i="0">
                <a:solidFill>
                  <a:srgbClr val="767676"/>
                </a:solidFill>
                <a:latin typeface="Calibri"/>
              </a:defRPr>
            </a:pPr>
            <a:r>
              <a:t>Working capital release from inventory</a:t>
            </a:r>
          </a:p>
        </p:txBody>
      </p:sp>
      <p:sp>
        <p:nvSpPr>
          <p:cNvPr id="44" name="TextBox 43"/>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45" name="TextBox 44"/>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11</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RETURN</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Support pilot: 9x ROI on $500K. Full Year-1 program: 3.8x on $2.7M</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463040"/>
            <a:ext cx="5029200" cy="274320"/>
          </a:xfrm>
          <a:prstGeom prst="rect">
            <a:avLst/>
          </a:prstGeom>
          <a:noFill/>
        </p:spPr>
        <p:txBody>
          <a:bodyPr wrap="square">
            <a:spAutoFit/>
          </a:bodyPr>
          <a:lstStyle/>
          <a:p>
            <a:pPr algn="l">
              <a:defRPr sz="1800" b="1" i="0">
                <a:solidFill>
                  <a:srgbClr val="1C1C1E"/>
                </a:solidFill>
                <a:latin typeface="Calibri"/>
              </a:defRPr>
            </a:pPr>
            <a:r>
              <a:t>Year-1 Pilot Scenarios</a:t>
            </a:r>
          </a:p>
        </p:txBody>
      </p:sp>
      <p:sp>
        <p:nvSpPr>
          <p:cNvPr id="7" name="TextBox 6"/>
          <p:cNvSpPr txBox="1"/>
          <p:nvPr/>
        </p:nvSpPr>
        <p:spPr>
          <a:xfrm>
            <a:off x="914400" y="2103120"/>
            <a:ext cx="1828800" cy="457200"/>
          </a:xfrm>
          <a:prstGeom prst="rect">
            <a:avLst/>
          </a:prstGeom>
          <a:noFill/>
        </p:spPr>
        <p:txBody>
          <a:bodyPr wrap="square">
            <a:spAutoFit/>
          </a:bodyPr>
          <a:lstStyle/>
          <a:p>
            <a:pPr algn="l">
              <a:defRPr sz="1400" b="0" i="0">
                <a:solidFill>
                  <a:srgbClr val="767676"/>
                </a:solidFill>
                <a:latin typeface="Calibri"/>
              </a:defRPr>
            </a:pPr>
            <a:r>
              <a:t>Conservative</a:t>
            </a:r>
          </a:p>
        </p:txBody>
      </p:sp>
      <p:sp>
        <p:nvSpPr>
          <p:cNvPr id="8" name="TextBox 7"/>
          <p:cNvSpPr txBox="1"/>
          <p:nvPr/>
        </p:nvSpPr>
        <p:spPr>
          <a:xfrm>
            <a:off x="2743200" y="2103120"/>
            <a:ext cx="1645920" cy="457200"/>
          </a:xfrm>
          <a:prstGeom prst="rect">
            <a:avLst/>
          </a:prstGeom>
          <a:noFill/>
        </p:spPr>
        <p:txBody>
          <a:bodyPr wrap="square">
            <a:spAutoFit/>
          </a:bodyPr>
          <a:lstStyle/>
          <a:p>
            <a:pPr algn="l">
              <a:defRPr sz="2400" b="1" i="0">
                <a:solidFill>
                  <a:srgbClr val="1C1C1E"/>
                </a:solidFill>
                <a:latin typeface="Calibri"/>
              </a:defRPr>
            </a:pPr>
            <a:r>
              <a:t>$4.5M</a:t>
            </a:r>
          </a:p>
        </p:txBody>
      </p:sp>
      <p:sp>
        <p:nvSpPr>
          <p:cNvPr id="9" name="TextBox 8"/>
          <p:cNvSpPr txBox="1"/>
          <p:nvPr/>
        </p:nvSpPr>
        <p:spPr>
          <a:xfrm>
            <a:off x="4389120" y="2148840"/>
            <a:ext cx="1097280" cy="365760"/>
          </a:xfrm>
          <a:prstGeom prst="rect">
            <a:avLst/>
          </a:prstGeom>
          <a:noFill/>
        </p:spPr>
        <p:txBody>
          <a:bodyPr wrap="square">
            <a:spAutoFit/>
          </a:bodyPr>
          <a:lstStyle/>
          <a:p>
            <a:pPr algn="l">
              <a:defRPr sz="1300" b="0" i="0">
                <a:solidFill>
                  <a:srgbClr val="767676"/>
                </a:solidFill>
                <a:latin typeface="Calibri"/>
              </a:defRPr>
            </a:pPr>
            <a:r>
              <a:t>2.8x ROI</a:t>
            </a:r>
          </a:p>
        </p:txBody>
      </p:sp>
      <p:sp>
        <p:nvSpPr>
          <p:cNvPr id="10" name="Rounded Rectangle 9"/>
          <p:cNvSpPr/>
          <p:nvPr/>
        </p:nvSpPr>
        <p:spPr>
          <a:xfrm>
            <a:off x="731520" y="2834640"/>
            <a:ext cx="5029200" cy="731520"/>
          </a:xfrm>
          <a:prstGeom prst="roundRect">
            <a:avLst>
              <a:gd name="adj" fmla="val 2000"/>
            </a:avLst>
          </a:prstGeom>
          <a:solidFill>
            <a:srgbClr val="FDF0F2"/>
          </a:solidFill>
          <a:ln w="12700">
            <a:solidFill>
              <a:srgbClr val="E51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4400" y="2926080"/>
            <a:ext cx="1828800" cy="457200"/>
          </a:xfrm>
          <a:prstGeom prst="rect">
            <a:avLst/>
          </a:prstGeom>
          <a:noFill/>
        </p:spPr>
        <p:txBody>
          <a:bodyPr wrap="square">
            <a:spAutoFit/>
          </a:bodyPr>
          <a:lstStyle/>
          <a:p>
            <a:pPr algn="l">
              <a:defRPr sz="1400" b="0" i="0">
                <a:solidFill>
                  <a:srgbClr val="767676"/>
                </a:solidFill>
                <a:latin typeface="Calibri"/>
              </a:defRPr>
            </a:pPr>
            <a:r>
              <a:t>Expected</a:t>
            </a:r>
          </a:p>
        </p:txBody>
      </p:sp>
      <p:sp>
        <p:nvSpPr>
          <p:cNvPr id="12" name="TextBox 11"/>
          <p:cNvSpPr txBox="1"/>
          <p:nvPr/>
        </p:nvSpPr>
        <p:spPr>
          <a:xfrm>
            <a:off x="2743200" y="2926080"/>
            <a:ext cx="1645920" cy="457200"/>
          </a:xfrm>
          <a:prstGeom prst="rect">
            <a:avLst/>
          </a:prstGeom>
          <a:noFill/>
        </p:spPr>
        <p:txBody>
          <a:bodyPr wrap="square">
            <a:spAutoFit/>
          </a:bodyPr>
          <a:lstStyle/>
          <a:p>
            <a:pPr algn="l">
              <a:defRPr sz="2400" b="1" i="0">
                <a:solidFill>
                  <a:srgbClr val="1C1C1E"/>
                </a:solidFill>
                <a:latin typeface="Calibri"/>
              </a:defRPr>
            </a:pPr>
            <a:r>
              <a:t>$10.2M</a:t>
            </a:r>
          </a:p>
        </p:txBody>
      </p:sp>
      <p:sp>
        <p:nvSpPr>
          <p:cNvPr id="13" name="TextBox 12"/>
          <p:cNvSpPr txBox="1"/>
          <p:nvPr/>
        </p:nvSpPr>
        <p:spPr>
          <a:xfrm>
            <a:off x="4389120" y="2971800"/>
            <a:ext cx="1097280" cy="365760"/>
          </a:xfrm>
          <a:prstGeom prst="rect">
            <a:avLst/>
          </a:prstGeom>
          <a:noFill/>
        </p:spPr>
        <p:txBody>
          <a:bodyPr wrap="square">
            <a:spAutoFit/>
          </a:bodyPr>
          <a:lstStyle/>
          <a:p>
            <a:pPr algn="l">
              <a:defRPr sz="1300" b="0" i="0">
                <a:solidFill>
                  <a:srgbClr val="767676"/>
                </a:solidFill>
                <a:latin typeface="Calibri"/>
              </a:defRPr>
            </a:pPr>
            <a:r>
              <a:t>3.8x ROI</a:t>
            </a:r>
          </a:p>
        </p:txBody>
      </p:sp>
      <p:sp>
        <p:nvSpPr>
          <p:cNvPr id="14" name="TextBox 13"/>
          <p:cNvSpPr txBox="1"/>
          <p:nvPr/>
        </p:nvSpPr>
        <p:spPr>
          <a:xfrm>
            <a:off x="914400" y="3749040"/>
            <a:ext cx="1828800" cy="457200"/>
          </a:xfrm>
          <a:prstGeom prst="rect">
            <a:avLst/>
          </a:prstGeom>
          <a:noFill/>
        </p:spPr>
        <p:txBody>
          <a:bodyPr wrap="square">
            <a:spAutoFit/>
          </a:bodyPr>
          <a:lstStyle/>
          <a:p>
            <a:pPr algn="l">
              <a:defRPr sz="1400" b="0" i="0">
                <a:solidFill>
                  <a:srgbClr val="767676"/>
                </a:solidFill>
                <a:latin typeface="Calibri"/>
              </a:defRPr>
            </a:pPr>
            <a:r>
              <a:t>Upside</a:t>
            </a:r>
          </a:p>
        </p:txBody>
      </p:sp>
      <p:sp>
        <p:nvSpPr>
          <p:cNvPr id="15" name="TextBox 14"/>
          <p:cNvSpPr txBox="1"/>
          <p:nvPr/>
        </p:nvSpPr>
        <p:spPr>
          <a:xfrm>
            <a:off x="2743200" y="3749040"/>
            <a:ext cx="1645920" cy="457200"/>
          </a:xfrm>
          <a:prstGeom prst="rect">
            <a:avLst/>
          </a:prstGeom>
          <a:noFill/>
        </p:spPr>
        <p:txBody>
          <a:bodyPr wrap="square">
            <a:spAutoFit/>
          </a:bodyPr>
          <a:lstStyle/>
          <a:p>
            <a:pPr algn="l">
              <a:defRPr sz="2400" b="1" i="0">
                <a:solidFill>
                  <a:srgbClr val="1C1C1E"/>
                </a:solidFill>
                <a:latin typeface="Calibri"/>
              </a:defRPr>
            </a:pPr>
            <a:r>
              <a:t>$22.5M</a:t>
            </a:r>
          </a:p>
        </p:txBody>
      </p:sp>
      <p:sp>
        <p:nvSpPr>
          <p:cNvPr id="16" name="TextBox 15"/>
          <p:cNvSpPr txBox="1"/>
          <p:nvPr/>
        </p:nvSpPr>
        <p:spPr>
          <a:xfrm>
            <a:off x="4389120" y="3794760"/>
            <a:ext cx="1097280" cy="365760"/>
          </a:xfrm>
          <a:prstGeom prst="rect">
            <a:avLst/>
          </a:prstGeom>
          <a:noFill/>
        </p:spPr>
        <p:txBody>
          <a:bodyPr wrap="square">
            <a:spAutoFit/>
          </a:bodyPr>
          <a:lstStyle/>
          <a:p>
            <a:pPr algn="l">
              <a:defRPr sz="1300" b="0" i="0">
                <a:solidFill>
                  <a:srgbClr val="767676"/>
                </a:solidFill>
                <a:latin typeface="Calibri"/>
              </a:defRPr>
            </a:pPr>
            <a:r>
              <a:t>6.4x ROI</a:t>
            </a:r>
          </a:p>
        </p:txBody>
      </p:sp>
      <p:sp>
        <p:nvSpPr>
          <p:cNvPr id="17" name="Rounded Rectangle 16"/>
          <p:cNvSpPr/>
          <p:nvPr/>
        </p:nvSpPr>
        <p:spPr>
          <a:xfrm>
            <a:off x="731520" y="4709160"/>
            <a:ext cx="5029200" cy="1005840"/>
          </a:xfrm>
          <a:prstGeom prst="roundRect">
            <a:avLst>
              <a:gd name="adj" fmla="val 2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60120" y="4773168"/>
            <a:ext cx="4572000" cy="201168"/>
          </a:xfrm>
          <a:prstGeom prst="rect">
            <a:avLst/>
          </a:prstGeom>
          <a:noFill/>
        </p:spPr>
        <p:txBody>
          <a:bodyPr wrap="square">
            <a:spAutoFit/>
          </a:bodyPr>
          <a:lstStyle/>
          <a:p>
            <a:pPr algn="l">
              <a:defRPr sz="900" b="1" i="0">
                <a:solidFill>
                  <a:srgbClr val="767676"/>
                </a:solidFill>
                <a:latin typeface="Calibri"/>
              </a:defRPr>
            </a:pPr>
            <a:r>
              <a:t>FULL PROGRAM (Steps 1-4)</a:t>
            </a:r>
          </a:p>
        </p:txBody>
      </p:sp>
      <p:sp>
        <p:nvSpPr>
          <p:cNvPr id="19" name="TextBox 18"/>
          <p:cNvSpPr txBox="1"/>
          <p:nvPr/>
        </p:nvSpPr>
        <p:spPr>
          <a:xfrm>
            <a:off x="960120" y="5001768"/>
            <a:ext cx="4572000" cy="228600"/>
          </a:xfrm>
          <a:prstGeom prst="rect">
            <a:avLst/>
          </a:prstGeom>
          <a:noFill/>
        </p:spPr>
        <p:txBody>
          <a:bodyPr wrap="square">
            <a:spAutoFit/>
          </a:bodyPr>
          <a:lstStyle/>
          <a:p>
            <a:pPr algn="l">
              <a:defRPr sz="2000" b="1" i="0">
                <a:solidFill>
                  <a:srgbClr val="1C1C1E"/>
                </a:solidFill>
                <a:latin typeface="Calibri"/>
              </a:defRPr>
            </a:pPr>
            <a:r>
              <a:t>$39M+/yr at maturity</a:t>
            </a:r>
          </a:p>
        </p:txBody>
      </p:sp>
      <p:sp>
        <p:nvSpPr>
          <p:cNvPr id="20" name="TextBox 19"/>
          <p:cNvSpPr txBox="1"/>
          <p:nvPr/>
        </p:nvSpPr>
        <p:spPr>
          <a:xfrm>
            <a:off x="960120" y="5285232"/>
            <a:ext cx="4572000" cy="228600"/>
          </a:xfrm>
          <a:prstGeom prst="rect">
            <a:avLst/>
          </a:prstGeom>
          <a:noFill/>
        </p:spPr>
        <p:txBody>
          <a:bodyPr wrap="square">
            <a:spAutoFit/>
          </a:bodyPr>
          <a:lstStyle/>
          <a:p>
            <a:pPr algn="l">
              <a:defRPr sz="1000" b="0" i="0">
                <a:solidFill>
                  <a:srgbClr val="767676"/>
                </a:solidFill>
                <a:latin typeface="Calibri"/>
              </a:defRPr>
            </a:pPr>
            <a:r>
              <a:t>$15-22M investment over 5 years  |  ~4x blended ROI</a:t>
            </a:r>
          </a:p>
        </p:txBody>
      </p:sp>
      <p:sp>
        <p:nvSpPr>
          <p:cNvPr id="21" name="TextBox 20"/>
          <p:cNvSpPr txBox="1"/>
          <p:nvPr/>
        </p:nvSpPr>
        <p:spPr>
          <a:xfrm>
            <a:off x="6400800" y="1325880"/>
            <a:ext cx="5029200" cy="274320"/>
          </a:xfrm>
          <a:prstGeom prst="rect">
            <a:avLst/>
          </a:prstGeom>
          <a:noFill/>
        </p:spPr>
        <p:txBody>
          <a:bodyPr wrap="square">
            <a:spAutoFit/>
          </a:bodyPr>
          <a:lstStyle/>
          <a:p>
            <a:pPr algn="l">
              <a:defRPr sz="1600" b="1" i="0">
                <a:solidFill>
                  <a:srgbClr val="1C1C1E"/>
                </a:solidFill>
                <a:latin typeface="Calibri"/>
              </a:defRPr>
            </a:pPr>
            <a:r>
              <a:t>Year-1 Financial Impact (All Phases)</a:t>
            </a:r>
          </a:p>
        </p:txBody>
      </p:sp>
      <p:sp>
        <p:nvSpPr>
          <p:cNvPr id="22" name="Rounded Rectangle 21"/>
          <p:cNvSpPr/>
          <p:nvPr/>
        </p:nvSpPr>
        <p:spPr>
          <a:xfrm>
            <a:off x="6400800" y="1737360"/>
            <a:ext cx="2560320" cy="10972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629400" y="1874520"/>
            <a:ext cx="2103120" cy="228600"/>
          </a:xfrm>
          <a:prstGeom prst="rect">
            <a:avLst/>
          </a:prstGeom>
          <a:noFill/>
        </p:spPr>
        <p:txBody>
          <a:bodyPr wrap="square">
            <a:spAutoFit/>
          </a:bodyPr>
          <a:lstStyle/>
          <a:p>
            <a:pPr algn="l">
              <a:defRPr sz="1000" b="0" i="0">
                <a:solidFill>
                  <a:srgbClr val="767676"/>
                </a:solidFill>
                <a:latin typeface="Calibri"/>
              </a:defRPr>
            </a:pPr>
            <a:r>
              <a:t>NET YEAR-1 VALUE</a:t>
            </a:r>
          </a:p>
        </p:txBody>
      </p:sp>
      <p:sp>
        <p:nvSpPr>
          <p:cNvPr id="24" name="TextBox 23"/>
          <p:cNvSpPr txBox="1"/>
          <p:nvPr/>
        </p:nvSpPr>
        <p:spPr>
          <a:xfrm>
            <a:off x="6629400" y="2103120"/>
            <a:ext cx="2103120" cy="411480"/>
          </a:xfrm>
          <a:prstGeom prst="rect">
            <a:avLst/>
          </a:prstGeom>
          <a:noFill/>
        </p:spPr>
        <p:txBody>
          <a:bodyPr wrap="square">
            <a:spAutoFit/>
          </a:bodyPr>
          <a:lstStyle/>
          <a:p>
            <a:pPr algn="l">
              <a:defRPr sz="2600" b="1" i="0">
                <a:solidFill>
                  <a:srgbClr val="1C1C1E"/>
                </a:solidFill>
                <a:latin typeface="Calibri"/>
              </a:defRPr>
            </a:pPr>
            <a:r>
              <a:t>$10.2M</a:t>
            </a:r>
          </a:p>
        </p:txBody>
      </p:sp>
      <p:sp>
        <p:nvSpPr>
          <p:cNvPr id="25" name="TextBox 24"/>
          <p:cNvSpPr txBox="1"/>
          <p:nvPr/>
        </p:nvSpPr>
        <p:spPr>
          <a:xfrm>
            <a:off x="6629400" y="2560320"/>
            <a:ext cx="2103120" cy="228600"/>
          </a:xfrm>
          <a:prstGeom prst="rect">
            <a:avLst/>
          </a:prstGeom>
          <a:noFill/>
        </p:spPr>
        <p:txBody>
          <a:bodyPr wrap="square">
            <a:spAutoFit/>
          </a:bodyPr>
          <a:lstStyle/>
          <a:p>
            <a:pPr algn="l">
              <a:defRPr sz="900" b="0" i="0">
                <a:solidFill>
                  <a:srgbClr val="767676"/>
                </a:solidFill>
                <a:latin typeface="Calibri"/>
              </a:defRPr>
            </a:pPr>
            <a:r>
              <a:t>Expected case</a:t>
            </a:r>
          </a:p>
        </p:txBody>
      </p:sp>
      <p:sp>
        <p:nvSpPr>
          <p:cNvPr id="26" name="Rounded Rectangle 25"/>
          <p:cNvSpPr/>
          <p:nvPr/>
        </p:nvSpPr>
        <p:spPr>
          <a:xfrm>
            <a:off x="9144000" y="1737360"/>
            <a:ext cx="2560320" cy="10972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372600" y="1874520"/>
            <a:ext cx="2103120" cy="228600"/>
          </a:xfrm>
          <a:prstGeom prst="rect">
            <a:avLst/>
          </a:prstGeom>
          <a:noFill/>
        </p:spPr>
        <p:txBody>
          <a:bodyPr wrap="square">
            <a:spAutoFit/>
          </a:bodyPr>
          <a:lstStyle/>
          <a:p>
            <a:pPr algn="l">
              <a:defRPr sz="1000" b="0" i="0">
                <a:solidFill>
                  <a:srgbClr val="767676"/>
                </a:solidFill>
                <a:latin typeface="Calibri"/>
              </a:defRPr>
            </a:pPr>
            <a:r>
              <a:t>RETURN ON SPEND</a:t>
            </a:r>
          </a:p>
        </p:txBody>
      </p:sp>
      <p:sp>
        <p:nvSpPr>
          <p:cNvPr id="28" name="TextBox 27"/>
          <p:cNvSpPr txBox="1"/>
          <p:nvPr/>
        </p:nvSpPr>
        <p:spPr>
          <a:xfrm>
            <a:off x="9372600" y="2103120"/>
            <a:ext cx="2103120" cy="411480"/>
          </a:xfrm>
          <a:prstGeom prst="rect">
            <a:avLst/>
          </a:prstGeom>
          <a:noFill/>
        </p:spPr>
        <p:txBody>
          <a:bodyPr wrap="square">
            <a:spAutoFit/>
          </a:bodyPr>
          <a:lstStyle/>
          <a:p>
            <a:pPr algn="l">
              <a:defRPr sz="2600" b="1" i="0">
                <a:solidFill>
                  <a:srgbClr val="1C1C1E"/>
                </a:solidFill>
                <a:latin typeface="Calibri"/>
              </a:defRPr>
            </a:pPr>
            <a:r>
              <a:t>3.8x</a:t>
            </a:r>
          </a:p>
        </p:txBody>
      </p:sp>
      <p:sp>
        <p:nvSpPr>
          <p:cNvPr id="29" name="TextBox 28"/>
          <p:cNvSpPr txBox="1"/>
          <p:nvPr/>
        </p:nvSpPr>
        <p:spPr>
          <a:xfrm>
            <a:off x="9372600" y="2560320"/>
            <a:ext cx="2103120" cy="228600"/>
          </a:xfrm>
          <a:prstGeom prst="rect">
            <a:avLst/>
          </a:prstGeom>
          <a:noFill/>
        </p:spPr>
        <p:txBody>
          <a:bodyPr wrap="square">
            <a:spAutoFit/>
          </a:bodyPr>
          <a:lstStyle/>
          <a:p>
            <a:pPr algn="l">
              <a:defRPr sz="900" b="0" i="0">
                <a:solidFill>
                  <a:srgbClr val="767676"/>
                </a:solidFill>
                <a:latin typeface="Calibri"/>
              </a:defRPr>
            </a:pPr>
            <a:r>
              <a:t>On $2.7M total spend</a:t>
            </a:r>
          </a:p>
        </p:txBody>
      </p:sp>
      <p:sp>
        <p:nvSpPr>
          <p:cNvPr id="30" name="TextBox 29"/>
          <p:cNvSpPr txBox="1"/>
          <p:nvPr/>
        </p:nvSpPr>
        <p:spPr>
          <a:xfrm>
            <a:off x="6400800" y="3017520"/>
            <a:ext cx="5029200" cy="2377440"/>
          </a:xfrm>
          <a:prstGeom prst="rect">
            <a:avLst/>
          </a:prstGeom>
          <a:noFill/>
        </p:spPr>
        <p:txBody>
          <a:bodyPr wrap="square">
            <a:spAutoFit/>
          </a:bodyPr>
          <a:lstStyle/>
          <a:p>
            <a:pPr>
              <a:spcAft>
                <a:spcPts val="519"/>
              </a:spcAft>
              <a:defRPr sz="1300" b="1">
                <a:solidFill>
                  <a:srgbClr val="1C1C1E"/>
                </a:solidFill>
                <a:latin typeface="Calibri"/>
              </a:defRPr>
            </a:pPr>
            <a:r>
              <a:t>Cost Reductions</a:t>
            </a:r>
          </a:p>
          <a:p>
            <a:pPr>
              <a:spcAft>
                <a:spcPts val="439"/>
              </a:spcAft>
              <a:defRPr sz="1100" b="0">
                <a:solidFill>
                  <a:srgbClr val="3A3A3C"/>
                </a:solidFill>
                <a:latin typeface="Calibri"/>
              </a:defRPr>
            </a:pPr>
            <a:r>
              <a:t>Support automation savings: $1.6M</a:t>
            </a:r>
          </a:p>
          <a:p>
            <a:pPr>
              <a:spcAft>
                <a:spcPts val="439"/>
              </a:spcAft>
              <a:defRPr sz="1100" b="0">
                <a:solidFill>
                  <a:srgbClr val="3A3A3C"/>
                </a:solidFill>
                <a:latin typeface="Calibri"/>
              </a:defRPr>
            </a:pPr>
            <a:r>
              <a:t>Demand forecasting savings: $1.6M</a:t>
            </a:r>
          </a:p>
          <a:p>
            <a:pPr>
              <a:spcAft>
                <a:spcPts val="439"/>
              </a:spcAft>
              <a:defRPr sz="1100" b="0">
                <a:solidFill>
                  <a:srgbClr val="3A3A3C"/>
                </a:solidFill>
                <a:latin typeface="Calibri"/>
              </a:defRPr>
            </a:pPr>
            <a:r>
              <a:t>Documentation and translation: $0.24M</a:t>
            </a:r>
          </a:p>
          <a:p>
            <a:pPr>
              <a:spcAft>
                <a:spcPts val="199"/>
              </a:spcAft>
              <a:defRPr sz="500" b="0">
                <a:solidFill>
                  <a:srgbClr val="767676"/>
                </a:solidFill>
                <a:latin typeface="Calibri"/>
              </a:defRPr>
            </a:pPr>
            <a:endParaRPr/>
          </a:p>
          <a:p>
            <a:pPr>
              <a:spcAft>
                <a:spcPts val="519"/>
              </a:spcAft>
              <a:defRPr sz="1300" b="1">
                <a:solidFill>
                  <a:srgbClr val="1C1C1E"/>
                </a:solidFill>
                <a:latin typeface="Calibri"/>
              </a:defRPr>
            </a:pPr>
            <a:r>
              <a:t>Revenue Growth</a:t>
            </a:r>
          </a:p>
          <a:p>
            <a:pPr>
              <a:spcAft>
                <a:spcPts val="439"/>
              </a:spcAft>
              <a:defRPr sz="1100" b="0">
                <a:solidFill>
                  <a:srgbClr val="3A3A3C"/>
                </a:solidFill>
                <a:latin typeface="Calibri"/>
              </a:defRPr>
            </a:pPr>
            <a:r>
              <a:t>Customer retention: $3.0M</a:t>
            </a:r>
          </a:p>
          <a:p>
            <a:pPr>
              <a:spcAft>
                <a:spcPts val="439"/>
              </a:spcAft>
              <a:defRPr sz="1100" b="0">
                <a:solidFill>
                  <a:srgbClr val="3A3A3C"/>
                </a:solidFill>
                <a:latin typeface="Calibri"/>
              </a:defRPr>
            </a:pPr>
            <a:r>
              <a:t>Package size increase: $4.0M</a:t>
            </a:r>
          </a:p>
          <a:p>
            <a:pPr>
              <a:spcAft>
                <a:spcPts val="439"/>
              </a:spcAft>
              <a:defRPr sz="1100" b="0">
                <a:solidFill>
                  <a:srgbClr val="3A3A3C"/>
                </a:solidFill>
                <a:latin typeface="Calibri"/>
              </a:defRPr>
            </a:pPr>
            <a:r>
              <a:t>Proposal win rate: $2.5M</a:t>
            </a:r>
          </a:p>
        </p:txBody>
      </p:sp>
      <p:sp>
        <p:nvSpPr>
          <p:cNvPr id="31" name="Rounded Rectangle 30"/>
          <p:cNvSpPr/>
          <p:nvPr/>
        </p:nvSpPr>
        <p:spPr>
          <a:xfrm>
            <a:off x="6400800" y="5303520"/>
            <a:ext cx="5303520" cy="777240"/>
          </a:xfrm>
          <a:prstGeom prst="roundRect">
            <a:avLst>
              <a:gd name="adj" fmla="val 2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675120" y="5349240"/>
            <a:ext cx="4754880" cy="731520"/>
          </a:xfrm>
          <a:prstGeom prst="rect">
            <a:avLst/>
          </a:prstGeom>
          <a:noFill/>
        </p:spPr>
        <p:txBody>
          <a:bodyPr wrap="square">
            <a:spAutoFit/>
          </a:bodyPr>
          <a:lstStyle/>
          <a:p>
            <a:pPr>
              <a:spcAft>
                <a:spcPts val="359"/>
              </a:spcAft>
              <a:defRPr sz="1200" b="1">
                <a:solidFill>
                  <a:srgbClr val="1C1C1E"/>
                </a:solidFill>
                <a:latin typeface="Calibri"/>
              </a:defRPr>
            </a:pPr>
            <a:r>
              <a:t>Gross value: $12.9M</a:t>
            </a:r>
          </a:p>
          <a:p>
            <a:pPr>
              <a:spcAft>
                <a:spcPts val="329"/>
              </a:spcAft>
              <a:defRPr sz="1100" b="0">
                <a:solidFill>
                  <a:srgbClr val="767676"/>
                </a:solidFill>
                <a:latin typeface="Calibri"/>
              </a:defRPr>
            </a:pPr>
            <a:r>
              <a:t>Setup + operating costs: ($2.7M)</a:t>
            </a:r>
          </a:p>
          <a:p>
            <a:pPr>
              <a:spcAft>
                <a:spcPts val="389"/>
              </a:spcAft>
              <a:defRPr sz="1300" b="1">
                <a:solidFill>
                  <a:srgbClr val="1C1C1E"/>
                </a:solidFill>
                <a:latin typeface="Calibri"/>
              </a:defRPr>
            </a:pPr>
            <a:r>
              <a:t>Net value: $10.2M  |  Return: 3.8x</a:t>
            </a:r>
          </a:p>
        </p:txBody>
      </p:sp>
      <p:sp>
        <p:nvSpPr>
          <p:cNvPr id="33" name="TextBox 32"/>
          <p:cNvSpPr txBox="1"/>
          <p:nvPr/>
        </p:nvSpPr>
        <p:spPr>
          <a:xfrm>
            <a:off x="731520" y="5943600"/>
            <a:ext cx="5029200" cy="228600"/>
          </a:xfrm>
          <a:prstGeom prst="rect">
            <a:avLst/>
          </a:prstGeom>
          <a:noFill/>
        </p:spPr>
        <p:txBody>
          <a:bodyPr wrap="square">
            <a:spAutoFit/>
          </a:bodyPr>
          <a:lstStyle/>
          <a:p>
            <a:pPr algn="l">
              <a:defRPr sz="800" b="0" i="0">
                <a:solidFill>
                  <a:srgbClr val="767676"/>
                </a:solidFill>
                <a:latin typeface="Calibri"/>
              </a:defRPr>
            </a:pPr>
            <a:r>
              <a:t>Estimates based on industry benchmarks, interview data, and SRAM public filings. Full breakdown in Appendix A1.</a:t>
            </a:r>
          </a:p>
        </p:txBody>
      </p:sp>
      <p:sp>
        <p:nvSpPr>
          <p:cNvPr id="34" name="TextBox 33"/>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35" name="TextBox 34"/>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12</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WHAT COULD BE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Hardware company to performance intelligence by 2031</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Each capability creates a new recurring revenue stream. SRAM's installed base of connected components becomes a platform, not a one-time sale.</a:t>
            </a:r>
          </a:p>
        </p:txBody>
      </p:sp>
      <p:sp>
        <p:nvSpPr>
          <p:cNvPr id="7" name="Rounded Rectangle 6"/>
          <p:cNvSpPr/>
          <p:nvPr/>
        </p:nvSpPr>
        <p:spPr>
          <a:xfrm>
            <a:off x="731520" y="1828800"/>
            <a:ext cx="10698480" cy="1371600"/>
          </a:xfrm>
          <a:prstGeom prst="roundRect">
            <a:avLst>
              <a:gd name="adj" fmla="val 4000"/>
            </a:avLst>
          </a:prstGeom>
          <a:solidFill>
            <a:srgbClr val="FDF0F2"/>
          </a:solidFill>
          <a:ln w="12700">
            <a:solidFill>
              <a:srgbClr val="E51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31520" y="1828800"/>
            <a:ext cx="50800" cy="13716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97280" y="1938528"/>
            <a:ext cx="3657600" cy="182880"/>
          </a:xfrm>
          <a:prstGeom prst="rect">
            <a:avLst/>
          </a:prstGeom>
          <a:noFill/>
        </p:spPr>
        <p:txBody>
          <a:bodyPr wrap="square">
            <a:spAutoFit/>
          </a:bodyPr>
          <a:lstStyle/>
          <a:p>
            <a:pPr algn="l">
              <a:defRPr sz="1000" b="1" i="0">
                <a:solidFill>
                  <a:srgbClr val="E51937"/>
                </a:solidFill>
                <a:latin typeface="Calibri"/>
              </a:defRPr>
            </a:pPr>
            <a:r>
              <a:t>THE UNLOCK</a:t>
            </a:r>
          </a:p>
        </p:txBody>
      </p:sp>
      <p:sp>
        <p:nvSpPr>
          <p:cNvPr id="10" name="TextBox 9"/>
          <p:cNvSpPr txBox="1"/>
          <p:nvPr/>
        </p:nvSpPr>
        <p:spPr>
          <a:xfrm>
            <a:off x="1097280" y="2194560"/>
            <a:ext cx="4572000" cy="365760"/>
          </a:xfrm>
          <a:prstGeom prst="rect">
            <a:avLst/>
          </a:prstGeom>
          <a:noFill/>
        </p:spPr>
        <p:txBody>
          <a:bodyPr wrap="square">
            <a:spAutoFit/>
          </a:bodyPr>
          <a:lstStyle/>
          <a:p>
            <a:pPr algn="l">
              <a:defRPr sz="2000" b="1" i="0">
                <a:solidFill>
                  <a:srgbClr val="1C1C1E"/>
                </a:solidFill>
                <a:latin typeface="Calibri"/>
              </a:defRPr>
            </a:pPr>
            <a:r>
              <a:t>AXS Intelligence Platform</a:t>
            </a:r>
          </a:p>
        </p:txBody>
      </p:sp>
      <p:sp>
        <p:nvSpPr>
          <p:cNvPr id="11" name="TextBox 10"/>
          <p:cNvSpPr txBox="1"/>
          <p:nvPr/>
        </p:nvSpPr>
        <p:spPr>
          <a:xfrm>
            <a:off x="1097280" y="2651760"/>
            <a:ext cx="9601200" cy="457200"/>
          </a:xfrm>
          <a:prstGeom prst="rect">
            <a:avLst/>
          </a:prstGeom>
          <a:noFill/>
        </p:spPr>
        <p:txBody>
          <a:bodyPr wrap="square">
            <a:spAutoFit/>
          </a:bodyPr>
          <a:lstStyle/>
          <a:p>
            <a:pPr algn="l">
              <a:defRPr sz="1300" b="0" i="0">
                <a:solidFill>
                  <a:srgbClr val="3A3A3C"/>
                </a:solidFill>
                <a:latin typeface="Calibri"/>
              </a:defRPr>
            </a:pPr>
            <a:r>
              <a:t>Unified rider dashboard: power, gearing, suspension, heart rate in one view. No competitor has the product breadth to build this.</a:t>
            </a:r>
          </a:p>
        </p:txBody>
      </p:sp>
      <p:sp>
        <p:nvSpPr>
          <p:cNvPr id="12" name="TextBox 11"/>
          <p:cNvSpPr txBox="1"/>
          <p:nvPr/>
        </p:nvSpPr>
        <p:spPr>
          <a:xfrm>
            <a:off x="7315200" y="2194560"/>
            <a:ext cx="3840480" cy="274320"/>
          </a:xfrm>
          <a:prstGeom prst="rect">
            <a:avLst/>
          </a:prstGeom>
          <a:noFill/>
        </p:spPr>
        <p:txBody>
          <a:bodyPr wrap="square">
            <a:spAutoFit/>
          </a:bodyPr>
          <a:lstStyle/>
          <a:p>
            <a:pPr algn="r">
              <a:defRPr sz="1100" b="1" i="0">
                <a:solidFill>
                  <a:srgbClr val="E51937"/>
                </a:solidFill>
                <a:latin typeface="Calibri"/>
              </a:defRPr>
            </a:pPr>
            <a:r>
              <a:t>NEW REVENUE: Premium subscription tier</a:t>
            </a:r>
          </a:p>
        </p:txBody>
      </p:sp>
      <p:sp>
        <p:nvSpPr>
          <p:cNvPr id="13" name="TextBox 12"/>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14" name="TextBox 13"/>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WHAT COULD BE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Hardware company to performance intelligence by 2031</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Each capability creates a new recurring revenue stream. SRAM's installed base of connected components becomes a platform, not a one-time sale.</a:t>
            </a:r>
          </a:p>
        </p:txBody>
      </p:sp>
      <p:sp>
        <p:nvSpPr>
          <p:cNvPr id="7" name="Rounded Rectangle 6"/>
          <p:cNvSpPr/>
          <p:nvPr/>
        </p:nvSpPr>
        <p:spPr>
          <a:xfrm>
            <a:off x="731520" y="1828800"/>
            <a:ext cx="10698480" cy="1371600"/>
          </a:xfrm>
          <a:prstGeom prst="roundRect">
            <a:avLst>
              <a:gd name="adj" fmla="val 4000"/>
            </a:avLst>
          </a:prstGeom>
          <a:solidFill>
            <a:srgbClr val="FDF0F2"/>
          </a:solidFill>
          <a:ln w="12700">
            <a:solidFill>
              <a:srgbClr val="E51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31520" y="1828800"/>
            <a:ext cx="50800" cy="13716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97280" y="1938528"/>
            <a:ext cx="3657600" cy="182880"/>
          </a:xfrm>
          <a:prstGeom prst="rect">
            <a:avLst/>
          </a:prstGeom>
          <a:noFill/>
        </p:spPr>
        <p:txBody>
          <a:bodyPr wrap="square">
            <a:spAutoFit/>
          </a:bodyPr>
          <a:lstStyle/>
          <a:p>
            <a:pPr algn="l">
              <a:defRPr sz="1000" b="1" i="0">
                <a:solidFill>
                  <a:srgbClr val="E51937"/>
                </a:solidFill>
                <a:latin typeface="Calibri"/>
              </a:defRPr>
            </a:pPr>
            <a:r>
              <a:t>THE UNLOCK</a:t>
            </a:r>
          </a:p>
        </p:txBody>
      </p:sp>
      <p:sp>
        <p:nvSpPr>
          <p:cNvPr id="10" name="TextBox 9"/>
          <p:cNvSpPr txBox="1"/>
          <p:nvPr/>
        </p:nvSpPr>
        <p:spPr>
          <a:xfrm>
            <a:off x="1097280" y="2194560"/>
            <a:ext cx="4572000" cy="365760"/>
          </a:xfrm>
          <a:prstGeom prst="rect">
            <a:avLst/>
          </a:prstGeom>
          <a:noFill/>
        </p:spPr>
        <p:txBody>
          <a:bodyPr wrap="square">
            <a:spAutoFit/>
          </a:bodyPr>
          <a:lstStyle/>
          <a:p>
            <a:pPr algn="l">
              <a:defRPr sz="2000" b="1" i="0">
                <a:solidFill>
                  <a:srgbClr val="1C1C1E"/>
                </a:solidFill>
                <a:latin typeface="Calibri"/>
              </a:defRPr>
            </a:pPr>
            <a:r>
              <a:t>AXS Intelligence Platform</a:t>
            </a:r>
          </a:p>
        </p:txBody>
      </p:sp>
      <p:sp>
        <p:nvSpPr>
          <p:cNvPr id="11" name="TextBox 10"/>
          <p:cNvSpPr txBox="1"/>
          <p:nvPr/>
        </p:nvSpPr>
        <p:spPr>
          <a:xfrm>
            <a:off x="1097280" y="2651760"/>
            <a:ext cx="9601200" cy="457200"/>
          </a:xfrm>
          <a:prstGeom prst="rect">
            <a:avLst/>
          </a:prstGeom>
          <a:noFill/>
        </p:spPr>
        <p:txBody>
          <a:bodyPr wrap="square">
            <a:spAutoFit/>
          </a:bodyPr>
          <a:lstStyle/>
          <a:p>
            <a:pPr algn="l">
              <a:defRPr sz="1300" b="0" i="0">
                <a:solidFill>
                  <a:srgbClr val="3A3A3C"/>
                </a:solidFill>
                <a:latin typeface="Calibri"/>
              </a:defRPr>
            </a:pPr>
            <a:r>
              <a:t>Unified rider dashboard: power, gearing, suspension, heart rate in one view. No competitor has the product breadth to build this.</a:t>
            </a:r>
          </a:p>
        </p:txBody>
      </p:sp>
      <p:sp>
        <p:nvSpPr>
          <p:cNvPr id="12" name="TextBox 11"/>
          <p:cNvSpPr txBox="1"/>
          <p:nvPr/>
        </p:nvSpPr>
        <p:spPr>
          <a:xfrm>
            <a:off x="7315200" y="2194560"/>
            <a:ext cx="3840480" cy="274320"/>
          </a:xfrm>
          <a:prstGeom prst="rect">
            <a:avLst/>
          </a:prstGeom>
          <a:noFill/>
        </p:spPr>
        <p:txBody>
          <a:bodyPr wrap="square">
            <a:spAutoFit/>
          </a:bodyPr>
          <a:lstStyle/>
          <a:p>
            <a:pPr algn="r">
              <a:defRPr sz="1100" b="1" i="0">
                <a:solidFill>
                  <a:srgbClr val="E51937"/>
                </a:solidFill>
                <a:latin typeface="Calibri"/>
              </a:defRPr>
            </a:pPr>
            <a:r>
              <a:t>NEW REVENUE: Premium subscription tier</a:t>
            </a:r>
          </a:p>
        </p:txBody>
      </p:sp>
      <p:sp>
        <p:nvSpPr>
          <p:cNvPr id="13" name="Rounded Rectangle 12"/>
          <p:cNvSpPr/>
          <p:nvPr/>
        </p:nvSpPr>
        <p:spPr>
          <a:xfrm>
            <a:off x="731520" y="3657600"/>
            <a:ext cx="342900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60120" y="3794760"/>
            <a:ext cx="2971800" cy="274320"/>
          </a:xfrm>
          <a:prstGeom prst="rect">
            <a:avLst/>
          </a:prstGeom>
          <a:noFill/>
        </p:spPr>
        <p:txBody>
          <a:bodyPr wrap="square">
            <a:spAutoFit/>
          </a:bodyPr>
          <a:lstStyle/>
          <a:p>
            <a:pPr algn="l">
              <a:defRPr sz="1300" b="1" i="0">
                <a:solidFill>
                  <a:srgbClr val="1C1C1E"/>
                </a:solidFill>
                <a:latin typeface="Calibri"/>
              </a:defRPr>
            </a:pPr>
            <a:r>
              <a:t>Predictive Maintenance</a:t>
            </a:r>
          </a:p>
        </p:txBody>
      </p:sp>
      <p:sp>
        <p:nvSpPr>
          <p:cNvPr id="15" name="TextBox 14"/>
          <p:cNvSpPr txBox="1"/>
          <p:nvPr/>
        </p:nvSpPr>
        <p:spPr>
          <a:xfrm>
            <a:off x="960120" y="4114800"/>
            <a:ext cx="2971800" cy="502920"/>
          </a:xfrm>
          <a:prstGeom prst="rect">
            <a:avLst/>
          </a:prstGeom>
          <a:noFill/>
        </p:spPr>
        <p:txBody>
          <a:bodyPr wrap="square">
            <a:spAutoFit/>
          </a:bodyPr>
          <a:lstStyle/>
          <a:p>
            <a:pPr algn="l">
              <a:defRPr sz="1100" b="0" i="0">
                <a:solidFill>
                  <a:srgbClr val="3A3A3C"/>
                </a:solidFill>
                <a:latin typeface="Calibri"/>
              </a:defRPr>
            </a:pPr>
            <a:r>
              <a:t>Connected components predict chain and brake pad replacement before failure. Installed base becomes recurring revenue.</a:t>
            </a:r>
          </a:p>
        </p:txBody>
      </p:sp>
      <p:sp>
        <p:nvSpPr>
          <p:cNvPr id="16" name="TextBox 15"/>
          <p:cNvSpPr txBox="1"/>
          <p:nvPr/>
        </p:nvSpPr>
        <p:spPr>
          <a:xfrm>
            <a:off x="960120" y="4709160"/>
            <a:ext cx="2971800" cy="228600"/>
          </a:xfrm>
          <a:prstGeom prst="rect">
            <a:avLst/>
          </a:prstGeom>
          <a:noFill/>
        </p:spPr>
        <p:txBody>
          <a:bodyPr wrap="square">
            <a:spAutoFit/>
          </a:bodyPr>
          <a:lstStyle/>
          <a:p>
            <a:pPr algn="l">
              <a:defRPr sz="900" b="1" i="0">
                <a:solidFill>
                  <a:srgbClr val="E51937"/>
                </a:solidFill>
                <a:latin typeface="Calibri"/>
              </a:defRPr>
            </a:pPr>
            <a:r>
              <a:t>NEW REVENUE: Per-device monitoring subscription</a:t>
            </a:r>
          </a:p>
        </p:txBody>
      </p:sp>
      <p:sp>
        <p:nvSpPr>
          <p:cNvPr id="17" name="Rounded Rectangle 16"/>
          <p:cNvSpPr/>
          <p:nvPr/>
        </p:nvSpPr>
        <p:spPr>
          <a:xfrm>
            <a:off x="4389120" y="3657600"/>
            <a:ext cx="342900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617720" y="3794760"/>
            <a:ext cx="2971800" cy="274320"/>
          </a:xfrm>
          <a:prstGeom prst="rect">
            <a:avLst/>
          </a:prstGeom>
          <a:noFill/>
        </p:spPr>
        <p:txBody>
          <a:bodyPr wrap="square">
            <a:spAutoFit/>
          </a:bodyPr>
          <a:lstStyle/>
          <a:p>
            <a:pPr algn="l">
              <a:defRPr sz="1300" b="1" i="0">
                <a:solidFill>
                  <a:srgbClr val="1C1C1E"/>
                </a:solidFill>
                <a:latin typeface="Calibri"/>
              </a:defRPr>
            </a:pPr>
            <a:r>
              <a:t>AI-Tuned Performance</a:t>
            </a:r>
          </a:p>
        </p:txBody>
      </p:sp>
      <p:sp>
        <p:nvSpPr>
          <p:cNvPr id="19" name="TextBox 18"/>
          <p:cNvSpPr txBox="1"/>
          <p:nvPr/>
        </p:nvSpPr>
        <p:spPr>
          <a:xfrm>
            <a:off x="4617720" y="4114800"/>
            <a:ext cx="2971800" cy="502920"/>
          </a:xfrm>
          <a:prstGeom prst="rect">
            <a:avLst/>
          </a:prstGeom>
          <a:noFill/>
        </p:spPr>
        <p:txBody>
          <a:bodyPr wrap="square">
            <a:spAutoFit/>
          </a:bodyPr>
          <a:lstStyle/>
          <a:p>
            <a:pPr algn="l">
              <a:defRPr sz="1100" b="0" i="0">
                <a:solidFill>
                  <a:srgbClr val="3A3A3C"/>
                </a:solidFill>
                <a:latin typeface="Calibri"/>
              </a:defRPr>
            </a:pPr>
            <a:r>
              <a:t>Suspension auto-adjusts to terrain. Shifting optimizes for rider power. Products improve continuously after purchase.</a:t>
            </a:r>
          </a:p>
        </p:txBody>
      </p:sp>
      <p:sp>
        <p:nvSpPr>
          <p:cNvPr id="20" name="TextBox 19"/>
          <p:cNvSpPr txBox="1"/>
          <p:nvPr/>
        </p:nvSpPr>
        <p:spPr>
          <a:xfrm>
            <a:off x="4617720" y="4709160"/>
            <a:ext cx="2971800" cy="228600"/>
          </a:xfrm>
          <a:prstGeom prst="rect">
            <a:avLst/>
          </a:prstGeom>
          <a:noFill/>
        </p:spPr>
        <p:txBody>
          <a:bodyPr wrap="square">
            <a:spAutoFit/>
          </a:bodyPr>
          <a:lstStyle/>
          <a:p>
            <a:pPr algn="l">
              <a:defRPr sz="900" b="1" i="0">
                <a:solidFill>
                  <a:srgbClr val="E51937"/>
                </a:solidFill>
                <a:latin typeface="Calibri"/>
              </a:defRPr>
            </a:pPr>
            <a:r>
              <a:t>NEW REVENUE: Premium optimization tier</a:t>
            </a:r>
          </a:p>
        </p:txBody>
      </p:sp>
      <p:sp>
        <p:nvSpPr>
          <p:cNvPr id="21" name="Rounded Rectangle 20"/>
          <p:cNvSpPr/>
          <p:nvPr/>
        </p:nvSpPr>
        <p:spPr>
          <a:xfrm>
            <a:off x="8046720" y="3657600"/>
            <a:ext cx="342900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75320" y="3794760"/>
            <a:ext cx="2971800" cy="274320"/>
          </a:xfrm>
          <a:prstGeom prst="rect">
            <a:avLst/>
          </a:prstGeom>
          <a:noFill/>
        </p:spPr>
        <p:txBody>
          <a:bodyPr wrap="square">
            <a:spAutoFit/>
          </a:bodyPr>
          <a:lstStyle/>
          <a:p>
            <a:pPr algn="l">
              <a:defRPr sz="1300" b="1" i="0">
                <a:solidFill>
                  <a:srgbClr val="1C1C1E"/>
                </a:solidFill>
                <a:latin typeface="Calibri"/>
              </a:defRPr>
            </a:pPr>
            <a:r>
              <a:t>Dealer Intelligence</a:t>
            </a:r>
          </a:p>
        </p:txBody>
      </p:sp>
      <p:sp>
        <p:nvSpPr>
          <p:cNvPr id="23" name="TextBox 22"/>
          <p:cNvSpPr txBox="1"/>
          <p:nvPr/>
        </p:nvSpPr>
        <p:spPr>
          <a:xfrm>
            <a:off x="8275320" y="4114800"/>
            <a:ext cx="2971800" cy="502920"/>
          </a:xfrm>
          <a:prstGeom prst="rect">
            <a:avLst/>
          </a:prstGeom>
          <a:noFill/>
        </p:spPr>
        <p:txBody>
          <a:bodyPr wrap="square">
            <a:spAutoFit/>
          </a:bodyPr>
          <a:lstStyle/>
          <a:p>
            <a:pPr algn="l">
              <a:defRPr sz="1100" b="0" i="0">
                <a:solidFill>
                  <a:srgbClr val="3A3A3C"/>
                </a:solidFill>
                <a:latin typeface="Calibri"/>
              </a:defRPr>
            </a:pPr>
            <a:r>
              <a:t>Telemetry tells dealers which parts approach end-of-life in their area. Proactive ordering replaces reactive.</a:t>
            </a:r>
          </a:p>
        </p:txBody>
      </p:sp>
      <p:sp>
        <p:nvSpPr>
          <p:cNvPr id="24" name="TextBox 23"/>
          <p:cNvSpPr txBox="1"/>
          <p:nvPr/>
        </p:nvSpPr>
        <p:spPr>
          <a:xfrm>
            <a:off x="8275320" y="4709160"/>
            <a:ext cx="2971800" cy="228600"/>
          </a:xfrm>
          <a:prstGeom prst="rect">
            <a:avLst/>
          </a:prstGeom>
          <a:noFill/>
        </p:spPr>
        <p:txBody>
          <a:bodyPr wrap="square">
            <a:spAutoFit/>
          </a:bodyPr>
          <a:lstStyle/>
          <a:p>
            <a:pPr algn="l">
              <a:defRPr sz="900" b="1" i="0">
                <a:solidFill>
                  <a:srgbClr val="E51937"/>
                </a:solidFill>
                <a:latin typeface="Calibri"/>
              </a:defRPr>
            </a:pPr>
            <a:r>
              <a:t>NEW REVENUE: Dealer analytics license</a:t>
            </a:r>
          </a:p>
        </p:txBody>
      </p:sp>
      <p:sp>
        <p:nvSpPr>
          <p:cNvPr id="25" name="Rounded Rectangle 24"/>
          <p:cNvSpPr/>
          <p:nvPr/>
        </p:nvSpPr>
        <p:spPr>
          <a:xfrm>
            <a:off x="731520" y="5486400"/>
            <a:ext cx="10698480" cy="411480"/>
          </a:xfrm>
          <a:prstGeom prst="roundRect">
            <a:avLst>
              <a:gd name="adj" fmla="val 10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731520" y="5486400"/>
            <a:ext cx="50800" cy="41148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97280" y="5522976"/>
            <a:ext cx="10058400" cy="320040"/>
          </a:xfrm>
          <a:prstGeom prst="rect">
            <a:avLst/>
          </a:prstGeom>
          <a:noFill/>
        </p:spPr>
        <p:txBody>
          <a:bodyPr wrap="square">
            <a:spAutoFit/>
          </a:bodyPr>
          <a:lstStyle/>
          <a:p>
            <a:pPr algn="ctr">
              <a:defRPr sz="1400" b="1" i="0">
                <a:solidFill>
                  <a:srgbClr val="1C1C1E"/>
                </a:solidFill>
                <a:latin typeface="Calibri"/>
              </a:defRPr>
            </a:pPr>
            <a:r>
              <a:t>Hardware sells data access  →  Data improves performance  →  Performance sells hardware</a:t>
            </a:r>
          </a:p>
        </p:txBody>
      </p:sp>
      <p:sp>
        <p:nvSpPr>
          <p:cNvPr id="28" name="TextBox 27"/>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9" name="TextBox 28"/>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13</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ROADMAP</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Five years from pilot to AI-first enterprise</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Steps 1 and 3A start immediately. Step 2 runs in parallel. Steps 3B and 4 depend on Step 2 data infrastructure.</a:t>
            </a:r>
          </a:p>
        </p:txBody>
      </p:sp>
      <p:sp>
        <p:nvSpPr>
          <p:cNvPr id="7" name="TextBox 6"/>
          <p:cNvSpPr txBox="1"/>
          <p:nvPr/>
        </p:nvSpPr>
        <p:spPr>
          <a:xfrm>
            <a:off x="3520440" y="1508760"/>
            <a:ext cx="1591055" cy="182880"/>
          </a:xfrm>
          <a:prstGeom prst="rect">
            <a:avLst/>
          </a:prstGeom>
          <a:noFill/>
        </p:spPr>
        <p:txBody>
          <a:bodyPr wrap="square">
            <a:spAutoFit/>
          </a:bodyPr>
          <a:lstStyle/>
          <a:p>
            <a:pPr algn="ctr">
              <a:defRPr sz="900" b="1" i="0">
                <a:solidFill>
                  <a:srgbClr val="767676"/>
                </a:solidFill>
                <a:latin typeface="Calibri"/>
              </a:defRPr>
            </a:pPr>
            <a:r>
              <a:t>Year 1</a:t>
            </a:r>
          </a:p>
        </p:txBody>
      </p:sp>
      <p:sp>
        <p:nvSpPr>
          <p:cNvPr id="8" name="TextBox 7"/>
          <p:cNvSpPr txBox="1"/>
          <p:nvPr/>
        </p:nvSpPr>
        <p:spPr>
          <a:xfrm>
            <a:off x="5111495" y="1508760"/>
            <a:ext cx="1591055" cy="182880"/>
          </a:xfrm>
          <a:prstGeom prst="rect">
            <a:avLst/>
          </a:prstGeom>
          <a:noFill/>
        </p:spPr>
        <p:txBody>
          <a:bodyPr wrap="square">
            <a:spAutoFit/>
          </a:bodyPr>
          <a:lstStyle/>
          <a:p>
            <a:pPr algn="ctr">
              <a:defRPr sz="900" b="1" i="0">
                <a:solidFill>
                  <a:srgbClr val="767676"/>
                </a:solidFill>
                <a:latin typeface="Calibri"/>
              </a:defRPr>
            </a:pPr>
            <a:r>
              <a:t>Year 2</a:t>
            </a:r>
          </a:p>
        </p:txBody>
      </p:sp>
      <p:sp>
        <p:nvSpPr>
          <p:cNvPr id="9" name="TextBox 8"/>
          <p:cNvSpPr txBox="1"/>
          <p:nvPr/>
        </p:nvSpPr>
        <p:spPr>
          <a:xfrm>
            <a:off x="6702551" y="1508760"/>
            <a:ext cx="1591055" cy="182880"/>
          </a:xfrm>
          <a:prstGeom prst="rect">
            <a:avLst/>
          </a:prstGeom>
          <a:noFill/>
        </p:spPr>
        <p:txBody>
          <a:bodyPr wrap="square">
            <a:spAutoFit/>
          </a:bodyPr>
          <a:lstStyle/>
          <a:p>
            <a:pPr algn="ctr">
              <a:defRPr sz="900" b="1" i="0">
                <a:solidFill>
                  <a:srgbClr val="767676"/>
                </a:solidFill>
                <a:latin typeface="Calibri"/>
              </a:defRPr>
            </a:pPr>
            <a:r>
              <a:t>Year 3</a:t>
            </a:r>
          </a:p>
        </p:txBody>
      </p:sp>
      <p:sp>
        <p:nvSpPr>
          <p:cNvPr id="10" name="TextBox 9"/>
          <p:cNvSpPr txBox="1"/>
          <p:nvPr/>
        </p:nvSpPr>
        <p:spPr>
          <a:xfrm>
            <a:off x="8293607" y="1508760"/>
            <a:ext cx="1591055" cy="182880"/>
          </a:xfrm>
          <a:prstGeom prst="rect">
            <a:avLst/>
          </a:prstGeom>
          <a:noFill/>
        </p:spPr>
        <p:txBody>
          <a:bodyPr wrap="square">
            <a:spAutoFit/>
          </a:bodyPr>
          <a:lstStyle/>
          <a:p>
            <a:pPr algn="ctr">
              <a:defRPr sz="900" b="1" i="0">
                <a:solidFill>
                  <a:srgbClr val="767676"/>
                </a:solidFill>
                <a:latin typeface="Calibri"/>
              </a:defRPr>
            </a:pPr>
            <a:r>
              <a:t>Year 4</a:t>
            </a:r>
          </a:p>
        </p:txBody>
      </p:sp>
      <p:sp>
        <p:nvSpPr>
          <p:cNvPr id="11" name="TextBox 10"/>
          <p:cNvSpPr txBox="1"/>
          <p:nvPr/>
        </p:nvSpPr>
        <p:spPr>
          <a:xfrm>
            <a:off x="9884663" y="1508760"/>
            <a:ext cx="1591055" cy="182880"/>
          </a:xfrm>
          <a:prstGeom prst="rect">
            <a:avLst/>
          </a:prstGeom>
          <a:noFill/>
        </p:spPr>
        <p:txBody>
          <a:bodyPr wrap="square">
            <a:spAutoFit/>
          </a:bodyPr>
          <a:lstStyle/>
          <a:p>
            <a:pPr algn="ctr">
              <a:defRPr sz="900" b="1" i="0">
                <a:solidFill>
                  <a:srgbClr val="767676"/>
                </a:solidFill>
                <a:latin typeface="Calibri"/>
              </a:defRPr>
            </a:pPr>
            <a:r>
              <a:t>Year 5</a:t>
            </a:r>
          </a:p>
        </p:txBody>
      </p:sp>
      <p:sp>
        <p:nvSpPr>
          <p:cNvPr id="12" name="TextBox 11"/>
          <p:cNvSpPr txBox="1"/>
          <p:nvPr/>
        </p:nvSpPr>
        <p:spPr>
          <a:xfrm>
            <a:off x="3520440" y="1719072"/>
            <a:ext cx="795527" cy="164592"/>
          </a:xfrm>
          <a:prstGeom prst="rect">
            <a:avLst/>
          </a:prstGeom>
          <a:noFill/>
        </p:spPr>
        <p:txBody>
          <a:bodyPr wrap="square">
            <a:spAutoFit/>
          </a:bodyPr>
          <a:lstStyle/>
          <a:p>
            <a:pPr algn="ctr">
              <a:defRPr sz="700" b="0" i="0">
                <a:solidFill>
                  <a:srgbClr val="767676"/>
                </a:solidFill>
                <a:latin typeface="Calibri"/>
              </a:defRPr>
            </a:pPr>
            <a:r>
              <a:t>H1 Y1</a:t>
            </a:r>
          </a:p>
        </p:txBody>
      </p:sp>
      <p:sp>
        <p:nvSpPr>
          <p:cNvPr id="13" name="TextBox 12"/>
          <p:cNvSpPr txBox="1"/>
          <p:nvPr/>
        </p:nvSpPr>
        <p:spPr>
          <a:xfrm>
            <a:off x="4315967" y="1719072"/>
            <a:ext cx="795527" cy="164592"/>
          </a:xfrm>
          <a:prstGeom prst="rect">
            <a:avLst/>
          </a:prstGeom>
          <a:noFill/>
        </p:spPr>
        <p:txBody>
          <a:bodyPr wrap="square">
            <a:spAutoFit/>
          </a:bodyPr>
          <a:lstStyle/>
          <a:p>
            <a:pPr algn="ctr">
              <a:defRPr sz="700" b="0" i="0">
                <a:solidFill>
                  <a:srgbClr val="767676"/>
                </a:solidFill>
                <a:latin typeface="Calibri"/>
              </a:defRPr>
            </a:pPr>
            <a:r>
              <a:t>H2 Y1</a:t>
            </a:r>
          </a:p>
        </p:txBody>
      </p:sp>
      <p:sp>
        <p:nvSpPr>
          <p:cNvPr id="14" name="TextBox 13"/>
          <p:cNvSpPr txBox="1"/>
          <p:nvPr/>
        </p:nvSpPr>
        <p:spPr>
          <a:xfrm>
            <a:off x="5111495" y="1719072"/>
            <a:ext cx="795527" cy="164592"/>
          </a:xfrm>
          <a:prstGeom prst="rect">
            <a:avLst/>
          </a:prstGeom>
          <a:noFill/>
        </p:spPr>
        <p:txBody>
          <a:bodyPr wrap="square">
            <a:spAutoFit/>
          </a:bodyPr>
          <a:lstStyle/>
          <a:p>
            <a:pPr algn="ctr">
              <a:defRPr sz="700" b="0" i="0">
                <a:solidFill>
                  <a:srgbClr val="767676"/>
                </a:solidFill>
                <a:latin typeface="Calibri"/>
              </a:defRPr>
            </a:pPr>
            <a:r>
              <a:t>H1 Y2</a:t>
            </a:r>
          </a:p>
        </p:txBody>
      </p:sp>
      <p:sp>
        <p:nvSpPr>
          <p:cNvPr id="15" name="TextBox 14"/>
          <p:cNvSpPr txBox="1"/>
          <p:nvPr/>
        </p:nvSpPr>
        <p:spPr>
          <a:xfrm>
            <a:off x="5907023" y="1719072"/>
            <a:ext cx="795527" cy="164592"/>
          </a:xfrm>
          <a:prstGeom prst="rect">
            <a:avLst/>
          </a:prstGeom>
          <a:noFill/>
        </p:spPr>
        <p:txBody>
          <a:bodyPr wrap="square">
            <a:spAutoFit/>
          </a:bodyPr>
          <a:lstStyle/>
          <a:p>
            <a:pPr algn="ctr">
              <a:defRPr sz="700" b="0" i="0">
                <a:solidFill>
                  <a:srgbClr val="767676"/>
                </a:solidFill>
                <a:latin typeface="Calibri"/>
              </a:defRPr>
            </a:pPr>
            <a:r>
              <a:t>H2 Y2</a:t>
            </a:r>
          </a:p>
        </p:txBody>
      </p:sp>
      <p:sp>
        <p:nvSpPr>
          <p:cNvPr id="16" name="TextBox 15"/>
          <p:cNvSpPr txBox="1"/>
          <p:nvPr/>
        </p:nvSpPr>
        <p:spPr>
          <a:xfrm>
            <a:off x="6702551" y="1719072"/>
            <a:ext cx="795527" cy="164592"/>
          </a:xfrm>
          <a:prstGeom prst="rect">
            <a:avLst/>
          </a:prstGeom>
          <a:noFill/>
        </p:spPr>
        <p:txBody>
          <a:bodyPr wrap="square">
            <a:spAutoFit/>
          </a:bodyPr>
          <a:lstStyle/>
          <a:p>
            <a:pPr algn="ctr">
              <a:defRPr sz="700" b="0" i="0">
                <a:solidFill>
                  <a:srgbClr val="767676"/>
                </a:solidFill>
                <a:latin typeface="Calibri"/>
              </a:defRPr>
            </a:pPr>
            <a:r>
              <a:t>H1 Y3</a:t>
            </a:r>
          </a:p>
        </p:txBody>
      </p:sp>
      <p:sp>
        <p:nvSpPr>
          <p:cNvPr id="17" name="TextBox 16"/>
          <p:cNvSpPr txBox="1"/>
          <p:nvPr/>
        </p:nvSpPr>
        <p:spPr>
          <a:xfrm>
            <a:off x="7498079" y="1719072"/>
            <a:ext cx="795527" cy="164592"/>
          </a:xfrm>
          <a:prstGeom prst="rect">
            <a:avLst/>
          </a:prstGeom>
          <a:noFill/>
        </p:spPr>
        <p:txBody>
          <a:bodyPr wrap="square">
            <a:spAutoFit/>
          </a:bodyPr>
          <a:lstStyle/>
          <a:p>
            <a:pPr algn="ctr">
              <a:defRPr sz="700" b="0" i="0">
                <a:solidFill>
                  <a:srgbClr val="767676"/>
                </a:solidFill>
                <a:latin typeface="Calibri"/>
              </a:defRPr>
            </a:pPr>
            <a:r>
              <a:t>H2 Y3</a:t>
            </a:r>
          </a:p>
        </p:txBody>
      </p:sp>
      <p:sp>
        <p:nvSpPr>
          <p:cNvPr id="18" name="TextBox 17"/>
          <p:cNvSpPr txBox="1"/>
          <p:nvPr/>
        </p:nvSpPr>
        <p:spPr>
          <a:xfrm>
            <a:off x="8293607" y="1719072"/>
            <a:ext cx="795527" cy="164592"/>
          </a:xfrm>
          <a:prstGeom prst="rect">
            <a:avLst/>
          </a:prstGeom>
          <a:noFill/>
        </p:spPr>
        <p:txBody>
          <a:bodyPr wrap="square">
            <a:spAutoFit/>
          </a:bodyPr>
          <a:lstStyle/>
          <a:p>
            <a:pPr algn="ctr">
              <a:defRPr sz="700" b="0" i="0">
                <a:solidFill>
                  <a:srgbClr val="767676"/>
                </a:solidFill>
                <a:latin typeface="Calibri"/>
              </a:defRPr>
            </a:pPr>
            <a:r>
              <a:t>H1 Y4</a:t>
            </a:r>
          </a:p>
        </p:txBody>
      </p:sp>
      <p:sp>
        <p:nvSpPr>
          <p:cNvPr id="19" name="TextBox 18"/>
          <p:cNvSpPr txBox="1"/>
          <p:nvPr/>
        </p:nvSpPr>
        <p:spPr>
          <a:xfrm>
            <a:off x="9089135" y="1719072"/>
            <a:ext cx="795527" cy="164592"/>
          </a:xfrm>
          <a:prstGeom prst="rect">
            <a:avLst/>
          </a:prstGeom>
          <a:noFill/>
        </p:spPr>
        <p:txBody>
          <a:bodyPr wrap="square">
            <a:spAutoFit/>
          </a:bodyPr>
          <a:lstStyle/>
          <a:p>
            <a:pPr algn="ctr">
              <a:defRPr sz="700" b="0" i="0">
                <a:solidFill>
                  <a:srgbClr val="767676"/>
                </a:solidFill>
                <a:latin typeface="Calibri"/>
              </a:defRPr>
            </a:pPr>
            <a:r>
              <a:t>H2 Y4</a:t>
            </a:r>
          </a:p>
        </p:txBody>
      </p:sp>
      <p:sp>
        <p:nvSpPr>
          <p:cNvPr id="20" name="TextBox 19"/>
          <p:cNvSpPr txBox="1"/>
          <p:nvPr/>
        </p:nvSpPr>
        <p:spPr>
          <a:xfrm>
            <a:off x="9884663" y="1719072"/>
            <a:ext cx="795527" cy="164592"/>
          </a:xfrm>
          <a:prstGeom prst="rect">
            <a:avLst/>
          </a:prstGeom>
          <a:noFill/>
        </p:spPr>
        <p:txBody>
          <a:bodyPr wrap="square">
            <a:spAutoFit/>
          </a:bodyPr>
          <a:lstStyle/>
          <a:p>
            <a:pPr algn="ctr">
              <a:defRPr sz="700" b="0" i="0">
                <a:solidFill>
                  <a:srgbClr val="767676"/>
                </a:solidFill>
                <a:latin typeface="Calibri"/>
              </a:defRPr>
            </a:pPr>
            <a:r>
              <a:t>H1 Y5</a:t>
            </a:r>
          </a:p>
        </p:txBody>
      </p:sp>
      <p:sp>
        <p:nvSpPr>
          <p:cNvPr id="21" name="TextBox 20"/>
          <p:cNvSpPr txBox="1"/>
          <p:nvPr/>
        </p:nvSpPr>
        <p:spPr>
          <a:xfrm>
            <a:off x="10680191" y="1719072"/>
            <a:ext cx="795527" cy="164592"/>
          </a:xfrm>
          <a:prstGeom prst="rect">
            <a:avLst/>
          </a:prstGeom>
          <a:noFill/>
        </p:spPr>
        <p:txBody>
          <a:bodyPr wrap="square">
            <a:spAutoFit/>
          </a:bodyPr>
          <a:lstStyle/>
          <a:p>
            <a:pPr algn="ctr">
              <a:defRPr sz="700" b="0" i="0">
                <a:solidFill>
                  <a:srgbClr val="767676"/>
                </a:solidFill>
                <a:latin typeface="Calibri"/>
              </a:defRPr>
            </a:pPr>
            <a:r>
              <a:t>H2 Y5</a:t>
            </a:r>
          </a:p>
        </p:txBody>
      </p:sp>
      <p:sp>
        <p:nvSpPr>
          <p:cNvPr id="22" name="Rectangle 21"/>
          <p:cNvSpPr/>
          <p:nvPr/>
        </p:nvSpPr>
        <p:spPr>
          <a:xfrm>
            <a:off x="5111495" y="1508760"/>
            <a:ext cx="12700" cy="4343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702551" y="1508760"/>
            <a:ext cx="12700" cy="4343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8293607" y="1508760"/>
            <a:ext cx="12700" cy="4343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9884663" y="1508760"/>
            <a:ext cx="12700" cy="4343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731520" y="1920240"/>
            <a:ext cx="10698480" cy="338328"/>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731520" y="1920240"/>
            <a:ext cx="38100" cy="338328"/>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68680" y="1975104"/>
            <a:ext cx="731520" cy="228600"/>
          </a:xfrm>
          <a:prstGeom prst="rect">
            <a:avLst/>
          </a:prstGeom>
          <a:noFill/>
        </p:spPr>
        <p:txBody>
          <a:bodyPr wrap="square">
            <a:spAutoFit/>
          </a:bodyPr>
          <a:lstStyle/>
          <a:p>
            <a:pPr algn="l">
              <a:defRPr sz="800" b="1" i="0">
                <a:solidFill>
                  <a:srgbClr val="2D5F8A"/>
                </a:solidFill>
                <a:latin typeface="Calibri"/>
              </a:defRPr>
            </a:pPr>
            <a:r>
              <a:t>STEP 1</a:t>
            </a:r>
          </a:p>
        </p:txBody>
      </p:sp>
      <p:sp>
        <p:nvSpPr>
          <p:cNvPr id="29" name="TextBox 28"/>
          <p:cNvSpPr txBox="1"/>
          <p:nvPr/>
        </p:nvSpPr>
        <p:spPr>
          <a:xfrm>
            <a:off x="1645920" y="1975104"/>
            <a:ext cx="1737360" cy="228600"/>
          </a:xfrm>
          <a:prstGeom prst="rect">
            <a:avLst/>
          </a:prstGeom>
          <a:noFill/>
        </p:spPr>
        <p:txBody>
          <a:bodyPr wrap="square">
            <a:spAutoFit/>
          </a:bodyPr>
          <a:lstStyle/>
          <a:p>
            <a:pPr algn="l">
              <a:defRPr sz="900" b="0" i="0">
                <a:solidFill>
                  <a:srgbClr val="1C1C1E"/>
                </a:solidFill>
                <a:latin typeface="Calibri"/>
              </a:defRPr>
            </a:pPr>
            <a:r>
              <a:t>AI Productivity Tools</a:t>
            </a:r>
          </a:p>
        </p:txBody>
      </p:sp>
      <p:sp>
        <p:nvSpPr>
          <p:cNvPr id="30" name="Rounded Rectangle 29"/>
          <p:cNvSpPr/>
          <p:nvPr/>
        </p:nvSpPr>
        <p:spPr>
          <a:xfrm>
            <a:off x="3520440" y="1975104"/>
            <a:ext cx="3182111" cy="201168"/>
          </a:xfrm>
          <a:prstGeom prst="roundRect">
            <a:avLst>
              <a:gd name="adj" fmla="val 15000"/>
            </a:avLst>
          </a:prstGeom>
          <a:solidFill>
            <a:srgbClr val="D4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575304" y="1975104"/>
            <a:ext cx="3072383" cy="201168"/>
          </a:xfrm>
          <a:prstGeom prst="rect">
            <a:avLst/>
          </a:prstGeom>
          <a:noFill/>
        </p:spPr>
        <p:txBody>
          <a:bodyPr wrap="square">
            <a:spAutoFit/>
          </a:bodyPr>
          <a:lstStyle/>
          <a:p>
            <a:pPr algn="l">
              <a:defRPr sz="700" b="0" i="0">
                <a:solidFill>
                  <a:srgbClr val="1C1C1E"/>
                </a:solidFill>
                <a:latin typeface="Calibri"/>
              </a:defRPr>
            </a:pPr>
            <a:r>
              <a:t>5x ROI</a:t>
            </a:r>
          </a:p>
        </p:txBody>
      </p:sp>
      <p:sp>
        <p:nvSpPr>
          <p:cNvPr id="32" name="Rectangle 31"/>
          <p:cNvSpPr/>
          <p:nvPr/>
        </p:nvSpPr>
        <p:spPr>
          <a:xfrm>
            <a:off x="731520" y="2258568"/>
            <a:ext cx="38100" cy="338328"/>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68680" y="2313432"/>
            <a:ext cx="731520" cy="228600"/>
          </a:xfrm>
          <a:prstGeom prst="rect">
            <a:avLst/>
          </a:prstGeom>
          <a:noFill/>
        </p:spPr>
        <p:txBody>
          <a:bodyPr wrap="square">
            <a:spAutoFit/>
          </a:bodyPr>
          <a:lstStyle/>
          <a:p>
            <a:pPr algn="l">
              <a:defRPr sz="800" b="1" i="0">
                <a:solidFill>
                  <a:srgbClr val="2D5F8A"/>
                </a:solidFill>
                <a:latin typeface="Calibri"/>
              </a:defRPr>
            </a:pPr>
            <a:r>
              <a:t>STEP 2</a:t>
            </a:r>
          </a:p>
        </p:txBody>
      </p:sp>
      <p:sp>
        <p:nvSpPr>
          <p:cNvPr id="34" name="TextBox 33"/>
          <p:cNvSpPr txBox="1"/>
          <p:nvPr/>
        </p:nvSpPr>
        <p:spPr>
          <a:xfrm>
            <a:off x="1645920" y="2313432"/>
            <a:ext cx="1737360" cy="228600"/>
          </a:xfrm>
          <a:prstGeom prst="rect">
            <a:avLst/>
          </a:prstGeom>
          <a:noFill/>
        </p:spPr>
        <p:txBody>
          <a:bodyPr wrap="square">
            <a:spAutoFit/>
          </a:bodyPr>
          <a:lstStyle/>
          <a:p>
            <a:pPr algn="l">
              <a:defRPr sz="900" b="0" i="0">
                <a:solidFill>
                  <a:srgbClr val="1C1C1E"/>
                </a:solidFill>
                <a:latin typeface="Calibri"/>
              </a:defRPr>
            </a:pPr>
            <a:r>
              <a:t>SAP ERP Implementation</a:t>
            </a:r>
          </a:p>
        </p:txBody>
      </p:sp>
      <p:sp>
        <p:nvSpPr>
          <p:cNvPr id="35" name="Rounded Rectangle 34"/>
          <p:cNvSpPr/>
          <p:nvPr/>
        </p:nvSpPr>
        <p:spPr>
          <a:xfrm>
            <a:off x="3520440" y="2313432"/>
            <a:ext cx="2386583" cy="20116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731520" y="2596896"/>
            <a:ext cx="10698480" cy="338328"/>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1645920" y="2651760"/>
            <a:ext cx="1737360" cy="228600"/>
          </a:xfrm>
          <a:prstGeom prst="rect">
            <a:avLst/>
          </a:prstGeom>
          <a:noFill/>
        </p:spPr>
        <p:txBody>
          <a:bodyPr wrap="square">
            <a:spAutoFit/>
          </a:bodyPr>
          <a:lstStyle/>
          <a:p>
            <a:pPr algn="l">
              <a:defRPr sz="900" b="0" i="0">
                <a:solidFill>
                  <a:srgbClr val="1C1C1E"/>
                </a:solidFill>
                <a:latin typeface="Calibri"/>
              </a:defRPr>
            </a:pPr>
            <a:r>
              <a:t>Salesforce + AWS Lakehouse</a:t>
            </a:r>
          </a:p>
        </p:txBody>
      </p:sp>
      <p:sp>
        <p:nvSpPr>
          <p:cNvPr id="38" name="Rounded Rectangle 37"/>
          <p:cNvSpPr/>
          <p:nvPr/>
        </p:nvSpPr>
        <p:spPr>
          <a:xfrm>
            <a:off x="3520440" y="2651760"/>
            <a:ext cx="3182111" cy="20116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731520" y="2935224"/>
            <a:ext cx="38100" cy="338328"/>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68680" y="2990088"/>
            <a:ext cx="731520" cy="228600"/>
          </a:xfrm>
          <a:prstGeom prst="rect">
            <a:avLst/>
          </a:prstGeom>
          <a:noFill/>
        </p:spPr>
        <p:txBody>
          <a:bodyPr wrap="square">
            <a:spAutoFit/>
          </a:bodyPr>
          <a:lstStyle/>
          <a:p>
            <a:pPr algn="l">
              <a:defRPr sz="800" b="1" i="0">
                <a:solidFill>
                  <a:srgbClr val="2D5F8A"/>
                </a:solidFill>
                <a:latin typeface="Calibri"/>
              </a:defRPr>
            </a:pPr>
            <a:r>
              <a:t>STEP 3A</a:t>
            </a:r>
          </a:p>
        </p:txBody>
      </p:sp>
      <p:sp>
        <p:nvSpPr>
          <p:cNvPr id="41" name="TextBox 40"/>
          <p:cNvSpPr txBox="1"/>
          <p:nvPr/>
        </p:nvSpPr>
        <p:spPr>
          <a:xfrm>
            <a:off x="1645920" y="2990088"/>
            <a:ext cx="1737360" cy="228600"/>
          </a:xfrm>
          <a:prstGeom prst="rect">
            <a:avLst/>
          </a:prstGeom>
          <a:noFill/>
        </p:spPr>
        <p:txBody>
          <a:bodyPr wrap="square">
            <a:spAutoFit/>
          </a:bodyPr>
          <a:lstStyle/>
          <a:p>
            <a:pPr algn="l">
              <a:defRPr sz="900" b="0" i="0">
                <a:solidFill>
                  <a:srgbClr val="1C1C1E"/>
                </a:solidFill>
                <a:latin typeface="Calibri"/>
              </a:defRPr>
            </a:pPr>
            <a:r>
              <a:t>Warranty Support Pilot</a:t>
            </a:r>
          </a:p>
        </p:txBody>
      </p:sp>
      <p:sp>
        <p:nvSpPr>
          <p:cNvPr id="42" name="Rounded Rectangle 41"/>
          <p:cNvSpPr/>
          <p:nvPr/>
        </p:nvSpPr>
        <p:spPr>
          <a:xfrm>
            <a:off x="3520440" y="2990088"/>
            <a:ext cx="1591055" cy="20116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3575304" y="2990088"/>
            <a:ext cx="1481327" cy="201168"/>
          </a:xfrm>
          <a:prstGeom prst="rect">
            <a:avLst/>
          </a:prstGeom>
          <a:noFill/>
        </p:spPr>
        <p:txBody>
          <a:bodyPr wrap="square">
            <a:spAutoFit/>
          </a:bodyPr>
          <a:lstStyle/>
          <a:p>
            <a:pPr algn="l">
              <a:defRPr sz="700" b="0" i="0">
                <a:solidFill>
                  <a:srgbClr val="FFFFFF"/>
                </a:solidFill>
                <a:latin typeface="Calibri"/>
              </a:defRPr>
            </a:pPr>
            <a:r>
              <a:t>9x ROI</a:t>
            </a:r>
          </a:p>
        </p:txBody>
      </p:sp>
      <p:sp>
        <p:nvSpPr>
          <p:cNvPr id="44" name="Rounded Rectangle 43"/>
          <p:cNvSpPr/>
          <p:nvPr/>
        </p:nvSpPr>
        <p:spPr>
          <a:xfrm>
            <a:off x="731520" y="3273552"/>
            <a:ext cx="10698480" cy="338328"/>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1645920" y="3328416"/>
            <a:ext cx="1737360" cy="228600"/>
          </a:xfrm>
          <a:prstGeom prst="rect">
            <a:avLst/>
          </a:prstGeom>
          <a:noFill/>
        </p:spPr>
        <p:txBody>
          <a:bodyPr wrap="square">
            <a:spAutoFit/>
          </a:bodyPr>
          <a:lstStyle/>
          <a:p>
            <a:pPr algn="l">
              <a:defRPr sz="900" b="0" i="0">
                <a:solidFill>
                  <a:srgbClr val="1C1C1E"/>
                </a:solidFill>
                <a:latin typeface="Calibri"/>
              </a:defRPr>
            </a:pPr>
            <a:r>
              <a:t>Scale to Full Catalog</a:t>
            </a:r>
          </a:p>
        </p:txBody>
      </p:sp>
      <p:sp>
        <p:nvSpPr>
          <p:cNvPr id="46" name="Rounded Rectangle 45"/>
          <p:cNvSpPr/>
          <p:nvPr/>
        </p:nvSpPr>
        <p:spPr>
          <a:xfrm>
            <a:off x="5111495" y="3328416"/>
            <a:ext cx="3182111" cy="20116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731520" y="3611880"/>
            <a:ext cx="38100" cy="338328"/>
          </a:xfrm>
          <a:prstGeom prst="rect">
            <a:avLst/>
          </a:prstGeom>
          <a:solidFill>
            <a:srgbClr val="5B8C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868680" y="3666744"/>
            <a:ext cx="731520" cy="228600"/>
          </a:xfrm>
          <a:prstGeom prst="rect">
            <a:avLst/>
          </a:prstGeom>
          <a:noFill/>
        </p:spPr>
        <p:txBody>
          <a:bodyPr wrap="square">
            <a:spAutoFit/>
          </a:bodyPr>
          <a:lstStyle/>
          <a:p>
            <a:pPr algn="l">
              <a:defRPr sz="800" b="1" i="0">
                <a:solidFill>
                  <a:srgbClr val="5B8C5A"/>
                </a:solidFill>
                <a:latin typeface="Calibri"/>
              </a:defRPr>
            </a:pPr>
            <a:r>
              <a:t>STEP 3B</a:t>
            </a:r>
          </a:p>
        </p:txBody>
      </p:sp>
      <p:sp>
        <p:nvSpPr>
          <p:cNvPr id="49" name="TextBox 48"/>
          <p:cNvSpPr txBox="1"/>
          <p:nvPr/>
        </p:nvSpPr>
        <p:spPr>
          <a:xfrm>
            <a:off x="1645920" y="3666744"/>
            <a:ext cx="1737360" cy="228600"/>
          </a:xfrm>
          <a:prstGeom prst="rect">
            <a:avLst/>
          </a:prstGeom>
          <a:noFill/>
        </p:spPr>
        <p:txBody>
          <a:bodyPr wrap="square">
            <a:spAutoFit/>
          </a:bodyPr>
          <a:lstStyle/>
          <a:p>
            <a:pPr algn="l">
              <a:defRPr sz="900" b="0" i="0">
                <a:solidFill>
                  <a:srgbClr val="1C1C1E"/>
                </a:solidFill>
                <a:latin typeface="Calibri"/>
              </a:defRPr>
            </a:pPr>
            <a:r>
              <a:t>Demand Forecasting</a:t>
            </a:r>
          </a:p>
        </p:txBody>
      </p:sp>
      <p:sp>
        <p:nvSpPr>
          <p:cNvPr id="50" name="Rounded Rectangle 49"/>
          <p:cNvSpPr/>
          <p:nvPr/>
        </p:nvSpPr>
        <p:spPr>
          <a:xfrm>
            <a:off x="6702551" y="3666744"/>
            <a:ext cx="3182111" cy="201168"/>
          </a:xfrm>
          <a:prstGeom prst="roundRect">
            <a:avLst>
              <a:gd name="adj" fmla="val 15000"/>
            </a:avLst>
          </a:prstGeom>
          <a:solidFill>
            <a:srgbClr val="5B8C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6757415" y="3666744"/>
            <a:ext cx="3072383" cy="201168"/>
          </a:xfrm>
          <a:prstGeom prst="rect">
            <a:avLst/>
          </a:prstGeom>
          <a:noFill/>
        </p:spPr>
        <p:txBody>
          <a:bodyPr wrap="square">
            <a:spAutoFit/>
          </a:bodyPr>
          <a:lstStyle/>
          <a:p>
            <a:pPr algn="l">
              <a:defRPr sz="700" b="0" i="0">
                <a:solidFill>
                  <a:srgbClr val="FFFFFF"/>
                </a:solidFill>
                <a:latin typeface="Calibri"/>
              </a:defRPr>
            </a:pPr>
            <a:r>
              <a:t>9x ROI</a:t>
            </a:r>
          </a:p>
        </p:txBody>
      </p:sp>
      <p:sp>
        <p:nvSpPr>
          <p:cNvPr id="52" name="Rounded Rectangle 51"/>
          <p:cNvSpPr/>
          <p:nvPr/>
        </p:nvSpPr>
        <p:spPr>
          <a:xfrm>
            <a:off x="731520" y="3950208"/>
            <a:ext cx="10698480" cy="338328"/>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52"/>
          <p:cNvSpPr/>
          <p:nvPr/>
        </p:nvSpPr>
        <p:spPr>
          <a:xfrm>
            <a:off x="731520" y="3950208"/>
            <a:ext cx="38100" cy="338328"/>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868680" y="4005072"/>
            <a:ext cx="731520" cy="228600"/>
          </a:xfrm>
          <a:prstGeom prst="rect">
            <a:avLst/>
          </a:prstGeom>
          <a:noFill/>
        </p:spPr>
        <p:txBody>
          <a:bodyPr wrap="square">
            <a:spAutoFit/>
          </a:bodyPr>
          <a:lstStyle/>
          <a:p>
            <a:pPr algn="l">
              <a:defRPr sz="800" b="1" i="0">
                <a:solidFill>
                  <a:srgbClr val="E51937"/>
                </a:solidFill>
                <a:latin typeface="Calibri"/>
              </a:defRPr>
            </a:pPr>
            <a:r>
              <a:t>STEP 4</a:t>
            </a:r>
          </a:p>
        </p:txBody>
      </p:sp>
      <p:sp>
        <p:nvSpPr>
          <p:cNvPr id="55" name="TextBox 54"/>
          <p:cNvSpPr txBox="1"/>
          <p:nvPr/>
        </p:nvSpPr>
        <p:spPr>
          <a:xfrm>
            <a:off x="1645920" y="4005072"/>
            <a:ext cx="1737360" cy="228600"/>
          </a:xfrm>
          <a:prstGeom prst="rect">
            <a:avLst/>
          </a:prstGeom>
          <a:noFill/>
        </p:spPr>
        <p:txBody>
          <a:bodyPr wrap="square">
            <a:spAutoFit/>
          </a:bodyPr>
          <a:lstStyle/>
          <a:p>
            <a:pPr algn="l">
              <a:defRPr sz="900" b="0" i="0">
                <a:solidFill>
                  <a:srgbClr val="1C1C1E"/>
                </a:solidFill>
                <a:latin typeface="Calibri"/>
              </a:defRPr>
            </a:pPr>
            <a:r>
              <a:t>OEM Proposal Automation</a:t>
            </a:r>
          </a:p>
        </p:txBody>
      </p:sp>
      <p:sp>
        <p:nvSpPr>
          <p:cNvPr id="56" name="Rounded Rectangle 55"/>
          <p:cNvSpPr/>
          <p:nvPr/>
        </p:nvSpPr>
        <p:spPr>
          <a:xfrm>
            <a:off x="8293607" y="4005072"/>
            <a:ext cx="1591055" cy="201168"/>
          </a:xfrm>
          <a:prstGeom prst="roundRect">
            <a:avLst>
              <a:gd name="adj" fmla="val 15000"/>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8348471" y="4005072"/>
            <a:ext cx="1481327" cy="201168"/>
          </a:xfrm>
          <a:prstGeom prst="rect">
            <a:avLst/>
          </a:prstGeom>
          <a:noFill/>
        </p:spPr>
        <p:txBody>
          <a:bodyPr wrap="square">
            <a:spAutoFit/>
          </a:bodyPr>
          <a:lstStyle/>
          <a:p>
            <a:pPr algn="l">
              <a:defRPr sz="700" b="0" i="0">
                <a:solidFill>
                  <a:srgbClr val="FFFFFF"/>
                </a:solidFill>
                <a:latin typeface="Calibri"/>
              </a:defRPr>
            </a:pPr>
            <a:r>
              <a:t>4-5x</a:t>
            </a:r>
          </a:p>
        </p:txBody>
      </p:sp>
      <p:sp>
        <p:nvSpPr>
          <p:cNvPr id="58" name="TextBox 57"/>
          <p:cNvSpPr txBox="1"/>
          <p:nvPr/>
        </p:nvSpPr>
        <p:spPr>
          <a:xfrm>
            <a:off x="1645920" y="4343400"/>
            <a:ext cx="1737360" cy="228600"/>
          </a:xfrm>
          <a:prstGeom prst="rect">
            <a:avLst/>
          </a:prstGeom>
          <a:noFill/>
        </p:spPr>
        <p:txBody>
          <a:bodyPr wrap="square">
            <a:spAutoFit/>
          </a:bodyPr>
          <a:lstStyle/>
          <a:p>
            <a:pPr algn="l">
              <a:defRPr sz="900" b="0" i="0">
                <a:solidFill>
                  <a:srgbClr val="1C1C1E"/>
                </a:solidFill>
                <a:latin typeface="Calibri"/>
              </a:defRPr>
            </a:pPr>
            <a:r>
              <a:t>AXS Intelligence Platform</a:t>
            </a:r>
          </a:p>
        </p:txBody>
      </p:sp>
      <p:sp>
        <p:nvSpPr>
          <p:cNvPr id="59" name="Rounded Rectangle 58"/>
          <p:cNvSpPr/>
          <p:nvPr/>
        </p:nvSpPr>
        <p:spPr>
          <a:xfrm>
            <a:off x="8293607" y="4343400"/>
            <a:ext cx="3182111" cy="201168"/>
          </a:xfrm>
          <a:prstGeom prst="roundRect">
            <a:avLst>
              <a:gd name="adj" fmla="val 15000"/>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8348471" y="4343400"/>
            <a:ext cx="3072383" cy="201168"/>
          </a:xfrm>
          <a:prstGeom prst="rect">
            <a:avLst/>
          </a:prstGeom>
          <a:noFill/>
        </p:spPr>
        <p:txBody>
          <a:bodyPr wrap="square">
            <a:spAutoFit/>
          </a:bodyPr>
          <a:lstStyle/>
          <a:p>
            <a:pPr algn="l">
              <a:defRPr sz="700" b="0" i="0">
                <a:solidFill>
                  <a:srgbClr val="FFFFFF"/>
                </a:solidFill>
                <a:latin typeface="Calibri"/>
              </a:defRPr>
            </a:pPr>
            <a:r>
              <a:t>$20M ARR</a:t>
            </a:r>
          </a:p>
        </p:txBody>
      </p:sp>
      <p:sp>
        <p:nvSpPr>
          <p:cNvPr id="61" name="Rounded Rectangle 60"/>
          <p:cNvSpPr/>
          <p:nvPr/>
        </p:nvSpPr>
        <p:spPr>
          <a:xfrm>
            <a:off x="731520" y="4626864"/>
            <a:ext cx="10698480" cy="338328"/>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1645920" y="4681728"/>
            <a:ext cx="1737360" cy="228600"/>
          </a:xfrm>
          <a:prstGeom prst="rect">
            <a:avLst/>
          </a:prstGeom>
          <a:noFill/>
        </p:spPr>
        <p:txBody>
          <a:bodyPr wrap="square">
            <a:spAutoFit/>
          </a:bodyPr>
          <a:lstStyle/>
          <a:p>
            <a:pPr algn="l">
              <a:defRPr sz="900" b="0" i="0">
                <a:solidFill>
                  <a:srgbClr val="1C1C1E"/>
                </a:solidFill>
                <a:latin typeface="Calibri"/>
              </a:defRPr>
            </a:pPr>
            <a:r>
              <a:t>Upgrade Recommendations</a:t>
            </a:r>
          </a:p>
        </p:txBody>
      </p:sp>
      <p:sp>
        <p:nvSpPr>
          <p:cNvPr id="63" name="Rounded Rectangle 62"/>
          <p:cNvSpPr/>
          <p:nvPr/>
        </p:nvSpPr>
        <p:spPr>
          <a:xfrm>
            <a:off x="9089135" y="4681728"/>
            <a:ext cx="2386583" cy="201168"/>
          </a:xfrm>
          <a:prstGeom prst="roundRect">
            <a:avLst>
              <a:gd name="adj" fmla="val 15000"/>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9143999" y="4681728"/>
            <a:ext cx="2276855" cy="201168"/>
          </a:xfrm>
          <a:prstGeom prst="rect">
            <a:avLst/>
          </a:prstGeom>
          <a:noFill/>
        </p:spPr>
        <p:txBody>
          <a:bodyPr wrap="square">
            <a:spAutoFit/>
          </a:bodyPr>
          <a:lstStyle/>
          <a:p>
            <a:pPr algn="l">
              <a:defRPr sz="700" b="0" i="0">
                <a:solidFill>
                  <a:srgbClr val="FFFFFF"/>
                </a:solidFill>
                <a:latin typeface="Calibri"/>
              </a:defRPr>
            </a:pPr>
            <a:r>
              <a:t>5-7x</a:t>
            </a:r>
          </a:p>
        </p:txBody>
      </p:sp>
      <p:sp>
        <p:nvSpPr>
          <p:cNvPr id="65" name="TextBox 64"/>
          <p:cNvSpPr txBox="1"/>
          <p:nvPr/>
        </p:nvSpPr>
        <p:spPr>
          <a:xfrm>
            <a:off x="1645920" y="5020056"/>
            <a:ext cx="1737360" cy="228600"/>
          </a:xfrm>
          <a:prstGeom prst="rect">
            <a:avLst/>
          </a:prstGeom>
          <a:noFill/>
        </p:spPr>
        <p:txBody>
          <a:bodyPr wrap="square">
            <a:spAutoFit/>
          </a:bodyPr>
          <a:lstStyle/>
          <a:p>
            <a:pPr algn="l">
              <a:defRPr sz="900" b="0" i="0">
                <a:solidFill>
                  <a:srgbClr val="1C1C1E"/>
                </a:solidFill>
                <a:latin typeface="Calibri"/>
              </a:defRPr>
            </a:pPr>
            <a:r>
              <a:t>Generative Design / R&amp;D</a:t>
            </a:r>
          </a:p>
        </p:txBody>
      </p:sp>
      <p:sp>
        <p:nvSpPr>
          <p:cNvPr id="66" name="Rounded Rectangle 65"/>
          <p:cNvSpPr/>
          <p:nvPr/>
        </p:nvSpPr>
        <p:spPr>
          <a:xfrm>
            <a:off x="9089135" y="5020056"/>
            <a:ext cx="2386583" cy="201168"/>
          </a:xfrm>
          <a:prstGeom prst="roundRect">
            <a:avLst>
              <a:gd name="adj" fmla="val 15000"/>
            </a:avLst>
          </a:prstGeom>
          <a:solidFill>
            <a:srgbClr val="C43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9143999" y="5020056"/>
            <a:ext cx="2276855" cy="201168"/>
          </a:xfrm>
          <a:prstGeom prst="rect">
            <a:avLst/>
          </a:prstGeom>
          <a:noFill/>
        </p:spPr>
        <p:txBody>
          <a:bodyPr wrap="square">
            <a:spAutoFit/>
          </a:bodyPr>
          <a:lstStyle/>
          <a:p>
            <a:pPr algn="l">
              <a:defRPr sz="700" b="0" i="0">
                <a:solidFill>
                  <a:srgbClr val="FFFFFF"/>
                </a:solidFill>
                <a:latin typeface="Calibri"/>
              </a:defRPr>
            </a:pPr>
            <a:r>
              <a:t>3-5x</a:t>
            </a:r>
          </a:p>
        </p:txBody>
      </p:sp>
      <p:sp>
        <p:nvSpPr>
          <p:cNvPr id="68" name="TextBox 67"/>
          <p:cNvSpPr txBox="1"/>
          <p:nvPr/>
        </p:nvSpPr>
        <p:spPr>
          <a:xfrm>
            <a:off x="731520" y="5394960"/>
            <a:ext cx="10698480" cy="228600"/>
          </a:xfrm>
          <a:prstGeom prst="rect">
            <a:avLst/>
          </a:prstGeom>
          <a:noFill/>
        </p:spPr>
        <p:txBody>
          <a:bodyPr wrap="square">
            <a:spAutoFit/>
          </a:bodyPr>
          <a:lstStyle/>
          <a:p>
            <a:pPr algn="ctr">
              <a:defRPr sz="1000" b="0" i="0">
                <a:solidFill>
                  <a:srgbClr val="767676"/>
                </a:solidFill>
                <a:latin typeface="Calibri"/>
              </a:defRPr>
            </a:pPr>
            <a:r>
              <a:t>Total program: ~$15-22M over 5 years  |  Expected annual value at maturity: $39M+/yr  |  Blended ROI: ~4x</a:t>
            </a:r>
          </a:p>
        </p:txBody>
      </p:sp>
      <p:sp>
        <p:nvSpPr>
          <p:cNvPr id="69" name="TextBox 68"/>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70" name="TextBox 69"/>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14</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STEP 4: REVENUE + INNOVATION</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SRAM's connected ecosystem creates four distinct new revenue streams</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Each initiative is viable only after Step 2 data infrastructure is live. Combined, they represent $39M+/yr at maturity.</a:t>
            </a:r>
          </a:p>
        </p:txBody>
      </p:sp>
      <p:sp>
        <p:nvSpPr>
          <p:cNvPr id="7" name="Rounded Rectangle 6"/>
          <p:cNvSpPr/>
          <p:nvPr/>
        </p:nvSpPr>
        <p:spPr>
          <a:xfrm>
            <a:off x="731520" y="1691640"/>
            <a:ext cx="5212080" cy="1920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31520" y="1691640"/>
            <a:ext cx="5212080" cy="508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1801368"/>
            <a:ext cx="4846320" cy="274320"/>
          </a:xfrm>
          <a:prstGeom prst="rect">
            <a:avLst/>
          </a:prstGeom>
          <a:noFill/>
        </p:spPr>
        <p:txBody>
          <a:bodyPr wrap="square">
            <a:spAutoFit/>
          </a:bodyPr>
          <a:lstStyle/>
          <a:p>
            <a:pPr algn="l">
              <a:defRPr sz="1300" b="1" i="0">
                <a:solidFill>
                  <a:srgbClr val="1C1C1E"/>
                </a:solidFill>
                <a:latin typeface="Calibri"/>
              </a:defRPr>
            </a:pPr>
            <a:r>
              <a:t>AXS Intelligence Platform</a:t>
            </a:r>
          </a:p>
        </p:txBody>
      </p:sp>
      <p:sp>
        <p:nvSpPr>
          <p:cNvPr id="10" name="TextBox 9"/>
          <p:cNvSpPr txBox="1"/>
          <p:nvPr/>
        </p:nvSpPr>
        <p:spPr>
          <a:xfrm>
            <a:off x="914400" y="2148840"/>
            <a:ext cx="4846320" cy="822960"/>
          </a:xfrm>
          <a:prstGeom prst="rect">
            <a:avLst/>
          </a:prstGeom>
          <a:noFill/>
        </p:spPr>
        <p:txBody>
          <a:bodyPr wrap="square">
            <a:spAutoFit/>
          </a:bodyPr>
          <a:lstStyle/>
          <a:p>
            <a:pPr algn="l">
              <a:defRPr sz="1100" b="0" i="0">
                <a:solidFill>
                  <a:srgbClr val="3A3A3C"/>
                </a:solidFill>
                <a:latin typeface="Calibri"/>
              </a:defRPr>
            </a:pPr>
            <a:r>
              <a:t>Unified rider data: AXS drivetrain, RockShox,</a:t>
            </a:r>
            <a:br/>
            <a:r>
              <a:t>Quarq power, Hammerhead GPS in one view.</a:t>
            </a:r>
            <a:br/>
            <a:r>
              <a:t>No competitor has the breadth to build this.</a:t>
            </a:r>
          </a:p>
        </p:txBody>
      </p:sp>
      <p:sp>
        <p:nvSpPr>
          <p:cNvPr id="11" name="TextBox 10"/>
          <p:cNvSpPr txBox="1"/>
          <p:nvPr/>
        </p:nvSpPr>
        <p:spPr>
          <a:xfrm>
            <a:off x="914400" y="3063240"/>
            <a:ext cx="1645920" cy="320040"/>
          </a:xfrm>
          <a:prstGeom prst="rect">
            <a:avLst/>
          </a:prstGeom>
          <a:noFill/>
        </p:spPr>
        <p:txBody>
          <a:bodyPr wrap="square">
            <a:spAutoFit/>
          </a:bodyPr>
          <a:lstStyle/>
          <a:p>
            <a:pPr algn="l">
              <a:defRPr sz="1000" b="0" i="0">
                <a:solidFill>
                  <a:srgbClr val="767676"/>
                </a:solidFill>
                <a:latin typeface="Calibri"/>
              </a:defRPr>
            </a:pPr>
            <a:r>
              <a:t>$3-5M build</a:t>
            </a:r>
          </a:p>
        </p:txBody>
      </p:sp>
      <p:sp>
        <p:nvSpPr>
          <p:cNvPr id="12" name="TextBox 11"/>
          <p:cNvSpPr txBox="1"/>
          <p:nvPr/>
        </p:nvSpPr>
        <p:spPr>
          <a:xfrm>
            <a:off x="2651760" y="3063240"/>
            <a:ext cx="2011680" cy="320040"/>
          </a:xfrm>
          <a:prstGeom prst="rect">
            <a:avLst/>
          </a:prstGeom>
          <a:noFill/>
        </p:spPr>
        <p:txBody>
          <a:bodyPr wrap="square">
            <a:spAutoFit/>
          </a:bodyPr>
          <a:lstStyle/>
          <a:p>
            <a:pPr algn="l">
              <a:defRPr sz="1000" b="1" i="0">
                <a:solidFill>
                  <a:srgbClr val="1C1C1E"/>
                </a:solidFill>
                <a:latin typeface="Calibri"/>
              </a:defRPr>
            </a:pPr>
            <a:r>
              <a:t>~$20M ARR at scale</a:t>
            </a:r>
          </a:p>
        </p:txBody>
      </p:sp>
      <p:sp>
        <p:nvSpPr>
          <p:cNvPr id="13" name="TextBox 12"/>
          <p:cNvSpPr txBox="1"/>
          <p:nvPr/>
        </p:nvSpPr>
        <p:spPr>
          <a:xfrm>
            <a:off x="4754880" y="3063240"/>
            <a:ext cx="1005840" cy="320040"/>
          </a:xfrm>
          <a:prstGeom prst="rect">
            <a:avLst/>
          </a:prstGeom>
          <a:noFill/>
        </p:spPr>
        <p:txBody>
          <a:bodyPr wrap="square">
            <a:spAutoFit/>
          </a:bodyPr>
          <a:lstStyle/>
          <a:p>
            <a:pPr algn="r">
              <a:defRPr sz="1000" b="1" i="0">
                <a:solidFill>
                  <a:srgbClr val="E51937"/>
                </a:solidFill>
                <a:latin typeface="Calibri"/>
              </a:defRPr>
            </a:pPr>
            <a:r>
              <a:t>5-7x ROI</a:t>
            </a:r>
          </a:p>
        </p:txBody>
      </p:sp>
      <p:sp>
        <p:nvSpPr>
          <p:cNvPr id="14" name="Rounded Rectangle 13"/>
          <p:cNvSpPr/>
          <p:nvPr/>
        </p:nvSpPr>
        <p:spPr>
          <a:xfrm>
            <a:off x="6126480" y="1691640"/>
            <a:ext cx="5212080" cy="1920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26480" y="1691640"/>
            <a:ext cx="5212080" cy="508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1801368"/>
            <a:ext cx="4846320" cy="274320"/>
          </a:xfrm>
          <a:prstGeom prst="rect">
            <a:avLst/>
          </a:prstGeom>
          <a:noFill/>
        </p:spPr>
        <p:txBody>
          <a:bodyPr wrap="square">
            <a:spAutoFit/>
          </a:bodyPr>
          <a:lstStyle/>
          <a:p>
            <a:pPr algn="l">
              <a:defRPr sz="1300" b="1" i="0">
                <a:solidFill>
                  <a:srgbClr val="1C1C1E"/>
                </a:solidFill>
                <a:latin typeface="Calibri"/>
              </a:defRPr>
            </a:pPr>
            <a:r>
              <a:t>Generative Design + R&amp;D</a:t>
            </a:r>
          </a:p>
        </p:txBody>
      </p:sp>
      <p:sp>
        <p:nvSpPr>
          <p:cNvPr id="17" name="TextBox 16"/>
          <p:cNvSpPr txBox="1"/>
          <p:nvPr/>
        </p:nvSpPr>
        <p:spPr>
          <a:xfrm>
            <a:off x="6309360" y="2148840"/>
            <a:ext cx="4846320" cy="822960"/>
          </a:xfrm>
          <a:prstGeom prst="rect">
            <a:avLst/>
          </a:prstGeom>
          <a:noFill/>
        </p:spPr>
        <p:txBody>
          <a:bodyPr wrap="square">
            <a:spAutoFit/>
          </a:bodyPr>
          <a:lstStyle/>
          <a:p>
            <a:pPr algn="l">
              <a:defRPr sz="1100" b="0" i="0">
                <a:solidFill>
                  <a:srgbClr val="3A3A3C"/>
                </a:solidFill>
                <a:latin typeface="Calibri"/>
              </a:defRPr>
            </a:pPr>
            <a:r>
              <a:t>AI-assisted design, digital twin simulation,</a:t>
            </a:r>
            <a:br/>
            <a:r>
              <a:t>automated patent search. Field telemetry trains</a:t>
            </a:r>
            <a:br/>
            <a:r>
              <a:t>AI on actual performance data at scale.</a:t>
            </a:r>
          </a:p>
        </p:txBody>
      </p:sp>
      <p:sp>
        <p:nvSpPr>
          <p:cNvPr id="18" name="TextBox 17"/>
          <p:cNvSpPr txBox="1"/>
          <p:nvPr/>
        </p:nvSpPr>
        <p:spPr>
          <a:xfrm>
            <a:off x="6309360" y="3063240"/>
            <a:ext cx="1645920" cy="320040"/>
          </a:xfrm>
          <a:prstGeom prst="rect">
            <a:avLst/>
          </a:prstGeom>
          <a:noFill/>
        </p:spPr>
        <p:txBody>
          <a:bodyPr wrap="square">
            <a:spAutoFit/>
          </a:bodyPr>
          <a:lstStyle/>
          <a:p>
            <a:pPr algn="l">
              <a:defRPr sz="1000" b="0" i="0">
                <a:solidFill>
                  <a:srgbClr val="767676"/>
                </a:solidFill>
                <a:latin typeface="Calibri"/>
              </a:defRPr>
            </a:pPr>
            <a:r>
              <a:t>$2-4M build</a:t>
            </a:r>
          </a:p>
        </p:txBody>
      </p:sp>
      <p:sp>
        <p:nvSpPr>
          <p:cNvPr id="19" name="TextBox 18"/>
          <p:cNvSpPr txBox="1"/>
          <p:nvPr/>
        </p:nvSpPr>
        <p:spPr>
          <a:xfrm>
            <a:off x="8046720" y="3063240"/>
            <a:ext cx="2011680" cy="320040"/>
          </a:xfrm>
          <a:prstGeom prst="rect">
            <a:avLst/>
          </a:prstGeom>
          <a:noFill/>
        </p:spPr>
        <p:txBody>
          <a:bodyPr wrap="square">
            <a:spAutoFit/>
          </a:bodyPr>
          <a:lstStyle/>
          <a:p>
            <a:pPr algn="l">
              <a:defRPr sz="1000" b="1" i="0">
                <a:solidFill>
                  <a:srgbClr val="1C1C1E"/>
                </a:solidFill>
                <a:latin typeface="Calibri"/>
              </a:defRPr>
            </a:pPr>
            <a:r>
              <a:t>$3.75-14M/yr benefit</a:t>
            </a:r>
          </a:p>
        </p:txBody>
      </p:sp>
      <p:sp>
        <p:nvSpPr>
          <p:cNvPr id="20" name="TextBox 19"/>
          <p:cNvSpPr txBox="1"/>
          <p:nvPr/>
        </p:nvSpPr>
        <p:spPr>
          <a:xfrm>
            <a:off x="10149840" y="3063240"/>
            <a:ext cx="1005840" cy="320040"/>
          </a:xfrm>
          <a:prstGeom prst="rect">
            <a:avLst/>
          </a:prstGeom>
          <a:noFill/>
        </p:spPr>
        <p:txBody>
          <a:bodyPr wrap="square">
            <a:spAutoFit/>
          </a:bodyPr>
          <a:lstStyle/>
          <a:p>
            <a:pPr algn="r">
              <a:defRPr sz="1000" b="1" i="0">
                <a:solidFill>
                  <a:srgbClr val="E51937"/>
                </a:solidFill>
                <a:latin typeface="Calibri"/>
              </a:defRPr>
            </a:pPr>
            <a:r>
              <a:t>3-5x ROI</a:t>
            </a:r>
          </a:p>
        </p:txBody>
      </p:sp>
      <p:sp>
        <p:nvSpPr>
          <p:cNvPr id="21" name="Rounded Rectangle 20"/>
          <p:cNvSpPr/>
          <p:nvPr/>
        </p:nvSpPr>
        <p:spPr>
          <a:xfrm>
            <a:off x="731520" y="3794760"/>
            <a:ext cx="5212080" cy="1920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731520" y="3794760"/>
            <a:ext cx="5212080" cy="508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14400" y="3904488"/>
            <a:ext cx="4846320" cy="274320"/>
          </a:xfrm>
          <a:prstGeom prst="rect">
            <a:avLst/>
          </a:prstGeom>
          <a:noFill/>
        </p:spPr>
        <p:txBody>
          <a:bodyPr wrap="square">
            <a:spAutoFit/>
          </a:bodyPr>
          <a:lstStyle/>
          <a:p>
            <a:pPr algn="l">
              <a:defRPr sz="1300" b="1" i="0">
                <a:solidFill>
                  <a:srgbClr val="1C1C1E"/>
                </a:solidFill>
                <a:latin typeface="Calibri"/>
              </a:defRPr>
            </a:pPr>
            <a:r>
              <a:t>OEM Proposal Automation</a:t>
            </a:r>
          </a:p>
        </p:txBody>
      </p:sp>
      <p:sp>
        <p:nvSpPr>
          <p:cNvPr id="24" name="TextBox 23"/>
          <p:cNvSpPr txBox="1"/>
          <p:nvPr/>
        </p:nvSpPr>
        <p:spPr>
          <a:xfrm>
            <a:off x="914400" y="4251960"/>
            <a:ext cx="4846320" cy="822960"/>
          </a:xfrm>
          <a:prstGeom prst="rect">
            <a:avLst/>
          </a:prstGeom>
          <a:noFill/>
        </p:spPr>
        <p:txBody>
          <a:bodyPr wrap="square">
            <a:spAutoFit/>
          </a:bodyPr>
          <a:lstStyle/>
          <a:p>
            <a:pPr algn="l">
              <a:defRPr sz="1100" b="0" i="0">
                <a:solidFill>
                  <a:srgbClr val="3A3A3C"/>
                </a:solidFill>
                <a:latin typeface="Calibri"/>
              </a:defRPr>
            </a:pPr>
            <a:r>
              <a:t>Salesforce AgentForce + CPQ accelerates</a:t>
            </a:r>
            <a:br/>
            <a:r>
              <a:t>spec proposals and automates documentation.</a:t>
            </a:r>
            <a:br/>
            <a:r>
              <a:t>1% OEM win rate improvement = $2.5M/yr.</a:t>
            </a:r>
          </a:p>
        </p:txBody>
      </p:sp>
      <p:sp>
        <p:nvSpPr>
          <p:cNvPr id="25" name="TextBox 24"/>
          <p:cNvSpPr txBox="1"/>
          <p:nvPr/>
        </p:nvSpPr>
        <p:spPr>
          <a:xfrm>
            <a:off x="914400" y="5166360"/>
            <a:ext cx="1645920" cy="320040"/>
          </a:xfrm>
          <a:prstGeom prst="rect">
            <a:avLst/>
          </a:prstGeom>
          <a:noFill/>
        </p:spPr>
        <p:txBody>
          <a:bodyPr wrap="square">
            <a:spAutoFit/>
          </a:bodyPr>
          <a:lstStyle/>
          <a:p>
            <a:pPr algn="l">
              <a:defRPr sz="1000" b="0" i="0">
                <a:solidFill>
                  <a:srgbClr val="767676"/>
                </a:solidFill>
                <a:latin typeface="Calibri"/>
              </a:defRPr>
            </a:pPr>
            <a:r>
              <a:t>$500K-1M build</a:t>
            </a:r>
          </a:p>
        </p:txBody>
      </p:sp>
      <p:sp>
        <p:nvSpPr>
          <p:cNvPr id="26" name="TextBox 25"/>
          <p:cNvSpPr txBox="1"/>
          <p:nvPr/>
        </p:nvSpPr>
        <p:spPr>
          <a:xfrm>
            <a:off x="2651760" y="5166360"/>
            <a:ext cx="2011680" cy="320040"/>
          </a:xfrm>
          <a:prstGeom prst="rect">
            <a:avLst/>
          </a:prstGeom>
          <a:noFill/>
        </p:spPr>
        <p:txBody>
          <a:bodyPr wrap="square">
            <a:spAutoFit/>
          </a:bodyPr>
          <a:lstStyle/>
          <a:p>
            <a:pPr algn="l">
              <a:defRPr sz="1000" b="1" i="0">
                <a:solidFill>
                  <a:srgbClr val="1C1C1E"/>
                </a:solidFill>
                <a:latin typeface="Calibri"/>
              </a:defRPr>
            </a:pPr>
            <a:r>
              <a:t>~$3.0M/yr benefit</a:t>
            </a:r>
          </a:p>
        </p:txBody>
      </p:sp>
      <p:sp>
        <p:nvSpPr>
          <p:cNvPr id="27" name="TextBox 26"/>
          <p:cNvSpPr txBox="1"/>
          <p:nvPr/>
        </p:nvSpPr>
        <p:spPr>
          <a:xfrm>
            <a:off x="4754880" y="5166360"/>
            <a:ext cx="1005840" cy="320040"/>
          </a:xfrm>
          <a:prstGeom prst="rect">
            <a:avLst/>
          </a:prstGeom>
          <a:noFill/>
        </p:spPr>
        <p:txBody>
          <a:bodyPr wrap="square">
            <a:spAutoFit/>
          </a:bodyPr>
          <a:lstStyle/>
          <a:p>
            <a:pPr algn="r">
              <a:defRPr sz="1000" b="1" i="0">
                <a:solidFill>
                  <a:srgbClr val="E51937"/>
                </a:solidFill>
                <a:latin typeface="Calibri"/>
              </a:defRPr>
            </a:pPr>
            <a:r>
              <a:t>4-5x ROI</a:t>
            </a:r>
          </a:p>
        </p:txBody>
      </p:sp>
      <p:sp>
        <p:nvSpPr>
          <p:cNvPr id="28" name="Rounded Rectangle 27"/>
          <p:cNvSpPr/>
          <p:nvPr/>
        </p:nvSpPr>
        <p:spPr>
          <a:xfrm>
            <a:off x="6126480" y="3794760"/>
            <a:ext cx="5212080" cy="1920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6126480" y="3794760"/>
            <a:ext cx="5212080" cy="508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309360" y="3904488"/>
            <a:ext cx="4846320" cy="274320"/>
          </a:xfrm>
          <a:prstGeom prst="rect">
            <a:avLst/>
          </a:prstGeom>
          <a:noFill/>
        </p:spPr>
        <p:txBody>
          <a:bodyPr wrap="square">
            <a:spAutoFit/>
          </a:bodyPr>
          <a:lstStyle/>
          <a:p>
            <a:pPr algn="l">
              <a:defRPr sz="1300" b="1" i="0">
                <a:solidFill>
                  <a:srgbClr val="1C1C1E"/>
                </a:solidFill>
                <a:latin typeface="Calibri"/>
              </a:defRPr>
            </a:pPr>
            <a:r>
              <a:t>Compatible Upgrade Recs</a:t>
            </a:r>
          </a:p>
        </p:txBody>
      </p:sp>
      <p:sp>
        <p:nvSpPr>
          <p:cNvPr id="31" name="TextBox 30"/>
          <p:cNvSpPr txBox="1"/>
          <p:nvPr/>
        </p:nvSpPr>
        <p:spPr>
          <a:xfrm>
            <a:off x="6309360" y="4251960"/>
            <a:ext cx="4846320" cy="822960"/>
          </a:xfrm>
          <a:prstGeom prst="rect">
            <a:avLst/>
          </a:prstGeom>
          <a:noFill/>
        </p:spPr>
        <p:txBody>
          <a:bodyPr wrap="square">
            <a:spAutoFit/>
          </a:bodyPr>
          <a:lstStyle/>
          <a:p>
            <a:pPr algn="l">
              <a:defRPr sz="1100" b="0" i="0">
                <a:solidFill>
                  <a:srgbClr val="3A3A3C"/>
                </a:solidFill>
                <a:latin typeface="Calibri"/>
              </a:defRPr>
            </a:pPr>
            <a:r>
              <a:t>SageMaker recommendation engine lifts basket</a:t>
            </a:r>
            <a:br/>
            <a:r>
              <a:t>value through dealer and DTC channels.</a:t>
            </a:r>
            <a:br/>
            <a:r>
              <a:t>Predictive maintenance drives repeat purchases.</a:t>
            </a:r>
          </a:p>
        </p:txBody>
      </p:sp>
      <p:sp>
        <p:nvSpPr>
          <p:cNvPr id="32" name="TextBox 31"/>
          <p:cNvSpPr txBox="1"/>
          <p:nvPr/>
        </p:nvSpPr>
        <p:spPr>
          <a:xfrm>
            <a:off x="6309360" y="5166360"/>
            <a:ext cx="1645920" cy="320040"/>
          </a:xfrm>
          <a:prstGeom prst="rect">
            <a:avLst/>
          </a:prstGeom>
          <a:noFill/>
        </p:spPr>
        <p:txBody>
          <a:bodyPr wrap="square">
            <a:spAutoFit/>
          </a:bodyPr>
          <a:lstStyle/>
          <a:p>
            <a:pPr algn="l">
              <a:defRPr sz="1000" b="0" i="0">
                <a:solidFill>
                  <a:srgbClr val="767676"/>
                </a:solidFill>
                <a:latin typeface="Calibri"/>
              </a:defRPr>
            </a:pPr>
            <a:r>
              <a:t>$500K-800K build</a:t>
            </a:r>
          </a:p>
        </p:txBody>
      </p:sp>
      <p:sp>
        <p:nvSpPr>
          <p:cNvPr id="33" name="TextBox 32"/>
          <p:cNvSpPr txBox="1"/>
          <p:nvPr/>
        </p:nvSpPr>
        <p:spPr>
          <a:xfrm>
            <a:off x="8046720" y="5166360"/>
            <a:ext cx="2011680" cy="320040"/>
          </a:xfrm>
          <a:prstGeom prst="rect">
            <a:avLst/>
          </a:prstGeom>
          <a:noFill/>
        </p:spPr>
        <p:txBody>
          <a:bodyPr wrap="square">
            <a:spAutoFit/>
          </a:bodyPr>
          <a:lstStyle/>
          <a:p>
            <a:pPr algn="l">
              <a:defRPr sz="1000" b="1" i="0">
                <a:solidFill>
                  <a:srgbClr val="1C1C1E"/>
                </a:solidFill>
                <a:latin typeface="Calibri"/>
              </a:defRPr>
            </a:pPr>
            <a:r>
              <a:t>$2.5-5M/yr benefit</a:t>
            </a:r>
          </a:p>
        </p:txBody>
      </p:sp>
      <p:sp>
        <p:nvSpPr>
          <p:cNvPr id="34" name="TextBox 33"/>
          <p:cNvSpPr txBox="1"/>
          <p:nvPr/>
        </p:nvSpPr>
        <p:spPr>
          <a:xfrm>
            <a:off x="10149840" y="5166360"/>
            <a:ext cx="1005840" cy="320040"/>
          </a:xfrm>
          <a:prstGeom prst="rect">
            <a:avLst/>
          </a:prstGeom>
          <a:noFill/>
        </p:spPr>
        <p:txBody>
          <a:bodyPr wrap="square">
            <a:spAutoFit/>
          </a:bodyPr>
          <a:lstStyle/>
          <a:p>
            <a:pPr algn="r">
              <a:defRPr sz="1000" b="1" i="0">
                <a:solidFill>
                  <a:srgbClr val="E51937"/>
                </a:solidFill>
                <a:latin typeface="Calibri"/>
              </a:defRPr>
            </a:pPr>
            <a:r>
              <a:t>4-7x ROI</a:t>
            </a:r>
          </a:p>
        </p:txBody>
      </p:sp>
      <p:sp>
        <p:nvSpPr>
          <p:cNvPr id="35" name="Rounded Rectangle 34"/>
          <p:cNvSpPr/>
          <p:nvPr/>
        </p:nvSpPr>
        <p:spPr>
          <a:xfrm>
            <a:off x="731520" y="5806440"/>
            <a:ext cx="10698480" cy="502920"/>
          </a:xfrm>
          <a:prstGeom prst="roundRect">
            <a:avLst>
              <a:gd name="adj" fmla="val 10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731520" y="5806440"/>
            <a:ext cx="50800" cy="50292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1097280" y="5861304"/>
            <a:ext cx="10058400" cy="384048"/>
          </a:xfrm>
          <a:prstGeom prst="rect">
            <a:avLst/>
          </a:prstGeom>
          <a:noFill/>
        </p:spPr>
        <p:txBody>
          <a:bodyPr wrap="square">
            <a:spAutoFit/>
          </a:bodyPr>
          <a:lstStyle/>
          <a:p>
            <a:pPr algn="ctr">
              <a:defRPr sz="1200" b="1" i="0">
                <a:solidFill>
                  <a:srgbClr val="1C1C1E"/>
                </a:solidFill>
                <a:latin typeface="Calibri"/>
              </a:defRPr>
            </a:pPr>
            <a:r>
              <a:t>Step 4 total: ~$6-11M investment  |  $28-42M/yr at scale  |  Full program (Steps 1-4): ~$15-22M in  |  $39M+/yr at maturity  |  ~4x blended ROI</a:t>
            </a:r>
          </a:p>
        </p:txBody>
      </p:sp>
      <p:sp>
        <p:nvSpPr>
          <p:cNvPr id="38" name="TextBox 37"/>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39" name="TextBox 38"/>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15</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WHAT IT TAKES</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Talent, data, and leadership required at each phase</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371600"/>
            <a:ext cx="3429000" cy="274320"/>
          </a:xfrm>
          <a:prstGeom prst="rect">
            <a:avLst/>
          </a:prstGeom>
          <a:noFill/>
        </p:spPr>
        <p:txBody>
          <a:bodyPr wrap="square">
            <a:spAutoFit/>
          </a:bodyPr>
          <a:lstStyle/>
          <a:p>
            <a:pPr algn="l">
              <a:defRPr sz="1400" b="1" i="0">
                <a:solidFill>
                  <a:srgbClr val="1C1C1E"/>
                </a:solidFill>
                <a:latin typeface="Calibri"/>
              </a:defRPr>
            </a:pPr>
            <a:r>
              <a:t>TALENT</a:t>
            </a:r>
          </a:p>
        </p:txBody>
      </p:sp>
      <p:sp>
        <p:nvSpPr>
          <p:cNvPr id="7" name="Rounded Rectangle 6"/>
          <p:cNvSpPr/>
          <p:nvPr/>
        </p:nvSpPr>
        <p:spPr>
          <a:xfrm>
            <a:off x="731520" y="1828800"/>
            <a:ext cx="3429000" cy="1828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938528"/>
            <a:ext cx="3063240" cy="228600"/>
          </a:xfrm>
          <a:prstGeom prst="rect">
            <a:avLst/>
          </a:prstGeom>
          <a:noFill/>
        </p:spPr>
        <p:txBody>
          <a:bodyPr wrap="square">
            <a:spAutoFit/>
          </a:bodyPr>
          <a:lstStyle/>
          <a:p>
            <a:pPr algn="l">
              <a:defRPr sz="900" b="1" i="0">
                <a:solidFill>
                  <a:srgbClr val="767676"/>
                </a:solidFill>
                <a:latin typeface="Calibri"/>
              </a:defRPr>
            </a:pPr>
            <a:r>
              <a:t>STEPS 1 + 3A</a:t>
            </a:r>
          </a:p>
        </p:txBody>
      </p:sp>
      <p:sp>
        <p:nvSpPr>
          <p:cNvPr id="9" name="TextBox 8"/>
          <p:cNvSpPr txBox="1"/>
          <p:nvPr/>
        </p:nvSpPr>
        <p:spPr>
          <a:xfrm>
            <a:off x="914400" y="2194560"/>
            <a:ext cx="3063240" cy="1280160"/>
          </a:xfrm>
          <a:prstGeom prst="rect">
            <a:avLst/>
          </a:prstGeom>
          <a:noFill/>
        </p:spPr>
        <p:txBody>
          <a:bodyPr wrap="square">
            <a:spAutoFit/>
          </a:bodyPr>
          <a:lstStyle/>
          <a:p>
            <a:pPr algn="l">
              <a:defRPr sz="1100" b="0" i="0">
                <a:solidFill>
                  <a:srgbClr val="3A3A3C"/>
                </a:solidFill>
                <a:latin typeface="Calibri"/>
              </a:defRPr>
            </a:pPr>
            <a:r>
              <a:t>1 integration engineer + 1 product owner</a:t>
            </a:r>
            <a:br/>
            <a:r>
              <a:t>for the support pilot. GitHub Copilot for</a:t>
            </a:r>
            <a:br/>
            <a:r>
              <a:t>engineers; CoPilot for business staff.</a:t>
            </a:r>
            <a:br/>
            <a:r>
              <a:t>CTO + COO name program sponsors.</a:t>
            </a:r>
          </a:p>
        </p:txBody>
      </p:sp>
      <p:sp>
        <p:nvSpPr>
          <p:cNvPr id="10" name="Rounded Rectangle 9"/>
          <p:cNvSpPr/>
          <p:nvPr/>
        </p:nvSpPr>
        <p:spPr>
          <a:xfrm>
            <a:off x="731520" y="3840480"/>
            <a:ext cx="3429000" cy="1828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4400" y="3950208"/>
            <a:ext cx="3063240" cy="228600"/>
          </a:xfrm>
          <a:prstGeom prst="rect">
            <a:avLst/>
          </a:prstGeom>
          <a:noFill/>
        </p:spPr>
        <p:txBody>
          <a:bodyPr wrap="square">
            <a:spAutoFit/>
          </a:bodyPr>
          <a:lstStyle/>
          <a:p>
            <a:pPr algn="l">
              <a:defRPr sz="900" b="1" i="0">
                <a:solidFill>
                  <a:srgbClr val="767676"/>
                </a:solidFill>
                <a:latin typeface="Calibri"/>
              </a:defRPr>
            </a:pPr>
            <a:r>
              <a:t>STEP 2+</a:t>
            </a:r>
          </a:p>
        </p:txBody>
      </p:sp>
      <p:sp>
        <p:nvSpPr>
          <p:cNvPr id="12" name="TextBox 11"/>
          <p:cNvSpPr txBox="1"/>
          <p:nvPr/>
        </p:nvSpPr>
        <p:spPr>
          <a:xfrm>
            <a:off x="914400" y="4206240"/>
            <a:ext cx="3063240" cy="1280160"/>
          </a:xfrm>
          <a:prstGeom prst="rect">
            <a:avLst/>
          </a:prstGeom>
          <a:noFill/>
        </p:spPr>
        <p:txBody>
          <a:bodyPr wrap="square">
            <a:spAutoFit/>
          </a:bodyPr>
          <a:lstStyle/>
          <a:p>
            <a:pPr algn="l">
              <a:defRPr sz="1100" b="0" i="0">
                <a:solidFill>
                  <a:srgbClr val="3A3A3C"/>
                </a:solidFill>
                <a:latin typeface="Calibri"/>
              </a:defRPr>
            </a:pPr>
            <a:r>
              <a:t>3-5 data engineers + 1 senior data architect</a:t>
            </a:r>
            <a:br/>
            <a:r>
              <a:t>for the lakehouse. Add ML lead at Month 20</a:t>
            </a:r>
            <a:br/>
            <a:r>
              <a:t>for demand forecasting. Constraint is data</a:t>
            </a:r>
            <a:br/>
            <a:r>
              <a:t>engineering capacity, not AI tooling.</a:t>
            </a:r>
          </a:p>
        </p:txBody>
      </p:sp>
      <p:sp>
        <p:nvSpPr>
          <p:cNvPr id="13" name="TextBox 12"/>
          <p:cNvSpPr txBox="1"/>
          <p:nvPr/>
        </p:nvSpPr>
        <p:spPr>
          <a:xfrm>
            <a:off x="4343400" y="1371600"/>
            <a:ext cx="3429000" cy="274320"/>
          </a:xfrm>
          <a:prstGeom prst="rect">
            <a:avLst/>
          </a:prstGeom>
          <a:noFill/>
        </p:spPr>
        <p:txBody>
          <a:bodyPr wrap="square">
            <a:spAutoFit/>
          </a:bodyPr>
          <a:lstStyle/>
          <a:p>
            <a:pPr algn="l">
              <a:defRPr sz="1400" b="1" i="0">
                <a:solidFill>
                  <a:srgbClr val="1C1C1E"/>
                </a:solidFill>
                <a:latin typeface="Calibri"/>
              </a:defRPr>
            </a:pPr>
            <a:r>
              <a:t>DATA</a:t>
            </a:r>
          </a:p>
        </p:txBody>
      </p:sp>
      <p:sp>
        <p:nvSpPr>
          <p:cNvPr id="14" name="Rounded Rectangle 13"/>
          <p:cNvSpPr/>
          <p:nvPr/>
        </p:nvSpPr>
        <p:spPr>
          <a:xfrm>
            <a:off x="4343400" y="1828800"/>
            <a:ext cx="3429000" cy="1828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26280" y="1938528"/>
            <a:ext cx="3063240" cy="228600"/>
          </a:xfrm>
          <a:prstGeom prst="rect">
            <a:avLst/>
          </a:prstGeom>
          <a:noFill/>
        </p:spPr>
        <p:txBody>
          <a:bodyPr wrap="square">
            <a:spAutoFit/>
          </a:bodyPr>
          <a:lstStyle/>
          <a:p>
            <a:pPr algn="l">
              <a:defRPr sz="900" b="1" i="0">
                <a:solidFill>
                  <a:srgbClr val="767676"/>
                </a:solidFill>
                <a:latin typeface="Calibri"/>
              </a:defRPr>
            </a:pPr>
            <a:r>
              <a:t>TODAY</a:t>
            </a:r>
          </a:p>
        </p:txBody>
      </p:sp>
      <p:sp>
        <p:nvSpPr>
          <p:cNvPr id="16" name="TextBox 15"/>
          <p:cNvSpPr txBox="1"/>
          <p:nvPr/>
        </p:nvSpPr>
        <p:spPr>
          <a:xfrm>
            <a:off x="4526280" y="2194560"/>
            <a:ext cx="3063240" cy="1280160"/>
          </a:xfrm>
          <a:prstGeom prst="rect">
            <a:avLst/>
          </a:prstGeom>
          <a:noFill/>
        </p:spPr>
        <p:txBody>
          <a:bodyPr wrap="square">
            <a:spAutoFit/>
          </a:bodyPr>
          <a:lstStyle/>
          <a:p>
            <a:pPr algn="l">
              <a:defRPr sz="1100" b="0" i="0">
                <a:solidFill>
                  <a:srgbClr val="3A3A3C"/>
                </a:solidFill>
                <a:latin typeface="Calibri"/>
              </a:defRPr>
            </a:pPr>
            <a:r>
              <a:t>AXS + Hammerhead data is pilot-ready.</a:t>
            </a:r>
            <a:br/>
            <a:r>
              <a:t>Weber: 60-70% of the way to AI-ready</a:t>
            </a:r>
            <a:br/>
            <a:r>
              <a:t>in this domain. Everything else is siloed</a:t>
            </a:r>
            <a:br/>
            <a:r>
              <a:t>by brand. Shopify is the biggest gap.</a:t>
            </a:r>
          </a:p>
        </p:txBody>
      </p:sp>
      <p:sp>
        <p:nvSpPr>
          <p:cNvPr id="17" name="Rounded Rectangle 16"/>
          <p:cNvSpPr/>
          <p:nvPr/>
        </p:nvSpPr>
        <p:spPr>
          <a:xfrm>
            <a:off x="4343400" y="3840480"/>
            <a:ext cx="3429000" cy="1828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26280" y="3950208"/>
            <a:ext cx="3063240" cy="228600"/>
          </a:xfrm>
          <a:prstGeom prst="rect">
            <a:avLst/>
          </a:prstGeom>
          <a:noFill/>
        </p:spPr>
        <p:txBody>
          <a:bodyPr wrap="square">
            <a:spAutoFit/>
          </a:bodyPr>
          <a:lstStyle/>
          <a:p>
            <a:pPr algn="l">
              <a:defRPr sz="900" b="1" i="0">
                <a:solidFill>
                  <a:srgbClr val="767676"/>
                </a:solidFill>
                <a:latin typeface="Calibri"/>
              </a:defRPr>
            </a:pPr>
            <a:r>
              <a:t>NEEDED</a:t>
            </a:r>
          </a:p>
        </p:txBody>
      </p:sp>
      <p:sp>
        <p:nvSpPr>
          <p:cNvPr id="19" name="TextBox 18"/>
          <p:cNvSpPr txBox="1"/>
          <p:nvPr/>
        </p:nvSpPr>
        <p:spPr>
          <a:xfrm>
            <a:off x="4526280" y="4206240"/>
            <a:ext cx="3063240" cy="1280160"/>
          </a:xfrm>
          <a:prstGeom prst="rect">
            <a:avLst/>
          </a:prstGeom>
          <a:noFill/>
        </p:spPr>
        <p:txBody>
          <a:bodyPr wrap="square">
            <a:spAutoFit/>
          </a:bodyPr>
          <a:lstStyle/>
          <a:p>
            <a:pPr algn="l">
              <a:defRPr sz="1100" b="0" i="0">
                <a:solidFill>
                  <a:srgbClr val="3A3A3C"/>
                </a:solidFill>
                <a:latin typeface="Calibri"/>
              </a:defRPr>
            </a:pPr>
            <a:r>
              <a:t>Unified lakehouse linking SAP, Salesforce,</a:t>
            </a:r>
            <a:br/>
            <a:r>
              <a:t>telemetry, and Shopify. Hard gate before</a:t>
            </a:r>
            <a:br/>
            <a:r>
              <a:t>Step 3B and Step 4 can launch.</a:t>
            </a:r>
            <a:br/>
            <a:r>
              <a:t>24-month build; start now.</a:t>
            </a:r>
          </a:p>
        </p:txBody>
      </p:sp>
      <p:sp>
        <p:nvSpPr>
          <p:cNvPr id="20" name="TextBox 19"/>
          <p:cNvSpPr txBox="1"/>
          <p:nvPr/>
        </p:nvSpPr>
        <p:spPr>
          <a:xfrm>
            <a:off x="7955280" y="1371600"/>
            <a:ext cx="3429000" cy="274320"/>
          </a:xfrm>
          <a:prstGeom prst="rect">
            <a:avLst/>
          </a:prstGeom>
          <a:noFill/>
        </p:spPr>
        <p:txBody>
          <a:bodyPr wrap="square">
            <a:spAutoFit/>
          </a:bodyPr>
          <a:lstStyle/>
          <a:p>
            <a:pPr algn="l">
              <a:defRPr sz="1400" b="1" i="0">
                <a:solidFill>
                  <a:srgbClr val="1C1C1E"/>
                </a:solidFill>
                <a:latin typeface="Calibri"/>
              </a:defRPr>
            </a:pPr>
            <a:r>
              <a:t>LEADERSHIP</a:t>
            </a:r>
          </a:p>
        </p:txBody>
      </p:sp>
      <p:sp>
        <p:nvSpPr>
          <p:cNvPr id="21" name="Rounded Rectangle 20"/>
          <p:cNvSpPr/>
          <p:nvPr/>
        </p:nvSpPr>
        <p:spPr>
          <a:xfrm>
            <a:off x="7955280" y="1828800"/>
            <a:ext cx="3429000" cy="1828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138160" y="1938528"/>
            <a:ext cx="3063240" cy="228600"/>
          </a:xfrm>
          <a:prstGeom prst="rect">
            <a:avLst/>
          </a:prstGeom>
          <a:noFill/>
        </p:spPr>
        <p:txBody>
          <a:bodyPr wrap="square">
            <a:spAutoFit/>
          </a:bodyPr>
          <a:lstStyle/>
          <a:p>
            <a:pPr algn="l">
              <a:defRPr sz="900" b="1" i="0">
                <a:solidFill>
                  <a:srgbClr val="767676"/>
                </a:solidFill>
                <a:latin typeface="Calibri"/>
              </a:defRPr>
            </a:pPr>
            <a:r>
              <a:t>BEFORE PILOT</a:t>
            </a:r>
          </a:p>
        </p:txBody>
      </p:sp>
      <p:sp>
        <p:nvSpPr>
          <p:cNvPr id="23" name="TextBox 22"/>
          <p:cNvSpPr txBox="1"/>
          <p:nvPr/>
        </p:nvSpPr>
        <p:spPr>
          <a:xfrm>
            <a:off x="8138160" y="2194560"/>
            <a:ext cx="3063240" cy="1280160"/>
          </a:xfrm>
          <a:prstGeom prst="rect">
            <a:avLst/>
          </a:prstGeom>
          <a:noFill/>
        </p:spPr>
        <p:txBody>
          <a:bodyPr wrap="square">
            <a:spAutoFit/>
          </a:bodyPr>
          <a:lstStyle/>
          <a:p>
            <a:pPr algn="l">
              <a:defRPr sz="1100" b="0" i="0">
                <a:solidFill>
                  <a:srgbClr val="3A3A3C"/>
                </a:solidFill>
                <a:latin typeface="Calibri"/>
              </a:defRPr>
            </a:pPr>
            <a:r>
              <a:t>CEO names a dedicated C-suite AI Sponsor</a:t>
            </a:r>
            <a:br/>
            <a:r>
              <a:t>with primary accountability. Not a committee.</a:t>
            </a:r>
            <a:br/>
            <a:r>
              <a:t>Not a secondary responsibility.</a:t>
            </a:r>
            <a:br/>
            <a:r>
              <a:t>Highest-leverage decision in the plan.</a:t>
            </a:r>
          </a:p>
        </p:txBody>
      </p:sp>
      <p:sp>
        <p:nvSpPr>
          <p:cNvPr id="24" name="Rounded Rectangle 23"/>
          <p:cNvSpPr/>
          <p:nvPr/>
        </p:nvSpPr>
        <p:spPr>
          <a:xfrm>
            <a:off x="7955280" y="3840480"/>
            <a:ext cx="3429000" cy="1828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138160" y="3950208"/>
            <a:ext cx="3063240" cy="228600"/>
          </a:xfrm>
          <a:prstGeom prst="rect">
            <a:avLst/>
          </a:prstGeom>
          <a:noFill/>
        </p:spPr>
        <p:txBody>
          <a:bodyPr wrap="square">
            <a:spAutoFit/>
          </a:bodyPr>
          <a:lstStyle/>
          <a:p>
            <a:pPr algn="l">
              <a:defRPr sz="900" b="1" i="0">
                <a:solidFill>
                  <a:srgbClr val="767676"/>
                </a:solidFill>
                <a:latin typeface="Calibri"/>
              </a:defRPr>
            </a:pPr>
            <a:r>
              <a:t>PHASE GATE</a:t>
            </a:r>
          </a:p>
        </p:txBody>
      </p:sp>
      <p:sp>
        <p:nvSpPr>
          <p:cNvPr id="26" name="TextBox 25"/>
          <p:cNvSpPr txBox="1"/>
          <p:nvPr/>
        </p:nvSpPr>
        <p:spPr>
          <a:xfrm>
            <a:off x="8138160" y="4206240"/>
            <a:ext cx="3063240" cy="1280160"/>
          </a:xfrm>
          <a:prstGeom prst="rect">
            <a:avLst/>
          </a:prstGeom>
          <a:noFill/>
        </p:spPr>
        <p:txBody>
          <a:bodyPr wrap="square">
            <a:spAutoFit/>
          </a:bodyPr>
          <a:lstStyle/>
          <a:p>
            <a:pPr algn="l">
              <a:defRPr sz="1100" b="0" i="0">
                <a:solidFill>
                  <a:srgbClr val="3A3A3C"/>
                </a:solidFill>
                <a:latin typeface="Calibri"/>
              </a:defRPr>
            </a:pPr>
            <a:r>
              <a:t>Sponsor resolves cross-functional conflicts,</a:t>
            </a:r>
            <a:br/>
            <a:r>
              <a:t>enforces data centralization, and holds</a:t>
            </a:r>
            <a:br/>
            <a:r>
              <a:t>sequencing discipline across all four steps.</a:t>
            </a:r>
            <a:br/>
            <a:r>
              <a:t>No sponsor, no Step 2.</a:t>
            </a:r>
          </a:p>
        </p:txBody>
      </p:sp>
      <p:sp>
        <p:nvSpPr>
          <p:cNvPr id="27" name="Rounded Rectangle 26"/>
          <p:cNvSpPr/>
          <p:nvPr/>
        </p:nvSpPr>
        <p:spPr>
          <a:xfrm>
            <a:off x="731520" y="5760720"/>
            <a:ext cx="10698480" cy="6400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31520" y="5760720"/>
            <a:ext cx="50800" cy="64008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51560" y="5852160"/>
            <a:ext cx="10149840" cy="274320"/>
          </a:xfrm>
          <a:prstGeom prst="rect">
            <a:avLst/>
          </a:prstGeom>
          <a:noFill/>
        </p:spPr>
        <p:txBody>
          <a:bodyPr wrap="square">
            <a:spAutoFit/>
          </a:bodyPr>
          <a:lstStyle/>
          <a:p>
            <a:pPr algn="l">
              <a:defRPr sz="1200" b="0" i="1">
                <a:solidFill>
                  <a:srgbClr val="3A3A3C"/>
                </a:solidFill>
                <a:latin typeface="Calibri"/>
              </a:defRPr>
            </a:pPr>
            <a:r>
              <a:t>“We are 60 to 70 percent of the way to AI-ready data in the AXS and Hammerhead domain.”</a:t>
            </a:r>
          </a:p>
        </p:txBody>
      </p:sp>
      <p:sp>
        <p:nvSpPr>
          <p:cNvPr id="30" name="TextBox 29"/>
          <p:cNvSpPr txBox="1"/>
          <p:nvPr/>
        </p:nvSpPr>
        <p:spPr>
          <a:xfrm>
            <a:off x="1051560" y="6126480"/>
            <a:ext cx="10149840" cy="228600"/>
          </a:xfrm>
          <a:prstGeom prst="rect">
            <a:avLst/>
          </a:prstGeom>
          <a:noFill/>
        </p:spPr>
        <p:txBody>
          <a:bodyPr wrap="square">
            <a:spAutoFit/>
          </a:bodyPr>
          <a:lstStyle/>
          <a:p>
            <a:pPr algn="l">
              <a:defRPr sz="1000" b="1" i="0">
                <a:solidFill>
                  <a:srgbClr val="767676"/>
                </a:solidFill>
                <a:latin typeface="Calibri"/>
              </a:defRPr>
            </a:pPr>
            <a:r>
              <a:t>Clint Weber, VP Global Sales &amp; Manufacturing, SRAM</a:t>
            </a:r>
          </a:p>
        </p:txBody>
      </p:sp>
      <p:sp>
        <p:nvSpPr>
          <p:cNvPr id="31" name="TextBox 30"/>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32" name="TextBox 31"/>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16</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TRADE-OFFS</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Three risks worth naming before the decision</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731520" y="1371600"/>
            <a:ext cx="1051560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371600"/>
            <a:ext cx="50800" cy="1371600"/>
          </a:xfrm>
          <a:prstGeom prst="rect">
            <a:avLst/>
          </a:prstGeom>
          <a:solidFill>
            <a:srgbClr val="C43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1463040"/>
            <a:ext cx="9601200" cy="274320"/>
          </a:xfrm>
          <a:prstGeom prst="rect">
            <a:avLst/>
          </a:prstGeom>
          <a:noFill/>
        </p:spPr>
        <p:txBody>
          <a:bodyPr wrap="square">
            <a:spAutoFit/>
          </a:bodyPr>
          <a:lstStyle/>
          <a:p>
            <a:pPr algn="l">
              <a:defRPr sz="1400" b="1" i="0">
                <a:solidFill>
                  <a:srgbClr val="1C1C1E"/>
                </a:solidFill>
                <a:latin typeface="Calibri"/>
              </a:defRPr>
            </a:pPr>
            <a:r>
              <a:t>Dealer trust is fragile</a:t>
            </a:r>
          </a:p>
        </p:txBody>
      </p:sp>
      <p:sp>
        <p:nvSpPr>
          <p:cNvPr id="9" name="TextBox 8"/>
          <p:cNvSpPr txBox="1"/>
          <p:nvPr/>
        </p:nvSpPr>
        <p:spPr>
          <a:xfrm>
            <a:off x="1097280" y="1783080"/>
            <a:ext cx="9601200" cy="548640"/>
          </a:xfrm>
          <a:prstGeom prst="rect">
            <a:avLst/>
          </a:prstGeom>
          <a:noFill/>
        </p:spPr>
        <p:txBody>
          <a:bodyPr wrap="square">
            <a:spAutoFit/>
          </a:bodyPr>
          <a:lstStyle/>
          <a:p>
            <a:pPr algn="l">
              <a:defRPr sz="1100" b="0" i="0">
                <a:solidFill>
                  <a:srgbClr val="3A3A3C"/>
                </a:solidFill>
                <a:latin typeface="Calibri"/>
              </a:defRPr>
            </a:pPr>
            <a:r>
              <a:t>One confident wrong answer from the AI reaches a dealer, and the support team loses credibility it spent years building. Human-in-the-loop and weekly quality reviews mitigate this, but they also slow throughput gains.</a:t>
            </a:r>
          </a:p>
        </p:txBody>
      </p:sp>
      <p:sp>
        <p:nvSpPr>
          <p:cNvPr id="10" name="TextBox 9"/>
          <p:cNvSpPr txBox="1"/>
          <p:nvPr/>
        </p:nvSpPr>
        <p:spPr>
          <a:xfrm>
            <a:off x="1097280" y="2377440"/>
            <a:ext cx="9601200" cy="228600"/>
          </a:xfrm>
          <a:prstGeom prst="rect">
            <a:avLst/>
          </a:prstGeom>
          <a:noFill/>
        </p:spPr>
        <p:txBody>
          <a:bodyPr wrap="square">
            <a:spAutoFit/>
          </a:bodyPr>
          <a:lstStyle/>
          <a:p>
            <a:pPr algn="l">
              <a:defRPr sz="1000" b="1" i="0">
                <a:solidFill>
                  <a:srgbClr val="767676"/>
                </a:solidFill>
                <a:latin typeface="Calibri"/>
              </a:defRPr>
            </a:pPr>
            <a:r>
              <a:t>MITIGATION: Kill criteria trigger rollback at first safety error</a:t>
            </a:r>
          </a:p>
        </p:txBody>
      </p:sp>
      <p:sp>
        <p:nvSpPr>
          <p:cNvPr id="11" name="Rounded Rectangle 10"/>
          <p:cNvSpPr/>
          <p:nvPr/>
        </p:nvSpPr>
        <p:spPr>
          <a:xfrm>
            <a:off x="731520" y="2971800"/>
            <a:ext cx="1051560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731520" y="2971800"/>
            <a:ext cx="50800" cy="1371600"/>
          </a:xfrm>
          <a:prstGeom prst="rect">
            <a:avLst/>
          </a:prstGeom>
          <a:solidFill>
            <a:srgbClr val="C43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97280" y="3063240"/>
            <a:ext cx="9601200" cy="274320"/>
          </a:xfrm>
          <a:prstGeom prst="rect">
            <a:avLst/>
          </a:prstGeom>
          <a:noFill/>
        </p:spPr>
        <p:txBody>
          <a:bodyPr wrap="square">
            <a:spAutoFit/>
          </a:bodyPr>
          <a:lstStyle/>
          <a:p>
            <a:pPr algn="l">
              <a:defRPr sz="1400" b="1" i="0">
                <a:solidFill>
                  <a:srgbClr val="1C1C1E"/>
                </a:solidFill>
                <a:latin typeface="Calibri"/>
              </a:defRPr>
            </a:pPr>
            <a:r>
              <a:t>Data consolidation has no executive sponsor</a:t>
            </a:r>
          </a:p>
        </p:txBody>
      </p:sp>
      <p:sp>
        <p:nvSpPr>
          <p:cNvPr id="14" name="TextBox 13"/>
          <p:cNvSpPr txBox="1"/>
          <p:nvPr/>
        </p:nvSpPr>
        <p:spPr>
          <a:xfrm>
            <a:off x="1097280" y="3383280"/>
            <a:ext cx="9601200" cy="548640"/>
          </a:xfrm>
          <a:prstGeom prst="rect">
            <a:avLst/>
          </a:prstGeom>
          <a:noFill/>
        </p:spPr>
        <p:txBody>
          <a:bodyPr wrap="square">
            <a:spAutoFit/>
          </a:bodyPr>
          <a:lstStyle/>
          <a:p>
            <a:pPr algn="l">
              <a:defRPr sz="1100" b="0" i="0">
                <a:solidFill>
                  <a:srgbClr val="3A3A3C"/>
                </a:solidFill>
                <a:latin typeface="Calibri"/>
              </a:defRPr>
            </a:pPr>
            <a:r>
              <a:t>Weber owns sales and manufacturing but not the CRM, ERP, or inventory systems. Phase 2 requires a unified data layer across those systems. Without a senior sponsor, data integration stalls and the pilot stays isolated.</a:t>
            </a:r>
          </a:p>
        </p:txBody>
      </p:sp>
      <p:sp>
        <p:nvSpPr>
          <p:cNvPr id="15" name="TextBox 14"/>
          <p:cNvSpPr txBox="1"/>
          <p:nvPr/>
        </p:nvSpPr>
        <p:spPr>
          <a:xfrm>
            <a:off x="1097280" y="3977640"/>
            <a:ext cx="9601200" cy="228600"/>
          </a:xfrm>
          <a:prstGeom prst="rect">
            <a:avLst/>
          </a:prstGeom>
          <a:noFill/>
        </p:spPr>
        <p:txBody>
          <a:bodyPr wrap="square">
            <a:spAutoFit/>
          </a:bodyPr>
          <a:lstStyle/>
          <a:p>
            <a:pPr algn="l">
              <a:defRPr sz="1000" b="1" i="0">
                <a:solidFill>
                  <a:srgbClr val="767676"/>
                </a:solidFill>
                <a:latin typeface="Calibri"/>
              </a:defRPr>
            </a:pPr>
            <a:r>
              <a:t>MITIGATION: CEO assigns cross-functional data owner in parallel</a:t>
            </a:r>
          </a:p>
        </p:txBody>
      </p:sp>
      <p:sp>
        <p:nvSpPr>
          <p:cNvPr id="16" name="Rounded Rectangle 15"/>
          <p:cNvSpPr/>
          <p:nvPr/>
        </p:nvSpPr>
        <p:spPr>
          <a:xfrm>
            <a:off x="731520" y="4572000"/>
            <a:ext cx="1051560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31520" y="4572000"/>
            <a:ext cx="50800" cy="1371600"/>
          </a:xfrm>
          <a:prstGeom prst="rect">
            <a:avLst/>
          </a:prstGeom>
          <a:solidFill>
            <a:srgbClr val="C43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97280" y="4663440"/>
            <a:ext cx="9601200" cy="274320"/>
          </a:xfrm>
          <a:prstGeom prst="rect">
            <a:avLst/>
          </a:prstGeom>
          <a:noFill/>
        </p:spPr>
        <p:txBody>
          <a:bodyPr wrap="square">
            <a:spAutoFit/>
          </a:bodyPr>
          <a:lstStyle/>
          <a:p>
            <a:pPr algn="l">
              <a:defRPr sz="1400" b="1" i="0">
                <a:solidFill>
                  <a:srgbClr val="1C1C1E"/>
                </a:solidFill>
                <a:latin typeface="Calibri"/>
              </a:defRPr>
            </a:pPr>
            <a:r>
              <a:t>AI hype creates unrealistic internal expectations</a:t>
            </a:r>
          </a:p>
        </p:txBody>
      </p:sp>
      <p:sp>
        <p:nvSpPr>
          <p:cNvPr id="19" name="TextBox 18"/>
          <p:cNvSpPr txBox="1"/>
          <p:nvPr/>
        </p:nvSpPr>
        <p:spPr>
          <a:xfrm>
            <a:off x="1097280" y="4983480"/>
            <a:ext cx="9601200" cy="548640"/>
          </a:xfrm>
          <a:prstGeom prst="rect">
            <a:avLst/>
          </a:prstGeom>
          <a:noFill/>
        </p:spPr>
        <p:txBody>
          <a:bodyPr wrap="square">
            <a:spAutoFit/>
          </a:bodyPr>
          <a:lstStyle/>
          <a:p>
            <a:pPr algn="l">
              <a:defRPr sz="1100" b="0" i="0">
                <a:solidFill>
                  <a:srgbClr val="3A3A3C"/>
                </a:solidFill>
                <a:latin typeface="Calibri"/>
              </a:defRPr>
            </a:pPr>
            <a:r>
              <a:t>SRAM's engineering culture values precision. If leadership frames AI as a silver bullet rather than a tool, early imperfections will fuel skepticism and internal resistance to future phases.</a:t>
            </a:r>
          </a:p>
        </p:txBody>
      </p:sp>
      <p:sp>
        <p:nvSpPr>
          <p:cNvPr id="20" name="TextBox 19"/>
          <p:cNvSpPr txBox="1"/>
          <p:nvPr/>
        </p:nvSpPr>
        <p:spPr>
          <a:xfrm>
            <a:off x="1097280" y="5577840"/>
            <a:ext cx="9601200" cy="228600"/>
          </a:xfrm>
          <a:prstGeom prst="rect">
            <a:avLst/>
          </a:prstGeom>
          <a:noFill/>
        </p:spPr>
        <p:txBody>
          <a:bodyPr wrap="square">
            <a:spAutoFit/>
          </a:bodyPr>
          <a:lstStyle/>
          <a:p>
            <a:pPr algn="l">
              <a:defRPr sz="1000" b="1" i="0">
                <a:solidFill>
                  <a:srgbClr val="767676"/>
                </a:solidFill>
                <a:latin typeface="Calibri"/>
              </a:defRPr>
            </a:pPr>
            <a:r>
              <a:t>MITIGATION: Frame pilot as experiment with defined success and failure criteria</a:t>
            </a:r>
          </a:p>
        </p:txBody>
      </p:sp>
      <p:sp>
        <p:nvSpPr>
          <p:cNvPr id="21" name="TextBox 20"/>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2" name="TextBox 21"/>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17</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DECISION</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Three actions for SRAM's CEO</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731520" y="1371600"/>
            <a:ext cx="10515600" cy="118872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97280" y="1600200"/>
            <a:ext cx="457200" cy="457200"/>
          </a:xfrm>
          <a:prstGeom prst="ellipse">
            <a:avLst/>
          </a:prstGeom>
          <a:solidFill>
            <a:srgbClr val="1C1C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5F5F3"/>
                </a:solidFill>
              </a:defRPr>
            </a:pPr>
            <a:r>
              <a:t>1</a:t>
            </a:r>
          </a:p>
        </p:txBody>
      </p:sp>
      <p:sp>
        <p:nvSpPr>
          <p:cNvPr id="8" name="TextBox 7"/>
          <p:cNvSpPr txBox="1"/>
          <p:nvPr/>
        </p:nvSpPr>
        <p:spPr>
          <a:xfrm>
            <a:off x="1828800" y="1463040"/>
            <a:ext cx="8961120" cy="320040"/>
          </a:xfrm>
          <a:prstGeom prst="rect">
            <a:avLst/>
          </a:prstGeom>
          <a:noFill/>
        </p:spPr>
        <p:txBody>
          <a:bodyPr wrap="square">
            <a:spAutoFit/>
          </a:bodyPr>
          <a:lstStyle/>
          <a:p>
            <a:pPr algn="l">
              <a:defRPr sz="1800" b="1" i="0">
                <a:solidFill>
                  <a:srgbClr val="1C1C1E"/>
                </a:solidFill>
                <a:latin typeface="Calibri"/>
              </a:defRPr>
            </a:pPr>
            <a:r>
              <a:t>Launch the 6-Month Support Program</a:t>
            </a:r>
          </a:p>
        </p:txBody>
      </p:sp>
      <p:sp>
        <p:nvSpPr>
          <p:cNvPr id="9" name="TextBox 8"/>
          <p:cNvSpPr txBox="1"/>
          <p:nvPr/>
        </p:nvSpPr>
        <p:spPr>
          <a:xfrm>
            <a:off x="1828800" y="1828800"/>
            <a:ext cx="8961120" cy="548640"/>
          </a:xfrm>
          <a:prstGeom prst="rect">
            <a:avLst/>
          </a:prstGeom>
          <a:noFill/>
        </p:spPr>
        <p:txBody>
          <a:bodyPr wrap="square">
            <a:spAutoFit/>
          </a:bodyPr>
          <a:lstStyle/>
          <a:p>
            <a:pPr algn="l">
              <a:defRPr sz="1200" b="0" i="0">
                <a:solidFill>
                  <a:srgbClr val="3A3A3C"/>
                </a:solidFill>
                <a:latin typeface="Calibri"/>
              </a:defRPr>
            </a:pPr>
            <a:r>
              <a:t>AXS and Hammerhead dealer support. One product owner, one integration engineer. Human approval on all outputs. Day-45 scope review, Day-90 go/no-go gate. ~$4.5M net Year-1 value at 9x ROI.</a:t>
            </a:r>
          </a:p>
        </p:txBody>
      </p:sp>
      <p:sp>
        <p:nvSpPr>
          <p:cNvPr id="10" name="Rounded Rectangle 9"/>
          <p:cNvSpPr/>
          <p:nvPr/>
        </p:nvSpPr>
        <p:spPr>
          <a:xfrm>
            <a:off x="731520" y="2788920"/>
            <a:ext cx="10515600" cy="118872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097280" y="3017520"/>
            <a:ext cx="457200" cy="457200"/>
          </a:xfrm>
          <a:prstGeom prst="ellipse">
            <a:avLst/>
          </a:prstGeom>
          <a:solidFill>
            <a:srgbClr val="1C1C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5F5F3"/>
                </a:solidFill>
              </a:defRPr>
            </a:pPr>
            <a:r>
              <a:t>2</a:t>
            </a:r>
          </a:p>
        </p:txBody>
      </p:sp>
      <p:sp>
        <p:nvSpPr>
          <p:cNvPr id="12" name="TextBox 11"/>
          <p:cNvSpPr txBox="1"/>
          <p:nvPr/>
        </p:nvSpPr>
        <p:spPr>
          <a:xfrm>
            <a:off x="1828800" y="2880360"/>
            <a:ext cx="8961120" cy="320040"/>
          </a:xfrm>
          <a:prstGeom prst="rect">
            <a:avLst/>
          </a:prstGeom>
          <a:noFill/>
        </p:spPr>
        <p:txBody>
          <a:bodyPr wrap="square">
            <a:spAutoFit/>
          </a:bodyPr>
          <a:lstStyle/>
          <a:p>
            <a:pPr algn="l">
              <a:defRPr sz="1800" b="1" i="0">
                <a:solidFill>
                  <a:srgbClr val="1C1C1E"/>
                </a:solidFill>
                <a:latin typeface="Calibri"/>
              </a:defRPr>
            </a:pPr>
            <a:r>
              <a:t>Name the C-Suite AI Sponsor</a:t>
            </a:r>
          </a:p>
        </p:txBody>
      </p:sp>
      <p:sp>
        <p:nvSpPr>
          <p:cNvPr id="13" name="TextBox 12"/>
          <p:cNvSpPr txBox="1"/>
          <p:nvPr/>
        </p:nvSpPr>
        <p:spPr>
          <a:xfrm>
            <a:off x="1828800" y="3246120"/>
            <a:ext cx="8961120" cy="548640"/>
          </a:xfrm>
          <a:prstGeom prst="rect">
            <a:avLst/>
          </a:prstGeom>
          <a:noFill/>
        </p:spPr>
        <p:txBody>
          <a:bodyPr wrap="square">
            <a:spAutoFit/>
          </a:bodyPr>
          <a:lstStyle/>
          <a:p>
            <a:pPr algn="l">
              <a:defRPr sz="1200" b="0" i="0">
                <a:solidFill>
                  <a:srgbClr val="3A3A3C"/>
                </a:solidFill>
                <a:latin typeface="Calibri"/>
              </a:defRPr>
            </a:pPr>
            <a:r>
              <a:t>One person. Primary accountability. Not a committee, not a side responsibility. This single decision is the highest-leverage action in the plan. The program does not survive Step 2 organizational friction without it.</a:t>
            </a:r>
          </a:p>
        </p:txBody>
      </p:sp>
      <p:sp>
        <p:nvSpPr>
          <p:cNvPr id="14" name="Rounded Rectangle 13"/>
          <p:cNvSpPr/>
          <p:nvPr/>
        </p:nvSpPr>
        <p:spPr>
          <a:xfrm>
            <a:off x="731520" y="4206240"/>
            <a:ext cx="10515600" cy="118872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97280" y="4434840"/>
            <a:ext cx="457200" cy="457200"/>
          </a:xfrm>
          <a:prstGeom prst="ellipse">
            <a:avLst/>
          </a:prstGeom>
          <a:solidFill>
            <a:srgbClr val="1C1C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5F5F3"/>
                </a:solidFill>
              </a:defRPr>
            </a:pPr>
            <a:r>
              <a:t>3</a:t>
            </a:r>
          </a:p>
        </p:txBody>
      </p:sp>
      <p:sp>
        <p:nvSpPr>
          <p:cNvPr id="16" name="TextBox 15"/>
          <p:cNvSpPr txBox="1"/>
          <p:nvPr/>
        </p:nvSpPr>
        <p:spPr>
          <a:xfrm>
            <a:off x="1828800" y="4297680"/>
            <a:ext cx="8961120" cy="320040"/>
          </a:xfrm>
          <a:prstGeom prst="rect">
            <a:avLst/>
          </a:prstGeom>
          <a:noFill/>
        </p:spPr>
        <p:txBody>
          <a:bodyPr wrap="square">
            <a:spAutoFit/>
          </a:bodyPr>
          <a:lstStyle/>
          <a:p>
            <a:pPr algn="l">
              <a:defRPr sz="1800" b="1" i="0">
                <a:solidFill>
                  <a:srgbClr val="1C1C1E"/>
                </a:solidFill>
                <a:latin typeface="Calibri"/>
              </a:defRPr>
            </a:pPr>
            <a:r>
              <a:t>Authorize the Step 2 Data Investment</a:t>
            </a:r>
          </a:p>
        </p:txBody>
      </p:sp>
      <p:sp>
        <p:nvSpPr>
          <p:cNvPr id="17" name="TextBox 16"/>
          <p:cNvSpPr txBox="1"/>
          <p:nvPr/>
        </p:nvSpPr>
        <p:spPr>
          <a:xfrm>
            <a:off x="1828800" y="4663440"/>
            <a:ext cx="8961120" cy="548640"/>
          </a:xfrm>
          <a:prstGeom prst="rect">
            <a:avLst/>
          </a:prstGeom>
          <a:noFill/>
        </p:spPr>
        <p:txBody>
          <a:bodyPr wrap="square">
            <a:spAutoFit/>
          </a:bodyPr>
          <a:lstStyle/>
          <a:p>
            <a:pPr algn="l">
              <a:defRPr sz="1200" b="0" i="0">
                <a:solidFill>
                  <a:srgbClr val="3A3A3C"/>
                </a:solidFill>
                <a:latin typeface="Calibri"/>
              </a:defRPr>
            </a:pPr>
            <a:r>
              <a:t>Begin SAP and Salesforce vendor selection now, in parallel with the pilot. Every month of delay is a month of delay on demand forecasting, AXS Intelligence, and OEM automation. $6-10M unlocks $34M+/yr at maturity.</a:t>
            </a:r>
          </a:p>
        </p:txBody>
      </p:sp>
      <p:sp>
        <p:nvSpPr>
          <p:cNvPr id="18" name="Rounded Rectangle 17"/>
          <p:cNvSpPr/>
          <p:nvPr/>
        </p:nvSpPr>
        <p:spPr>
          <a:xfrm>
            <a:off x="731520" y="5715000"/>
            <a:ext cx="10515600" cy="548640"/>
          </a:xfrm>
          <a:prstGeom prst="roundRect">
            <a:avLst>
              <a:gd name="adj" fmla="val 10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31520" y="5715000"/>
            <a:ext cx="50800" cy="54864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88720" y="5742432"/>
            <a:ext cx="9601200" cy="502920"/>
          </a:xfrm>
          <a:prstGeom prst="rect">
            <a:avLst/>
          </a:prstGeom>
          <a:noFill/>
        </p:spPr>
        <p:txBody>
          <a:bodyPr wrap="square">
            <a:spAutoFit/>
          </a:bodyPr>
          <a:lstStyle/>
          <a:p>
            <a:pPr>
              <a:spcAft>
                <a:spcPts val="260"/>
              </a:spcAft>
              <a:defRPr sz="1300" b="1">
                <a:solidFill>
                  <a:srgbClr val="1C1C1E"/>
                </a:solidFill>
                <a:latin typeface="Calibri"/>
              </a:defRPr>
            </a:pPr>
            <a:r>
              <a:t>Support pilot: 9x ROI on $500K setup  |  Full program: $39M+/yr at maturity on $15-22M investment</a:t>
            </a:r>
          </a:p>
          <a:p>
            <a:pPr>
              <a:spcAft>
                <a:spcPts val="220"/>
              </a:spcAft>
              <a:defRPr sz="1100" b="0">
                <a:solidFill>
                  <a:srgbClr val="767676"/>
                </a:solidFill>
                <a:latin typeface="Calibri"/>
              </a:defRPr>
            </a:pPr>
            <a:r>
              <a:t>Downside bounded by pilot kill criteria  |  Upside scales with SRAM's connected data advantage</a:t>
            </a:r>
          </a:p>
        </p:txBody>
      </p:sp>
      <p:sp>
        <p:nvSpPr>
          <p:cNvPr id="21" name="TextBox 20"/>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2" name="TextBox 21"/>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18</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APPENDIX</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Financial detail across three scenarios</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371600"/>
            <a:ext cx="2743200" cy="274320"/>
          </a:xfrm>
          <a:prstGeom prst="rect">
            <a:avLst/>
          </a:prstGeom>
          <a:noFill/>
        </p:spPr>
        <p:txBody>
          <a:bodyPr wrap="square">
            <a:spAutoFit/>
          </a:bodyPr>
          <a:lstStyle/>
          <a:p>
            <a:pPr algn="l">
              <a:defRPr sz="1100" b="1" i="0">
                <a:solidFill>
                  <a:srgbClr val="767676"/>
                </a:solidFill>
                <a:latin typeface="Calibri"/>
              </a:defRPr>
            </a:pPr>
            <a:r>
              <a:t>Category</a:t>
            </a:r>
          </a:p>
        </p:txBody>
      </p:sp>
      <p:sp>
        <p:nvSpPr>
          <p:cNvPr id="7" name="TextBox 6"/>
          <p:cNvSpPr txBox="1"/>
          <p:nvPr/>
        </p:nvSpPr>
        <p:spPr>
          <a:xfrm>
            <a:off x="3474720" y="1371600"/>
            <a:ext cx="2743200" cy="274320"/>
          </a:xfrm>
          <a:prstGeom prst="rect">
            <a:avLst/>
          </a:prstGeom>
          <a:noFill/>
        </p:spPr>
        <p:txBody>
          <a:bodyPr wrap="square">
            <a:spAutoFit/>
          </a:bodyPr>
          <a:lstStyle/>
          <a:p>
            <a:pPr algn="l">
              <a:defRPr sz="1100" b="1" i="0">
                <a:solidFill>
                  <a:srgbClr val="767676"/>
                </a:solidFill>
                <a:latin typeface="Calibri"/>
              </a:defRPr>
            </a:pPr>
            <a:r>
              <a:t>Conservative</a:t>
            </a:r>
          </a:p>
        </p:txBody>
      </p:sp>
      <p:sp>
        <p:nvSpPr>
          <p:cNvPr id="8" name="TextBox 7"/>
          <p:cNvSpPr txBox="1"/>
          <p:nvPr/>
        </p:nvSpPr>
        <p:spPr>
          <a:xfrm>
            <a:off x="6217920" y="1371600"/>
            <a:ext cx="2743200" cy="274320"/>
          </a:xfrm>
          <a:prstGeom prst="rect">
            <a:avLst/>
          </a:prstGeom>
          <a:noFill/>
        </p:spPr>
        <p:txBody>
          <a:bodyPr wrap="square">
            <a:spAutoFit/>
          </a:bodyPr>
          <a:lstStyle/>
          <a:p>
            <a:pPr algn="l">
              <a:defRPr sz="1100" b="1" i="0">
                <a:solidFill>
                  <a:srgbClr val="767676"/>
                </a:solidFill>
                <a:latin typeface="Calibri"/>
              </a:defRPr>
            </a:pPr>
            <a:r>
              <a:t>Expected</a:t>
            </a:r>
          </a:p>
        </p:txBody>
      </p:sp>
      <p:sp>
        <p:nvSpPr>
          <p:cNvPr id="9" name="TextBox 8"/>
          <p:cNvSpPr txBox="1"/>
          <p:nvPr/>
        </p:nvSpPr>
        <p:spPr>
          <a:xfrm>
            <a:off x="8961120" y="1371600"/>
            <a:ext cx="2743200" cy="274320"/>
          </a:xfrm>
          <a:prstGeom prst="rect">
            <a:avLst/>
          </a:prstGeom>
          <a:noFill/>
        </p:spPr>
        <p:txBody>
          <a:bodyPr wrap="square">
            <a:spAutoFit/>
          </a:bodyPr>
          <a:lstStyle/>
          <a:p>
            <a:pPr algn="l">
              <a:defRPr sz="1100" b="1" i="0">
                <a:solidFill>
                  <a:srgbClr val="767676"/>
                </a:solidFill>
                <a:latin typeface="Calibri"/>
              </a:defRPr>
            </a:pPr>
            <a:r>
              <a:t>Upside</a:t>
            </a:r>
          </a:p>
        </p:txBody>
      </p:sp>
      <p:sp>
        <p:nvSpPr>
          <p:cNvPr id="10" name="Rounded Rectangle 9"/>
          <p:cNvSpPr/>
          <p:nvPr/>
        </p:nvSpPr>
        <p:spPr>
          <a:xfrm>
            <a:off x="731520" y="1719072"/>
            <a:ext cx="10515600" cy="347472"/>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1737360"/>
            <a:ext cx="2743200" cy="274320"/>
          </a:xfrm>
          <a:prstGeom prst="rect">
            <a:avLst/>
          </a:prstGeom>
          <a:noFill/>
        </p:spPr>
        <p:txBody>
          <a:bodyPr wrap="square">
            <a:spAutoFit/>
          </a:bodyPr>
          <a:lstStyle/>
          <a:p>
            <a:pPr algn="l">
              <a:defRPr sz="1100" b="0" i="0">
                <a:solidFill>
                  <a:srgbClr val="3A3A3C"/>
                </a:solidFill>
                <a:latin typeface="Calibri"/>
              </a:defRPr>
            </a:pPr>
            <a:r>
              <a:t>Support assistant savings</a:t>
            </a:r>
          </a:p>
        </p:txBody>
      </p:sp>
      <p:sp>
        <p:nvSpPr>
          <p:cNvPr id="12" name="TextBox 11"/>
          <p:cNvSpPr txBox="1"/>
          <p:nvPr/>
        </p:nvSpPr>
        <p:spPr>
          <a:xfrm>
            <a:off x="3474720" y="1737360"/>
            <a:ext cx="2743200" cy="274320"/>
          </a:xfrm>
          <a:prstGeom prst="rect">
            <a:avLst/>
          </a:prstGeom>
          <a:noFill/>
        </p:spPr>
        <p:txBody>
          <a:bodyPr wrap="square">
            <a:spAutoFit/>
          </a:bodyPr>
          <a:lstStyle/>
          <a:p>
            <a:pPr algn="l">
              <a:defRPr sz="1100" b="0" i="0">
                <a:solidFill>
                  <a:srgbClr val="3A3A3C"/>
                </a:solidFill>
                <a:latin typeface="Calibri"/>
              </a:defRPr>
            </a:pPr>
            <a:r>
              <a:t>$0.5M</a:t>
            </a:r>
          </a:p>
        </p:txBody>
      </p:sp>
      <p:sp>
        <p:nvSpPr>
          <p:cNvPr id="13" name="TextBox 12"/>
          <p:cNvSpPr txBox="1"/>
          <p:nvPr/>
        </p:nvSpPr>
        <p:spPr>
          <a:xfrm>
            <a:off x="6217920" y="1737360"/>
            <a:ext cx="2743200" cy="274320"/>
          </a:xfrm>
          <a:prstGeom prst="rect">
            <a:avLst/>
          </a:prstGeom>
          <a:noFill/>
        </p:spPr>
        <p:txBody>
          <a:bodyPr wrap="square">
            <a:spAutoFit/>
          </a:bodyPr>
          <a:lstStyle/>
          <a:p>
            <a:pPr algn="l">
              <a:defRPr sz="1100" b="1" i="0">
                <a:solidFill>
                  <a:srgbClr val="1C1C1E"/>
                </a:solidFill>
                <a:latin typeface="Calibri"/>
              </a:defRPr>
            </a:pPr>
            <a:r>
              <a:t>$1.6M</a:t>
            </a:r>
          </a:p>
        </p:txBody>
      </p:sp>
      <p:sp>
        <p:nvSpPr>
          <p:cNvPr id="14" name="TextBox 13"/>
          <p:cNvSpPr txBox="1"/>
          <p:nvPr/>
        </p:nvSpPr>
        <p:spPr>
          <a:xfrm>
            <a:off x="8961120" y="1737360"/>
            <a:ext cx="2743200" cy="274320"/>
          </a:xfrm>
          <a:prstGeom prst="rect">
            <a:avLst/>
          </a:prstGeom>
          <a:noFill/>
        </p:spPr>
        <p:txBody>
          <a:bodyPr wrap="square">
            <a:spAutoFit/>
          </a:bodyPr>
          <a:lstStyle/>
          <a:p>
            <a:pPr algn="l">
              <a:defRPr sz="1100" b="0" i="0">
                <a:solidFill>
                  <a:srgbClr val="3A3A3C"/>
                </a:solidFill>
                <a:latin typeface="Calibri"/>
              </a:defRPr>
            </a:pPr>
            <a:r>
              <a:t>$4.3M</a:t>
            </a:r>
          </a:p>
        </p:txBody>
      </p:sp>
      <p:sp>
        <p:nvSpPr>
          <p:cNvPr id="15" name="TextBox 14"/>
          <p:cNvSpPr txBox="1"/>
          <p:nvPr/>
        </p:nvSpPr>
        <p:spPr>
          <a:xfrm>
            <a:off x="731520" y="2103120"/>
            <a:ext cx="2743200" cy="274320"/>
          </a:xfrm>
          <a:prstGeom prst="rect">
            <a:avLst/>
          </a:prstGeom>
          <a:noFill/>
        </p:spPr>
        <p:txBody>
          <a:bodyPr wrap="square">
            <a:spAutoFit/>
          </a:bodyPr>
          <a:lstStyle/>
          <a:p>
            <a:pPr algn="l">
              <a:defRPr sz="1100" b="0" i="0">
                <a:solidFill>
                  <a:srgbClr val="3A3A3C"/>
                </a:solidFill>
                <a:latin typeface="Calibri"/>
              </a:defRPr>
            </a:pPr>
            <a:r>
              <a:t>Forecasting + inventory</a:t>
            </a:r>
          </a:p>
        </p:txBody>
      </p:sp>
      <p:sp>
        <p:nvSpPr>
          <p:cNvPr id="16" name="TextBox 15"/>
          <p:cNvSpPr txBox="1"/>
          <p:nvPr/>
        </p:nvSpPr>
        <p:spPr>
          <a:xfrm>
            <a:off x="3474720" y="2103120"/>
            <a:ext cx="2743200" cy="274320"/>
          </a:xfrm>
          <a:prstGeom prst="rect">
            <a:avLst/>
          </a:prstGeom>
          <a:noFill/>
        </p:spPr>
        <p:txBody>
          <a:bodyPr wrap="square">
            <a:spAutoFit/>
          </a:bodyPr>
          <a:lstStyle/>
          <a:p>
            <a:pPr algn="l">
              <a:defRPr sz="1100" b="0" i="0">
                <a:solidFill>
                  <a:srgbClr val="3A3A3C"/>
                </a:solidFill>
                <a:latin typeface="Calibri"/>
              </a:defRPr>
            </a:pPr>
            <a:r>
              <a:t>$0.7M</a:t>
            </a:r>
          </a:p>
        </p:txBody>
      </p:sp>
      <p:sp>
        <p:nvSpPr>
          <p:cNvPr id="17" name="TextBox 16"/>
          <p:cNvSpPr txBox="1"/>
          <p:nvPr/>
        </p:nvSpPr>
        <p:spPr>
          <a:xfrm>
            <a:off x="6217920" y="2103120"/>
            <a:ext cx="2743200" cy="274320"/>
          </a:xfrm>
          <a:prstGeom prst="rect">
            <a:avLst/>
          </a:prstGeom>
          <a:noFill/>
        </p:spPr>
        <p:txBody>
          <a:bodyPr wrap="square">
            <a:spAutoFit/>
          </a:bodyPr>
          <a:lstStyle/>
          <a:p>
            <a:pPr algn="l">
              <a:defRPr sz="1100" b="1" i="0">
                <a:solidFill>
                  <a:srgbClr val="1C1C1E"/>
                </a:solidFill>
                <a:latin typeface="Calibri"/>
              </a:defRPr>
            </a:pPr>
            <a:r>
              <a:t>$1.6M</a:t>
            </a:r>
          </a:p>
        </p:txBody>
      </p:sp>
      <p:sp>
        <p:nvSpPr>
          <p:cNvPr id="18" name="TextBox 17"/>
          <p:cNvSpPr txBox="1"/>
          <p:nvPr/>
        </p:nvSpPr>
        <p:spPr>
          <a:xfrm>
            <a:off x="8961120" y="2103120"/>
            <a:ext cx="2743200" cy="274320"/>
          </a:xfrm>
          <a:prstGeom prst="rect">
            <a:avLst/>
          </a:prstGeom>
          <a:noFill/>
        </p:spPr>
        <p:txBody>
          <a:bodyPr wrap="square">
            <a:spAutoFit/>
          </a:bodyPr>
          <a:lstStyle/>
          <a:p>
            <a:pPr algn="l">
              <a:defRPr sz="1100" b="0" i="0">
                <a:solidFill>
                  <a:srgbClr val="3A3A3C"/>
                </a:solidFill>
                <a:latin typeface="Calibri"/>
              </a:defRPr>
            </a:pPr>
            <a:r>
              <a:t>$4.5M</a:t>
            </a:r>
          </a:p>
        </p:txBody>
      </p:sp>
      <p:sp>
        <p:nvSpPr>
          <p:cNvPr id="19" name="Rounded Rectangle 18"/>
          <p:cNvSpPr/>
          <p:nvPr/>
        </p:nvSpPr>
        <p:spPr>
          <a:xfrm>
            <a:off x="731520" y="2450592"/>
            <a:ext cx="10515600" cy="347472"/>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31520" y="2468880"/>
            <a:ext cx="2743200" cy="274320"/>
          </a:xfrm>
          <a:prstGeom prst="rect">
            <a:avLst/>
          </a:prstGeom>
          <a:noFill/>
        </p:spPr>
        <p:txBody>
          <a:bodyPr wrap="square">
            <a:spAutoFit/>
          </a:bodyPr>
          <a:lstStyle/>
          <a:p>
            <a:pPr algn="l">
              <a:defRPr sz="1100" b="0" i="0">
                <a:solidFill>
                  <a:srgbClr val="3A3A3C"/>
                </a:solidFill>
                <a:latin typeface="Calibri"/>
              </a:defRPr>
            </a:pPr>
            <a:r>
              <a:t>Documentation + translation</a:t>
            </a:r>
          </a:p>
        </p:txBody>
      </p:sp>
      <p:sp>
        <p:nvSpPr>
          <p:cNvPr id="21" name="TextBox 20"/>
          <p:cNvSpPr txBox="1"/>
          <p:nvPr/>
        </p:nvSpPr>
        <p:spPr>
          <a:xfrm>
            <a:off x="3474720" y="2468880"/>
            <a:ext cx="2743200" cy="274320"/>
          </a:xfrm>
          <a:prstGeom prst="rect">
            <a:avLst/>
          </a:prstGeom>
          <a:noFill/>
        </p:spPr>
        <p:txBody>
          <a:bodyPr wrap="square">
            <a:spAutoFit/>
          </a:bodyPr>
          <a:lstStyle/>
          <a:p>
            <a:pPr algn="l">
              <a:defRPr sz="1100" b="0" i="0">
                <a:solidFill>
                  <a:srgbClr val="3A3A3C"/>
                </a:solidFill>
                <a:latin typeface="Calibri"/>
              </a:defRPr>
            </a:pPr>
            <a:r>
              <a:t>$0.1M</a:t>
            </a:r>
          </a:p>
        </p:txBody>
      </p:sp>
      <p:sp>
        <p:nvSpPr>
          <p:cNvPr id="22" name="TextBox 21"/>
          <p:cNvSpPr txBox="1"/>
          <p:nvPr/>
        </p:nvSpPr>
        <p:spPr>
          <a:xfrm>
            <a:off x="6217920" y="2468880"/>
            <a:ext cx="2743200" cy="274320"/>
          </a:xfrm>
          <a:prstGeom prst="rect">
            <a:avLst/>
          </a:prstGeom>
          <a:noFill/>
        </p:spPr>
        <p:txBody>
          <a:bodyPr wrap="square">
            <a:spAutoFit/>
          </a:bodyPr>
          <a:lstStyle/>
          <a:p>
            <a:pPr algn="l">
              <a:defRPr sz="1100" b="1" i="0">
                <a:solidFill>
                  <a:srgbClr val="1C1C1E"/>
                </a:solidFill>
                <a:latin typeface="Calibri"/>
              </a:defRPr>
            </a:pPr>
            <a:r>
              <a:t>$0.24M</a:t>
            </a:r>
          </a:p>
        </p:txBody>
      </p:sp>
      <p:sp>
        <p:nvSpPr>
          <p:cNvPr id="23" name="TextBox 22"/>
          <p:cNvSpPr txBox="1"/>
          <p:nvPr/>
        </p:nvSpPr>
        <p:spPr>
          <a:xfrm>
            <a:off x="8961120" y="2468880"/>
            <a:ext cx="2743200" cy="274320"/>
          </a:xfrm>
          <a:prstGeom prst="rect">
            <a:avLst/>
          </a:prstGeom>
          <a:noFill/>
        </p:spPr>
        <p:txBody>
          <a:bodyPr wrap="square">
            <a:spAutoFit/>
          </a:bodyPr>
          <a:lstStyle/>
          <a:p>
            <a:pPr algn="l">
              <a:defRPr sz="1100" b="0" i="0">
                <a:solidFill>
                  <a:srgbClr val="3A3A3C"/>
                </a:solidFill>
                <a:latin typeface="Calibri"/>
              </a:defRPr>
            </a:pPr>
            <a:r>
              <a:t>$0.9M</a:t>
            </a:r>
          </a:p>
        </p:txBody>
      </p:sp>
      <p:sp>
        <p:nvSpPr>
          <p:cNvPr id="24" name="TextBox 23"/>
          <p:cNvSpPr txBox="1"/>
          <p:nvPr/>
        </p:nvSpPr>
        <p:spPr>
          <a:xfrm>
            <a:off x="731520" y="2834640"/>
            <a:ext cx="2743200" cy="274320"/>
          </a:xfrm>
          <a:prstGeom prst="rect">
            <a:avLst/>
          </a:prstGeom>
          <a:noFill/>
        </p:spPr>
        <p:txBody>
          <a:bodyPr wrap="square">
            <a:spAutoFit/>
          </a:bodyPr>
          <a:lstStyle/>
          <a:p>
            <a:pPr algn="l">
              <a:defRPr sz="1100" b="0" i="0">
                <a:solidFill>
                  <a:srgbClr val="3A3A3C"/>
                </a:solidFill>
                <a:latin typeface="Calibri"/>
              </a:defRPr>
            </a:pPr>
            <a:r>
              <a:t>Customer retention revenue</a:t>
            </a:r>
          </a:p>
        </p:txBody>
      </p:sp>
      <p:sp>
        <p:nvSpPr>
          <p:cNvPr id="25" name="TextBox 24"/>
          <p:cNvSpPr txBox="1"/>
          <p:nvPr/>
        </p:nvSpPr>
        <p:spPr>
          <a:xfrm>
            <a:off x="3474720" y="2834640"/>
            <a:ext cx="2743200" cy="274320"/>
          </a:xfrm>
          <a:prstGeom prst="rect">
            <a:avLst/>
          </a:prstGeom>
          <a:noFill/>
        </p:spPr>
        <p:txBody>
          <a:bodyPr wrap="square">
            <a:spAutoFit/>
          </a:bodyPr>
          <a:lstStyle/>
          <a:p>
            <a:pPr algn="l">
              <a:defRPr sz="1100" b="0" i="0">
                <a:solidFill>
                  <a:srgbClr val="3A3A3C"/>
                </a:solidFill>
                <a:latin typeface="Calibri"/>
              </a:defRPr>
            </a:pPr>
            <a:r>
              <a:t>$1.5M</a:t>
            </a:r>
          </a:p>
        </p:txBody>
      </p:sp>
      <p:sp>
        <p:nvSpPr>
          <p:cNvPr id="26" name="TextBox 25"/>
          <p:cNvSpPr txBox="1"/>
          <p:nvPr/>
        </p:nvSpPr>
        <p:spPr>
          <a:xfrm>
            <a:off x="6217920" y="2834640"/>
            <a:ext cx="2743200" cy="274320"/>
          </a:xfrm>
          <a:prstGeom prst="rect">
            <a:avLst/>
          </a:prstGeom>
          <a:noFill/>
        </p:spPr>
        <p:txBody>
          <a:bodyPr wrap="square">
            <a:spAutoFit/>
          </a:bodyPr>
          <a:lstStyle/>
          <a:p>
            <a:pPr algn="l">
              <a:defRPr sz="1100" b="1" i="0">
                <a:solidFill>
                  <a:srgbClr val="1C1C1E"/>
                </a:solidFill>
                <a:latin typeface="Calibri"/>
              </a:defRPr>
            </a:pPr>
            <a:r>
              <a:t>$3.0M</a:t>
            </a:r>
          </a:p>
        </p:txBody>
      </p:sp>
      <p:sp>
        <p:nvSpPr>
          <p:cNvPr id="27" name="TextBox 26"/>
          <p:cNvSpPr txBox="1"/>
          <p:nvPr/>
        </p:nvSpPr>
        <p:spPr>
          <a:xfrm>
            <a:off x="8961120" y="2834640"/>
            <a:ext cx="2743200" cy="274320"/>
          </a:xfrm>
          <a:prstGeom prst="rect">
            <a:avLst/>
          </a:prstGeom>
          <a:noFill/>
        </p:spPr>
        <p:txBody>
          <a:bodyPr wrap="square">
            <a:spAutoFit/>
          </a:bodyPr>
          <a:lstStyle/>
          <a:p>
            <a:pPr algn="l">
              <a:defRPr sz="1100" b="0" i="0">
                <a:solidFill>
                  <a:srgbClr val="3A3A3C"/>
                </a:solidFill>
                <a:latin typeface="Calibri"/>
              </a:defRPr>
            </a:pPr>
            <a:r>
              <a:t>$4.5M</a:t>
            </a:r>
          </a:p>
        </p:txBody>
      </p:sp>
      <p:sp>
        <p:nvSpPr>
          <p:cNvPr id="28" name="Rounded Rectangle 27"/>
          <p:cNvSpPr/>
          <p:nvPr/>
        </p:nvSpPr>
        <p:spPr>
          <a:xfrm>
            <a:off x="731520" y="3182112"/>
            <a:ext cx="10515600" cy="347472"/>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31520" y="3200400"/>
            <a:ext cx="2743200" cy="274320"/>
          </a:xfrm>
          <a:prstGeom prst="rect">
            <a:avLst/>
          </a:prstGeom>
          <a:noFill/>
        </p:spPr>
        <p:txBody>
          <a:bodyPr wrap="square">
            <a:spAutoFit/>
          </a:bodyPr>
          <a:lstStyle/>
          <a:p>
            <a:pPr algn="l">
              <a:defRPr sz="1100" b="0" i="0">
                <a:solidFill>
                  <a:srgbClr val="3A3A3C"/>
                </a:solidFill>
                <a:latin typeface="Calibri"/>
              </a:defRPr>
            </a:pPr>
            <a:r>
              <a:t>Package size increase</a:t>
            </a:r>
          </a:p>
        </p:txBody>
      </p:sp>
      <p:sp>
        <p:nvSpPr>
          <p:cNvPr id="30" name="TextBox 29"/>
          <p:cNvSpPr txBox="1"/>
          <p:nvPr/>
        </p:nvSpPr>
        <p:spPr>
          <a:xfrm>
            <a:off x="3474720" y="3200400"/>
            <a:ext cx="2743200" cy="274320"/>
          </a:xfrm>
          <a:prstGeom prst="rect">
            <a:avLst/>
          </a:prstGeom>
          <a:noFill/>
        </p:spPr>
        <p:txBody>
          <a:bodyPr wrap="square">
            <a:spAutoFit/>
          </a:bodyPr>
          <a:lstStyle/>
          <a:p>
            <a:pPr algn="l">
              <a:defRPr sz="1100" b="0" i="0">
                <a:solidFill>
                  <a:srgbClr val="3A3A3C"/>
                </a:solidFill>
                <a:latin typeface="Calibri"/>
              </a:defRPr>
            </a:pPr>
            <a:r>
              <a:t>$2.0M</a:t>
            </a:r>
          </a:p>
        </p:txBody>
      </p:sp>
      <p:sp>
        <p:nvSpPr>
          <p:cNvPr id="31" name="TextBox 30"/>
          <p:cNvSpPr txBox="1"/>
          <p:nvPr/>
        </p:nvSpPr>
        <p:spPr>
          <a:xfrm>
            <a:off x="6217920" y="3200400"/>
            <a:ext cx="2743200" cy="274320"/>
          </a:xfrm>
          <a:prstGeom prst="rect">
            <a:avLst/>
          </a:prstGeom>
          <a:noFill/>
        </p:spPr>
        <p:txBody>
          <a:bodyPr wrap="square">
            <a:spAutoFit/>
          </a:bodyPr>
          <a:lstStyle/>
          <a:p>
            <a:pPr algn="l">
              <a:defRPr sz="1100" b="1" i="0">
                <a:solidFill>
                  <a:srgbClr val="1C1C1E"/>
                </a:solidFill>
                <a:latin typeface="Calibri"/>
              </a:defRPr>
            </a:pPr>
            <a:r>
              <a:t>$4.0M</a:t>
            </a:r>
          </a:p>
        </p:txBody>
      </p:sp>
      <p:sp>
        <p:nvSpPr>
          <p:cNvPr id="32" name="TextBox 31"/>
          <p:cNvSpPr txBox="1"/>
          <p:nvPr/>
        </p:nvSpPr>
        <p:spPr>
          <a:xfrm>
            <a:off x="8961120" y="3200400"/>
            <a:ext cx="2743200" cy="274320"/>
          </a:xfrm>
          <a:prstGeom prst="rect">
            <a:avLst/>
          </a:prstGeom>
          <a:noFill/>
        </p:spPr>
        <p:txBody>
          <a:bodyPr wrap="square">
            <a:spAutoFit/>
          </a:bodyPr>
          <a:lstStyle/>
          <a:p>
            <a:pPr algn="l">
              <a:defRPr sz="1100" b="0" i="0">
                <a:solidFill>
                  <a:srgbClr val="3A3A3C"/>
                </a:solidFill>
                <a:latin typeface="Calibri"/>
              </a:defRPr>
            </a:pPr>
            <a:r>
              <a:t>$8.0M</a:t>
            </a:r>
          </a:p>
        </p:txBody>
      </p:sp>
      <p:sp>
        <p:nvSpPr>
          <p:cNvPr id="33" name="TextBox 32"/>
          <p:cNvSpPr txBox="1"/>
          <p:nvPr/>
        </p:nvSpPr>
        <p:spPr>
          <a:xfrm>
            <a:off x="731520" y="3566160"/>
            <a:ext cx="2743200" cy="274320"/>
          </a:xfrm>
          <a:prstGeom prst="rect">
            <a:avLst/>
          </a:prstGeom>
          <a:noFill/>
        </p:spPr>
        <p:txBody>
          <a:bodyPr wrap="square">
            <a:spAutoFit/>
          </a:bodyPr>
          <a:lstStyle/>
          <a:p>
            <a:pPr algn="l">
              <a:defRPr sz="1100" b="0" i="0">
                <a:solidFill>
                  <a:srgbClr val="3A3A3C"/>
                </a:solidFill>
                <a:latin typeface="Calibri"/>
              </a:defRPr>
            </a:pPr>
            <a:r>
              <a:t>Proposal win-rate revenue</a:t>
            </a:r>
          </a:p>
        </p:txBody>
      </p:sp>
      <p:sp>
        <p:nvSpPr>
          <p:cNvPr id="34" name="TextBox 33"/>
          <p:cNvSpPr txBox="1"/>
          <p:nvPr/>
        </p:nvSpPr>
        <p:spPr>
          <a:xfrm>
            <a:off x="3474720" y="3566160"/>
            <a:ext cx="2743200" cy="274320"/>
          </a:xfrm>
          <a:prstGeom prst="rect">
            <a:avLst/>
          </a:prstGeom>
          <a:noFill/>
        </p:spPr>
        <p:txBody>
          <a:bodyPr wrap="square">
            <a:spAutoFit/>
          </a:bodyPr>
          <a:lstStyle/>
          <a:p>
            <a:pPr algn="l">
              <a:defRPr sz="1100" b="0" i="0">
                <a:solidFill>
                  <a:srgbClr val="3A3A3C"/>
                </a:solidFill>
                <a:latin typeface="Calibri"/>
              </a:defRPr>
            </a:pPr>
            <a:r>
              <a:t>$1.3M</a:t>
            </a:r>
          </a:p>
        </p:txBody>
      </p:sp>
      <p:sp>
        <p:nvSpPr>
          <p:cNvPr id="35" name="TextBox 34"/>
          <p:cNvSpPr txBox="1"/>
          <p:nvPr/>
        </p:nvSpPr>
        <p:spPr>
          <a:xfrm>
            <a:off x="6217920" y="3566160"/>
            <a:ext cx="2743200" cy="274320"/>
          </a:xfrm>
          <a:prstGeom prst="rect">
            <a:avLst/>
          </a:prstGeom>
          <a:noFill/>
        </p:spPr>
        <p:txBody>
          <a:bodyPr wrap="square">
            <a:spAutoFit/>
          </a:bodyPr>
          <a:lstStyle/>
          <a:p>
            <a:pPr algn="l">
              <a:defRPr sz="1100" b="1" i="0">
                <a:solidFill>
                  <a:srgbClr val="1C1C1E"/>
                </a:solidFill>
                <a:latin typeface="Calibri"/>
              </a:defRPr>
            </a:pPr>
            <a:r>
              <a:t>$2.5M</a:t>
            </a:r>
          </a:p>
        </p:txBody>
      </p:sp>
      <p:sp>
        <p:nvSpPr>
          <p:cNvPr id="36" name="TextBox 35"/>
          <p:cNvSpPr txBox="1"/>
          <p:nvPr/>
        </p:nvSpPr>
        <p:spPr>
          <a:xfrm>
            <a:off x="8961120" y="3566160"/>
            <a:ext cx="2743200" cy="274320"/>
          </a:xfrm>
          <a:prstGeom prst="rect">
            <a:avLst/>
          </a:prstGeom>
          <a:noFill/>
        </p:spPr>
        <p:txBody>
          <a:bodyPr wrap="square">
            <a:spAutoFit/>
          </a:bodyPr>
          <a:lstStyle/>
          <a:p>
            <a:pPr algn="l">
              <a:defRPr sz="1100" b="0" i="0">
                <a:solidFill>
                  <a:srgbClr val="3A3A3C"/>
                </a:solidFill>
                <a:latin typeface="Calibri"/>
              </a:defRPr>
            </a:pPr>
            <a:r>
              <a:t>$3.8M</a:t>
            </a:r>
          </a:p>
        </p:txBody>
      </p:sp>
      <p:sp>
        <p:nvSpPr>
          <p:cNvPr id="37" name="Rectangle 36"/>
          <p:cNvSpPr/>
          <p:nvPr/>
        </p:nvSpPr>
        <p:spPr>
          <a:xfrm>
            <a:off x="731520" y="3931920"/>
            <a:ext cx="10515600" cy="127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31520" y="4069080"/>
            <a:ext cx="2743200" cy="274320"/>
          </a:xfrm>
          <a:prstGeom prst="rect">
            <a:avLst/>
          </a:prstGeom>
          <a:noFill/>
        </p:spPr>
        <p:txBody>
          <a:bodyPr wrap="square">
            <a:spAutoFit/>
          </a:bodyPr>
          <a:lstStyle/>
          <a:p>
            <a:pPr algn="l">
              <a:defRPr sz="1100" b="0" i="0">
                <a:solidFill>
                  <a:srgbClr val="1C1C1E"/>
                </a:solidFill>
                <a:latin typeface="Calibri"/>
              </a:defRPr>
            </a:pPr>
            <a:r>
              <a:t>Gross value</a:t>
            </a:r>
          </a:p>
        </p:txBody>
      </p:sp>
      <p:sp>
        <p:nvSpPr>
          <p:cNvPr id="39" name="TextBox 38"/>
          <p:cNvSpPr txBox="1"/>
          <p:nvPr/>
        </p:nvSpPr>
        <p:spPr>
          <a:xfrm>
            <a:off x="3474720" y="4069080"/>
            <a:ext cx="2743200" cy="274320"/>
          </a:xfrm>
          <a:prstGeom prst="rect">
            <a:avLst/>
          </a:prstGeom>
          <a:noFill/>
        </p:spPr>
        <p:txBody>
          <a:bodyPr wrap="square">
            <a:spAutoFit/>
          </a:bodyPr>
          <a:lstStyle/>
          <a:p>
            <a:pPr algn="l">
              <a:defRPr sz="1100" b="0" i="0">
                <a:solidFill>
                  <a:srgbClr val="3A3A3C"/>
                </a:solidFill>
                <a:latin typeface="Calibri"/>
              </a:defRPr>
            </a:pPr>
            <a:r>
              <a:t>$6.1M</a:t>
            </a:r>
          </a:p>
        </p:txBody>
      </p:sp>
      <p:sp>
        <p:nvSpPr>
          <p:cNvPr id="40" name="TextBox 39"/>
          <p:cNvSpPr txBox="1"/>
          <p:nvPr/>
        </p:nvSpPr>
        <p:spPr>
          <a:xfrm>
            <a:off x="6217920" y="4069080"/>
            <a:ext cx="2743200" cy="274320"/>
          </a:xfrm>
          <a:prstGeom prst="rect">
            <a:avLst/>
          </a:prstGeom>
          <a:noFill/>
        </p:spPr>
        <p:txBody>
          <a:bodyPr wrap="square">
            <a:spAutoFit/>
          </a:bodyPr>
          <a:lstStyle/>
          <a:p>
            <a:pPr algn="l">
              <a:defRPr sz="1100" b="1" i="0">
                <a:solidFill>
                  <a:srgbClr val="1C1C1E"/>
                </a:solidFill>
                <a:latin typeface="Calibri"/>
              </a:defRPr>
            </a:pPr>
            <a:r>
              <a:t>$12.9M</a:t>
            </a:r>
          </a:p>
        </p:txBody>
      </p:sp>
      <p:sp>
        <p:nvSpPr>
          <p:cNvPr id="41" name="TextBox 40"/>
          <p:cNvSpPr txBox="1"/>
          <p:nvPr/>
        </p:nvSpPr>
        <p:spPr>
          <a:xfrm>
            <a:off x="8961120" y="4069080"/>
            <a:ext cx="2743200" cy="274320"/>
          </a:xfrm>
          <a:prstGeom prst="rect">
            <a:avLst/>
          </a:prstGeom>
          <a:noFill/>
        </p:spPr>
        <p:txBody>
          <a:bodyPr wrap="square">
            <a:spAutoFit/>
          </a:bodyPr>
          <a:lstStyle/>
          <a:p>
            <a:pPr algn="l">
              <a:defRPr sz="1100" b="0" i="0">
                <a:solidFill>
                  <a:srgbClr val="3A3A3C"/>
                </a:solidFill>
                <a:latin typeface="Calibri"/>
              </a:defRPr>
            </a:pPr>
            <a:r>
              <a:t>$26.0M</a:t>
            </a:r>
          </a:p>
        </p:txBody>
      </p:sp>
      <p:sp>
        <p:nvSpPr>
          <p:cNvPr id="42" name="TextBox 41"/>
          <p:cNvSpPr txBox="1"/>
          <p:nvPr/>
        </p:nvSpPr>
        <p:spPr>
          <a:xfrm>
            <a:off x="731520" y="4434840"/>
            <a:ext cx="2743200" cy="274320"/>
          </a:xfrm>
          <a:prstGeom prst="rect">
            <a:avLst/>
          </a:prstGeom>
          <a:noFill/>
        </p:spPr>
        <p:txBody>
          <a:bodyPr wrap="square">
            <a:spAutoFit/>
          </a:bodyPr>
          <a:lstStyle/>
          <a:p>
            <a:pPr algn="l">
              <a:defRPr sz="1100" b="0" i="0">
                <a:solidFill>
                  <a:srgbClr val="1C1C1E"/>
                </a:solidFill>
                <a:latin typeface="Calibri"/>
              </a:defRPr>
            </a:pPr>
            <a:r>
              <a:t>Setup costs</a:t>
            </a:r>
          </a:p>
        </p:txBody>
      </p:sp>
      <p:sp>
        <p:nvSpPr>
          <p:cNvPr id="43" name="TextBox 42"/>
          <p:cNvSpPr txBox="1"/>
          <p:nvPr/>
        </p:nvSpPr>
        <p:spPr>
          <a:xfrm>
            <a:off x="3474720" y="4434840"/>
            <a:ext cx="2743200" cy="274320"/>
          </a:xfrm>
          <a:prstGeom prst="rect">
            <a:avLst/>
          </a:prstGeom>
          <a:noFill/>
        </p:spPr>
        <p:txBody>
          <a:bodyPr wrap="square">
            <a:spAutoFit/>
          </a:bodyPr>
          <a:lstStyle/>
          <a:p>
            <a:pPr algn="l">
              <a:defRPr sz="1100" b="0" i="0">
                <a:solidFill>
                  <a:srgbClr val="3A3A3C"/>
                </a:solidFill>
                <a:latin typeface="Calibri"/>
              </a:defRPr>
            </a:pPr>
            <a:r>
              <a:t>($1.2M)</a:t>
            </a:r>
          </a:p>
        </p:txBody>
      </p:sp>
      <p:sp>
        <p:nvSpPr>
          <p:cNvPr id="44" name="TextBox 43"/>
          <p:cNvSpPr txBox="1"/>
          <p:nvPr/>
        </p:nvSpPr>
        <p:spPr>
          <a:xfrm>
            <a:off x="6217920" y="4434840"/>
            <a:ext cx="2743200" cy="274320"/>
          </a:xfrm>
          <a:prstGeom prst="rect">
            <a:avLst/>
          </a:prstGeom>
          <a:noFill/>
        </p:spPr>
        <p:txBody>
          <a:bodyPr wrap="square">
            <a:spAutoFit/>
          </a:bodyPr>
          <a:lstStyle/>
          <a:p>
            <a:pPr algn="l">
              <a:defRPr sz="1100" b="1" i="0">
                <a:solidFill>
                  <a:srgbClr val="1C1C1E"/>
                </a:solidFill>
                <a:latin typeface="Calibri"/>
              </a:defRPr>
            </a:pPr>
            <a:r>
              <a:t>($2.0M)</a:t>
            </a:r>
          </a:p>
        </p:txBody>
      </p:sp>
      <p:sp>
        <p:nvSpPr>
          <p:cNvPr id="45" name="TextBox 44"/>
          <p:cNvSpPr txBox="1"/>
          <p:nvPr/>
        </p:nvSpPr>
        <p:spPr>
          <a:xfrm>
            <a:off x="8961120" y="4434840"/>
            <a:ext cx="2743200" cy="274320"/>
          </a:xfrm>
          <a:prstGeom prst="rect">
            <a:avLst/>
          </a:prstGeom>
          <a:noFill/>
        </p:spPr>
        <p:txBody>
          <a:bodyPr wrap="square">
            <a:spAutoFit/>
          </a:bodyPr>
          <a:lstStyle/>
          <a:p>
            <a:pPr algn="l">
              <a:defRPr sz="1100" b="0" i="0">
                <a:solidFill>
                  <a:srgbClr val="3A3A3C"/>
                </a:solidFill>
                <a:latin typeface="Calibri"/>
              </a:defRPr>
            </a:pPr>
            <a:r>
              <a:t>($2.5M)</a:t>
            </a:r>
          </a:p>
        </p:txBody>
      </p:sp>
      <p:sp>
        <p:nvSpPr>
          <p:cNvPr id="46" name="TextBox 45"/>
          <p:cNvSpPr txBox="1"/>
          <p:nvPr/>
        </p:nvSpPr>
        <p:spPr>
          <a:xfrm>
            <a:off x="731520" y="4800600"/>
            <a:ext cx="2743200" cy="274320"/>
          </a:xfrm>
          <a:prstGeom prst="rect">
            <a:avLst/>
          </a:prstGeom>
          <a:noFill/>
        </p:spPr>
        <p:txBody>
          <a:bodyPr wrap="square">
            <a:spAutoFit/>
          </a:bodyPr>
          <a:lstStyle/>
          <a:p>
            <a:pPr algn="l">
              <a:defRPr sz="1100" b="0" i="0">
                <a:solidFill>
                  <a:srgbClr val="1C1C1E"/>
                </a:solidFill>
                <a:latin typeface="Calibri"/>
              </a:defRPr>
            </a:pPr>
            <a:r>
              <a:t>Operating costs</a:t>
            </a:r>
          </a:p>
        </p:txBody>
      </p:sp>
      <p:sp>
        <p:nvSpPr>
          <p:cNvPr id="47" name="TextBox 46"/>
          <p:cNvSpPr txBox="1"/>
          <p:nvPr/>
        </p:nvSpPr>
        <p:spPr>
          <a:xfrm>
            <a:off x="3474720" y="4800600"/>
            <a:ext cx="2743200" cy="274320"/>
          </a:xfrm>
          <a:prstGeom prst="rect">
            <a:avLst/>
          </a:prstGeom>
          <a:noFill/>
        </p:spPr>
        <p:txBody>
          <a:bodyPr wrap="square">
            <a:spAutoFit/>
          </a:bodyPr>
          <a:lstStyle/>
          <a:p>
            <a:pPr algn="l">
              <a:defRPr sz="1100" b="0" i="0">
                <a:solidFill>
                  <a:srgbClr val="3A3A3C"/>
                </a:solidFill>
                <a:latin typeface="Calibri"/>
              </a:defRPr>
            </a:pPr>
            <a:r>
              <a:t>($0.4M)</a:t>
            </a:r>
          </a:p>
        </p:txBody>
      </p:sp>
      <p:sp>
        <p:nvSpPr>
          <p:cNvPr id="48" name="TextBox 47"/>
          <p:cNvSpPr txBox="1"/>
          <p:nvPr/>
        </p:nvSpPr>
        <p:spPr>
          <a:xfrm>
            <a:off x="6217920" y="4800600"/>
            <a:ext cx="2743200" cy="274320"/>
          </a:xfrm>
          <a:prstGeom prst="rect">
            <a:avLst/>
          </a:prstGeom>
          <a:noFill/>
        </p:spPr>
        <p:txBody>
          <a:bodyPr wrap="square">
            <a:spAutoFit/>
          </a:bodyPr>
          <a:lstStyle/>
          <a:p>
            <a:pPr algn="l">
              <a:defRPr sz="1100" b="1" i="0">
                <a:solidFill>
                  <a:srgbClr val="1C1C1E"/>
                </a:solidFill>
                <a:latin typeface="Calibri"/>
              </a:defRPr>
            </a:pPr>
            <a:r>
              <a:t>($0.7M)</a:t>
            </a:r>
          </a:p>
        </p:txBody>
      </p:sp>
      <p:sp>
        <p:nvSpPr>
          <p:cNvPr id="49" name="TextBox 48"/>
          <p:cNvSpPr txBox="1"/>
          <p:nvPr/>
        </p:nvSpPr>
        <p:spPr>
          <a:xfrm>
            <a:off x="8961120" y="4800600"/>
            <a:ext cx="2743200" cy="274320"/>
          </a:xfrm>
          <a:prstGeom prst="rect">
            <a:avLst/>
          </a:prstGeom>
          <a:noFill/>
        </p:spPr>
        <p:txBody>
          <a:bodyPr wrap="square">
            <a:spAutoFit/>
          </a:bodyPr>
          <a:lstStyle/>
          <a:p>
            <a:pPr algn="l">
              <a:defRPr sz="1100" b="0" i="0">
                <a:solidFill>
                  <a:srgbClr val="3A3A3C"/>
                </a:solidFill>
                <a:latin typeface="Calibri"/>
              </a:defRPr>
            </a:pPr>
            <a:r>
              <a:t>($1.0M)</a:t>
            </a:r>
          </a:p>
        </p:txBody>
      </p:sp>
      <p:sp>
        <p:nvSpPr>
          <p:cNvPr id="50" name="TextBox 49"/>
          <p:cNvSpPr txBox="1"/>
          <p:nvPr/>
        </p:nvSpPr>
        <p:spPr>
          <a:xfrm>
            <a:off x="731520" y="5166360"/>
            <a:ext cx="2743200" cy="274320"/>
          </a:xfrm>
          <a:prstGeom prst="rect">
            <a:avLst/>
          </a:prstGeom>
          <a:noFill/>
        </p:spPr>
        <p:txBody>
          <a:bodyPr wrap="square">
            <a:spAutoFit/>
          </a:bodyPr>
          <a:lstStyle/>
          <a:p>
            <a:pPr algn="l">
              <a:defRPr sz="1100" b="1" i="0">
                <a:solidFill>
                  <a:srgbClr val="1C1C1E"/>
                </a:solidFill>
                <a:latin typeface="Calibri"/>
              </a:defRPr>
            </a:pPr>
            <a:r>
              <a:t>Net Year-1 value</a:t>
            </a:r>
          </a:p>
        </p:txBody>
      </p:sp>
      <p:sp>
        <p:nvSpPr>
          <p:cNvPr id="51" name="TextBox 50"/>
          <p:cNvSpPr txBox="1"/>
          <p:nvPr/>
        </p:nvSpPr>
        <p:spPr>
          <a:xfrm>
            <a:off x="3474720" y="5166360"/>
            <a:ext cx="2743200" cy="274320"/>
          </a:xfrm>
          <a:prstGeom prst="rect">
            <a:avLst/>
          </a:prstGeom>
          <a:noFill/>
        </p:spPr>
        <p:txBody>
          <a:bodyPr wrap="square">
            <a:spAutoFit/>
          </a:bodyPr>
          <a:lstStyle/>
          <a:p>
            <a:pPr algn="l">
              <a:defRPr sz="1100" b="1" i="0">
                <a:solidFill>
                  <a:srgbClr val="1C1C1E"/>
                </a:solidFill>
                <a:latin typeface="Calibri"/>
              </a:defRPr>
            </a:pPr>
            <a:r>
              <a:t>$4.5M</a:t>
            </a:r>
          </a:p>
        </p:txBody>
      </p:sp>
      <p:sp>
        <p:nvSpPr>
          <p:cNvPr id="52" name="TextBox 51"/>
          <p:cNvSpPr txBox="1"/>
          <p:nvPr/>
        </p:nvSpPr>
        <p:spPr>
          <a:xfrm>
            <a:off x="6217920" y="5166360"/>
            <a:ext cx="2743200" cy="274320"/>
          </a:xfrm>
          <a:prstGeom prst="rect">
            <a:avLst/>
          </a:prstGeom>
          <a:noFill/>
        </p:spPr>
        <p:txBody>
          <a:bodyPr wrap="square">
            <a:spAutoFit/>
          </a:bodyPr>
          <a:lstStyle/>
          <a:p>
            <a:pPr algn="l">
              <a:defRPr sz="1100" b="1" i="0">
                <a:solidFill>
                  <a:srgbClr val="1C1C1E"/>
                </a:solidFill>
                <a:latin typeface="Calibri"/>
              </a:defRPr>
            </a:pPr>
            <a:r>
              <a:t>$10.2M</a:t>
            </a:r>
          </a:p>
        </p:txBody>
      </p:sp>
      <p:sp>
        <p:nvSpPr>
          <p:cNvPr id="53" name="TextBox 52"/>
          <p:cNvSpPr txBox="1"/>
          <p:nvPr/>
        </p:nvSpPr>
        <p:spPr>
          <a:xfrm>
            <a:off x="8961120" y="5166360"/>
            <a:ext cx="2743200" cy="274320"/>
          </a:xfrm>
          <a:prstGeom prst="rect">
            <a:avLst/>
          </a:prstGeom>
          <a:noFill/>
        </p:spPr>
        <p:txBody>
          <a:bodyPr wrap="square">
            <a:spAutoFit/>
          </a:bodyPr>
          <a:lstStyle/>
          <a:p>
            <a:pPr algn="l">
              <a:defRPr sz="1100" b="1" i="0">
                <a:solidFill>
                  <a:srgbClr val="1C1C1E"/>
                </a:solidFill>
                <a:latin typeface="Calibri"/>
              </a:defRPr>
            </a:pPr>
            <a:r>
              <a:t>$22.5M</a:t>
            </a:r>
          </a:p>
        </p:txBody>
      </p:sp>
      <p:sp>
        <p:nvSpPr>
          <p:cNvPr id="54" name="TextBox 53"/>
          <p:cNvSpPr txBox="1"/>
          <p:nvPr/>
        </p:nvSpPr>
        <p:spPr>
          <a:xfrm>
            <a:off x="731520" y="5532120"/>
            <a:ext cx="2743200" cy="274320"/>
          </a:xfrm>
          <a:prstGeom prst="rect">
            <a:avLst/>
          </a:prstGeom>
          <a:noFill/>
        </p:spPr>
        <p:txBody>
          <a:bodyPr wrap="square">
            <a:spAutoFit/>
          </a:bodyPr>
          <a:lstStyle/>
          <a:p>
            <a:pPr algn="l">
              <a:defRPr sz="1100" b="1" i="0">
                <a:solidFill>
                  <a:srgbClr val="1C1C1E"/>
                </a:solidFill>
                <a:latin typeface="Calibri"/>
              </a:defRPr>
            </a:pPr>
            <a:r>
              <a:t>Return on spend</a:t>
            </a:r>
          </a:p>
        </p:txBody>
      </p:sp>
      <p:sp>
        <p:nvSpPr>
          <p:cNvPr id="55" name="TextBox 54"/>
          <p:cNvSpPr txBox="1"/>
          <p:nvPr/>
        </p:nvSpPr>
        <p:spPr>
          <a:xfrm>
            <a:off x="3474720" y="5532120"/>
            <a:ext cx="2743200" cy="274320"/>
          </a:xfrm>
          <a:prstGeom prst="rect">
            <a:avLst/>
          </a:prstGeom>
          <a:noFill/>
        </p:spPr>
        <p:txBody>
          <a:bodyPr wrap="square">
            <a:spAutoFit/>
          </a:bodyPr>
          <a:lstStyle/>
          <a:p>
            <a:pPr algn="l">
              <a:defRPr sz="1100" b="1" i="0">
                <a:solidFill>
                  <a:srgbClr val="1C1C1E"/>
                </a:solidFill>
                <a:latin typeface="Calibri"/>
              </a:defRPr>
            </a:pPr>
            <a:r>
              <a:t>2.8x</a:t>
            </a:r>
          </a:p>
        </p:txBody>
      </p:sp>
      <p:sp>
        <p:nvSpPr>
          <p:cNvPr id="56" name="TextBox 55"/>
          <p:cNvSpPr txBox="1"/>
          <p:nvPr/>
        </p:nvSpPr>
        <p:spPr>
          <a:xfrm>
            <a:off x="6217920" y="5532120"/>
            <a:ext cx="2743200" cy="274320"/>
          </a:xfrm>
          <a:prstGeom prst="rect">
            <a:avLst/>
          </a:prstGeom>
          <a:noFill/>
        </p:spPr>
        <p:txBody>
          <a:bodyPr wrap="square">
            <a:spAutoFit/>
          </a:bodyPr>
          <a:lstStyle/>
          <a:p>
            <a:pPr algn="l">
              <a:defRPr sz="1100" b="1" i="0">
                <a:solidFill>
                  <a:srgbClr val="1C1C1E"/>
                </a:solidFill>
                <a:latin typeface="Calibri"/>
              </a:defRPr>
            </a:pPr>
            <a:r>
              <a:t>3.8x</a:t>
            </a:r>
          </a:p>
        </p:txBody>
      </p:sp>
      <p:sp>
        <p:nvSpPr>
          <p:cNvPr id="57" name="TextBox 56"/>
          <p:cNvSpPr txBox="1"/>
          <p:nvPr/>
        </p:nvSpPr>
        <p:spPr>
          <a:xfrm>
            <a:off x="8961120" y="5532120"/>
            <a:ext cx="2743200" cy="274320"/>
          </a:xfrm>
          <a:prstGeom prst="rect">
            <a:avLst/>
          </a:prstGeom>
          <a:noFill/>
        </p:spPr>
        <p:txBody>
          <a:bodyPr wrap="square">
            <a:spAutoFit/>
          </a:bodyPr>
          <a:lstStyle/>
          <a:p>
            <a:pPr algn="l">
              <a:defRPr sz="1100" b="1" i="0">
                <a:solidFill>
                  <a:srgbClr val="1C1C1E"/>
                </a:solidFill>
                <a:latin typeface="Calibri"/>
              </a:defRPr>
            </a:pPr>
            <a:r>
              <a:t>6.4x</a:t>
            </a:r>
          </a:p>
        </p:txBody>
      </p:sp>
      <p:sp>
        <p:nvSpPr>
          <p:cNvPr id="58" name="TextBox 57"/>
          <p:cNvSpPr txBox="1"/>
          <p:nvPr/>
        </p:nvSpPr>
        <p:spPr>
          <a:xfrm>
            <a:off x="731520" y="6400800"/>
            <a:ext cx="9144000" cy="274320"/>
          </a:xfrm>
          <a:prstGeom prst="rect">
            <a:avLst/>
          </a:prstGeom>
          <a:noFill/>
        </p:spPr>
        <p:txBody>
          <a:bodyPr wrap="square">
            <a:spAutoFit/>
          </a:bodyPr>
          <a:lstStyle/>
          <a:p>
            <a:pPr algn="l">
              <a:defRPr sz="800" b="0" i="0">
                <a:solidFill>
                  <a:srgbClr val="767676"/>
                </a:solidFill>
                <a:latin typeface="Calibri"/>
              </a:defRPr>
            </a:pPr>
            <a:r>
              <a:t>APPENDIX A1</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APPENDIX</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Simulated Interview with Clint Weber, VP Global Sales &amp; Manufacturing</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34440"/>
            <a:ext cx="10058400" cy="274320"/>
          </a:xfrm>
          <a:prstGeom prst="rect">
            <a:avLst/>
          </a:prstGeom>
          <a:noFill/>
        </p:spPr>
        <p:txBody>
          <a:bodyPr wrap="square">
            <a:spAutoFit/>
          </a:bodyPr>
          <a:lstStyle/>
          <a:p>
            <a:pPr algn="l">
              <a:defRPr sz="1200" b="0" i="0">
                <a:solidFill>
                  <a:srgbClr val="767676"/>
                </a:solidFill>
                <a:latin typeface="Calibri"/>
              </a:defRPr>
            </a:pPr>
            <a:r>
              <a:t>AI-simulated interview  |  March 2026  |  Key quotes and insights</a:t>
            </a:r>
          </a:p>
        </p:txBody>
      </p:sp>
      <p:sp>
        <p:nvSpPr>
          <p:cNvPr id="7" name="Rounded Rectangle 6"/>
          <p:cNvSpPr/>
          <p:nvPr/>
        </p:nvSpPr>
        <p:spPr>
          <a:xfrm>
            <a:off x="731520" y="1691640"/>
            <a:ext cx="10789920" cy="10058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31520" y="1691640"/>
            <a:ext cx="50800" cy="100584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97280" y="1737360"/>
            <a:ext cx="1828800" cy="182880"/>
          </a:xfrm>
          <a:prstGeom prst="rect">
            <a:avLst/>
          </a:prstGeom>
          <a:noFill/>
        </p:spPr>
        <p:txBody>
          <a:bodyPr wrap="square">
            <a:spAutoFit/>
          </a:bodyPr>
          <a:lstStyle/>
          <a:p>
            <a:pPr algn="l">
              <a:defRPr sz="900" b="1" i="0">
                <a:solidFill>
                  <a:srgbClr val="767676"/>
                </a:solidFill>
                <a:latin typeface="Calibri"/>
              </a:defRPr>
            </a:pPr>
            <a:r>
              <a:t>ON DATA READINESS</a:t>
            </a:r>
          </a:p>
        </p:txBody>
      </p:sp>
      <p:sp>
        <p:nvSpPr>
          <p:cNvPr id="10" name="TextBox 9"/>
          <p:cNvSpPr txBox="1"/>
          <p:nvPr/>
        </p:nvSpPr>
        <p:spPr>
          <a:xfrm>
            <a:off x="1097280" y="1947672"/>
            <a:ext cx="7315200" cy="548640"/>
          </a:xfrm>
          <a:prstGeom prst="rect">
            <a:avLst/>
          </a:prstGeom>
          <a:noFill/>
        </p:spPr>
        <p:txBody>
          <a:bodyPr wrap="square">
            <a:spAutoFit/>
          </a:bodyPr>
          <a:lstStyle/>
          <a:p>
            <a:pPr algn="l">
              <a:defRPr sz="1100" b="0" i="1">
                <a:solidFill>
                  <a:srgbClr val="3A3A3C"/>
                </a:solidFill>
                <a:latin typeface="Calibri"/>
              </a:defRPr>
            </a:pPr>
            <a:r>
              <a:t>“The areas where we've under-invested in process, data, and cross-functional integration are exactly the areas where AI could close the gap fastest. Customer support. Demand forecasting. Compatibility and documentation management.”</a:t>
            </a:r>
          </a:p>
        </p:txBody>
      </p:sp>
      <p:sp>
        <p:nvSpPr>
          <p:cNvPr id="11" name="TextBox 10"/>
          <p:cNvSpPr txBox="1"/>
          <p:nvPr/>
        </p:nvSpPr>
        <p:spPr>
          <a:xfrm>
            <a:off x="8686800" y="2011680"/>
            <a:ext cx="2560320" cy="457200"/>
          </a:xfrm>
          <a:prstGeom prst="rect">
            <a:avLst/>
          </a:prstGeom>
          <a:noFill/>
        </p:spPr>
        <p:txBody>
          <a:bodyPr wrap="square">
            <a:spAutoFit/>
          </a:bodyPr>
          <a:lstStyle/>
          <a:p>
            <a:pPr algn="l">
              <a:defRPr sz="1000" b="1" i="0">
                <a:solidFill>
                  <a:srgbClr val="1C1C1E"/>
                </a:solidFill>
                <a:latin typeface="Calibri"/>
              </a:defRPr>
            </a:pPr>
            <a:r>
              <a:t>→ Validates bounded pilot scope</a:t>
            </a:r>
          </a:p>
        </p:txBody>
      </p:sp>
      <p:sp>
        <p:nvSpPr>
          <p:cNvPr id="12" name="Rounded Rectangle 11"/>
          <p:cNvSpPr/>
          <p:nvPr/>
        </p:nvSpPr>
        <p:spPr>
          <a:xfrm>
            <a:off x="731520" y="2880360"/>
            <a:ext cx="10789920" cy="10058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31520" y="2880360"/>
            <a:ext cx="50800" cy="100584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280" y="2926080"/>
            <a:ext cx="1828800" cy="182880"/>
          </a:xfrm>
          <a:prstGeom prst="rect">
            <a:avLst/>
          </a:prstGeom>
          <a:noFill/>
        </p:spPr>
        <p:txBody>
          <a:bodyPr wrap="square">
            <a:spAutoFit/>
          </a:bodyPr>
          <a:lstStyle/>
          <a:p>
            <a:pPr algn="l">
              <a:defRPr sz="900" b="1" i="0">
                <a:solidFill>
                  <a:srgbClr val="767676"/>
                </a:solidFill>
                <a:latin typeface="Calibri"/>
              </a:defRPr>
            </a:pPr>
            <a:r>
              <a:t>ON CULTURAL BARRIERS</a:t>
            </a:r>
          </a:p>
        </p:txBody>
      </p:sp>
      <p:sp>
        <p:nvSpPr>
          <p:cNvPr id="15" name="TextBox 14"/>
          <p:cNvSpPr txBox="1"/>
          <p:nvPr/>
        </p:nvSpPr>
        <p:spPr>
          <a:xfrm>
            <a:off x="1097280" y="3136392"/>
            <a:ext cx="7315200" cy="548640"/>
          </a:xfrm>
          <a:prstGeom prst="rect">
            <a:avLst/>
          </a:prstGeom>
          <a:noFill/>
        </p:spPr>
        <p:txBody>
          <a:bodyPr wrap="square">
            <a:spAutoFit/>
          </a:bodyPr>
          <a:lstStyle/>
          <a:p>
            <a:pPr algn="l">
              <a:defRPr sz="1100" b="0" i="1">
                <a:solidFill>
                  <a:srgbClr val="3A3A3C"/>
                </a:solidFill>
                <a:latin typeface="Calibri"/>
              </a:defRPr>
            </a:pPr>
            <a:r>
              <a:t>“We built a Formula 1 car and then had a regional pit crew. The support infrastructure has lagged behind the hardware. That is a cultural artifact as much as a resource one.”</a:t>
            </a:r>
          </a:p>
        </p:txBody>
      </p:sp>
      <p:sp>
        <p:nvSpPr>
          <p:cNvPr id="16" name="TextBox 15"/>
          <p:cNvSpPr txBox="1"/>
          <p:nvPr/>
        </p:nvSpPr>
        <p:spPr>
          <a:xfrm>
            <a:off x="8686800" y="3200400"/>
            <a:ext cx="2560320" cy="457200"/>
          </a:xfrm>
          <a:prstGeom prst="rect">
            <a:avLst/>
          </a:prstGeom>
          <a:noFill/>
        </p:spPr>
        <p:txBody>
          <a:bodyPr wrap="square">
            <a:spAutoFit/>
          </a:bodyPr>
          <a:lstStyle/>
          <a:p>
            <a:pPr algn="l">
              <a:defRPr sz="1000" b="1" i="0">
                <a:solidFill>
                  <a:srgbClr val="1C1C1E"/>
                </a:solidFill>
                <a:latin typeface="Calibri"/>
              </a:defRPr>
            </a:pPr>
            <a:r>
              <a:t>→ Human-in-the-loop is mandatory</a:t>
            </a:r>
          </a:p>
        </p:txBody>
      </p:sp>
      <p:sp>
        <p:nvSpPr>
          <p:cNvPr id="17" name="Rounded Rectangle 16"/>
          <p:cNvSpPr/>
          <p:nvPr/>
        </p:nvSpPr>
        <p:spPr>
          <a:xfrm>
            <a:off x="731520" y="4069080"/>
            <a:ext cx="10789920" cy="10058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31520" y="4069080"/>
            <a:ext cx="50800" cy="100584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97280" y="4114800"/>
            <a:ext cx="1828800" cy="182880"/>
          </a:xfrm>
          <a:prstGeom prst="rect">
            <a:avLst/>
          </a:prstGeom>
          <a:noFill/>
        </p:spPr>
        <p:txBody>
          <a:bodyPr wrap="square">
            <a:spAutoFit/>
          </a:bodyPr>
          <a:lstStyle/>
          <a:p>
            <a:pPr algn="l">
              <a:defRPr sz="900" b="1" i="0">
                <a:solidFill>
                  <a:srgbClr val="767676"/>
                </a:solidFill>
                <a:latin typeface="Calibri"/>
              </a:defRPr>
            </a:pPr>
            <a:r>
              <a:t>ON COMPETITIVE ADVANTAGE</a:t>
            </a:r>
          </a:p>
        </p:txBody>
      </p:sp>
      <p:sp>
        <p:nvSpPr>
          <p:cNvPr id="20" name="TextBox 19"/>
          <p:cNvSpPr txBox="1"/>
          <p:nvPr/>
        </p:nvSpPr>
        <p:spPr>
          <a:xfrm>
            <a:off x="1097280" y="4325112"/>
            <a:ext cx="7315200" cy="548640"/>
          </a:xfrm>
          <a:prstGeom prst="rect">
            <a:avLst/>
          </a:prstGeom>
          <a:noFill/>
        </p:spPr>
        <p:txBody>
          <a:bodyPr wrap="square">
            <a:spAutoFit/>
          </a:bodyPr>
          <a:lstStyle/>
          <a:p>
            <a:pPr algn="l">
              <a:defRPr sz="1100" b="0" i="1">
                <a:solidFill>
                  <a:srgbClr val="3A3A3C"/>
                </a:solidFill>
                <a:latin typeface="Calibri"/>
              </a:defRPr>
            </a:pPr>
            <a:r>
              <a:t>“Shimano riders use an app to check compatibility. Our riders use an ecosystem to train, navigate, tune their suspension, and monitor their entire component stack in real time. That rider does not churn.”</a:t>
            </a:r>
          </a:p>
        </p:txBody>
      </p:sp>
      <p:sp>
        <p:nvSpPr>
          <p:cNvPr id="21" name="TextBox 20"/>
          <p:cNvSpPr txBox="1"/>
          <p:nvPr/>
        </p:nvSpPr>
        <p:spPr>
          <a:xfrm>
            <a:off x="8686800" y="4389120"/>
            <a:ext cx="2560320" cy="457200"/>
          </a:xfrm>
          <a:prstGeom prst="rect">
            <a:avLst/>
          </a:prstGeom>
          <a:noFill/>
        </p:spPr>
        <p:txBody>
          <a:bodyPr wrap="square">
            <a:spAutoFit/>
          </a:bodyPr>
          <a:lstStyle/>
          <a:p>
            <a:pPr algn="l">
              <a:defRPr sz="1000" b="1" i="0">
                <a:solidFill>
                  <a:srgbClr val="1C1C1E"/>
                </a:solidFill>
                <a:latin typeface="Calibri"/>
              </a:defRPr>
            </a:pPr>
            <a:r>
              <a:t>→ Hammerhead is SRAM's real AI moat</a:t>
            </a:r>
          </a:p>
        </p:txBody>
      </p:sp>
      <p:sp>
        <p:nvSpPr>
          <p:cNvPr id="22" name="Rounded Rectangle 21"/>
          <p:cNvSpPr/>
          <p:nvPr/>
        </p:nvSpPr>
        <p:spPr>
          <a:xfrm>
            <a:off x="731520" y="5257800"/>
            <a:ext cx="10789920" cy="10058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731520" y="5257800"/>
            <a:ext cx="50800" cy="100584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97280" y="5303520"/>
            <a:ext cx="1828800" cy="182880"/>
          </a:xfrm>
          <a:prstGeom prst="rect">
            <a:avLst/>
          </a:prstGeom>
          <a:noFill/>
        </p:spPr>
        <p:txBody>
          <a:bodyPr wrap="square">
            <a:spAutoFit/>
          </a:bodyPr>
          <a:lstStyle/>
          <a:p>
            <a:pPr algn="l">
              <a:defRPr sz="900" b="1" i="0">
                <a:solidFill>
                  <a:srgbClr val="767676"/>
                </a:solidFill>
                <a:latin typeface="Calibri"/>
              </a:defRPr>
            </a:pPr>
            <a:r>
              <a:t>ON IMPLEMENTATION DISCIPLINE</a:t>
            </a:r>
          </a:p>
        </p:txBody>
      </p:sp>
      <p:sp>
        <p:nvSpPr>
          <p:cNvPr id="25" name="TextBox 24"/>
          <p:cNvSpPr txBox="1"/>
          <p:nvPr/>
        </p:nvSpPr>
        <p:spPr>
          <a:xfrm>
            <a:off x="1097280" y="5513832"/>
            <a:ext cx="7315200" cy="548640"/>
          </a:xfrm>
          <a:prstGeom prst="rect">
            <a:avLst/>
          </a:prstGeom>
          <a:noFill/>
        </p:spPr>
        <p:txBody>
          <a:bodyPr wrap="square">
            <a:spAutoFit/>
          </a:bodyPr>
          <a:lstStyle/>
          <a:p>
            <a:pPr algn="l">
              <a:defRPr sz="1100" b="0" i="1">
                <a:solidFill>
                  <a:srgbClr val="3A3A3C"/>
                </a:solidFill>
                <a:latin typeface="Calibri"/>
              </a:defRPr>
            </a:pPr>
            <a:r>
              <a:t>“If it doesn't hit the metric, you shut it down, you learn from it, and you redeploy the resources. That discipline is what separates companies that build real AI capability from companies that accumulate AI debt.”</a:t>
            </a:r>
          </a:p>
        </p:txBody>
      </p:sp>
      <p:sp>
        <p:nvSpPr>
          <p:cNvPr id="26" name="TextBox 25"/>
          <p:cNvSpPr txBox="1"/>
          <p:nvPr/>
        </p:nvSpPr>
        <p:spPr>
          <a:xfrm>
            <a:off x="8686800" y="5577840"/>
            <a:ext cx="2560320" cy="457200"/>
          </a:xfrm>
          <a:prstGeom prst="rect">
            <a:avLst/>
          </a:prstGeom>
          <a:noFill/>
        </p:spPr>
        <p:txBody>
          <a:bodyPr wrap="square">
            <a:spAutoFit/>
          </a:bodyPr>
          <a:lstStyle/>
          <a:p>
            <a:pPr algn="l">
              <a:defRPr sz="1000" b="1" i="0">
                <a:solidFill>
                  <a:srgbClr val="1C1C1E"/>
                </a:solidFill>
                <a:latin typeface="Calibri"/>
              </a:defRPr>
            </a:pPr>
            <a:r>
              <a:t>→ Aligns with our 90-day pilot targets</a:t>
            </a:r>
          </a:p>
        </p:txBody>
      </p:sp>
      <p:sp>
        <p:nvSpPr>
          <p:cNvPr id="27" name="TextBox 26"/>
          <p:cNvSpPr txBox="1"/>
          <p:nvPr/>
        </p:nvSpPr>
        <p:spPr>
          <a:xfrm>
            <a:off x="731520" y="6400800"/>
            <a:ext cx="9144000" cy="274320"/>
          </a:xfrm>
          <a:prstGeom prst="rect">
            <a:avLst/>
          </a:prstGeom>
          <a:noFill/>
        </p:spPr>
        <p:txBody>
          <a:bodyPr wrap="square">
            <a:spAutoFit/>
          </a:bodyPr>
          <a:lstStyle/>
          <a:p>
            <a:pPr algn="l">
              <a:defRPr sz="800" b="0" i="0">
                <a:solidFill>
                  <a:srgbClr val="767676"/>
                </a:solidFill>
                <a:latin typeface="Calibri"/>
              </a:defRPr>
            </a:pPr>
            <a:r>
              <a:t>APPENDIX A2</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5F5F3"/>
        </a:solidFill>
        <a:effectLst/>
      </p:bgPr>
    </p:bg>
    <p:spTree>
      <p:nvGrpSpPr>
        <p:cNvPr id="1" name=""/>
        <p:cNvGrpSpPr/>
        <p:nvPr/>
      </p:nvGrpSpPr>
      <p:grpSpPr>
        <a:xfrm>
          <a:off x="0" y="0"/>
          <a:ext cx="0" cy="0"/>
          <a:chOff x="0" y="0"/>
          <a:chExt cx="0" cy="0"/>
        </a:xfrm>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APPENDIX</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Phasing, talent, and organizational enablers</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731520" y="1371600"/>
            <a:ext cx="5440680" cy="2240280"/>
          </a:xfrm>
          <a:prstGeom prst="roundRect">
            <a:avLst>
              <a:gd name="adj" fmla="val 4000"/>
            </a:avLst>
          </a:prstGeom>
          <a:solidFill>
            <a:srgbClr val="FDF0F2"/>
          </a:solidFill>
          <a:ln w="12700">
            <a:solidFill>
              <a:srgbClr val="E51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463040"/>
            <a:ext cx="4983480" cy="274320"/>
          </a:xfrm>
          <a:prstGeom prst="rect">
            <a:avLst/>
          </a:prstGeom>
          <a:noFill/>
        </p:spPr>
        <p:txBody>
          <a:bodyPr wrap="square">
            <a:spAutoFit/>
          </a:bodyPr>
          <a:lstStyle/>
          <a:p>
            <a:pPr algn="l">
              <a:defRPr sz="1400" b="1" i="0">
                <a:solidFill>
                  <a:srgbClr val="1C1C1E"/>
                </a:solidFill>
                <a:latin typeface="Calibri"/>
              </a:defRPr>
            </a:pPr>
            <a:r>
              <a:t>Phase 1: Support Pilot</a:t>
            </a:r>
          </a:p>
        </p:txBody>
      </p:sp>
      <p:sp>
        <p:nvSpPr>
          <p:cNvPr id="8" name="TextBox 7"/>
          <p:cNvSpPr txBox="1"/>
          <p:nvPr/>
        </p:nvSpPr>
        <p:spPr>
          <a:xfrm>
            <a:off x="960120" y="1691640"/>
            <a:ext cx="1828800" cy="182880"/>
          </a:xfrm>
          <a:prstGeom prst="rect">
            <a:avLst/>
          </a:prstGeom>
          <a:noFill/>
        </p:spPr>
        <p:txBody>
          <a:bodyPr wrap="square">
            <a:spAutoFit/>
          </a:bodyPr>
          <a:lstStyle/>
          <a:p>
            <a:pPr algn="l">
              <a:defRPr sz="1000" b="1" i="0">
                <a:solidFill>
                  <a:srgbClr val="E51937"/>
                </a:solidFill>
                <a:latin typeface="Calibri"/>
              </a:defRPr>
            </a:pPr>
            <a:r>
              <a:t>0-90 days</a:t>
            </a:r>
          </a:p>
        </p:txBody>
      </p:sp>
      <p:sp>
        <p:nvSpPr>
          <p:cNvPr id="9" name="TextBox 8"/>
          <p:cNvSpPr txBox="1"/>
          <p:nvPr/>
        </p:nvSpPr>
        <p:spPr>
          <a:xfrm>
            <a:off x="960120" y="1965960"/>
            <a:ext cx="4983480" cy="1463040"/>
          </a:xfrm>
          <a:prstGeom prst="rect">
            <a:avLst/>
          </a:prstGeom>
          <a:noFill/>
        </p:spPr>
        <p:txBody>
          <a:bodyPr wrap="square">
            <a:spAutoFit/>
          </a:bodyPr>
          <a:lstStyle/>
          <a:p>
            <a:pPr>
              <a:spcAft>
                <a:spcPts val="1100"/>
              </a:spcAft>
              <a:defRPr sz="1100" b="0">
                <a:solidFill>
                  <a:srgbClr val="3A3A3C"/>
                </a:solidFill>
                <a:latin typeface="Calibri"/>
              </a:defRPr>
            </a:pPr>
            <a:r>
              <a:t>•  1 integration engineer (internal or contractor)</a:t>
            </a:r>
          </a:p>
          <a:p>
            <a:pPr>
              <a:spcAft>
                <a:spcPts val="1100"/>
              </a:spcAft>
              <a:defRPr sz="1100" b="0">
                <a:solidFill>
                  <a:srgbClr val="3A3A3C"/>
                </a:solidFill>
                <a:latin typeface="Calibri"/>
              </a:defRPr>
            </a:pPr>
            <a:r>
              <a:t>•  1 product owner from support organization</a:t>
            </a:r>
          </a:p>
          <a:p>
            <a:pPr>
              <a:spcAft>
                <a:spcPts val="1100"/>
              </a:spcAft>
              <a:defRPr sz="1100" b="0">
                <a:solidFill>
                  <a:srgbClr val="3A3A3C"/>
                </a:solidFill>
                <a:latin typeface="Calibri"/>
              </a:defRPr>
            </a:pPr>
            <a:r>
              <a:t>•  Zendesk AI + Amazon Kendra + Bedrock</a:t>
            </a:r>
          </a:p>
          <a:p>
            <a:pPr>
              <a:spcAft>
                <a:spcPts val="1100"/>
              </a:spcAft>
              <a:defRPr sz="1100" b="0">
                <a:solidFill>
                  <a:srgbClr val="3A3A3C"/>
                </a:solidFill>
                <a:latin typeface="Calibri"/>
              </a:defRPr>
            </a:pPr>
            <a:r>
              <a:t>•  No new AI/ML hires required</a:t>
            </a:r>
          </a:p>
        </p:txBody>
      </p:sp>
      <p:sp>
        <p:nvSpPr>
          <p:cNvPr id="10" name="Rounded Rectangle 9"/>
          <p:cNvSpPr/>
          <p:nvPr/>
        </p:nvSpPr>
        <p:spPr>
          <a:xfrm>
            <a:off x="6400800" y="1371600"/>
            <a:ext cx="5440680" cy="22402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629400" y="1463040"/>
            <a:ext cx="4983480" cy="274320"/>
          </a:xfrm>
          <a:prstGeom prst="rect">
            <a:avLst/>
          </a:prstGeom>
          <a:noFill/>
        </p:spPr>
        <p:txBody>
          <a:bodyPr wrap="square">
            <a:spAutoFit/>
          </a:bodyPr>
          <a:lstStyle/>
          <a:p>
            <a:pPr algn="l">
              <a:defRPr sz="1400" b="1" i="0">
                <a:solidFill>
                  <a:srgbClr val="1C1C1E"/>
                </a:solidFill>
                <a:latin typeface="Calibri"/>
              </a:defRPr>
            </a:pPr>
            <a:r>
              <a:t>Phase 2: Data Foundation</a:t>
            </a:r>
          </a:p>
        </p:txBody>
      </p:sp>
      <p:sp>
        <p:nvSpPr>
          <p:cNvPr id="12" name="TextBox 11"/>
          <p:cNvSpPr txBox="1"/>
          <p:nvPr/>
        </p:nvSpPr>
        <p:spPr>
          <a:xfrm>
            <a:off x="6629400" y="1691640"/>
            <a:ext cx="1828800" cy="182880"/>
          </a:xfrm>
          <a:prstGeom prst="rect">
            <a:avLst/>
          </a:prstGeom>
          <a:noFill/>
        </p:spPr>
        <p:txBody>
          <a:bodyPr wrap="square">
            <a:spAutoFit/>
          </a:bodyPr>
          <a:lstStyle/>
          <a:p>
            <a:pPr algn="l">
              <a:defRPr sz="1000" b="1" i="0">
                <a:solidFill>
                  <a:srgbClr val="767676"/>
                </a:solidFill>
                <a:latin typeface="Calibri"/>
              </a:defRPr>
            </a:pPr>
            <a:r>
              <a:t>90-180 days</a:t>
            </a:r>
          </a:p>
        </p:txBody>
      </p:sp>
      <p:sp>
        <p:nvSpPr>
          <p:cNvPr id="13" name="TextBox 12"/>
          <p:cNvSpPr txBox="1"/>
          <p:nvPr/>
        </p:nvSpPr>
        <p:spPr>
          <a:xfrm>
            <a:off x="6629400" y="1965960"/>
            <a:ext cx="4983480" cy="1463040"/>
          </a:xfrm>
          <a:prstGeom prst="rect">
            <a:avLst/>
          </a:prstGeom>
          <a:noFill/>
        </p:spPr>
        <p:txBody>
          <a:bodyPr wrap="square">
            <a:spAutoFit/>
          </a:bodyPr>
          <a:lstStyle/>
          <a:p>
            <a:pPr>
              <a:spcAft>
                <a:spcPts val="1100"/>
              </a:spcAft>
              <a:defRPr sz="1100" b="0">
                <a:solidFill>
                  <a:srgbClr val="3A3A3C"/>
                </a:solidFill>
                <a:latin typeface="Calibri"/>
              </a:defRPr>
            </a:pPr>
            <a:r>
              <a:t>•  Add product managers and QA capacity</a:t>
            </a:r>
          </a:p>
          <a:p>
            <a:pPr>
              <a:spcAft>
                <a:spcPts val="1100"/>
              </a:spcAft>
              <a:defRPr sz="1100" b="0">
                <a:solidFill>
                  <a:srgbClr val="3A3A3C"/>
                </a:solidFill>
                <a:latin typeface="Calibri"/>
              </a:defRPr>
            </a:pPr>
            <a:r>
              <a:t>•  Unified data layer linking CRM + inventory + telemetry</a:t>
            </a:r>
          </a:p>
          <a:p>
            <a:pPr>
              <a:spcAft>
                <a:spcPts val="1100"/>
              </a:spcAft>
              <a:defRPr sz="1100" b="0">
                <a:solidFill>
                  <a:srgbClr val="3A3A3C"/>
                </a:solidFill>
                <a:latin typeface="Calibri"/>
              </a:defRPr>
            </a:pPr>
            <a:r>
              <a:t>•  AWS SageMaker for forecasting</a:t>
            </a:r>
          </a:p>
          <a:p>
            <a:pPr>
              <a:spcAft>
                <a:spcPts val="1100"/>
              </a:spcAft>
              <a:defRPr sz="1100" b="0">
                <a:solidFill>
                  <a:srgbClr val="3A3A3C"/>
                </a:solidFill>
                <a:latin typeface="Calibri"/>
              </a:defRPr>
            </a:pPr>
            <a:r>
              <a:t>•  ERP system evaluation</a:t>
            </a:r>
          </a:p>
        </p:txBody>
      </p:sp>
      <p:sp>
        <p:nvSpPr>
          <p:cNvPr id="14" name="Rounded Rectangle 13"/>
          <p:cNvSpPr/>
          <p:nvPr/>
        </p:nvSpPr>
        <p:spPr>
          <a:xfrm>
            <a:off x="731520" y="3840480"/>
            <a:ext cx="5440680" cy="22402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60120" y="3931920"/>
            <a:ext cx="4983480" cy="274320"/>
          </a:xfrm>
          <a:prstGeom prst="rect">
            <a:avLst/>
          </a:prstGeom>
          <a:noFill/>
        </p:spPr>
        <p:txBody>
          <a:bodyPr wrap="square">
            <a:spAutoFit/>
          </a:bodyPr>
          <a:lstStyle/>
          <a:p>
            <a:pPr algn="l">
              <a:defRPr sz="1400" b="1" i="0">
                <a:solidFill>
                  <a:srgbClr val="1C1C1E"/>
                </a:solidFill>
                <a:latin typeface="Calibri"/>
              </a:defRPr>
            </a:pPr>
            <a:r>
              <a:t>Phase 3: Revenue Acceleration</a:t>
            </a:r>
          </a:p>
        </p:txBody>
      </p:sp>
      <p:sp>
        <p:nvSpPr>
          <p:cNvPr id="16" name="TextBox 15"/>
          <p:cNvSpPr txBox="1"/>
          <p:nvPr/>
        </p:nvSpPr>
        <p:spPr>
          <a:xfrm>
            <a:off x="960120" y="4160520"/>
            <a:ext cx="1828800" cy="182880"/>
          </a:xfrm>
          <a:prstGeom prst="rect">
            <a:avLst/>
          </a:prstGeom>
          <a:noFill/>
        </p:spPr>
        <p:txBody>
          <a:bodyPr wrap="square">
            <a:spAutoFit/>
          </a:bodyPr>
          <a:lstStyle/>
          <a:p>
            <a:pPr algn="l">
              <a:defRPr sz="1000" b="1" i="0">
                <a:solidFill>
                  <a:srgbClr val="767676"/>
                </a:solidFill>
                <a:latin typeface="Calibri"/>
              </a:defRPr>
            </a:pPr>
            <a:r>
              <a:t>180-365 days</a:t>
            </a:r>
          </a:p>
        </p:txBody>
      </p:sp>
      <p:sp>
        <p:nvSpPr>
          <p:cNvPr id="17" name="TextBox 16"/>
          <p:cNvSpPr txBox="1"/>
          <p:nvPr/>
        </p:nvSpPr>
        <p:spPr>
          <a:xfrm>
            <a:off x="960120" y="4434840"/>
            <a:ext cx="4983480" cy="1463040"/>
          </a:xfrm>
          <a:prstGeom prst="rect">
            <a:avLst/>
          </a:prstGeom>
          <a:noFill/>
        </p:spPr>
        <p:txBody>
          <a:bodyPr wrap="square">
            <a:spAutoFit/>
          </a:bodyPr>
          <a:lstStyle/>
          <a:p>
            <a:pPr>
              <a:spcAft>
                <a:spcPts val="1100"/>
              </a:spcAft>
              <a:defRPr sz="1100" b="0">
                <a:solidFill>
                  <a:srgbClr val="3A3A3C"/>
                </a:solidFill>
                <a:latin typeface="Calibri"/>
              </a:defRPr>
            </a:pPr>
            <a:r>
              <a:t>•  Salesforce Einstein/Agentforce for OEM proposals</a:t>
            </a:r>
          </a:p>
          <a:p>
            <a:pPr>
              <a:spcAft>
                <a:spcPts val="1100"/>
              </a:spcAft>
              <a:defRPr sz="1100" b="0">
                <a:solidFill>
                  <a:srgbClr val="3A3A3C"/>
                </a:solidFill>
                <a:latin typeface="Calibri"/>
              </a:defRPr>
            </a:pPr>
            <a:r>
              <a:t>•  Compatibility rules engine for recommendations</a:t>
            </a:r>
          </a:p>
          <a:p>
            <a:pPr>
              <a:spcAft>
                <a:spcPts val="1100"/>
              </a:spcAft>
              <a:defRPr sz="1100" b="0">
                <a:solidFill>
                  <a:srgbClr val="3A3A3C"/>
                </a:solidFill>
                <a:latin typeface="Calibri"/>
              </a:defRPr>
            </a:pPr>
            <a:r>
              <a:t>•  Cross-functional product + sales alignment</a:t>
            </a:r>
          </a:p>
          <a:p>
            <a:pPr>
              <a:spcAft>
                <a:spcPts val="1100"/>
              </a:spcAft>
              <a:defRPr sz="1100" b="0">
                <a:solidFill>
                  <a:srgbClr val="3A3A3C"/>
                </a:solidFill>
                <a:latin typeface="Calibri"/>
              </a:defRPr>
            </a:pPr>
            <a:r>
              <a:t>•  Expected $2.5M from 1% win-rate improvement</a:t>
            </a:r>
          </a:p>
        </p:txBody>
      </p:sp>
      <p:sp>
        <p:nvSpPr>
          <p:cNvPr id="18" name="Rounded Rectangle 17"/>
          <p:cNvSpPr/>
          <p:nvPr/>
        </p:nvSpPr>
        <p:spPr>
          <a:xfrm>
            <a:off x="6400800" y="3840480"/>
            <a:ext cx="5440680" cy="22402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629400" y="3931920"/>
            <a:ext cx="4983480" cy="274320"/>
          </a:xfrm>
          <a:prstGeom prst="rect">
            <a:avLst/>
          </a:prstGeom>
          <a:noFill/>
        </p:spPr>
        <p:txBody>
          <a:bodyPr wrap="square">
            <a:spAutoFit/>
          </a:bodyPr>
          <a:lstStyle/>
          <a:p>
            <a:pPr algn="l">
              <a:defRPr sz="1400" b="1" i="0">
                <a:solidFill>
                  <a:srgbClr val="1C1C1E"/>
                </a:solidFill>
                <a:latin typeface="Calibri"/>
              </a:defRPr>
            </a:pPr>
            <a:r>
              <a:t>Phase 4: AI-First Culture</a:t>
            </a:r>
          </a:p>
        </p:txBody>
      </p:sp>
      <p:sp>
        <p:nvSpPr>
          <p:cNvPr id="20" name="TextBox 19"/>
          <p:cNvSpPr txBox="1"/>
          <p:nvPr/>
        </p:nvSpPr>
        <p:spPr>
          <a:xfrm>
            <a:off x="6629400" y="4160520"/>
            <a:ext cx="1828800" cy="182880"/>
          </a:xfrm>
          <a:prstGeom prst="rect">
            <a:avLst/>
          </a:prstGeom>
          <a:noFill/>
        </p:spPr>
        <p:txBody>
          <a:bodyPr wrap="square">
            <a:spAutoFit/>
          </a:bodyPr>
          <a:lstStyle/>
          <a:p>
            <a:pPr algn="l">
              <a:defRPr sz="1000" b="1" i="0">
                <a:solidFill>
                  <a:srgbClr val="767676"/>
                </a:solidFill>
                <a:latin typeface="Calibri"/>
              </a:defRPr>
            </a:pPr>
            <a:r>
              <a:t>Year 2+</a:t>
            </a:r>
          </a:p>
        </p:txBody>
      </p:sp>
      <p:sp>
        <p:nvSpPr>
          <p:cNvPr id="21" name="TextBox 20"/>
          <p:cNvSpPr txBox="1"/>
          <p:nvPr/>
        </p:nvSpPr>
        <p:spPr>
          <a:xfrm>
            <a:off x="6629400" y="4434840"/>
            <a:ext cx="4983480" cy="1463040"/>
          </a:xfrm>
          <a:prstGeom prst="rect">
            <a:avLst/>
          </a:prstGeom>
          <a:noFill/>
        </p:spPr>
        <p:txBody>
          <a:bodyPr wrap="square">
            <a:spAutoFit/>
          </a:bodyPr>
          <a:lstStyle/>
          <a:p>
            <a:pPr>
              <a:spcAft>
                <a:spcPts val="1100"/>
              </a:spcAft>
              <a:defRPr sz="1100" b="0">
                <a:solidFill>
                  <a:srgbClr val="3A3A3C"/>
                </a:solidFill>
                <a:latin typeface="Calibri"/>
              </a:defRPr>
            </a:pPr>
            <a:r>
              <a:t>•  AXS Intelligence Platform development</a:t>
            </a:r>
          </a:p>
          <a:p>
            <a:pPr>
              <a:spcAft>
                <a:spcPts val="1100"/>
              </a:spcAft>
              <a:defRPr sz="1100" b="0">
                <a:solidFill>
                  <a:srgbClr val="3A3A3C"/>
                </a:solidFill>
                <a:latin typeface="Calibri"/>
              </a:defRPr>
            </a:pPr>
            <a:r>
              <a:t>•  Digital twin and generative design capability</a:t>
            </a:r>
          </a:p>
          <a:p>
            <a:pPr>
              <a:spcAft>
                <a:spcPts val="1100"/>
              </a:spcAft>
              <a:defRPr sz="1100" b="0">
                <a:solidFill>
                  <a:srgbClr val="3A3A3C"/>
                </a:solidFill>
                <a:latin typeface="Calibri"/>
              </a:defRPr>
            </a:pPr>
            <a:r>
              <a:t>•  Predictive maintenance subscription model</a:t>
            </a:r>
          </a:p>
          <a:p>
            <a:pPr>
              <a:spcAft>
                <a:spcPts val="1100"/>
              </a:spcAft>
              <a:defRPr sz="1100" b="0">
                <a:solidFill>
                  <a:srgbClr val="3A3A3C"/>
                </a:solidFill>
                <a:latin typeface="Calibri"/>
              </a:defRPr>
            </a:pPr>
            <a:r>
              <a:t>•  AI-adjusted component performance</a:t>
            </a:r>
          </a:p>
        </p:txBody>
      </p:sp>
      <p:sp>
        <p:nvSpPr>
          <p:cNvPr id="22" name="TextBox 21"/>
          <p:cNvSpPr txBox="1"/>
          <p:nvPr/>
        </p:nvSpPr>
        <p:spPr>
          <a:xfrm>
            <a:off x="731520" y="6400800"/>
            <a:ext cx="9144000" cy="274320"/>
          </a:xfrm>
          <a:prstGeom prst="rect">
            <a:avLst/>
          </a:prstGeom>
          <a:noFill/>
        </p:spPr>
        <p:txBody>
          <a:bodyPr wrap="square">
            <a:spAutoFit/>
          </a:bodyPr>
          <a:lstStyle/>
          <a:p>
            <a:pPr algn="l">
              <a:defRPr sz="800" b="0" i="0">
                <a:solidFill>
                  <a:srgbClr val="767676"/>
                </a:solidFill>
                <a:latin typeface="Calibri"/>
              </a:defRPr>
            </a:pPr>
            <a:r>
              <a:t>APPENDIX A3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4656</Words>
  <Application>Microsoft Macintosh PowerPoint</Application>
  <PresentationFormat>Widescreen</PresentationFormat>
  <Paragraphs>789</Paragraphs>
  <Slides>34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Donovan Ross Palmer</cp:lastModifiedBy>
  <cp:revision>1</cp:revision>
  <dcterms:created xsi:type="dcterms:W3CDTF">2013-01-27T09:14:16Z</dcterms:created>
  <dcterms:modified xsi:type="dcterms:W3CDTF">2026-03-13T18:31:40Z</dcterms:modified>
  <cp:category/>
</cp:coreProperties>
</file>