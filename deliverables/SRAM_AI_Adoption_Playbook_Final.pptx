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18575D-488F-32FC-2A5C-497681AB74B1}" name="Edward Kreienberg" initials="EK" userId="S::sxv7782@ads.northwestern.edu::535254a2-0a5e-43af-bfa0-f1a29775a1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2743200" cy="3533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2194560"/>
            <a:ext cx="109728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40"/>
              </a:spcAft>
              <a:defRPr sz="4400" b="1">
                <a:solidFill>
                  <a:srgbClr val="1C1C1E"/>
                </a:solidFill>
                <a:latin typeface="Calibri"/>
              </a:defRPr>
            </a:pPr>
            <a:r>
              <a:rPr dirty="0"/>
              <a:t>SRAM LLC</a:t>
            </a:r>
          </a:p>
          <a:p>
            <a:pPr>
              <a:spcAft>
                <a:spcPts val="1560"/>
              </a:spcAft>
              <a:defRPr sz="2600" b="0">
                <a:solidFill>
                  <a:srgbClr val="767676"/>
                </a:solidFill>
                <a:latin typeface="Calibri"/>
              </a:defRPr>
            </a:pPr>
            <a:r>
              <a:rPr dirty="0"/>
              <a:t>AI Adoption Playbook</a:t>
            </a:r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rPr dirty="0"/>
              <a:t>Donovan Palmer, Ed Kreienberg, Will Zheng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sz="1600" dirty="0"/>
              <a:t>AIML 950  |  Human and Machine Intelligence  |  Northwestern Kellogg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THE BUSINESS</a:t>
            </a:r>
            <a:r>
              <a:rPr lang="en-US" dirty="0"/>
              <a:t> &amp; COMPETITIVE ADVANTAGE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SRAM makes the parts that make bikes go, stop, and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65021" y="1309151"/>
            <a:ext cx="8138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rPr lang="en-US" dirty="0"/>
              <a:t>P</a:t>
            </a:r>
            <a:r>
              <a:rPr dirty="0"/>
              <a:t>owering bikes from weekend rides to the Tour de France.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45C9C7-BFDF-0F46-265B-0F651D38E48A}"/>
              </a:ext>
            </a:extLst>
          </p:cNvPr>
          <p:cNvSpPr/>
          <p:nvPr/>
        </p:nvSpPr>
        <p:spPr>
          <a:xfrm>
            <a:off x="2065021" y="1645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3627EB-4CA4-4742-B00F-13B0D2F28009}"/>
              </a:ext>
            </a:extLst>
          </p:cNvPr>
          <p:cNvSpPr txBox="1"/>
          <p:nvPr/>
        </p:nvSpPr>
        <p:spPr>
          <a:xfrm>
            <a:off x="2293621" y="178308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00917F-68D4-846C-BCBF-B6286C1F71FE}"/>
              </a:ext>
            </a:extLst>
          </p:cNvPr>
          <p:cNvSpPr txBox="1"/>
          <p:nvPr/>
        </p:nvSpPr>
        <p:spPr>
          <a:xfrm>
            <a:off x="2293621" y="201168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7189A0-F09E-F5C5-BCF2-15DB0C89AA34}"/>
              </a:ext>
            </a:extLst>
          </p:cNvPr>
          <p:cNvSpPr txBox="1"/>
          <p:nvPr/>
        </p:nvSpPr>
        <p:spPr>
          <a:xfrm>
            <a:off x="2293621" y="2468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Private, Chicago-founded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1E3F1CD-789C-7D2B-4888-662AC0C7039C}"/>
              </a:ext>
            </a:extLst>
          </p:cNvPr>
          <p:cNvSpPr/>
          <p:nvPr/>
        </p:nvSpPr>
        <p:spPr>
          <a:xfrm>
            <a:off x="4853940" y="1645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0C44BD-ACC0-EAE3-FC98-0973C2F8F942}"/>
              </a:ext>
            </a:extLst>
          </p:cNvPr>
          <p:cNvSpPr txBox="1"/>
          <p:nvPr/>
        </p:nvSpPr>
        <p:spPr>
          <a:xfrm>
            <a:off x="5082540" y="178308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ABF099-D4D6-E092-22B9-B46F5B4E1D1A}"/>
              </a:ext>
            </a:extLst>
          </p:cNvPr>
          <p:cNvSpPr txBox="1"/>
          <p:nvPr/>
        </p:nvSpPr>
        <p:spPr>
          <a:xfrm>
            <a:off x="5082540" y="201168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D509E0-ED77-F0E7-397F-D0B22A9489DA}"/>
              </a:ext>
            </a:extLst>
          </p:cNvPr>
          <p:cNvSpPr txBox="1"/>
          <p:nvPr/>
        </p:nvSpPr>
        <p:spPr>
          <a:xfrm>
            <a:off x="5082540" y="2468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9B90E04-C5BA-9E1D-DF55-A8E10115EF00}"/>
              </a:ext>
            </a:extLst>
          </p:cNvPr>
          <p:cNvSpPr/>
          <p:nvPr/>
        </p:nvSpPr>
        <p:spPr>
          <a:xfrm>
            <a:off x="7642860" y="1645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01FAA0-6EEB-C1CA-F5B6-4630A20D14BC}"/>
              </a:ext>
            </a:extLst>
          </p:cNvPr>
          <p:cNvSpPr txBox="1"/>
          <p:nvPr/>
        </p:nvSpPr>
        <p:spPr>
          <a:xfrm>
            <a:off x="7871460" y="178308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MTB SHARE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444514-5D61-6C8F-AB6A-6CE205A0C900}"/>
              </a:ext>
            </a:extLst>
          </p:cNvPr>
          <p:cNvSpPr txBox="1"/>
          <p:nvPr/>
        </p:nvSpPr>
        <p:spPr>
          <a:xfrm>
            <a:off x="7871460" y="201168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51179C-F3FE-889A-2AA3-318CDAF8F6AD}"/>
              </a:ext>
            </a:extLst>
          </p:cNvPr>
          <p:cNvSpPr txBox="1"/>
          <p:nvPr/>
        </p:nvSpPr>
        <p:spPr>
          <a:xfrm>
            <a:off x="7871460" y="2468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Market leader globally</a:t>
            </a:r>
          </a:p>
        </p:txBody>
      </p:sp>
      <p:pic>
        <p:nvPicPr>
          <p:cNvPr id="1026" name="Picture 2" descr="SRAM">
            <a:extLst>
              <a:ext uri="{FF2B5EF4-FFF2-40B4-BE49-F238E27FC236}">
                <a16:creationId xmlns:a16="http://schemas.microsoft.com/office/drawing/2014/main" id="{02EB525F-016A-6283-985B-F6F485C89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191" y="3137059"/>
            <a:ext cx="5575618" cy="335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B0462-5F3B-1D3C-35AF-0F94F8D2D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>
            <a:extLst>
              <a:ext uri="{FF2B5EF4-FFF2-40B4-BE49-F238E27FC236}">
                <a16:creationId xmlns:a16="http://schemas.microsoft.com/office/drawing/2014/main" id="{95F4D82D-C8E6-D7D9-1517-251B5543C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DACCA2-0ECE-D684-64DB-4E8BD1E1AAB0}"/>
              </a:ext>
            </a:extLst>
          </p:cNvPr>
          <p:cNvSpPr txBox="1"/>
          <p:nvPr/>
        </p:nvSpPr>
        <p:spPr>
          <a:xfrm>
            <a:off x="731520" y="27432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THE BUSINESS</a:t>
            </a:r>
            <a:r>
              <a:rPr lang="en-US" dirty="0"/>
              <a:t> &amp; COMPETITIVE ADVANTAGE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F4674-953C-DCAC-34E8-ADA7781A086A}"/>
              </a:ext>
            </a:extLst>
          </p:cNvPr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SRAM makes the parts that make bikes go, stop, and shift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5AB73-675E-7F99-6EB1-D14E49C6267C}"/>
              </a:ext>
            </a:extLst>
          </p:cNvPr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56BAA-456D-9B2A-61CB-98068DD28291}"/>
              </a:ext>
            </a:extLst>
          </p:cNvPr>
          <p:cNvSpPr txBox="1"/>
          <p:nvPr/>
        </p:nvSpPr>
        <p:spPr>
          <a:xfrm>
            <a:off x="2065021" y="1309151"/>
            <a:ext cx="81381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rPr lang="en-US" dirty="0"/>
              <a:t>P</a:t>
            </a:r>
            <a:r>
              <a:rPr dirty="0"/>
              <a:t>owering bikes from weekend rides to the Tour de France.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250B2A-347D-4CCB-13BA-80F178D9A4F3}"/>
              </a:ext>
            </a:extLst>
          </p:cNvPr>
          <p:cNvSpPr/>
          <p:nvPr/>
        </p:nvSpPr>
        <p:spPr>
          <a:xfrm>
            <a:off x="731520" y="342900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6322A-124E-0B7B-8872-496FEFEBA15A}"/>
              </a:ext>
            </a:extLst>
          </p:cNvPr>
          <p:cNvSpPr txBox="1"/>
          <p:nvPr/>
        </p:nvSpPr>
        <p:spPr>
          <a:xfrm>
            <a:off x="731520" y="361188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251FA-1469-4416-E3A7-76CC6E157C83}"/>
              </a:ext>
            </a:extLst>
          </p:cNvPr>
          <p:cNvSpPr txBox="1"/>
          <p:nvPr/>
        </p:nvSpPr>
        <p:spPr>
          <a:xfrm>
            <a:off x="731520" y="393192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Drivetrains + Braking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F83333-6BE7-3D90-A3F9-D414EF80B6FA}"/>
              </a:ext>
            </a:extLst>
          </p:cNvPr>
          <p:cNvSpPr txBox="1"/>
          <p:nvPr/>
        </p:nvSpPr>
        <p:spPr>
          <a:xfrm>
            <a:off x="868680" y="4526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Gears, chains, and disc</a:t>
            </a:r>
            <a:br>
              <a:rPr dirty="0"/>
            </a:br>
            <a:r>
              <a:rPr dirty="0"/>
              <a:t>brakes for every bike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D2C963-A68A-5AB4-2819-5EC2CBFBA623}"/>
              </a:ext>
            </a:extLst>
          </p:cNvPr>
          <p:cNvSpPr/>
          <p:nvPr/>
        </p:nvSpPr>
        <p:spPr>
          <a:xfrm>
            <a:off x="2552700" y="342900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571E6-EB8A-EB0F-21B6-5365277E2A38}"/>
              </a:ext>
            </a:extLst>
          </p:cNvPr>
          <p:cNvSpPr txBox="1"/>
          <p:nvPr/>
        </p:nvSpPr>
        <p:spPr>
          <a:xfrm>
            <a:off x="2552700" y="361188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C0DDCF-EF80-0C1B-C690-36267EFA089E}"/>
              </a:ext>
            </a:extLst>
          </p:cNvPr>
          <p:cNvSpPr txBox="1"/>
          <p:nvPr/>
        </p:nvSpPr>
        <p:spPr>
          <a:xfrm>
            <a:off x="2552700" y="393192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95C84-8B46-C6E9-8464-8E7E7EADA750}"/>
              </a:ext>
            </a:extLst>
          </p:cNvPr>
          <p:cNvSpPr txBox="1"/>
          <p:nvPr/>
        </p:nvSpPr>
        <p:spPr>
          <a:xfrm>
            <a:off x="2689860" y="4526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Forks and shocks that</a:t>
            </a:r>
            <a:br/>
            <a:r>
              <a:t>absorb trail impacts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CEF5E03-9CC6-B9D3-E34A-BF6E2FCE1A64}"/>
              </a:ext>
            </a:extLst>
          </p:cNvPr>
          <p:cNvSpPr/>
          <p:nvPr/>
        </p:nvSpPr>
        <p:spPr>
          <a:xfrm>
            <a:off x="4373880" y="342900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37C8E3-E55E-AA37-D721-2F47C43D5E0D}"/>
              </a:ext>
            </a:extLst>
          </p:cNvPr>
          <p:cNvSpPr txBox="1"/>
          <p:nvPr/>
        </p:nvSpPr>
        <p:spPr>
          <a:xfrm>
            <a:off x="4373880" y="361188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CC836C-C766-E3F9-DC5F-7582145BE216}"/>
              </a:ext>
            </a:extLst>
          </p:cNvPr>
          <p:cNvSpPr txBox="1"/>
          <p:nvPr/>
        </p:nvSpPr>
        <p:spPr>
          <a:xfrm>
            <a:off x="4373880" y="393192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AFDF69-228A-CCF2-06ED-ED430952903F}"/>
              </a:ext>
            </a:extLst>
          </p:cNvPr>
          <p:cNvSpPr txBox="1"/>
          <p:nvPr/>
        </p:nvSpPr>
        <p:spPr>
          <a:xfrm>
            <a:off x="4511040" y="4526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Aero wheels, handlebars,</a:t>
            </a:r>
            <a:br/>
            <a:r>
              <a:t>and stems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C5EDA1E-FD0A-C143-4ED2-52D6682E8283}"/>
              </a:ext>
            </a:extLst>
          </p:cNvPr>
          <p:cNvSpPr/>
          <p:nvPr/>
        </p:nvSpPr>
        <p:spPr>
          <a:xfrm>
            <a:off x="6195060" y="342900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73A231-164C-3BCC-B579-D7CDF9EF251B}"/>
              </a:ext>
            </a:extLst>
          </p:cNvPr>
          <p:cNvSpPr txBox="1"/>
          <p:nvPr/>
        </p:nvSpPr>
        <p:spPr>
          <a:xfrm>
            <a:off x="6195060" y="361188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A8F3C1-BD17-B960-7B99-74E5C16D1F97}"/>
              </a:ext>
            </a:extLst>
          </p:cNvPr>
          <p:cNvSpPr txBox="1"/>
          <p:nvPr/>
        </p:nvSpPr>
        <p:spPr>
          <a:xfrm>
            <a:off x="6195060" y="393192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Power Meters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52CA33-3F56-C40D-CD19-7FDD5FD8CC90}"/>
              </a:ext>
            </a:extLst>
          </p:cNvPr>
          <p:cNvSpPr txBox="1"/>
          <p:nvPr/>
        </p:nvSpPr>
        <p:spPr>
          <a:xfrm>
            <a:off x="6332220" y="4526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Sensors that measure</a:t>
            </a:r>
            <a:br/>
            <a:r>
              <a:t>rider output in watts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1178855-7439-CEAB-C115-D284C8FA931F}"/>
              </a:ext>
            </a:extLst>
          </p:cNvPr>
          <p:cNvSpPr/>
          <p:nvPr/>
        </p:nvSpPr>
        <p:spPr>
          <a:xfrm>
            <a:off x="8016240" y="342900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03BA69-1A1F-0C0A-425D-DFE43554BF77}"/>
              </a:ext>
            </a:extLst>
          </p:cNvPr>
          <p:cNvSpPr txBox="1"/>
          <p:nvPr/>
        </p:nvSpPr>
        <p:spPr>
          <a:xfrm>
            <a:off x="8016240" y="361188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95533B-7460-7830-19C1-B513700A40B9}"/>
              </a:ext>
            </a:extLst>
          </p:cNvPr>
          <p:cNvSpPr txBox="1"/>
          <p:nvPr/>
        </p:nvSpPr>
        <p:spPr>
          <a:xfrm>
            <a:off x="8016240" y="393192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GPS Bike Computer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D80EB2-E554-A669-ABD4-7D6E63751619}"/>
              </a:ext>
            </a:extLst>
          </p:cNvPr>
          <p:cNvSpPr txBox="1"/>
          <p:nvPr/>
        </p:nvSpPr>
        <p:spPr>
          <a:xfrm>
            <a:off x="8153400" y="4526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On-bike computer for</a:t>
            </a:r>
            <a:br/>
            <a:r>
              <a:t>navigation and training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780F342-5D69-4E8F-48EC-C8CD513FDAE6}"/>
              </a:ext>
            </a:extLst>
          </p:cNvPr>
          <p:cNvSpPr/>
          <p:nvPr/>
        </p:nvSpPr>
        <p:spPr>
          <a:xfrm>
            <a:off x="9837420" y="342900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A5F4AB-BC8F-C5F2-F83E-FF1E6D48BB00}"/>
              </a:ext>
            </a:extLst>
          </p:cNvPr>
          <p:cNvSpPr txBox="1"/>
          <p:nvPr/>
        </p:nvSpPr>
        <p:spPr>
          <a:xfrm>
            <a:off x="9837420" y="361188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07426-57DD-32C7-DDDC-76437F586F6E}"/>
              </a:ext>
            </a:extLst>
          </p:cNvPr>
          <p:cNvSpPr txBox="1"/>
          <p:nvPr/>
        </p:nvSpPr>
        <p:spPr>
          <a:xfrm>
            <a:off x="9837420" y="393192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5F4419-7CBE-4F66-A09D-7CAB820B1FA0}"/>
              </a:ext>
            </a:extLst>
          </p:cNvPr>
          <p:cNvSpPr txBox="1"/>
          <p:nvPr/>
        </p:nvSpPr>
        <p:spPr>
          <a:xfrm>
            <a:off x="9974580" y="4526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Clip-in pedal systems</a:t>
            </a:r>
            <a:br/>
            <a:r>
              <a:t>for road and mountain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372876-2445-D9DD-265C-D623D8C81CB0}"/>
              </a:ext>
            </a:extLst>
          </p:cNvPr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324F2F-774D-B482-93BE-C6005F20811D}"/>
              </a:ext>
            </a:extLst>
          </p:cNvPr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07419A3-F3D1-BBC2-6D00-EF0A4A944BEC}"/>
              </a:ext>
            </a:extLst>
          </p:cNvPr>
          <p:cNvSpPr/>
          <p:nvPr/>
        </p:nvSpPr>
        <p:spPr>
          <a:xfrm>
            <a:off x="731520" y="5902131"/>
            <a:ext cx="10698480" cy="32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9F1882-B8C4-1B26-3B2D-5508AC963B73}"/>
              </a:ext>
            </a:extLst>
          </p:cNvPr>
          <p:cNvSpPr txBox="1"/>
          <p:nvPr/>
        </p:nvSpPr>
        <p:spPr>
          <a:xfrm>
            <a:off x="1097280" y="5941684"/>
            <a:ext cx="99911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AXS Wireless Ecosystem  |  All 6 brands connect wirelessly and share data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DC6A5B2-D8F5-E7EC-3499-5468E3D3A344}"/>
              </a:ext>
            </a:extLst>
          </p:cNvPr>
          <p:cNvSpPr/>
          <p:nvPr/>
        </p:nvSpPr>
        <p:spPr>
          <a:xfrm>
            <a:off x="2065021" y="1645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2B58B6-8C15-F37C-27B6-D7A056EDC1F1}"/>
              </a:ext>
            </a:extLst>
          </p:cNvPr>
          <p:cNvSpPr txBox="1"/>
          <p:nvPr/>
        </p:nvSpPr>
        <p:spPr>
          <a:xfrm>
            <a:off x="2293621" y="178308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C105F7-0E7F-B958-AC04-04D956F948AB}"/>
              </a:ext>
            </a:extLst>
          </p:cNvPr>
          <p:cNvSpPr txBox="1"/>
          <p:nvPr/>
        </p:nvSpPr>
        <p:spPr>
          <a:xfrm>
            <a:off x="2293621" y="201168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67CE9F-690C-3BE0-D02C-F9B54010E56E}"/>
              </a:ext>
            </a:extLst>
          </p:cNvPr>
          <p:cNvSpPr txBox="1"/>
          <p:nvPr/>
        </p:nvSpPr>
        <p:spPr>
          <a:xfrm>
            <a:off x="2293621" y="2468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Private, Chicago-founded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38AB2A3-A69C-0E3A-91CE-AB4C4318F63D}"/>
              </a:ext>
            </a:extLst>
          </p:cNvPr>
          <p:cNvSpPr/>
          <p:nvPr/>
        </p:nvSpPr>
        <p:spPr>
          <a:xfrm>
            <a:off x="4853940" y="1645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09D628-3226-80CA-E25F-66DD91151EA3}"/>
              </a:ext>
            </a:extLst>
          </p:cNvPr>
          <p:cNvSpPr txBox="1"/>
          <p:nvPr/>
        </p:nvSpPr>
        <p:spPr>
          <a:xfrm>
            <a:off x="5082540" y="178308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D30767-E9D3-0A95-9229-7E99F16E7925}"/>
              </a:ext>
            </a:extLst>
          </p:cNvPr>
          <p:cNvSpPr txBox="1"/>
          <p:nvPr/>
        </p:nvSpPr>
        <p:spPr>
          <a:xfrm>
            <a:off x="5082540" y="201168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13C698-A626-C0B9-B0DD-B84D9B1764D1}"/>
              </a:ext>
            </a:extLst>
          </p:cNvPr>
          <p:cNvSpPr txBox="1"/>
          <p:nvPr/>
        </p:nvSpPr>
        <p:spPr>
          <a:xfrm>
            <a:off x="5082540" y="2468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8231A15-C05C-356C-3772-00176A2A438C}"/>
              </a:ext>
            </a:extLst>
          </p:cNvPr>
          <p:cNvSpPr/>
          <p:nvPr/>
        </p:nvSpPr>
        <p:spPr>
          <a:xfrm>
            <a:off x="7642860" y="164592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8F5C9B-0693-CCA6-652D-A160B4639E92}"/>
              </a:ext>
            </a:extLst>
          </p:cNvPr>
          <p:cNvSpPr txBox="1"/>
          <p:nvPr/>
        </p:nvSpPr>
        <p:spPr>
          <a:xfrm>
            <a:off x="7871460" y="178308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MTB SHARE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48CFDF-BF35-860D-6A40-11A6C9D68A18}"/>
              </a:ext>
            </a:extLst>
          </p:cNvPr>
          <p:cNvSpPr txBox="1"/>
          <p:nvPr/>
        </p:nvSpPr>
        <p:spPr>
          <a:xfrm>
            <a:off x="7871460" y="201168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B06C98-8DED-547E-3F55-9094B711BE71}"/>
              </a:ext>
            </a:extLst>
          </p:cNvPr>
          <p:cNvSpPr txBox="1"/>
          <p:nvPr/>
        </p:nvSpPr>
        <p:spPr>
          <a:xfrm>
            <a:off x="7871460" y="2468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Market leader globally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E4FBF98-4F3E-3BAC-8C41-63FE197CA135}"/>
              </a:ext>
            </a:extLst>
          </p:cNvPr>
          <p:cNvCxnSpPr>
            <a:stCxn id="40" idx="2"/>
            <a:endCxn id="15" idx="0"/>
          </p:cNvCxnSpPr>
          <p:nvPr/>
        </p:nvCxnSpPr>
        <p:spPr>
          <a:xfrm flipH="1">
            <a:off x="5170170" y="2788920"/>
            <a:ext cx="963930" cy="6400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7B46C2-B8FF-FFFA-CF04-C2F1257E8122}"/>
              </a:ext>
            </a:extLst>
          </p:cNvPr>
          <p:cNvCxnSpPr>
            <a:cxnSpLocks/>
            <a:stCxn id="40" idx="2"/>
            <a:endCxn id="19" idx="0"/>
          </p:cNvCxnSpPr>
          <p:nvPr/>
        </p:nvCxnSpPr>
        <p:spPr>
          <a:xfrm>
            <a:off x="6134100" y="2788920"/>
            <a:ext cx="857250" cy="6400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3921B78-08CB-E650-C951-5EB80C1D3989}"/>
              </a:ext>
            </a:extLst>
          </p:cNvPr>
          <p:cNvCxnSpPr>
            <a:cxnSpLocks/>
            <a:stCxn id="40" idx="2"/>
            <a:endCxn id="23" idx="0"/>
          </p:cNvCxnSpPr>
          <p:nvPr/>
        </p:nvCxnSpPr>
        <p:spPr>
          <a:xfrm>
            <a:off x="6134100" y="2788920"/>
            <a:ext cx="2678430" cy="6400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D195E0C-A0B2-ECBA-C59D-280112810D8E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>
            <a:off x="6134100" y="2788920"/>
            <a:ext cx="4499610" cy="6400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578D863-337C-8CB3-66ED-94A06ACF0AED}"/>
              </a:ext>
            </a:extLst>
          </p:cNvPr>
          <p:cNvCxnSpPr>
            <a:cxnSpLocks/>
            <a:stCxn id="40" idx="2"/>
            <a:endCxn id="11" idx="0"/>
          </p:cNvCxnSpPr>
          <p:nvPr/>
        </p:nvCxnSpPr>
        <p:spPr>
          <a:xfrm flipH="1">
            <a:off x="3348990" y="2788920"/>
            <a:ext cx="2785110" cy="6400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4B26A7A-EE18-5A6D-1442-A54905C82E4B}"/>
              </a:ext>
            </a:extLst>
          </p:cNvPr>
          <p:cNvCxnSpPr>
            <a:cxnSpLocks/>
            <a:stCxn id="40" idx="2"/>
            <a:endCxn id="7" idx="0"/>
          </p:cNvCxnSpPr>
          <p:nvPr/>
        </p:nvCxnSpPr>
        <p:spPr>
          <a:xfrm flipH="1">
            <a:off x="1527810" y="2788920"/>
            <a:ext cx="4606290" cy="6400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37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Going from Early </a:t>
            </a:r>
            <a:r>
              <a:rPr dirty="0"/>
              <a:t>wins to AI-first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step builds the infrastructure and organizational trust the next step requires.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606040" cy="635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Democratize AI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0-12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8359"/>
            <a:ext cx="22402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GitHub Copilot + Claude Code</a:t>
            </a:r>
            <a:br>
              <a:rPr dirty="0"/>
            </a:br>
            <a:r>
              <a:rPr dirty="0"/>
              <a:t>for engineers</a:t>
            </a:r>
            <a:br>
              <a:rPr dirty="0"/>
            </a:br>
            <a:br>
              <a:rPr dirty="0"/>
            </a:br>
            <a:r>
              <a:rPr dirty="0"/>
              <a:t>Microsoft CoPilot for</a:t>
            </a:r>
            <a:br>
              <a:rPr dirty="0"/>
            </a:br>
            <a:r>
              <a:rPr dirty="0"/>
              <a:t>business function staff</a:t>
            </a:r>
            <a:br>
              <a:rPr dirty="0"/>
            </a:br>
            <a:br>
              <a:rPr dirty="0"/>
            </a:br>
            <a:r>
              <a:rPr dirty="0"/>
              <a:t>Quarterly AI innovation forums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240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3</a:t>
            </a:r>
            <a:r>
              <a:rPr dirty="0"/>
              <a:t>00K</a:t>
            </a:r>
            <a:r>
              <a:rPr lang="en-US" dirty="0"/>
              <a:t> annual cost</a:t>
            </a:r>
            <a:br>
              <a:rPr dirty="0"/>
            </a:br>
            <a:r>
              <a:rPr dirty="0"/>
              <a:t>~$</a:t>
            </a:r>
            <a:r>
              <a:rPr lang="en-US" dirty="0"/>
              <a:t>1mm annual cost savings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3447288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47288" y="1691640"/>
            <a:ext cx="2606040" cy="635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Enterprise Data Consolidation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668917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0-24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943237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AWS-native data </a:t>
            </a:r>
            <a:r>
              <a:rPr dirty="0" err="1"/>
              <a:t>lakehouse</a:t>
            </a:r>
            <a:br>
              <a:rPr dirty="0"/>
            </a:br>
            <a:r>
              <a:rPr dirty="0"/>
              <a:t>on existing AWS infrastructure</a:t>
            </a:r>
            <a:br>
              <a:rPr dirty="0"/>
            </a:br>
            <a:br>
              <a:rPr dirty="0"/>
            </a:br>
            <a:r>
              <a:rPr dirty="0"/>
              <a:t>SAP ERP + Salesforce CRM</a:t>
            </a:r>
            <a:br>
              <a:rPr dirty="0"/>
            </a:br>
            <a:r>
              <a:rPr dirty="0"/>
              <a:t>connected to central platform</a:t>
            </a:r>
            <a:br>
              <a:rPr dirty="0"/>
            </a:br>
            <a:br>
              <a:rPr dirty="0"/>
            </a:br>
            <a:r>
              <a:rPr dirty="0"/>
              <a:t>Prerequisite for Steps 3B + 4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4846320"/>
            <a:ext cx="2240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</a:t>
            </a:r>
            <a:r>
              <a:rPr lang="en-US" dirty="0"/>
              <a:t>mm</a:t>
            </a:r>
            <a:r>
              <a:rPr dirty="0"/>
              <a:t> investment</a:t>
            </a:r>
            <a:br>
              <a:rPr dirty="0"/>
            </a:br>
            <a:r>
              <a:rPr dirty="0"/>
              <a:t>Unlocks </a:t>
            </a:r>
            <a:r>
              <a:rPr lang="en-US" dirty="0"/>
              <a:t>significant opportunity </a:t>
            </a:r>
            <a:r>
              <a:rPr dirty="0"/>
              <a:t>downstream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3056" y="1691640"/>
            <a:ext cx="2606040" cy="635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Deploy AI to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66822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0-36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942541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3A: AI support agent for</a:t>
            </a:r>
            <a:br>
              <a:rPr dirty="0"/>
            </a:br>
            <a:r>
              <a:rPr dirty="0"/>
              <a:t>AXS + Hammerhead dealers</a:t>
            </a:r>
            <a:br>
              <a:rPr dirty="0"/>
            </a:br>
            <a:br>
              <a:rPr dirty="0"/>
            </a:br>
            <a:r>
              <a:rPr dirty="0"/>
              <a:t>3B: SageMaker demand</a:t>
            </a:r>
            <a:br>
              <a:rPr dirty="0"/>
            </a:br>
            <a:r>
              <a:rPr dirty="0"/>
              <a:t>forecasting on pilot SKUs</a:t>
            </a:r>
            <a:br>
              <a:rPr dirty="0"/>
            </a:br>
            <a:br>
              <a:rPr dirty="0"/>
            </a:br>
            <a:r>
              <a:rPr dirty="0"/>
              <a:t>Bounded, measurable pilots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4846320"/>
            <a:ext cx="2240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3A: ~$</a:t>
            </a:r>
            <a:r>
              <a:rPr lang="en-US" dirty="0"/>
              <a:t>100k</a:t>
            </a:r>
            <a:r>
              <a:rPr dirty="0"/>
              <a:t> net</a:t>
            </a:r>
            <a:r>
              <a:rPr lang="en-US" dirty="0"/>
              <a:t> ongoing annual savings; revenue uplift due to improved customer retention</a:t>
            </a:r>
            <a:br>
              <a:rPr dirty="0"/>
            </a:br>
            <a:r>
              <a:rPr dirty="0"/>
              <a:t>3B: ~$</a:t>
            </a:r>
            <a:r>
              <a:rPr lang="en-US" dirty="0"/>
              <a:t>4.1mm</a:t>
            </a:r>
            <a:r>
              <a:rPr dirty="0"/>
              <a:t> net</a:t>
            </a:r>
            <a:r>
              <a:rPr lang="en-US" dirty="0"/>
              <a:t> cost savings annually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8878824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78824" y="1691640"/>
            <a:ext cx="2606040" cy="635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61704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43B4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Revenue + Innovation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251460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36-60+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278892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AXS Intelligence Platform</a:t>
            </a:r>
            <a:br>
              <a:rPr dirty="0"/>
            </a:br>
            <a:r>
              <a:rPr dirty="0"/>
              <a:t>(unified rider data layer)</a:t>
            </a:r>
            <a:br>
              <a:rPr dirty="0"/>
            </a:br>
            <a:br>
              <a:rPr dirty="0"/>
            </a:br>
            <a:r>
              <a:rPr dirty="0"/>
              <a:t>OEM Automation + Upgrade Recs</a:t>
            </a:r>
            <a:br>
              <a:rPr dirty="0"/>
            </a:br>
            <a:r>
              <a:rPr dirty="0"/>
              <a:t>Generative Design + R&amp;D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0264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61704" y="4846320"/>
            <a:ext cx="2240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~$20M ARR </a:t>
            </a:r>
            <a:r>
              <a:rPr lang="en-US" dirty="0"/>
              <a:t>new subscription revenue</a:t>
            </a:r>
          </a:p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~$8.5mm annually in revenue uplift at scale</a:t>
            </a:r>
            <a:br>
              <a:rPr dirty="0"/>
            </a:br>
            <a:r>
              <a:rPr dirty="0"/>
              <a:t>~$</a:t>
            </a:r>
            <a:r>
              <a:rPr lang="en-US" dirty="0"/>
              <a:t>4mm cost savings annually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73152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Step 2 runs in parallel with Steps 1 and 3A  |  Steps 3B and 4 depend on Step 2 data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1: DEMOCRATIZE AI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Building AI fluency from the ground up is the prerequisite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Deploy AI into existing tools, build organizational comfort, and identify champions before committing to Steps 3 and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GitHub Copilot +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SRAM's software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AI pair programming in existing IDEs.</a:t>
            </a:r>
            <a:br>
              <a:rPr dirty="0"/>
            </a:br>
            <a:r>
              <a:rPr dirty="0"/>
              <a:t>Accelerates the technical work Steps 2-4 require.</a:t>
            </a:r>
            <a:br>
              <a:rPr dirty="0"/>
            </a:br>
            <a:r>
              <a:rPr dirty="0"/>
              <a:t>Integrates directly into existing GitHub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663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Annual cost: $1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75% of engineers active weekly by Month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9385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Microsoft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5F8A"/>
                </a:solidFill>
                <a:latin typeface="Calibri"/>
              </a:defRPr>
            </a:pPr>
            <a:r>
              <a:rPr lang="en-US" dirty="0"/>
              <a:t>B</a:t>
            </a:r>
            <a:r>
              <a:rPr dirty="0"/>
              <a:t>usiness function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0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AI-assisted notes, email, and meeting</a:t>
            </a:r>
            <a:br/>
            <a:r>
              <a:t>summarization across all business functions.</a:t>
            </a:r>
            <a:br/>
            <a:r>
              <a:t>Integrates directly into Microsoft 365.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4663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Annual cost: $1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60% of staff active weekly by Month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193792"/>
            <a:ext cx="685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Quarterly AI Innovation Forums</a:t>
            </a:r>
            <a:r>
              <a:rPr lang="en-US" dirty="0"/>
              <a:t> </a:t>
            </a:r>
            <a:r>
              <a:rPr dirty="0"/>
              <a:t>|  Surface grassroots use cases, identify AI champions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937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5+ champions named by Month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698480" cy="594360"/>
          </a:xfrm>
          <a:prstGeom prst="roundRect">
            <a:avLst>
              <a:gd name="adj" fmla="val 2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870448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Total investment: ~$</a:t>
            </a:r>
            <a:r>
              <a:rPr lang="en-US" dirty="0"/>
              <a:t>3</a:t>
            </a:r>
            <a:r>
              <a:rPr dirty="0"/>
              <a:t>00</a:t>
            </a:r>
            <a:r>
              <a:rPr lang="en-US" dirty="0"/>
              <a:t>k</a:t>
            </a:r>
            <a:r>
              <a:rPr dirty="0"/>
              <a:t>/yr  |  Total benefit: ~$</a:t>
            </a:r>
            <a:r>
              <a:rPr lang="en-US" dirty="0"/>
              <a:t>1</a:t>
            </a:r>
            <a:r>
              <a:rPr dirty="0"/>
              <a:t>.0</a:t>
            </a:r>
            <a:r>
              <a:rPr lang="en-US" dirty="0"/>
              <a:t>mm</a:t>
            </a:r>
            <a:r>
              <a:rPr dirty="0"/>
              <a:t>/yr labor-equivalent  |  Net value: ~$</a:t>
            </a:r>
            <a:r>
              <a:rPr lang="en-US" dirty="0"/>
              <a:t>700k/</a:t>
            </a:r>
            <a:r>
              <a:rPr dirty="0"/>
              <a:t>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2: ENTERPRISE DATA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Data infrastructure is the prerequisite, not an optional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SRAM has no centralized ERP, CRM, or data warehouse today. Customer data lives in Shopify. AXS telemetry is siloed from Hammerhead ride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SOURCE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SAP ERP (order + inventory)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Salesforce CRM (dealers + warranty)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63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AXS + Hammerhead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93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Shopify (DTC orders)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Quarq power data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041648" y="3108960"/>
            <a:ext cx="182880" cy="18288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D4E4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AWS DATA LAKEHOUSE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780" y="2459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Unified SKU-level order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780" y="2889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Dealer sell-through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780" y="3319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PowerBI + Databricks (BI layer)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780" y="3749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Data quality gates enforced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7653528" y="3108960"/>
            <a:ext cx="182880" cy="18288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5528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9385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AI / ML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Bedrock (LLM agents)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SageMaker (forecasting)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163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Kendra (doc retrieval)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593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Salesforce AgentForce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All Step 3 + 4 tools run here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86375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24-MONTH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58205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</a:t>
            </a:r>
            <a:r>
              <a:rPr lang="en-US" dirty="0"/>
              <a:t>mm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60120" y="5469685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SAP + Salesforce + Lakehouse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475488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6375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DOWNSTREAM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058205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rPr dirty="0"/>
              <a:t>$3</a:t>
            </a:r>
            <a:r>
              <a:rPr lang="en-US" dirty="0"/>
              <a:t>6.6mm</a:t>
            </a:r>
            <a:r>
              <a:rPr dirty="0"/>
              <a:t>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469685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Steps 3B + 4 depend on this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475488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9720" y="486375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DATA READINESS TODAY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5058205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60-70%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469685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AXS + Hammerhead pilot-ready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251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774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Start where domain knowledge is high and outcomes are measurable. Support is the proving ground for everything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251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774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074919"/>
            <a:ext cx="50800" cy="8229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5303519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94560" y="5074919"/>
            <a:ext cx="50800" cy="8229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77440" y="5148071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RECOMMENDED 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 Support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70% of dealer questions are repetitive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5780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4068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Warranty Automation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Fraudulent and mis-filed claims cost time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Compatibility Assistant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Riders get wrong parts, return them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5001767"/>
            <a:ext cx="10927080" cy="969264"/>
          </a:xfrm>
          <a:prstGeom prst="rect">
            <a:avLst/>
          </a:prstGeom>
          <a:noFill/>
          <a:ln w="3175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0" y="478231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START HERE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Poor support</a:t>
            </a:r>
            <a:r>
              <a:rPr dirty="0"/>
              <a:t> drives</a:t>
            </a:r>
            <a:r>
              <a:rPr lang="en-US" dirty="0"/>
              <a:t> customer</a:t>
            </a:r>
            <a:r>
              <a:rPr dirty="0"/>
              <a:t> churn, not product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sz="1400" dirty="0"/>
              <a:t>Riders </a:t>
            </a:r>
            <a:r>
              <a:rPr sz="1400" b="1" dirty="0"/>
              <a:t>love</a:t>
            </a:r>
            <a:r>
              <a:rPr sz="1400" dirty="0"/>
              <a:t> SRAM hardware. They struggle with firmware updates, part compatibility, and warranty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Questions follow documented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03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rPr dirty="0"/>
              <a:t>Firmware + Pairing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Reddit, app stores, Trustpilot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3B4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1. Dealer emails a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"Which AXS derailleur firmware works with my 2024 Eagle cassette?"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 Agent searches manually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Opens a 200-page compatibility PDF. Searches wikis and past tickets.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8348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 Agent writes a response from scratch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Types the answer, double-checks part numbers, hopes nothing changed.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59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7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4. Dealer waits ~4 hours for first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978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70% of questions follow the same documented patterns every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F8A"/>
                </a:solidFill>
                <a:latin typeface="Calibri"/>
              </a:defRPr>
            </a:pPr>
            <a:r>
              <a:t>WITH AI PILOT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70332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74904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1. Same question arrives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77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Dealer submits via Zendesk. Nothing changes for them.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4340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3891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 AI searches approved docs instantly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Amazon Kendra indexes compatibility tables and firmware notes.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98348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0292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 AI drafts a response for the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578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Amazon Bedrock generates an answer. Agent reviews before sending.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623559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566927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4. Dealer gets a faster, verified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8978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Target first response: ~2.5 hours. Human approves every response.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806440" y="4572000"/>
            <a:ext cx="320040" cy="32004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Four roles, three systems, one bounded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AXS and Hammerhead dealer support tickets only. Every AI-generated response requires human approval before it reaches a dealer.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WHO DOES 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From the support 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Owns pilot scope and success criteria.</a:t>
            </a:r>
            <a:br/>
            <a:r>
              <a:t>Runs the weekly quality review.</a:t>
            </a:r>
            <a:br/>
            <a:r>
              <a:t>Decides whether to expand, hold, or kill.</a:t>
            </a:r>
            <a:br/>
            <a:r>
              <a:t>Reports to the C-suite AI Sponsor.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72968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172968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Integration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1 engineer (internal or contractor)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Connects Zendesk to Amazon Kendra and Bedrock.</a:t>
            </a:r>
            <a:br/>
            <a:r>
              <a:t>Indexes AXS + Hammerhead docs into Kendra.</a:t>
            </a:r>
            <a:br/>
            <a:r>
              <a:t>Maintains the knowledge base as docs update.</a:t>
            </a:r>
            <a:br/>
            <a:r>
              <a:t>Tunes Bedrock prompts based on agent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88536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288536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616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Support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799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Existing AXS + Hammerhead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0857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Review every AI-drafted response before sending.</a:t>
            </a:r>
            <a:br/>
            <a:r>
              <a:t>Edit, approve, or reject each draft.</a:t>
            </a:r>
            <a:br/>
            <a:r>
              <a:t>Flag quality issues for weekly review.</a:t>
            </a:r>
            <a:br/>
            <a:r>
              <a:t>Full authority to override any AI output.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04104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404104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772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9554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Existing role, expanded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2414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Tracks all five SMART goals weekly.</a:t>
            </a:r>
            <a:br/>
            <a:r>
              <a:t>Runs Day-45 and Day-90 gate reviews.</a:t>
            </a:r>
            <a:br/>
            <a:r>
              <a:t>Escalates kill-criteria violations to the PO.</a:t>
            </a:r>
            <a:br/>
            <a:r>
              <a:t>Owns the rollback decision if quality drops.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WITH WHAT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57400"/>
            <a:ext cx="52120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057400"/>
            <a:ext cx="50800" cy="12344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130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Zendesk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148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TICKET INTAKE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404872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Receives dealer support tickets.</a:t>
            </a:r>
            <a:br/>
            <a:r>
              <a:t>Routes AXS + Hammerhead tickets to the AI workflow.</a:t>
            </a:r>
            <a:br/>
            <a:r>
              <a:t>All other tickets follow the existing manual process.</a:t>
            </a:r>
            <a:br/>
            <a:r>
              <a:t>No changes to the dealer-facing experience.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401568"/>
            <a:ext cx="52120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3401568"/>
            <a:ext cx="50800" cy="12344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3474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Amazon Kendra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930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KNOWLEDGE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49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Indexes SRAM compatibility tables, firmware release</a:t>
            </a:r>
            <a:br/>
            <a:r>
              <a:t>notes, and service bulletins.</a:t>
            </a:r>
            <a:br/>
            <a:r>
              <a:t>Searches approved documentation only.</a:t>
            </a:r>
            <a:br/>
            <a:r>
              <a:t>Updated by integration engineer as docs change.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745736"/>
            <a:ext cx="52120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4745736"/>
            <a:ext cx="50800" cy="12344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48188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Amazon Bedrock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83717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RESPONSE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9320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Generates draft responses from Kendra search results.</a:t>
            </a:r>
            <a:br/>
            <a:r>
              <a:t>Cites the source document for every claim.</a:t>
            </a:r>
            <a:br/>
            <a:r>
              <a:t>Flags low-confidence answers for manual handling.</a:t>
            </a:r>
            <a:br/>
            <a:r>
              <a:t>Never sends a response without agent approval.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85216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58795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51937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A3A3C"/>
                </a:solidFill>
                <a:latin typeface="Calibri"/>
              </a:defRPr>
            </a:pPr>
            <a:r>
              <a:t>AXS + Hammerhead tickets only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585216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92440" y="58795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51937"/>
                </a:solidFill>
                <a:latin typeface="Calibri"/>
              </a:defRPr>
            </a:pPr>
            <a:r>
              <a:t>GUARDRAIL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A3A3C"/>
                </a:solidFill>
                <a:latin typeface="Calibri"/>
              </a:defRPr>
            </a:pPr>
            <a:r>
              <a:t>Human approves every response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585216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75520" y="58795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51937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A3A3C"/>
                </a:solidFill>
                <a:latin typeface="Calibri"/>
              </a:defRPr>
            </a:pPr>
            <a:r>
              <a:t>2 weeks quality drop = rollback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WHAT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Five SMART goals define success at the Day-</a:t>
            </a:r>
            <a:r>
              <a:rPr lang="en-US" dirty="0"/>
              <a:t>120</a:t>
            </a:r>
            <a:r>
              <a:rPr dirty="0"/>
              <a:t> go/no-go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Weber set the bar: a 30% reduction in handle time on AXS support tickets with dealer satisfaction scores holding flat or improving.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91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HOW IT'S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691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TRIGGER IF OFF 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84248"/>
            <a:ext cx="10698480" cy="658368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084832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665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482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84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6654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Measured weekly vs. current SLA baseline in Zendesk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6654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Below -20% at Day </a:t>
            </a:r>
            <a:r>
              <a:rPr lang="en-US" dirty="0"/>
              <a:t>90 </a:t>
            </a:r>
            <a:r>
              <a:rPr dirty="0"/>
              <a:t>triggers scope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798064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7797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Resolve without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761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7980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77977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First-contact resolution rate tracked weekly vs.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797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Flat or declining at Day </a:t>
            </a:r>
            <a:r>
              <a:rPr lang="en-US" dirty="0"/>
              <a:t>90</a:t>
            </a:r>
            <a:r>
              <a:rPr dirty="0"/>
              <a:t> triggers agent retraining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10712"/>
            <a:ext cx="10698480" cy="658368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3511296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493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 draft acceptance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511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4930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% of AI drafts approved by agents without major edits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49300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Below 50% at Day </a:t>
            </a:r>
            <a:r>
              <a:rPr lang="en-US" dirty="0"/>
              <a:t>90</a:t>
            </a:r>
            <a:r>
              <a:rPr dirty="0"/>
              <a:t> triggers knowledge base rebuild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224528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206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Agent throughput 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187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+25%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224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206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Tickets handled per agent per day, tracked weekly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206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No improvement by Day </a:t>
            </a:r>
            <a:r>
              <a:rPr lang="en-US" dirty="0"/>
              <a:t>9</a:t>
            </a:r>
            <a:r>
              <a:rPr dirty="0"/>
              <a:t>0 triggers workflow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37176"/>
            <a:ext cx="10698480" cy="658368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22960" y="4937760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9194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Hold customer satisfaction flat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901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No decline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937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Dealer CSAT survey scores, measured biweekly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9194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t>Any sustained 2-week drop triggers immediate rollback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669280"/>
            <a:ext cx="10698480" cy="502920"/>
          </a:xfrm>
          <a:prstGeom prst="roundRect">
            <a:avLst>
              <a:gd name="adj" fmla="val 2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5669280"/>
            <a:ext cx="50800" cy="50292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7280" y="57150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KILL CRITERIA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8978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2 consecutive weeks of quality decline  |  Any safety error reaching a dealer  |  Dealer opt-out rate above 15%  |  Any of these triggers full rollback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4CFE8885-9096-B08F-2343-57AF169D2D4A}"/>
              </a:ext>
            </a:extLst>
          </p:cNvPr>
          <p:cNvSpPr/>
          <p:nvPr/>
        </p:nvSpPr>
        <p:spPr>
          <a:xfrm>
            <a:off x="1077734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17D58EC-2A7F-B485-6BDF-8CED6FAB36D3}"/>
              </a:ext>
            </a:extLst>
          </p:cNvPr>
          <p:cNvSpPr/>
          <p:nvPr/>
        </p:nvSpPr>
        <p:spPr>
          <a:xfrm>
            <a:off x="11095989" y="2189988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BDADCCF-6EC0-D0E4-70C4-023E8D5517A8}"/>
              </a:ext>
            </a:extLst>
          </p:cNvPr>
          <p:cNvSpPr/>
          <p:nvPr/>
        </p:nvSpPr>
        <p:spPr>
          <a:xfrm>
            <a:off x="1012202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7D8B1C7-6D5F-02E4-36E2-044F0CDB0594}"/>
              </a:ext>
            </a:extLst>
          </p:cNvPr>
          <p:cNvSpPr/>
          <p:nvPr/>
        </p:nvSpPr>
        <p:spPr>
          <a:xfrm>
            <a:off x="946670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7F53E5C-B17E-2A85-DA3A-2EBBEBB7AC31}"/>
              </a:ext>
            </a:extLst>
          </p:cNvPr>
          <p:cNvSpPr/>
          <p:nvPr/>
        </p:nvSpPr>
        <p:spPr>
          <a:xfrm>
            <a:off x="815606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ED960A-7EC0-E4F8-EC25-3C9577DB749C}"/>
              </a:ext>
            </a:extLst>
          </p:cNvPr>
          <p:cNvSpPr/>
          <p:nvPr/>
        </p:nvSpPr>
        <p:spPr>
          <a:xfrm>
            <a:off x="881138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FINANCIALS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12</a:t>
            </a:r>
            <a:r>
              <a:rPr dirty="0"/>
              <a:t>-month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Day-</a:t>
            </a:r>
            <a:r>
              <a:rPr lang="en-US" dirty="0"/>
              <a:t>90</a:t>
            </a:r>
            <a:r>
              <a:rPr dirty="0"/>
              <a:t> scope review, Day-</a:t>
            </a:r>
            <a:r>
              <a:rPr lang="en-US" dirty="0"/>
              <a:t>120</a:t>
            </a:r>
            <a:r>
              <a:rPr dirty="0"/>
              <a:t> go/no-go gate, Month 7-12 scale to full catalog.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Financial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SETUP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Zendesk AI + Kendra + Bedrock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67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$150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05840" y="252374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Knowledge base indexing and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237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277977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Integration engineer (6 months)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797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$150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30358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Product owner allocation (6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35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" y="3547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ANNUAL OPERATING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0390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AI platform licensing (Bedrock + Kendra)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039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20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599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Knowledge base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159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Quality review and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315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28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ANNUAL GROSS 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8406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rPr lang="en-US" dirty="0"/>
              <a:t>Warranty claim accuracy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50840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400k</a:t>
            </a:r>
            <a:r>
              <a:rPr dirty="0"/>
              <a:t>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4009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Reduced escalations</a:t>
            </a:r>
            <a:r>
              <a:rPr lang="en-US" dirty="0"/>
              <a:t> and handle time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4114800" y="5340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N/Q savings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Customer retention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96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Incremental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217920" y="169164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12</a:t>
            </a:r>
            <a:r>
              <a:rPr dirty="0"/>
              <a:t>-Month Timeline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9742" y="2020824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4675" y="2020824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4522" y="2020824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0467" y="2021512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9397" y="2011680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5409" y="2011680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938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47470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3002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8534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44066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217920" y="2240280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0" y="227685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Setup + Integration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8" y="2276856"/>
            <a:ext cx="985645" cy="201168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0" y="2587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Knowledge Base Indexing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78" y="2587752"/>
            <a:ext cx="1981325" cy="210312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217920" y="2862072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289864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AI Draft Rollout (AXS)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24084" y="2889504"/>
            <a:ext cx="1956945" cy="23105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17920" y="320954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AI Draft Rollout (Hammerhead)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64038" y="3209544"/>
            <a:ext cx="1965961" cy="24688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217920" y="3483864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17920" y="352044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Response Time Tracking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08719" y="3520440"/>
            <a:ext cx="2621280" cy="237744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17920" y="383133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Escalation Rate Tracking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93353" y="3831336"/>
            <a:ext cx="2636645" cy="26517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6217920" y="4105656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41422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Throughput Measurement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08719" y="4142232"/>
            <a:ext cx="2621280" cy="20116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7920" y="445312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CSAT Monitoring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93353" y="4453128"/>
            <a:ext cx="2636646" cy="26517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217920" y="4727448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17920" y="476402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Weekly Quality Reviews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53399" y="4764024"/>
            <a:ext cx="3276600" cy="201168"/>
          </a:xfrm>
          <a:prstGeom prst="roundRect">
            <a:avLst>
              <a:gd name="adj" fmla="val 15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17920" y="5074920"/>
            <a:ext cx="1234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Day-</a:t>
            </a:r>
            <a:r>
              <a:rPr lang="en-US" dirty="0"/>
              <a:t>90</a:t>
            </a:r>
            <a:r>
              <a:rPr dirty="0"/>
              <a:t> Checkpoint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38260" y="5084064"/>
            <a:ext cx="98298" cy="201168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6217920" y="5349240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5385816"/>
            <a:ext cx="1234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Day-</a:t>
            </a:r>
            <a:r>
              <a:rPr lang="en-US" dirty="0"/>
              <a:t>120</a:t>
            </a:r>
            <a:r>
              <a:rPr dirty="0"/>
              <a:t> Go/No-Go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59570" y="5385226"/>
            <a:ext cx="98298" cy="201168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C7B66D9-A4B6-B4AD-F001-95482DF2AEE5}"/>
              </a:ext>
            </a:extLst>
          </p:cNvPr>
          <p:cNvSpPr txBox="1"/>
          <p:nvPr/>
        </p:nvSpPr>
        <p:spPr>
          <a:xfrm>
            <a:off x="9290716" y="2005311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7CA74C-A625-54C4-8592-FEC8CFBDC08D}"/>
              </a:ext>
            </a:extLst>
          </p:cNvPr>
          <p:cNvSpPr txBox="1"/>
          <p:nvPr/>
        </p:nvSpPr>
        <p:spPr>
          <a:xfrm>
            <a:off x="9655649" y="2005311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DB9DFF1-9133-C72A-CEDE-E01C8CBB2121}"/>
              </a:ext>
            </a:extLst>
          </p:cNvPr>
          <p:cNvSpPr txBox="1"/>
          <p:nvPr/>
        </p:nvSpPr>
        <p:spPr>
          <a:xfrm>
            <a:off x="9985496" y="2005311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30652E9-AC6C-0207-FD7A-B7A474B5016B}"/>
              </a:ext>
            </a:extLst>
          </p:cNvPr>
          <p:cNvSpPr txBox="1"/>
          <p:nvPr/>
        </p:nvSpPr>
        <p:spPr>
          <a:xfrm>
            <a:off x="10291441" y="2005999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42D4686-1928-3AFD-A11B-99DF96B9465A}"/>
              </a:ext>
            </a:extLst>
          </p:cNvPr>
          <p:cNvSpPr txBox="1"/>
          <p:nvPr/>
        </p:nvSpPr>
        <p:spPr>
          <a:xfrm>
            <a:off x="10610371" y="1996167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11</a:t>
            </a:r>
            <a:endParaRPr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57F096D-F9E4-EB7A-4A74-63A08661A58F}"/>
              </a:ext>
            </a:extLst>
          </p:cNvPr>
          <p:cNvSpPr txBox="1"/>
          <p:nvPr/>
        </p:nvSpPr>
        <p:spPr>
          <a:xfrm>
            <a:off x="10936383" y="1996167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12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3B: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No forecasting system exists today; SageMaker fills that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Stockouts, markdown losses, and overproduction are addressable without touching the product. Requires the Step 2 data foundation as a hard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3B4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1. Brand-level judgment drives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No centralized inventory visibility.</a:t>
            </a:r>
            <a:br/>
            <a:r>
              <a:t>Dealer sell-through not systematically tracked.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2. Stockouts surface as surprises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Rush shipping absorbs margin.</a:t>
            </a:r>
            <a:br/>
            <a:r>
              <a:t>Markdowns clear overstock at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3. Planners react to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622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Decisions made without model support.</a:t>
            </a:r>
            <a:br/>
            <a:r>
              <a:t>Data exists at brand level, not enterprise level.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F8A"/>
                </a:solidFill>
                <a:latin typeface="Calibri"/>
              </a:defRPr>
            </a:pPr>
            <a:r>
              <a:t>WITH SAGEMAKER 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17627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Month 2</a:t>
            </a:r>
            <a:r>
              <a:rPr lang="en-US" dirty="0"/>
              <a:t>5</a:t>
            </a:r>
            <a:r>
              <a:rPr dirty="0"/>
              <a:t>-27: Model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505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SageMaker trained on unified lakehouse data.</a:t>
            </a:r>
            <a:br/>
            <a:r>
              <a:t>Back-test validates MAPE target of 15% or less.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8211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Month 27-3</a:t>
            </a:r>
            <a:r>
              <a:rPr lang="en-US" dirty="0"/>
              <a:t>3</a:t>
            </a:r>
            <a:r>
              <a:rPr dirty="0"/>
              <a:t>: Shadow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564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Model runs in parallel. Planners receive</a:t>
            </a:r>
            <a:br/>
            <a:r>
              <a:t>recommendations but make decisions as normal.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18795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Month 30-36: Active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62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Planners act on model recommendations</a:t>
            </a:r>
            <a:br/>
            <a:r>
              <a:t>with full override authority. Overrides logged.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806440" y="3017520"/>
            <a:ext cx="320040" cy="32004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3B: FINANCIALS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Demand forecasting delivers once data infrastructure is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Begins at Month 2</a:t>
            </a:r>
            <a:r>
              <a:rPr lang="en-US" dirty="0"/>
              <a:t>5</a:t>
            </a:r>
            <a:r>
              <a:rPr dirty="0"/>
              <a:t> after the Step 2 data </a:t>
            </a:r>
            <a:r>
              <a:rPr dirty="0" err="1"/>
              <a:t>lakehouse</a:t>
            </a:r>
            <a:r>
              <a:rPr dirty="0"/>
              <a:t> is operational. Shadow mode validates accuracy before planners act on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SETUP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~$500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SageMaker + data science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ANNUAL GROSS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4</a:t>
            </a:r>
            <a:r>
              <a:rPr dirty="0"/>
              <a:t>.</a:t>
            </a:r>
            <a:r>
              <a:rPr lang="en-US" dirty="0"/>
              <a:t>8mm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7033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+ markdowns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NET ANNUAL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~$4.</a:t>
            </a:r>
            <a:r>
              <a:rPr lang="en-US" dirty="0"/>
              <a:t>1mm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After $700K operating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ONE-TIME BONUS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D5F8A"/>
                </a:solidFill>
                <a:latin typeface="Calibri"/>
              </a:defRPr>
            </a:pPr>
            <a:r>
              <a:rPr lang="en-US" dirty="0"/>
              <a:t>WC release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3152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Success Criteria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30168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94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Forecast accuracy (MAPE)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675888"/>
            <a:ext cx="1051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15% or 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124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Back-tested before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97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Stockout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178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-30%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21538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Measured against 12-month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36008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Markdown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681728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-2</a:t>
            </a:r>
            <a:r>
              <a:rPr lang="en-US" dirty="0"/>
              <a:t>5</a:t>
            </a:r>
            <a:r>
              <a:rPr dirty="0"/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7183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Tracked at SKU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02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Planner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184648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&gt;</a:t>
            </a:r>
            <a:r>
              <a:rPr lang="en-US" dirty="0"/>
              <a:t>6</a:t>
            </a:r>
            <a:r>
              <a:rPr dirty="0"/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22122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Recommendations reviewed weekly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6576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657600"/>
            <a:ext cx="50800" cy="594360"/>
          </a:xfrm>
          <a:prstGeom prst="rect">
            <a:avLst/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369417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D4E4F0"/>
                </a:solidFill>
                <a:latin typeface="Calibri"/>
              </a:defRPr>
            </a:pPr>
            <a:r>
              <a:rPr dirty="0"/>
              <a:t>Month 0-24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6941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Data foundation (Step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9136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SAP, Salesforce, and lakehouse build.</a:t>
            </a:r>
            <a:br/>
            <a:r>
              <a:t>Hard gate for forecasting launch.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3434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4343400"/>
            <a:ext cx="50800" cy="5943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4379976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Month 2</a:t>
            </a:r>
            <a:r>
              <a:rPr lang="en-US" dirty="0"/>
              <a:t>5</a:t>
            </a:r>
            <a:r>
              <a:rPr dirty="0"/>
              <a:t>-27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3799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Model development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SageMaker trained on unified data.</a:t>
            </a:r>
            <a:br/>
            <a:r>
              <a:t>Back-test validates accuracy.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0292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029200"/>
            <a:ext cx="50800" cy="5943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5065776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Month 27-3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7772400" y="50657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Shadow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2852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Planners compare model vs. judgment.</a:t>
            </a:r>
            <a:br/>
            <a:r>
              <a:t>No operational changes yet.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7150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715000"/>
            <a:ext cx="50800" cy="5943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7960" y="575157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Month 30-36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7515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Active pilot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9710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Live recommendations with override.</a:t>
            </a:r>
            <a:br/>
            <a:r>
              <a:t>Overrides logged for model retraining.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capability creates a new recurring revenue stream. SRAM's installed base of connected components becomes a platform, not a one-time sale.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E51937"/>
                </a:solidFill>
                <a:latin typeface="Calibri"/>
              </a:defRPr>
            </a:pPr>
            <a:r>
              <a:t>NEW REVENUE: Premium subscription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capability creates a new recurring revenue stream. SRAM's installed base of connected components becomes a platform, not a one-time sale.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E51937"/>
                </a:solidFill>
                <a:latin typeface="Calibri"/>
              </a:defRPr>
            </a:pPr>
            <a:r>
              <a:t>NEW REVENUE: Premium subscription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Connected components predict chain and brake pad replacement before failure. Installed base becomes recurring revenue.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Per-device monitoring subscription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AI-Tuned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Suspension auto-adjusts to terrain. Shifting optimizes for rider power. Products improve continuously after purchase.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Premium optimization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Dealer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Telemetry tells dealers which parts approach end-of-life in their area. Proactive ordering replaces reactive.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Dealer analytics license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50800" cy="4114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5229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Hardware sells data access  →  Data improves performance  →  Performance sells 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4: NEW REVENUE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Premium AXS, subscription model, and four distinct revenue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initiative is viable only after Step 2 data infrastructure is live. Combined, they represent $39M+/yr at maturity.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Unified rider data: AXS drivetrain, RockShox,</a:t>
            </a:r>
            <a:br/>
            <a:r>
              <a:t>Quarq power, Hammerhead GPS in one view.</a:t>
            </a:r>
            <a:br/>
            <a:r>
              <a:t>No competitor has the breadth to build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5mm</a:t>
            </a:r>
            <a:r>
              <a:rPr dirty="0"/>
              <a:t>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6324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~$20</a:t>
            </a:r>
            <a:r>
              <a:rPr lang="en-US" dirty="0"/>
              <a:t>mm</a:t>
            </a:r>
            <a:r>
              <a:rPr dirty="0"/>
              <a:t> ARR at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69164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801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Generative Design + R&amp;D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AI-assisted design, digital twin simulation,</a:t>
            </a:r>
            <a:br/>
            <a:r>
              <a:t>automated patent search. Field telemetry trains</a:t>
            </a:r>
            <a:br/>
            <a:r>
              <a:t>AI on actual performance data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6324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$4</a:t>
            </a:r>
            <a:r>
              <a:rPr lang="en-US" dirty="0"/>
              <a:t>mm</a:t>
            </a:r>
            <a:r>
              <a:rPr dirty="0"/>
              <a:t>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6324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6mm</a:t>
            </a:r>
            <a:r>
              <a:rPr dirty="0"/>
              <a:t>/yr benefit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04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4846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Salesforce </a:t>
            </a:r>
            <a:r>
              <a:rPr dirty="0" err="1"/>
              <a:t>AgentForce</a:t>
            </a:r>
            <a:r>
              <a:rPr dirty="0"/>
              <a:t> + CPQ accelerates</a:t>
            </a:r>
            <a:br>
              <a:rPr dirty="0"/>
            </a:br>
            <a:r>
              <a:rPr dirty="0"/>
              <a:t>spec proposals and automates documentation.</a:t>
            </a:r>
            <a:br>
              <a:rPr dirty="0"/>
            </a:br>
            <a:r>
              <a:rPr dirty="0"/>
              <a:t>1% OEM win rate improvement = $2.5</a:t>
            </a:r>
            <a:r>
              <a:rPr lang="en-US" dirty="0"/>
              <a:t>mm</a:t>
            </a:r>
            <a:r>
              <a:rPr dirty="0"/>
              <a:t>/yr.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$1</a:t>
            </a:r>
            <a:r>
              <a:rPr lang="en-US" dirty="0"/>
              <a:t>mm</a:t>
            </a:r>
            <a:r>
              <a:rPr dirty="0"/>
              <a:t>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16636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</a:t>
            </a:r>
            <a:r>
              <a:rPr lang="en-US" dirty="0"/>
              <a:t>2</a:t>
            </a:r>
            <a:r>
              <a:rPr dirty="0"/>
              <a:t>.</a:t>
            </a:r>
            <a:r>
              <a:rPr lang="en-US" dirty="0"/>
              <a:t>5mm</a:t>
            </a:r>
            <a:r>
              <a:rPr dirty="0"/>
              <a:t>/yr benefit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79476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904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Compatible Upgrade Recs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51960"/>
            <a:ext cx="4846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SageMaker recommendation engine lifts basket</a:t>
            </a:r>
            <a:br>
              <a:rPr dirty="0"/>
            </a:br>
            <a:r>
              <a:rPr lang="en-US" dirty="0"/>
              <a:t>V</a:t>
            </a:r>
            <a:r>
              <a:rPr dirty="0"/>
              <a:t>alue through dealer and DTC channels.</a:t>
            </a:r>
            <a:br>
              <a:rPr dirty="0"/>
            </a:br>
            <a:r>
              <a:rPr dirty="0"/>
              <a:t>Predictive maintenance drives repeat purchases.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16636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$500</a:t>
            </a:r>
            <a:r>
              <a:rPr lang="en-US" dirty="0"/>
              <a:t>k </a:t>
            </a:r>
            <a:r>
              <a:rPr dirty="0"/>
              <a:t>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16636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4mm</a:t>
            </a:r>
            <a:r>
              <a:rPr dirty="0"/>
              <a:t>/yr benefit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5806440"/>
            <a:ext cx="50800" cy="50292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861304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Step 4 total: ~$</a:t>
            </a:r>
            <a:r>
              <a:rPr lang="en-US" dirty="0"/>
              <a:t>10.5mm</a:t>
            </a:r>
            <a:r>
              <a:rPr dirty="0"/>
              <a:t> investment  |  $</a:t>
            </a:r>
            <a:r>
              <a:rPr lang="en-US" dirty="0"/>
              <a:t>3</a:t>
            </a:r>
            <a:r>
              <a:rPr dirty="0"/>
              <a:t>2</a:t>
            </a:r>
            <a:r>
              <a:rPr lang="en-US" dirty="0"/>
              <a:t>.5mm</a:t>
            </a:r>
            <a:r>
              <a:rPr dirty="0"/>
              <a:t>/yr at 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TRADE-OFFS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risks worth naming before the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Dealer trust is 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One confident wrong answer from the AI reaches a dealer, and the support team loses credibility it spent years building. Human-in-the-loop and weekly quality reviews mitigate this, but they also slow throughput gains.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Kill criteria trigger rollback at first safety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Data consolidation has no executive sponsor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Weber owns sales and manufacturing but not the CRM, ERP, or inventory systems. Phase 2 requires a unified data layer across those systems. Without a senior sponsor, data integration stalls and the pilot stays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CEO assigns cross-functional data owner in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663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AI hype creates unrealistic internal expectations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SRAM's engineering culture values precision. If leadership frames AI as a silver bullet rather than a tool, early imperfections will fuel skepticism and internal resistance to future phases.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Frame pilot as experiment with defined success and failure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3160</Words>
  <Application>Microsoft Macintosh PowerPoint</Application>
  <PresentationFormat>Widescreen</PresentationFormat>
  <Paragraphs>517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Donovan Ross Palmer</cp:lastModifiedBy>
  <cp:revision>21</cp:revision>
  <dcterms:created xsi:type="dcterms:W3CDTF">2013-01-27T09:14:16Z</dcterms:created>
  <dcterms:modified xsi:type="dcterms:W3CDTF">2026-03-13T22:45:48Z</dcterms:modified>
  <cp:category/>
</cp:coreProperties>
</file>