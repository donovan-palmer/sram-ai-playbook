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8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818575D-488F-32FC-2A5C-497681AB74B1}" name="Edward Kreienberg" initials="EK" userId="S::sxv7782@ads.northwestern.edu::535254a2-0a5e-43af-bfa0-f1a29775a19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58"/>
  </p:normalViewPr>
  <p:slideViewPr>
    <p:cSldViewPr snapToGrid="0" snapToObjects="1">
      <p:cViewPr>
        <p:scale>
          <a:sx n="109" d="100"/>
          <a:sy n="109" d="100"/>
        </p:scale>
        <p:origin x="704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8/10/relationships/authors" Target="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2743200" cy="35338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14400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rPr dirty="0"/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rPr dirty="0"/>
              <a:t>AI Adoption Playbook</a:t>
            </a: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rPr dirty="0"/>
              <a:t>Donovan Palmer, Ed Kreienberg, Will Zheng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76072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rPr sz="1600" dirty="0"/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THE BUSINESS</a:t>
            </a:r>
            <a:r>
              <a:rPr lang="en-US" dirty="0"/>
              <a:t> &amp; COMPETITIVE ADVANTAGE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SRAM makes the parts that make bikes go, stop, and shift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65021" y="1309151"/>
            <a:ext cx="8138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rPr lang="en-US" dirty="0"/>
              <a:t>P</a:t>
            </a:r>
            <a:r>
              <a:rPr dirty="0"/>
              <a:t>owering bikes from weekend rides to the Tour de France.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F45C9C7-BFDF-0F46-265B-0F651D38E48A}"/>
              </a:ext>
            </a:extLst>
          </p:cNvPr>
          <p:cNvSpPr/>
          <p:nvPr/>
        </p:nvSpPr>
        <p:spPr>
          <a:xfrm>
            <a:off x="2065021" y="164592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3627EB-4CA4-4742-B00F-13B0D2F28009}"/>
              </a:ext>
            </a:extLst>
          </p:cNvPr>
          <p:cNvSpPr txBox="1"/>
          <p:nvPr/>
        </p:nvSpPr>
        <p:spPr>
          <a:xfrm>
            <a:off x="2293621" y="1783080"/>
            <a:ext cx="21031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00917F-68D4-846C-BCBF-B6286C1F71FE}"/>
              </a:ext>
            </a:extLst>
          </p:cNvPr>
          <p:cNvSpPr txBox="1"/>
          <p:nvPr/>
        </p:nvSpPr>
        <p:spPr>
          <a:xfrm>
            <a:off x="2293621" y="2011680"/>
            <a:ext cx="2103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7189A0-F09E-F5C5-BCF2-15DB0C89AA34}"/>
              </a:ext>
            </a:extLst>
          </p:cNvPr>
          <p:cNvSpPr txBox="1"/>
          <p:nvPr/>
        </p:nvSpPr>
        <p:spPr>
          <a:xfrm>
            <a:off x="2293621" y="24688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1E3F1CD-789C-7D2B-4888-662AC0C7039C}"/>
              </a:ext>
            </a:extLst>
          </p:cNvPr>
          <p:cNvSpPr/>
          <p:nvPr/>
        </p:nvSpPr>
        <p:spPr>
          <a:xfrm>
            <a:off x="4853940" y="164592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A0C44BD-ACC0-EAE3-FC98-0973C2F8F942}"/>
              </a:ext>
            </a:extLst>
          </p:cNvPr>
          <p:cNvSpPr txBox="1"/>
          <p:nvPr/>
        </p:nvSpPr>
        <p:spPr>
          <a:xfrm>
            <a:off x="5082540" y="1783080"/>
            <a:ext cx="21031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3ABF099-D4D6-E092-22B9-B46F5B4E1D1A}"/>
              </a:ext>
            </a:extLst>
          </p:cNvPr>
          <p:cNvSpPr txBox="1"/>
          <p:nvPr/>
        </p:nvSpPr>
        <p:spPr>
          <a:xfrm>
            <a:off x="5082540" y="2011680"/>
            <a:ext cx="2103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D509E0-ED77-F0E7-397F-D0B22A9489DA}"/>
              </a:ext>
            </a:extLst>
          </p:cNvPr>
          <p:cNvSpPr txBox="1"/>
          <p:nvPr/>
        </p:nvSpPr>
        <p:spPr>
          <a:xfrm>
            <a:off x="5082540" y="24688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9B90E04-C5BA-9E1D-DF55-A8E10115EF00}"/>
              </a:ext>
            </a:extLst>
          </p:cNvPr>
          <p:cNvSpPr/>
          <p:nvPr/>
        </p:nvSpPr>
        <p:spPr>
          <a:xfrm>
            <a:off x="7642860" y="164592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01FAA0-6EEB-C1CA-F5B6-4630A20D14BC}"/>
              </a:ext>
            </a:extLst>
          </p:cNvPr>
          <p:cNvSpPr txBox="1"/>
          <p:nvPr/>
        </p:nvSpPr>
        <p:spPr>
          <a:xfrm>
            <a:off x="7871460" y="1783080"/>
            <a:ext cx="21031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444514-5D61-6C8F-AB6A-6CE205A0C900}"/>
              </a:ext>
            </a:extLst>
          </p:cNvPr>
          <p:cNvSpPr txBox="1"/>
          <p:nvPr/>
        </p:nvSpPr>
        <p:spPr>
          <a:xfrm>
            <a:off x="7871460" y="2011680"/>
            <a:ext cx="2103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51179C-F3FE-889A-2AA3-318CDAF8F6AD}"/>
              </a:ext>
            </a:extLst>
          </p:cNvPr>
          <p:cNvSpPr txBox="1"/>
          <p:nvPr/>
        </p:nvSpPr>
        <p:spPr>
          <a:xfrm>
            <a:off x="7871460" y="24688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pic>
        <p:nvPicPr>
          <p:cNvPr id="1026" name="Picture 2" descr="SRAM">
            <a:extLst>
              <a:ext uri="{FF2B5EF4-FFF2-40B4-BE49-F238E27FC236}">
                <a16:creationId xmlns:a16="http://schemas.microsoft.com/office/drawing/2014/main" id="{02EB525F-016A-6283-985B-F6F485C89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8191" y="3137059"/>
            <a:ext cx="5575618" cy="3355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DDF1FEE-3B21-91DF-901B-5F6CBA12B47A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BB0462-5F3B-1D3C-35AF-0F94F8D2D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>
            <a:extLst>
              <a:ext uri="{FF2B5EF4-FFF2-40B4-BE49-F238E27FC236}">
                <a16:creationId xmlns:a16="http://schemas.microsoft.com/office/drawing/2014/main" id="{95F4D82D-C8E6-D7D9-1517-251B5543C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DACCA2-0ECE-D684-64DB-4E8BD1E1AAB0}"/>
              </a:ext>
            </a:extLst>
          </p:cNvPr>
          <p:cNvSpPr txBox="1"/>
          <p:nvPr/>
        </p:nvSpPr>
        <p:spPr>
          <a:xfrm>
            <a:off x="731520" y="274320"/>
            <a:ext cx="5486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THE BUSINESS</a:t>
            </a:r>
            <a:r>
              <a:rPr lang="en-US" dirty="0"/>
              <a:t> &amp; COMPETITIVE ADVANTAGE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2F4674-953C-DCAC-34E8-ADA7781A086A}"/>
              </a:ext>
            </a:extLst>
          </p:cNvPr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SRAM makes the parts that make bikes go, stop, and shift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25AB73-675E-7F99-6EB1-D14E49C6267C}"/>
              </a:ext>
            </a:extLst>
          </p:cNvPr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056BAA-456D-9B2A-61CB-98068DD28291}"/>
              </a:ext>
            </a:extLst>
          </p:cNvPr>
          <p:cNvSpPr txBox="1"/>
          <p:nvPr/>
        </p:nvSpPr>
        <p:spPr>
          <a:xfrm>
            <a:off x="2065021" y="1309151"/>
            <a:ext cx="8138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rPr lang="en-US" dirty="0"/>
              <a:t>P</a:t>
            </a:r>
            <a:r>
              <a:rPr dirty="0"/>
              <a:t>owering bikes from weekend rides to the Tour de France.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50B2A-347D-4CCB-13BA-80F178D9A4F3}"/>
              </a:ext>
            </a:extLst>
          </p:cNvPr>
          <p:cNvSpPr/>
          <p:nvPr/>
        </p:nvSpPr>
        <p:spPr>
          <a:xfrm>
            <a:off x="731520" y="342900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16322A-124E-0B7B-8872-496FEFEBA15A}"/>
              </a:ext>
            </a:extLst>
          </p:cNvPr>
          <p:cNvSpPr txBox="1"/>
          <p:nvPr/>
        </p:nvSpPr>
        <p:spPr>
          <a:xfrm>
            <a:off x="731520" y="361188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7251FA-1469-4416-E3A7-76CC6E157C83}"/>
              </a:ext>
            </a:extLst>
          </p:cNvPr>
          <p:cNvSpPr txBox="1"/>
          <p:nvPr/>
        </p:nvSpPr>
        <p:spPr>
          <a:xfrm>
            <a:off x="731520" y="3931920"/>
            <a:ext cx="15925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Drivetrains + Braking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F83333-6BE7-3D90-A3F9-D414EF80B6FA}"/>
              </a:ext>
            </a:extLst>
          </p:cNvPr>
          <p:cNvSpPr txBox="1"/>
          <p:nvPr/>
        </p:nvSpPr>
        <p:spPr>
          <a:xfrm>
            <a:off x="868680" y="452628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Gears, chains, and disc</a:t>
            </a:r>
            <a:br>
              <a:rPr dirty="0"/>
            </a:br>
            <a:r>
              <a:rPr dirty="0"/>
              <a:t>brakes for every bike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ED2C963-A68A-5AB4-2819-5EC2CBFBA623}"/>
              </a:ext>
            </a:extLst>
          </p:cNvPr>
          <p:cNvSpPr/>
          <p:nvPr/>
        </p:nvSpPr>
        <p:spPr>
          <a:xfrm>
            <a:off x="2552700" y="342900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E571E6-EB8A-EB0F-21B6-5365277E2A38}"/>
              </a:ext>
            </a:extLst>
          </p:cNvPr>
          <p:cNvSpPr txBox="1"/>
          <p:nvPr/>
        </p:nvSpPr>
        <p:spPr>
          <a:xfrm>
            <a:off x="2552700" y="361188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C0DDCF-EF80-0C1B-C690-36267EFA089E}"/>
              </a:ext>
            </a:extLst>
          </p:cNvPr>
          <p:cNvSpPr txBox="1"/>
          <p:nvPr/>
        </p:nvSpPr>
        <p:spPr>
          <a:xfrm>
            <a:off x="2552700" y="3931920"/>
            <a:ext cx="15925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F95C84-8B46-C6E9-8464-8E7E7EADA750}"/>
              </a:ext>
            </a:extLst>
          </p:cNvPr>
          <p:cNvSpPr txBox="1"/>
          <p:nvPr/>
        </p:nvSpPr>
        <p:spPr>
          <a:xfrm>
            <a:off x="2689860" y="452628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Forks and shocks that</a:t>
            </a:r>
            <a:br/>
            <a:r>
              <a:t>absorb trail impacts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CEF5E03-9CC6-B9D3-E34A-BF6E2FCE1A64}"/>
              </a:ext>
            </a:extLst>
          </p:cNvPr>
          <p:cNvSpPr/>
          <p:nvPr/>
        </p:nvSpPr>
        <p:spPr>
          <a:xfrm>
            <a:off x="4373880" y="342900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37C8E3-E55E-AA37-D721-2F47C43D5E0D}"/>
              </a:ext>
            </a:extLst>
          </p:cNvPr>
          <p:cNvSpPr txBox="1"/>
          <p:nvPr/>
        </p:nvSpPr>
        <p:spPr>
          <a:xfrm>
            <a:off x="4373880" y="361188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CC836C-C766-E3F9-DC5F-7582145BE216}"/>
              </a:ext>
            </a:extLst>
          </p:cNvPr>
          <p:cNvSpPr txBox="1"/>
          <p:nvPr/>
        </p:nvSpPr>
        <p:spPr>
          <a:xfrm>
            <a:off x="4373880" y="3931920"/>
            <a:ext cx="15925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AFDF69-228A-CCF2-06ED-ED430952903F}"/>
              </a:ext>
            </a:extLst>
          </p:cNvPr>
          <p:cNvSpPr txBox="1"/>
          <p:nvPr/>
        </p:nvSpPr>
        <p:spPr>
          <a:xfrm>
            <a:off x="4511040" y="452628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Aero wheels, handlebars,</a:t>
            </a:r>
            <a:br/>
            <a:r>
              <a:t>and stems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C5EDA1E-FD0A-C143-4ED2-52D6682E8283}"/>
              </a:ext>
            </a:extLst>
          </p:cNvPr>
          <p:cNvSpPr/>
          <p:nvPr/>
        </p:nvSpPr>
        <p:spPr>
          <a:xfrm>
            <a:off x="6195060" y="342900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73A231-164C-3BCC-B579-D7CDF9EF251B}"/>
              </a:ext>
            </a:extLst>
          </p:cNvPr>
          <p:cNvSpPr txBox="1"/>
          <p:nvPr/>
        </p:nvSpPr>
        <p:spPr>
          <a:xfrm>
            <a:off x="6195060" y="361188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A8F3C1-BD17-B960-7B99-74E5C16D1F97}"/>
              </a:ext>
            </a:extLst>
          </p:cNvPr>
          <p:cNvSpPr txBox="1"/>
          <p:nvPr/>
        </p:nvSpPr>
        <p:spPr>
          <a:xfrm>
            <a:off x="6195060" y="3931920"/>
            <a:ext cx="15925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52CA33-3F56-C40D-CD19-7FDD5FD8CC90}"/>
              </a:ext>
            </a:extLst>
          </p:cNvPr>
          <p:cNvSpPr txBox="1"/>
          <p:nvPr/>
        </p:nvSpPr>
        <p:spPr>
          <a:xfrm>
            <a:off x="6332220" y="452628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Sensors that measure</a:t>
            </a:r>
            <a:br/>
            <a:r>
              <a:t>rider output in watts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1178855-7439-CEAB-C115-D284C8FA931F}"/>
              </a:ext>
            </a:extLst>
          </p:cNvPr>
          <p:cNvSpPr/>
          <p:nvPr/>
        </p:nvSpPr>
        <p:spPr>
          <a:xfrm>
            <a:off x="8016240" y="342900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A03BA69-1A1F-0C0A-425D-DFE43554BF77}"/>
              </a:ext>
            </a:extLst>
          </p:cNvPr>
          <p:cNvSpPr txBox="1"/>
          <p:nvPr/>
        </p:nvSpPr>
        <p:spPr>
          <a:xfrm>
            <a:off x="8016240" y="361188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95533B-7460-7830-19C1-B513700A40B9}"/>
              </a:ext>
            </a:extLst>
          </p:cNvPr>
          <p:cNvSpPr txBox="1"/>
          <p:nvPr/>
        </p:nvSpPr>
        <p:spPr>
          <a:xfrm>
            <a:off x="8016240" y="3931920"/>
            <a:ext cx="15925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GPS Bike Computer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DD80EB2-E554-A669-ABD4-7D6E63751619}"/>
              </a:ext>
            </a:extLst>
          </p:cNvPr>
          <p:cNvSpPr txBox="1"/>
          <p:nvPr/>
        </p:nvSpPr>
        <p:spPr>
          <a:xfrm>
            <a:off x="8153400" y="452628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On-bike computer for</a:t>
            </a:r>
            <a:br/>
            <a:r>
              <a:t>navigation and training data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780F342-5D69-4E8F-48EC-C8CD513FDAE6}"/>
              </a:ext>
            </a:extLst>
          </p:cNvPr>
          <p:cNvSpPr/>
          <p:nvPr/>
        </p:nvSpPr>
        <p:spPr>
          <a:xfrm>
            <a:off x="9837420" y="342900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A5F4AB-BC8F-C5F2-F83E-FF1E6D48BB00}"/>
              </a:ext>
            </a:extLst>
          </p:cNvPr>
          <p:cNvSpPr txBox="1"/>
          <p:nvPr/>
        </p:nvSpPr>
        <p:spPr>
          <a:xfrm>
            <a:off x="9837420" y="361188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707426-57DD-32C7-DDDC-76437F586F6E}"/>
              </a:ext>
            </a:extLst>
          </p:cNvPr>
          <p:cNvSpPr txBox="1"/>
          <p:nvPr/>
        </p:nvSpPr>
        <p:spPr>
          <a:xfrm>
            <a:off x="9837420" y="3931920"/>
            <a:ext cx="15925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5F4419-7CBE-4F66-A09D-7CAB820B1FA0}"/>
              </a:ext>
            </a:extLst>
          </p:cNvPr>
          <p:cNvSpPr txBox="1"/>
          <p:nvPr/>
        </p:nvSpPr>
        <p:spPr>
          <a:xfrm>
            <a:off x="9974580" y="452628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Clip-in pedal systems</a:t>
            </a:r>
            <a:br/>
            <a:r>
              <a:t>for road and mountain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372876-2445-D9DD-265C-D623D8C81CB0}"/>
              </a:ext>
            </a:extLst>
          </p:cNvPr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324F2F-774D-B482-93BE-C6005F20811D}"/>
              </a:ext>
            </a:extLst>
          </p:cNvPr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F07419A3-F3D1-BBC2-6D00-EF0A4A944BEC}"/>
              </a:ext>
            </a:extLst>
          </p:cNvPr>
          <p:cNvSpPr/>
          <p:nvPr/>
        </p:nvSpPr>
        <p:spPr>
          <a:xfrm>
            <a:off x="731520" y="5902131"/>
            <a:ext cx="1069848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9F1882-B8C4-1B26-3B2D-5508AC963B73}"/>
              </a:ext>
            </a:extLst>
          </p:cNvPr>
          <p:cNvSpPr txBox="1"/>
          <p:nvPr/>
        </p:nvSpPr>
        <p:spPr>
          <a:xfrm>
            <a:off x="1097280" y="5941684"/>
            <a:ext cx="99911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AXS Wireless Ecosystem  |  All 6 brands connect wirelessly and share data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ADC6A5B2-D8F5-E7EC-3499-5468E3D3A344}"/>
              </a:ext>
            </a:extLst>
          </p:cNvPr>
          <p:cNvSpPr/>
          <p:nvPr/>
        </p:nvSpPr>
        <p:spPr>
          <a:xfrm>
            <a:off x="2065021" y="164592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2B58B6-8C15-F37C-27B6-D7A056EDC1F1}"/>
              </a:ext>
            </a:extLst>
          </p:cNvPr>
          <p:cNvSpPr txBox="1"/>
          <p:nvPr/>
        </p:nvSpPr>
        <p:spPr>
          <a:xfrm>
            <a:off x="2293621" y="1783080"/>
            <a:ext cx="21031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C105F7-0E7F-B958-AC04-04D956F948AB}"/>
              </a:ext>
            </a:extLst>
          </p:cNvPr>
          <p:cNvSpPr txBox="1"/>
          <p:nvPr/>
        </p:nvSpPr>
        <p:spPr>
          <a:xfrm>
            <a:off x="2293621" y="2011680"/>
            <a:ext cx="2103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67CE9F-690C-3BE0-D02C-F9B54010E56E}"/>
              </a:ext>
            </a:extLst>
          </p:cNvPr>
          <p:cNvSpPr txBox="1"/>
          <p:nvPr/>
        </p:nvSpPr>
        <p:spPr>
          <a:xfrm>
            <a:off x="2293621" y="24688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638AB2A3-A69C-0E3A-91CE-AB4C4318F63D}"/>
              </a:ext>
            </a:extLst>
          </p:cNvPr>
          <p:cNvSpPr/>
          <p:nvPr/>
        </p:nvSpPr>
        <p:spPr>
          <a:xfrm>
            <a:off x="4853940" y="164592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09D628-3226-80CA-E25F-66DD91151EA3}"/>
              </a:ext>
            </a:extLst>
          </p:cNvPr>
          <p:cNvSpPr txBox="1"/>
          <p:nvPr/>
        </p:nvSpPr>
        <p:spPr>
          <a:xfrm>
            <a:off x="5082540" y="1783080"/>
            <a:ext cx="21031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D30767-E9D3-0A95-9229-7E99F16E7925}"/>
              </a:ext>
            </a:extLst>
          </p:cNvPr>
          <p:cNvSpPr txBox="1"/>
          <p:nvPr/>
        </p:nvSpPr>
        <p:spPr>
          <a:xfrm>
            <a:off x="5082540" y="2011680"/>
            <a:ext cx="2103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F13C698-A626-C0B9-B0DD-B84D9B1764D1}"/>
              </a:ext>
            </a:extLst>
          </p:cNvPr>
          <p:cNvSpPr txBox="1"/>
          <p:nvPr/>
        </p:nvSpPr>
        <p:spPr>
          <a:xfrm>
            <a:off x="5082540" y="24688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78231A15-C05C-356C-3772-00176A2A438C}"/>
              </a:ext>
            </a:extLst>
          </p:cNvPr>
          <p:cNvSpPr/>
          <p:nvPr/>
        </p:nvSpPr>
        <p:spPr>
          <a:xfrm>
            <a:off x="7642860" y="164592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E8F5C9B-0693-CCA6-652D-A160B4639E92}"/>
              </a:ext>
            </a:extLst>
          </p:cNvPr>
          <p:cNvSpPr txBox="1"/>
          <p:nvPr/>
        </p:nvSpPr>
        <p:spPr>
          <a:xfrm>
            <a:off x="7871460" y="1783080"/>
            <a:ext cx="21031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548CFDF-BF35-860D-6A40-11A6C9D68A18}"/>
              </a:ext>
            </a:extLst>
          </p:cNvPr>
          <p:cNvSpPr txBox="1"/>
          <p:nvPr/>
        </p:nvSpPr>
        <p:spPr>
          <a:xfrm>
            <a:off x="7871460" y="2011680"/>
            <a:ext cx="2103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EB06C98-8DED-547E-3F55-9094B711BE71}"/>
              </a:ext>
            </a:extLst>
          </p:cNvPr>
          <p:cNvSpPr txBox="1"/>
          <p:nvPr/>
        </p:nvSpPr>
        <p:spPr>
          <a:xfrm>
            <a:off x="7871460" y="24688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E4FBF98-4F3E-3BAC-8C41-63FE197CA135}"/>
              </a:ext>
            </a:extLst>
          </p:cNvPr>
          <p:cNvCxnSpPr>
            <a:stCxn id="40" idx="2"/>
            <a:endCxn id="15" idx="0"/>
          </p:cNvCxnSpPr>
          <p:nvPr/>
        </p:nvCxnSpPr>
        <p:spPr>
          <a:xfrm flipH="1">
            <a:off x="5170170" y="2788920"/>
            <a:ext cx="963930" cy="64008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27B46C2-B8FF-FFFA-CF04-C2F1257E8122}"/>
              </a:ext>
            </a:extLst>
          </p:cNvPr>
          <p:cNvCxnSpPr>
            <a:cxnSpLocks/>
            <a:stCxn id="40" idx="2"/>
            <a:endCxn id="19" idx="0"/>
          </p:cNvCxnSpPr>
          <p:nvPr/>
        </p:nvCxnSpPr>
        <p:spPr>
          <a:xfrm>
            <a:off x="6134100" y="2788920"/>
            <a:ext cx="857250" cy="64008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3921B78-08CB-E650-C951-5EB80C1D3989}"/>
              </a:ext>
            </a:extLst>
          </p:cNvPr>
          <p:cNvCxnSpPr>
            <a:cxnSpLocks/>
            <a:stCxn id="40" idx="2"/>
            <a:endCxn id="23" idx="0"/>
          </p:cNvCxnSpPr>
          <p:nvPr/>
        </p:nvCxnSpPr>
        <p:spPr>
          <a:xfrm>
            <a:off x="6134100" y="2788920"/>
            <a:ext cx="2678430" cy="64008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D195E0C-A0B2-ECBA-C59D-280112810D8E}"/>
              </a:ext>
            </a:extLst>
          </p:cNvPr>
          <p:cNvCxnSpPr>
            <a:cxnSpLocks/>
            <a:stCxn id="40" idx="2"/>
            <a:endCxn id="27" idx="0"/>
          </p:cNvCxnSpPr>
          <p:nvPr/>
        </p:nvCxnSpPr>
        <p:spPr>
          <a:xfrm>
            <a:off x="6134100" y="2788920"/>
            <a:ext cx="4499610" cy="64008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578D863-337C-8CB3-66ED-94A06ACF0AED}"/>
              </a:ext>
            </a:extLst>
          </p:cNvPr>
          <p:cNvCxnSpPr>
            <a:cxnSpLocks/>
            <a:stCxn id="40" idx="2"/>
            <a:endCxn id="11" idx="0"/>
          </p:cNvCxnSpPr>
          <p:nvPr/>
        </p:nvCxnSpPr>
        <p:spPr>
          <a:xfrm flipH="1">
            <a:off x="3348990" y="2788920"/>
            <a:ext cx="2785110" cy="64008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4B26A7A-EE18-5A6D-1442-A54905C82E4B}"/>
              </a:ext>
            </a:extLst>
          </p:cNvPr>
          <p:cNvCxnSpPr>
            <a:cxnSpLocks/>
            <a:stCxn id="40" idx="2"/>
            <a:endCxn id="7" idx="0"/>
          </p:cNvCxnSpPr>
          <p:nvPr/>
        </p:nvCxnSpPr>
        <p:spPr>
          <a:xfrm flipH="1">
            <a:off x="1527810" y="2788920"/>
            <a:ext cx="4606290" cy="64008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5A4A990-DB43-C0F2-7D15-E0E8BB156E39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898371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THE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lang="en-US" dirty="0"/>
              <a:t>Going from Early </a:t>
            </a:r>
            <a:r>
              <a:rPr dirty="0"/>
              <a:t>wins to AI-first enterprise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step builds the infrastructure and organizational trust the next step requires.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60604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2606040" cy="6350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856232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93976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Democratize AI Tooling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88336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Month 0-12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8359"/>
            <a:ext cx="224028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GitHub Copilot + Claude Code</a:t>
            </a:r>
            <a:br>
              <a:rPr dirty="0"/>
            </a:br>
            <a:r>
              <a:rPr dirty="0"/>
              <a:t>for engineers</a:t>
            </a:r>
            <a:br>
              <a:rPr dirty="0"/>
            </a:br>
            <a:br>
              <a:rPr dirty="0"/>
            </a:br>
            <a:r>
              <a:rPr dirty="0"/>
              <a:t>Microsoft CoPilot for</a:t>
            </a:r>
            <a:br>
              <a:rPr dirty="0"/>
            </a:br>
            <a:r>
              <a:rPr dirty="0"/>
              <a:t>business function staff</a:t>
            </a:r>
            <a:br>
              <a:rPr dirty="0"/>
            </a:br>
            <a:br>
              <a:rPr dirty="0"/>
            </a:br>
            <a:r>
              <a:rPr dirty="0"/>
              <a:t>Quarterly AI innovation forums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754880"/>
            <a:ext cx="2423160" cy="9144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2240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</a:t>
            </a:r>
            <a:r>
              <a:rPr lang="en-US" dirty="0"/>
              <a:t>3</a:t>
            </a:r>
            <a:r>
              <a:rPr dirty="0"/>
              <a:t>00K</a:t>
            </a:r>
            <a:r>
              <a:rPr lang="en-US" dirty="0"/>
              <a:t> annual cost</a:t>
            </a:r>
            <a:br>
              <a:rPr dirty="0"/>
            </a:br>
            <a:r>
              <a:rPr dirty="0"/>
              <a:t>~$</a:t>
            </a:r>
            <a:r>
              <a:rPr lang="en-US" dirty="0"/>
              <a:t>1mm annual cost savings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3447288" y="1691640"/>
            <a:ext cx="260604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47288" y="1691640"/>
            <a:ext cx="2606040" cy="6350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30168" y="1856232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0168" y="2093976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Enterprise Data Consolidation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668917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Month 0-24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2943237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AWS-native data </a:t>
            </a:r>
            <a:r>
              <a:rPr dirty="0" err="1"/>
              <a:t>lakehouse</a:t>
            </a:r>
            <a:br>
              <a:rPr dirty="0"/>
            </a:br>
            <a:r>
              <a:rPr dirty="0"/>
              <a:t>on existing AWS infrastructure</a:t>
            </a:r>
            <a:br>
              <a:rPr dirty="0"/>
            </a:br>
            <a:br>
              <a:rPr dirty="0"/>
            </a:br>
            <a:r>
              <a:rPr dirty="0"/>
              <a:t>SAP ERP + Salesforce CRM</a:t>
            </a:r>
            <a:br>
              <a:rPr dirty="0"/>
            </a:br>
            <a:r>
              <a:rPr dirty="0"/>
              <a:t>connected to central platform</a:t>
            </a:r>
            <a:br>
              <a:rPr dirty="0"/>
            </a:br>
            <a:br>
              <a:rPr dirty="0"/>
            </a:br>
            <a:r>
              <a:rPr dirty="0"/>
              <a:t>Prerequisite for Steps 3B + 4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38728" y="4754880"/>
            <a:ext cx="2423160" cy="9144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4846320"/>
            <a:ext cx="22402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$10</a:t>
            </a:r>
            <a:r>
              <a:rPr lang="en-US" dirty="0"/>
              <a:t>mm</a:t>
            </a:r>
            <a:r>
              <a:rPr dirty="0"/>
              <a:t> investment</a:t>
            </a:r>
            <a:br>
              <a:rPr dirty="0"/>
            </a:br>
            <a:r>
              <a:rPr dirty="0"/>
              <a:t>Unlocks </a:t>
            </a:r>
            <a:r>
              <a:rPr lang="en-US" dirty="0"/>
              <a:t>significant opportunity </a:t>
            </a:r>
            <a:r>
              <a:rPr dirty="0"/>
              <a:t>downstream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3056" y="1691640"/>
            <a:ext cx="260604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63056" y="1691640"/>
            <a:ext cx="2606040" cy="6350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45936" y="1856232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2093976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Deploy AI to Operations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2668221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Month 0-36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2942541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3A: AI support agent for</a:t>
            </a:r>
            <a:br>
              <a:rPr dirty="0"/>
            </a:br>
            <a:r>
              <a:rPr dirty="0"/>
              <a:t>AXS + Hammerhead dealers</a:t>
            </a:r>
            <a:br>
              <a:rPr dirty="0"/>
            </a:br>
            <a:br>
              <a:rPr dirty="0"/>
            </a:br>
            <a:r>
              <a:rPr dirty="0"/>
              <a:t>3B: SageMaker demand</a:t>
            </a:r>
            <a:br>
              <a:rPr dirty="0"/>
            </a:br>
            <a:r>
              <a:rPr dirty="0"/>
              <a:t>forecasting on pilot SKUs</a:t>
            </a:r>
            <a:br>
              <a:rPr dirty="0"/>
            </a:br>
            <a:br>
              <a:rPr dirty="0"/>
            </a:br>
            <a:r>
              <a:rPr dirty="0"/>
              <a:t>Bounded, measurable pilots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54496" y="4754880"/>
            <a:ext cx="2423160" cy="9144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45936" y="4846320"/>
            <a:ext cx="2240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3A: ~$</a:t>
            </a:r>
            <a:r>
              <a:rPr lang="en-US" dirty="0"/>
              <a:t>100k</a:t>
            </a:r>
            <a:r>
              <a:rPr dirty="0"/>
              <a:t> net</a:t>
            </a:r>
            <a:r>
              <a:rPr lang="en-US" dirty="0"/>
              <a:t> ongoing annual savings; revenue uplift due to improved customer retention</a:t>
            </a:r>
            <a:br>
              <a:rPr dirty="0"/>
            </a:br>
            <a:r>
              <a:rPr dirty="0"/>
              <a:t>3B: ~$</a:t>
            </a:r>
            <a:r>
              <a:rPr lang="en-US" dirty="0"/>
              <a:t>4.1mm</a:t>
            </a:r>
            <a:r>
              <a:rPr dirty="0"/>
              <a:t> net</a:t>
            </a:r>
            <a:r>
              <a:rPr lang="en-US" dirty="0"/>
              <a:t> cost savings annually</a:t>
            </a:r>
            <a:endParaRPr dirty="0"/>
          </a:p>
        </p:txBody>
      </p:sp>
      <p:sp>
        <p:nvSpPr>
          <p:cNvPr id="31" name="Rounded Rectangle 30"/>
          <p:cNvSpPr/>
          <p:nvPr/>
        </p:nvSpPr>
        <p:spPr>
          <a:xfrm>
            <a:off x="8878824" y="1691640"/>
            <a:ext cx="260604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878824" y="1691640"/>
            <a:ext cx="2606040" cy="63500"/>
          </a:xfrm>
          <a:prstGeom prst="rect">
            <a:avLst/>
          </a:prstGeom>
          <a:solidFill>
            <a:srgbClr val="C43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061704" y="1856232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C43B4F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2093976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Revenue + Innovation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61704" y="2514600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Month 36-60+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61704" y="278892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AXS Intelligence Platform</a:t>
            </a:r>
            <a:br>
              <a:rPr dirty="0"/>
            </a:br>
            <a:r>
              <a:rPr dirty="0"/>
              <a:t>(unified rider data layer)</a:t>
            </a:r>
            <a:br>
              <a:rPr dirty="0"/>
            </a:br>
            <a:br>
              <a:rPr dirty="0"/>
            </a:br>
            <a:r>
              <a:rPr dirty="0"/>
              <a:t>OEM Automation + Upgrade Recs</a:t>
            </a:r>
            <a:br>
              <a:rPr dirty="0"/>
            </a:br>
            <a:r>
              <a:rPr dirty="0"/>
              <a:t>Generative Design + R&amp;D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70264" y="4754880"/>
            <a:ext cx="2423160" cy="9144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061704" y="4846320"/>
            <a:ext cx="2240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~$20M ARR </a:t>
            </a:r>
            <a:r>
              <a:rPr lang="en-US" dirty="0"/>
              <a:t>new subscription revenue</a:t>
            </a:r>
          </a:p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rPr lang="en-US" dirty="0"/>
              <a:t>~$8.5mm annually in revenue uplift at scale</a:t>
            </a:r>
            <a:br>
              <a:rPr dirty="0"/>
            </a:br>
            <a:r>
              <a:rPr dirty="0"/>
              <a:t>~$</a:t>
            </a:r>
            <a:r>
              <a:rPr lang="en-US" dirty="0"/>
              <a:t>4mm cost savings annually</a:t>
            </a:r>
            <a:endParaRPr dirty="0"/>
          </a:p>
        </p:txBody>
      </p:sp>
      <p:sp>
        <p:nvSpPr>
          <p:cNvPr id="39" name="TextBox 38"/>
          <p:cNvSpPr txBox="1"/>
          <p:nvPr/>
        </p:nvSpPr>
        <p:spPr>
          <a:xfrm>
            <a:off x="731520" y="608076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Step 2 runs in parallel with Steps 1 and 3A  |  Steps 3B and 4 depend on Step 2 data infrastructure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DF2C1EC-4D9D-AFA8-72B9-9A54A839186D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STEP 1: DEMOCRATIZE AI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Building AI fluency from the ground up is the prerequisite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515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Deploy AI into existing tools, build organizational comfort, and identify champions before committing to Steps 3 and 4.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GitHub Copilot + 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86000"/>
            <a:ext cx="4663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5F8A"/>
                </a:solidFill>
                <a:latin typeface="Calibri"/>
              </a:defRPr>
            </a:pPr>
            <a:r>
              <a:rPr dirty="0"/>
              <a:t>SRAM's software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AI pair programming in existing IDEs.</a:t>
            </a:r>
            <a:br>
              <a:rPr dirty="0"/>
            </a:br>
            <a:r>
              <a:rPr dirty="0"/>
              <a:t>Accelerates the technical work Steps 2-4 require.</a:t>
            </a:r>
            <a:br>
              <a:rPr dirty="0"/>
            </a:br>
            <a:r>
              <a:rPr dirty="0"/>
              <a:t>Integrates directly into existing GitHub workflows.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11880"/>
            <a:ext cx="46634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rPr dirty="0"/>
              <a:t>Annual cost: $1</a:t>
            </a:r>
            <a:r>
              <a:rPr lang="en-US" dirty="0"/>
              <a:t>5</a:t>
            </a:r>
            <a:r>
              <a:rPr dirty="0"/>
              <a:t>0</a:t>
            </a:r>
            <a:r>
              <a:rPr lang="en-US" dirty="0"/>
              <a:t>k</a:t>
            </a:r>
            <a:r>
              <a:rPr dirty="0"/>
              <a:t>/yr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319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75% of engineers active weekly by Month 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82880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93852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Microsoft CoPilot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86000"/>
            <a:ext cx="4663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5F8A"/>
                </a:solidFill>
                <a:latin typeface="Calibri"/>
              </a:defRPr>
            </a:pPr>
            <a:r>
              <a:rPr lang="en-US" dirty="0"/>
              <a:t>B</a:t>
            </a:r>
            <a:r>
              <a:rPr dirty="0"/>
              <a:t>usiness function 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56032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AI-assisted notes, email, and meeting</a:t>
            </a:r>
            <a:br/>
            <a:r>
              <a:t>summarization across all business functions.</a:t>
            </a:r>
            <a:br/>
            <a:r>
              <a:t>Integrates directly into Microsoft 365.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611880"/>
            <a:ext cx="466344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rPr dirty="0"/>
              <a:t>Annual cost: $1</a:t>
            </a:r>
            <a:r>
              <a:rPr lang="en-US" dirty="0"/>
              <a:t>5</a:t>
            </a:r>
            <a:r>
              <a:rPr dirty="0"/>
              <a:t>0</a:t>
            </a:r>
            <a:r>
              <a:rPr lang="en-US" dirty="0"/>
              <a:t>k</a:t>
            </a:r>
            <a:r>
              <a:rPr dirty="0"/>
              <a:t>/yr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9319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60% of staff active weekly by Month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20640"/>
            <a:ext cx="1069848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5193792"/>
            <a:ext cx="6858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Quarterly AI Innovation Forums</a:t>
            </a:r>
            <a:r>
              <a:rPr lang="en-US" dirty="0"/>
              <a:t> </a:t>
            </a:r>
            <a:r>
              <a:rPr dirty="0"/>
              <a:t>|  Surface grassroots use cases, identify AI champions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19379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5+ champions named by Month 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760720"/>
            <a:ext cx="10698480" cy="59436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5870448"/>
            <a:ext cx="9601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Total investment: ~$</a:t>
            </a:r>
            <a:r>
              <a:rPr lang="en-US" dirty="0"/>
              <a:t>3</a:t>
            </a:r>
            <a:r>
              <a:rPr dirty="0"/>
              <a:t>00</a:t>
            </a:r>
            <a:r>
              <a:rPr lang="en-US" dirty="0"/>
              <a:t>k</a:t>
            </a:r>
            <a:r>
              <a:rPr dirty="0"/>
              <a:t>/yr  |  Total benefit: ~$</a:t>
            </a:r>
            <a:r>
              <a:rPr lang="en-US" dirty="0"/>
              <a:t>1</a:t>
            </a:r>
            <a:r>
              <a:rPr dirty="0"/>
              <a:t>.0</a:t>
            </a:r>
            <a:r>
              <a:rPr lang="en-US" dirty="0"/>
              <a:t>mm</a:t>
            </a:r>
            <a:r>
              <a:rPr dirty="0"/>
              <a:t>/yr labor-equivalent  |  Net value: ~$</a:t>
            </a:r>
            <a:r>
              <a:rPr lang="en-US" dirty="0"/>
              <a:t>700k/</a:t>
            </a:r>
            <a:r>
              <a:rPr dirty="0"/>
              <a:t>yr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C5F4EF-49E1-D8EB-6903-816E1D33D297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STEP 2: ENTERPRISE DATA CONSOLIDATION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Data infrastructure is the prerequisite, not an optional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SRAM has no centralized ERP, CRM, or data warehouse today. Customer data lives in Shopify. AXS telemetry is siloed from Hammerhead ride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2004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385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SOURCE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0428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SAP ERP (order + inventory)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3405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Salesforce CRM (dealers + warranty)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16382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AXS + Hammerhead telemetry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593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Shopify (DTC orders)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0233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Quarq power data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041648" y="3108960"/>
            <a:ext cx="182880" cy="18288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343400" y="1828800"/>
            <a:ext cx="3200400" cy="2743200"/>
          </a:xfrm>
          <a:prstGeom prst="roundRect">
            <a:avLst>
              <a:gd name="adj" fmla="val 4000"/>
            </a:avLst>
          </a:prstGeom>
          <a:solidFill>
            <a:srgbClr val="D4E4F0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19385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AWS DATA LAKEHOUSE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780" y="245973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Unified SKU-level order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780" y="288950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Dealer sell-through rates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780" y="33192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PowerBI + Databricks (BI layer)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780" y="37490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Data quality gates enforced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7653528" y="3108960"/>
            <a:ext cx="182880" cy="18288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955280" y="1828800"/>
            <a:ext cx="32004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38160" y="19385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AI / ML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30428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Bedrock (LLM agents)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273405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SageMaker (forecasting)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80" y="316382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Kendra (doc retrieval)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35935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Salesforce AgentForce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40233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All Step 3 + 4 tools run here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754880"/>
            <a:ext cx="25603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486375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rPr dirty="0"/>
              <a:t>24-MONTH INVESTMENT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58205"/>
            <a:ext cx="2103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$10</a:t>
            </a:r>
            <a:r>
              <a:rPr lang="en-US" dirty="0"/>
              <a:t>mm</a:t>
            </a:r>
            <a:endParaRPr dirty="0"/>
          </a:p>
        </p:txBody>
      </p:sp>
      <p:sp>
        <p:nvSpPr>
          <p:cNvPr id="33" name="TextBox 32"/>
          <p:cNvSpPr txBox="1"/>
          <p:nvPr/>
        </p:nvSpPr>
        <p:spPr>
          <a:xfrm>
            <a:off x="960120" y="5469685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rPr dirty="0"/>
              <a:t>SAP + Salesforce + Lakehouse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00600" y="4754880"/>
            <a:ext cx="25603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29200" y="486375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DOWNSTREAM VALUE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5058205"/>
            <a:ext cx="2103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rPr dirty="0"/>
              <a:t>$3</a:t>
            </a:r>
            <a:r>
              <a:rPr lang="en-US" dirty="0"/>
              <a:t>6.6mm</a:t>
            </a:r>
            <a:r>
              <a:rPr dirty="0"/>
              <a:t>/yr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5469685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Steps 3B + 4 depend on this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4754880"/>
            <a:ext cx="256032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89720" y="486375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DATA READINESS TODAY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5058205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2D5F8A"/>
                </a:solidFill>
                <a:latin typeface="Calibri"/>
              </a:defRPr>
            </a:pPr>
            <a:r>
              <a:rPr dirty="0"/>
              <a:t>60-70%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469685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AXS + Hammerhead pilot-ready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E8255F-61AE-CF9B-1613-1E9A4D5AC4F0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8DF3BE-99AE-A08D-C31D-075133C00287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6F287D-4358-D5BA-05D5-BB0CF2312ADE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773956-362B-9870-0C0A-BC9D1B958159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5074919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68680" y="5303519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19456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194560" y="5074919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377440" y="5148071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744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5780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44068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068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2104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50392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4360" y="5001767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784080" y="4782311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A825D22-DCF8-21D8-17EB-B2F1FA446F2C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STEP 3A: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lang="en-US" dirty="0"/>
              <a:t>Poor support</a:t>
            </a:r>
            <a:r>
              <a:rPr dirty="0"/>
              <a:t> drives</a:t>
            </a:r>
            <a:r>
              <a:rPr lang="en-US" dirty="0"/>
              <a:t> customer</a:t>
            </a:r>
            <a:r>
              <a:rPr dirty="0"/>
              <a:t> churn, not product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rPr sz="1400" dirty="0"/>
              <a:t>Riders </a:t>
            </a:r>
            <a:r>
              <a:rPr sz="1400" b="1" dirty="0"/>
              <a:t>love</a:t>
            </a:r>
            <a:r>
              <a:rPr sz="1400" dirty="0"/>
              <a:t> SRAM hardware. They struggle with firmware updates, part compatibility, and warranty resolution.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603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73736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10312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~70%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5603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200" y="1874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10312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rPr dirty="0"/>
              <a:t>Firmware + Pairing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5603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rPr dirty="0"/>
              <a:t>Reddit, app stores, 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3375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C43B4F"/>
                </a:solidFill>
                <a:latin typeface="Calibri"/>
              </a:defRPr>
            </a:pPr>
            <a:r>
              <a:t>TODAY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70332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749040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1. Dealer emails a question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97764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"Which AXS derailleur firmware works with my 2024 Eagle cassette?"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34340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4389120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 Agent searches manually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61772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Opens a 200-page compatibility PDF. Searches wikis and past tickets.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98348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5029200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 Agent writes a response from scratch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5780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Types the answer, double-checks part numbers, hopes nothing changed.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623559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669279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4. Dealer waits ~4 hours for first response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897879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questions follow the same documented patterns every time.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3375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D5F8A"/>
                </a:solidFill>
                <a:latin typeface="Calibri"/>
              </a:defRPr>
            </a:pPr>
            <a:r>
              <a:t>WITH AI PILOT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370332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00800" y="3749040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1. Same question arrives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97764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Dealer submits via Zendesk. Nothing changes for them.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34340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4389120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 AI searches approved docs instantly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61772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Amazon Kendra indexes compatibility tables and firmware notes.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983480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0" y="5029200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 AI drafts a response for the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25780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Amazon Bedrock generates an answer. Agent reviews before sending.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5623559"/>
            <a:ext cx="5029200" cy="54864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5669279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4. Dealer gets a faster, verified answer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897879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Target first response: ~2.5 hours. Human approves every response.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806440" y="4572000"/>
            <a:ext cx="320040" cy="32004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83F1DB-1161-577A-E4F8-65D81B476CF4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STEP 3A: THE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Four roles, three systems, one bounded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 tickets only. Every AI-generated response requires human approval before it reaches a dealer.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WHO DOES WHAT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57400"/>
            <a:ext cx="50292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2057400"/>
            <a:ext cx="50800" cy="100584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130552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Product Owner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From the support organization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7744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Owns pilot scope and success criteria.</a:t>
            </a:r>
            <a:br/>
            <a:r>
              <a:t>Runs the weekly quality review.</a:t>
            </a:r>
            <a:br/>
            <a:r>
              <a:t>Decides whether to expand, hold, or kill.</a:t>
            </a:r>
            <a:br/>
            <a:r>
              <a:t>Reports to the C-suite AI Sponsor.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72968"/>
            <a:ext cx="50292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1520" y="3172968"/>
            <a:ext cx="50800" cy="100584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Integration Engineer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2644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1 engineer (internal or contractor)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493008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Connects Zendesk to Amazon Kendra and Bedrock.</a:t>
            </a:r>
            <a:br/>
            <a:r>
              <a:t>Indexes AXS + Hammerhead docs into Kendra.</a:t>
            </a:r>
            <a:br/>
            <a:r>
              <a:t>Maintains the knowledge base as docs update.</a:t>
            </a:r>
            <a:br/>
            <a:r>
              <a:t>Tunes Bedrock prompts based on agent feedback.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88536"/>
            <a:ext cx="50292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1520" y="4288536"/>
            <a:ext cx="50800" cy="100584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436168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Support Agents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3799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Existing AXS + Hammerhead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08576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Review every AI-drafted response before sending.</a:t>
            </a:r>
            <a:br/>
            <a:r>
              <a:t>Edit, approve, or reject each draft.</a:t>
            </a:r>
            <a:br/>
            <a:r>
              <a:t>Flag quality issues for weekly review.</a:t>
            </a:r>
            <a:br/>
            <a:r>
              <a:t>Full authority to override any AI output.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404104"/>
            <a:ext cx="50292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1520" y="5404104"/>
            <a:ext cx="50800" cy="100584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5477256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Support Manager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49554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Existing role, expanded 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724144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Tracks all five SMART goals weekly.</a:t>
            </a:r>
            <a:br/>
            <a:r>
              <a:t>Runs Day-45 and Day-90 gate reviews.</a:t>
            </a:r>
            <a:br/>
            <a:r>
              <a:t>Escalates kill-criteria violations to the PO.</a:t>
            </a:r>
            <a:br/>
            <a:r>
              <a:t>Owns the rollback decision if quality drops.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69164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WITH WHAT SYSTEMS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057400"/>
            <a:ext cx="521208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2057400"/>
            <a:ext cx="50800" cy="123444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213055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Zendesk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2148840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TICKET INTAKE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2404872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Receives dealer support tickets.</a:t>
            </a:r>
            <a:br/>
            <a:r>
              <a:t>Routes AXS + Hammerhead tickets to the AI workflow.</a:t>
            </a:r>
            <a:br/>
            <a:r>
              <a:t>All other tickets follow the existing manual process.</a:t>
            </a:r>
            <a:br/>
            <a:r>
              <a:t>No changes to the dealer-facing experience.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401568"/>
            <a:ext cx="521208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17920" y="3401568"/>
            <a:ext cx="50800" cy="123444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0" y="3474720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Amazon Kendra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3493008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KNOWLEDGE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374904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Indexes SRAM compatibility tables, firmware release</a:t>
            </a:r>
            <a:br/>
            <a:r>
              <a:t>notes, and service bulletins.</a:t>
            </a:r>
            <a:br/>
            <a:r>
              <a:t>Searches approved documentation only.</a:t>
            </a:r>
            <a:br/>
            <a:r>
              <a:t>Updated by integration engineer as docs change.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745736"/>
            <a:ext cx="521208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217920" y="4745736"/>
            <a:ext cx="50800" cy="123444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92240" y="481888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Amazon Bedrock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837176"/>
            <a:ext cx="3017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RESPONSE GENERATION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093208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Generates draft responses from Kendra search results.</a:t>
            </a:r>
            <a:br/>
            <a:r>
              <a:t>Cites the source document for every claim.</a:t>
            </a:r>
            <a:br/>
            <a:r>
              <a:t>Flags low-confidence answers for manual handling.</a:t>
            </a:r>
            <a:br/>
            <a:r>
              <a:t>Never sends a response without agent approval.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852160"/>
            <a:ext cx="1645920" cy="5029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9360" y="5879592"/>
            <a:ext cx="14630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E51937"/>
                </a:solidFill>
                <a:latin typeface="Calibri"/>
              </a:defRPr>
            </a:pPr>
            <a:r>
              <a:t>SCOPE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60350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A3A3C"/>
                </a:solidFill>
                <a:latin typeface="Calibri"/>
              </a:defRPr>
            </a:pPr>
            <a:r>
              <a:t>AXS + Hammerhead tickets only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01000" y="5852160"/>
            <a:ext cx="1645920" cy="5029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092440" y="5879592"/>
            <a:ext cx="14630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E51937"/>
                </a:solidFill>
                <a:latin typeface="Calibri"/>
              </a:defRPr>
            </a:pPr>
            <a:r>
              <a:t>GUARDRAIL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92440" y="60350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A3A3C"/>
                </a:solidFill>
                <a:latin typeface="Calibri"/>
              </a:defRPr>
            </a:pPr>
            <a:r>
              <a:t>Human approves every response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4080" y="5852160"/>
            <a:ext cx="1645920" cy="5029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875520" y="5879592"/>
            <a:ext cx="14630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E51937"/>
                </a:solidFill>
                <a:latin typeface="Calibri"/>
              </a:defRPr>
            </a:pPr>
            <a:r>
              <a:t>KILL SWITCH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75520" y="60350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3A3A3C"/>
                </a:solidFill>
                <a:latin typeface="Calibri"/>
              </a:defRPr>
            </a:pPr>
            <a:r>
              <a:t>2 weeks quality drop = rollback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1868227-5045-7A71-C8F4-1C525AC63225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STEP 3A: WHAT WE MEASURE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Five SMART goals define success at the Day-</a:t>
            </a:r>
            <a:r>
              <a:rPr lang="en-US" dirty="0"/>
              <a:t>120</a:t>
            </a:r>
            <a:r>
              <a:rPr dirty="0"/>
              <a:t> go/no-go 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Weber set the bar: a 30% reduction in handle time on AXS support tickets with dealer satisfaction scores holding flat or improving.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9164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6916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16916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OWNER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9164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HOW IT'S 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6916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TRIGGER IF OFF TRACK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984248"/>
            <a:ext cx="10698480" cy="658368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2084832"/>
            <a:ext cx="411480" cy="292608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06654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0482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08483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Support 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06654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Measured weekly vs. current SLA baseline in Zendesk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06654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C43B4F"/>
                </a:solidFill>
                <a:latin typeface="Calibri"/>
              </a:defRPr>
            </a:pPr>
            <a:r>
              <a:rPr dirty="0"/>
              <a:t>Below -20% at Day </a:t>
            </a:r>
            <a:r>
              <a:rPr lang="en-US" dirty="0"/>
              <a:t>90 </a:t>
            </a:r>
            <a:r>
              <a:rPr dirty="0"/>
              <a:t>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2798064"/>
            <a:ext cx="411480" cy="292608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77977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Resolve without escalation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76148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279806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Support 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779776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First-contact resolution rate tracked weekly vs. baseline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779776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C43B4F"/>
                </a:solidFill>
                <a:latin typeface="Calibri"/>
              </a:defRPr>
            </a:pPr>
            <a:r>
              <a:rPr dirty="0"/>
              <a:t>Flat or declining at Day </a:t>
            </a:r>
            <a:r>
              <a:rPr lang="en-US" dirty="0"/>
              <a:t>90</a:t>
            </a:r>
            <a:r>
              <a:rPr dirty="0"/>
              <a:t> triggers agent retraining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410712"/>
            <a:ext cx="10698480" cy="658368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22960" y="3511296"/>
            <a:ext cx="411480" cy="292608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349300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3474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351129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Product Owner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349300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% of AI drafts approved by agents without major edits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493008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C43B4F"/>
                </a:solidFill>
                <a:latin typeface="Calibri"/>
              </a:defRPr>
            </a:pPr>
            <a:r>
              <a:rPr dirty="0"/>
              <a:t>Below 50% at Day </a:t>
            </a:r>
            <a:r>
              <a:rPr lang="en-US" dirty="0"/>
              <a:t>90</a:t>
            </a:r>
            <a:r>
              <a:rPr dirty="0"/>
              <a:t> triggers knowledge base rebuild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224528"/>
            <a:ext cx="411480" cy="292608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20624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Agent throughput 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39" y="4187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422452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Support Manager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42062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Tickets handled per agent per day, tracked weekly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4206240"/>
            <a:ext cx="228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C43B4F"/>
                </a:solidFill>
                <a:latin typeface="Calibri"/>
              </a:defRPr>
            </a:pPr>
            <a:r>
              <a:rPr dirty="0"/>
              <a:t>No improvement by Day </a:t>
            </a:r>
            <a:r>
              <a:rPr lang="en-US" dirty="0"/>
              <a:t>9</a:t>
            </a:r>
            <a:r>
              <a:rPr dirty="0"/>
              <a:t>0 triggers workflow audit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4837176"/>
            <a:ext cx="10698480" cy="658368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822960" y="4937760"/>
            <a:ext cx="411480" cy="292608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491947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9039" y="49011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9160" y="49377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Product Owner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49194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Dealer CSAT survey scores, measured biweekly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491947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C43B4F"/>
                </a:solidFill>
                <a:latin typeface="Calibri"/>
              </a:defRPr>
            </a:pPr>
            <a:r>
              <a:t>Any sustained 2-week drop triggers immediate rollback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5669280"/>
            <a:ext cx="10698480" cy="5029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31520" y="5669280"/>
            <a:ext cx="50800" cy="50292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97280" y="5715000"/>
            <a:ext cx="10058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KILL CRITERIA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589788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2 consecutive weeks of quality decline  |  Any safety error reaching a dealer  |  Dealer opt-out rate above 15%  |  Any of these triggers full rollback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5C7781-870A-D4EC-4107-16C67C036090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13">
            <a:extLst>
              <a:ext uri="{FF2B5EF4-FFF2-40B4-BE49-F238E27FC236}">
                <a16:creationId xmlns:a16="http://schemas.microsoft.com/office/drawing/2014/main" id="{4CFE8885-9096-B08F-2343-57AF169D2D4A}"/>
              </a:ext>
            </a:extLst>
          </p:cNvPr>
          <p:cNvSpPr/>
          <p:nvPr/>
        </p:nvSpPr>
        <p:spPr>
          <a:xfrm>
            <a:off x="10777344" y="2194560"/>
            <a:ext cx="12700" cy="347472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17D58EC-2A7F-B485-6BDF-8CED6FAB36D3}"/>
              </a:ext>
            </a:extLst>
          </p:cNvPr>
          <p:cNvSpPr/>
          <p:nvPr/>
        </p:nvSpPr>
        <p:spPr>
          <a:xfrm>
            <a:off x="11095989" y="2189988"/>
            <a:ext cx="12700" cy="347472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BDADCCF-6EC0-D0E4-70C4-023E8D5517A8}"/>
              </a:ext>
            </a:extLst>
          </p:cNvPr>
          <p:cNvSpPr/>
          <p:nvPr/>
        </p:nvSpPr>
        <p:spPr>
          <a:xfrm>
            <a:off x="10122024" y="2194560"/>
            <a:ext cx="12700" cy="347472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7D8B1C7-6D5F-02E4-36E2-044F0CDB0594}"/>
              </a:ext>
            </a:extLst>
          </p:cNvPr>
          <p:cNvSpPr/>
          <p:nvPr/>
        </p:nvSpPr>
        <p:spPr>
          <a:xfrm>
            <a:off x="9466704" y="2194560"/>
            <a:ext cx="12700" cy="347472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A7F53E5C-B17E-2A85-DA3A-2EBBEBB7AC31}"/>
              </a:ext>
            </a:extLst>
          </p:cNvPr>
          <p:cNvSpPr/>
          <p:nvPr/>
        </p:nvSpPr>
        <p:spPr>
          <a:xfrm>
            <a:off x="8156064" y="2194560"/>
            <a:ext cx="12700" cy="347472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A7ED960A-7EC0-E4F8-EC25-3C9577DB749C}"/>
              </a:ext>
            </a:extLst>
          </p:cNvPr>
          <p:cNvSpPr/>
          <p:nvPr/>
        </p:nvSpPr>
        <p:spPr>
          <a:xfrm>
            <a:off x="8811384" y="2194560"/>
            <a:ext cx="12700" cy="347472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STEP 3A: FINANCIALS AND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lang="en-US" dirty="0"/>
              <a:t>12</a:t>
            </a:r>
            <a:r>
              <a:rPr dirty="0"/>
              <a:t>-month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515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Day-</a:t>
            </a:r>
            <a:r>
              <a:rPr lang="en-US" dirty="0"/>
              <a:t>90</a:t>
            </a:r>
            <a:r>
              <a:rPr dirty="0"/>
              <a:t> scope review, Day-</a:t>
            </a:r>
            <a:r>
              <a:rPr lang="en-US" dirty="0"/>
              <a:t>120</a:t>
            </a:r>
            <a:r>
              <a:rPr dirty="0"/>
              <a:t> go/no-go gate, Month 7-12 scale to full catalog.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Financial Breakdown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6771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Zendesk AI + Kendra + Bedrock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26771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$150</a:t>
            </a:r>
            <a:r>
              <a:rPr lang="en-US" dirty="0"/>
              <a:t>k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1005840" y="2523744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Knowledge base indexing and 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52374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$100</a:t>
            </a:r>
            <a:r>
              <a:rPr lang="en-US" dirty="0"/>
              <a:t>k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1005840" y="2779776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Integration engineer (6 months)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77977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$150</a:t>
            </a:r>
            <a:r>
              <a:rPr lang="en-US" dirty="0"/>
              <a:t>k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1005840" y="30358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Product owner allocation (6 months)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0358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$100</a:t>
            </a:r>
            <a:r>
              <a:rPr lang="en-US" dirty="0"/>
              <a:t>k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822960" y="354787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ANNUAL OPERATING COSTS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803904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AI platform licensing (Bedrock + Kendra)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80390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</a:t>
            </a:r>
            <a:r>
              <a:rPr lang="en-US" dirty="0"/>
              <a:t>20</a:t>
            </a:r>
            <a:r>
              <a:rPr dirty="0"/>
              <a:t>0</a:t>
            </a:r>
            <a:r>
              <a:rPr lang="en-US" dirty="0"/>
              <a:t>k</a:t>
            </a:r>
            <a:r>
              <a:rPr dirty="0"/>
              <a:t>/yr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059936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Knowledge base maintenance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05993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</a:t>
            </a:r>
            <a:r>
              <a:rPr lang="en-US" dirty="0"/>
              <a:t>5</a:t>
            </a:r>
            <a:r>
              <a:rPr dirty="0"/>
              <a:t>0</a:t>
            </a:r>
            <a:r>
              <a:rPr lang="en-US" dirty="0"/>
              <a:t>k</a:t>
            </a:r>
            <a:r>
              <a:rPr dirty="0"/>
              <a:t>/yr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3159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Quality review and oversight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31596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</a:t>
            </a:r>
            <a:r>
              <a:rPr lang="en-US" dirty="0"/>
              <a:t>5</a:t>
            </a:r>
            <a:r>
              <a:rPr dirty="0"/>
              <a:t>0</a:t>
            </a:r>
            <a:r>
              <a:rPr lang="en-US" dirty="0"/>
              <a:t>k</a:t>
            </a:r>
            <a:r>
              <a:rPr dirty="0"/>
              <a:t>/yr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8280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ANNUAL GROSS BENEFIT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084064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rPr lang="en-US" dirty="0"/>
              <a:t>Warranty claim accuracy</a:t>
            </a:r>
            <a:endParaRPr dirty="0"/>
          </a:p>
        </p:txBody>
      </p:sp>
      <p:sp>
        <p:nvSpPr>
          <p:cNvPr id="26" name="TextBox 25"/>
          <p:cNvSpPr txBox="1"/>
          <p:nvPr/>
        </p:nvSpPr>
        <p:spPr>
          <a:xfrm>
            <a:off x="4114800" y="5084064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</a:t>
            </a:r>
            <a:r>
              <a:rPr lang="en-US" dirty="0"/>
              <a:t>400k</a:t>
            </a:r>
            <a:r>
              <a:rPr dirty="0"/>
              <a:t>/yr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340096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Reduced escalations</a:t>
            </a:r>
            <a:r>
              <a:rPr lang="en-US" dirty="0"/>
              <a:t> and handle time</a:t>
            </a:r>
            <a:endParaRPr dirty="0"/>
          </a:p>
        </p:txBody>
      </p:sp>
      <p:sp>
        <p:nvSpPr>
          <p:cNvPr id="28" name="TextBox 27"/>
          <p:cNvSpPr txBox="1"/>
          <p:nvPr/>
        </p:nvSpPr>
        <p:spPr>
          <a:xfrm>
            <a:off x="4114800" y="5340096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rPr lang="en-US" dirty="0"/>
              <a:t>N/Q savings</a:t>
            </a:r>
            <a:endParaRPr dirty="0"/>
          </a:p>
        </p:txBody>
      </p:sp>
      <p:sp>
        <p:nvSpPr>
          <p:cNvPr id="29" name="TextBox 28"/>
          <p:cNvSpPr txBox="1"/>
          <p:nvPr/>
        </p:nvSpPr>
        <p:spPr>
          <a:xfrm>
            <a:off x="1005840" y="55961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3A3A3C"/>
                </a:solidFill>
                <a:latin typeface="Calibri"/>
              </a:defRPr>
            </a:pPr>
            <a:r>
              <a:t>Customer retention improvement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559612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rPr lang="en-US" dirty="0"/>
              <a:t>Incremental</a:t>
            </a:r>
            <a:endParaRPr dirty="0"/>
          </a:p>
        </p:txBody>
      </p:sp>
      <p:sp>
        <p:nvSpPr>
          <p:cNvPr id="43" name="TextBox 42"/>
          <p:cNvSpPr txBox="1"/>
          <p:nvPr/>
        </p:nvSpPr>
        <p:spPr>
          <a:xfrm>
            <a:off x="6217920" y="1691640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rPr lang="en-US" dirty="0"/>
              <a:t>12</a:t>
            </a:r>
            <a:r>
              <a:rPr dirty="0"/>
              <a:t>-Month Timeline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9742" y="2020824"/>
            <a:ext cx="655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M1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94675" y="2020824"/>
            <a:ext cx="655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24522" y="2020824"/>
            <a:ext cx="655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30467" y="2021512"/>
            <a:ext cx="655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9397" y="2011680"/>
            <a:ext cx="655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M5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75409" y="2011680"/>
            <a:ext cx="655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M6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19389" y="2206823"/>
            <a:ext cx="12700" cy="347472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474709" y="2206823"/>
            <a:ext cx="12700" cy="347472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9130029" y="2206823"/>
            <a:ext cx="12700" cy="347472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785349" y="2206823"/>
            <a:ext cx="12700" cy="347472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0440669" y="2206823"/>
            <a:ext cx="12700" cy="347472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217920" y="2240280"/>
            <a:ext cx="5212080" cy="310896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17920" y="2276856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98078" y="2276856"/>
            <a:ext cx="985645" cy="201168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17920" y="2587752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498078" y="2587752"/>
            <a:ext cx="1981325" cy="210312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6217920" y="2862072"/>
            <a:ext cx="5212080" cy="310896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17920" y="2898648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824084" y="2889504"/>
            <a:ext cx="1956945" cy="231058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17920" y="320954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464038" y="3209544"/>
            <a:ext cx="1965961" cy="246888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6217920" y="3483864"/>
            <a:ext cx="5212080" cy="310896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17920" y="352044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808719" y="3520440"/>
            <a:ext cx="2621280" cy="237744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17920" y="3831336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793353" y="3831336"/>
            <a:ext cx="2636645" cy="26517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6217920" y="4105656"/>
            <a:ext cx="5212080" cy="310896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17920" y="4142232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808719" y="4142232"/>
            <a:ext cx="2621280" cy="201168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17920" y="4453128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CSAT Monitoring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93353" y="4453128"/>
            <a:ext cx="2636646" cy="26517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217920" y="4727448"/>
            <a:ext cx="5212080" cy="310896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217920" y="476402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153399" y="4764024"/>
            <a:ext cx="3276600" cy="201168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17920" y="5074920"/>
            <a:ext cx="1234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Day-</a:t>
            </a:r>
            <a:r>
              <a:rPr lang="en-US" dirty="0"/>
              <a:t>90</a:t>
            </a:r>
            <a:r>
              <a:rPr dirty="0"/>
              <a:t> Checkpoint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438260" y="5084064"/>
            <a:ext cx="98298" cy="201168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6217920" y="5349240"/>
            <a:ext cx="5212080" cy="310896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17920" y="5385816"/>
            <a:ext cx="1234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Day-</a:t>
            </a:r>
            <a:r>
              <a:rPr lang="en-US" dirty="0"/>
              <a:t>120</a:t>
            </a:r>
            <a:r>
              <a:rPr dirty="0"/>
              <a:t> Go/No-Go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759570" y="5385226"/>
            <a:ext cx="98298" cy="201168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C7B66D9-A4B6-B4AD-F001-95482DF2AEE5}"/>
              </a:ext>
            </a:extLst>
          </p:cNvPr>
          <p:cNvSpPr txBox="1"/>
          <p:nvPr/>
        </p:nvSpPr>
        <p:spPr>
          <a:xfrm>
            <a:off x="9290716" y="2005311"/>
            <a:ext cx="6553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M</a:t>
            </a:r>
            <a:r>
              <a:rPr lang="en-US" dirty="0"/>
              <a:t>7</a:t>
            </a:r>
            <a:endParaRPr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67CA74C-A625-54C4-8592-FEC8CFBDC08D}"/>
              </a:ext>
            </a:extLst>
          </p:cNvPr>
          <p:cNvSpPr txBox="1"/>
          <p:nvPr/>
        </p:nvSpPr>
        <p:spPr>
          <a:xfrm>
            <a:off x="9655649" y="2005311"/>
            <a:ext cx="6553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M</a:t>
            </a:r>
            <a:r>
              <a:rPr lang="en-US" dirty="0"/>
              <a:t>8</a:t>
            </a:r>
            <a:endParaRPr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DB9DFF1-9133-C72A-CEDE-E01C8CBB2121}"/>
              </a:ext>
            </a:extLst>
          </p:cNvPr>
          <p:cNvSpPr txBox="1"/>
          <p:nvPr/>
        </p:nvSpPr>
        <p:spPr>
          <a:xfrm>
            <a:off x="9985496" y="2005311"/>
            <a:ext cx="6553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M</a:t>
            </a:r>
            <a:r>
              <a:rPr lang="en-US" dirty="0"/>
              <a:t>9</a:t>
            </a:r>
            <a:endParaRPr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30652E9-AC6C-0207-FD7A-B7A474B5016B}"/>
              </a:ext>
            </a:extLst>
          </p:cNvPr>
          <p:cNvSpPr txBox="1"/>
          <p:nvPr/>
        </p:nvSpPr>
        <p:spPr>
          <a:xfrm>
            <a:off x="10291441" y="2005999"/>
            <a:ext cx="6553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M</a:t>
            </a:r>
            <a:r>
              <a:rPr lang="en-US" dirty="0"/>
              <a:t>10</a:t>
            </a:r>
            <a:endParaRPr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42D4686-1928-3AFD-A11B-99DF96B9465A}"/>
              </a:ext>
            </a:extLst>
          </p:cNvPr>
          <p:cNvSpPr txBox="1"/>
          <p:nvPr/>
        </p:nvSpPr>
        <p:spPr>
          <a:xfrm>
            <a:off x="10610371" y="1996167"/>
            <a:ext cx="6553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M</a:t>
            </a:r>
            <a:r>
              <a:rPr lang="en-US" dirty="0"/>
              <a:t>11</a:t>
            </a:r>
            <a:endParaRPr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7F096D-F9E4-EB7A-4A74-63A08661A58F}"/>
              </a:ext>
            </a:extLst>
          </p:cNvPr>
          <p:cNvSpPr txBox="1"/>
          <p:nvPr/>
        </p:nvSpPr>
        <p:spPr>
          <a:xfrm>
            <a:off x="10936383" y="1996167"/>
            <a:ext cx="6553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rPr dirty="0"/>
              <a:t>M</a:t>
            </a:r>
            <a:r>
              <a:rPr lang="en-US" dirty="0"/>
              <a:t>12</a:t>
            </a:r>
            <a:endParaRPr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DDDC3C3-0E42-D4B9-93DB-1072C533B8BE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STEP 3B: DEMAND FORECASTING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No forecasting system exists today; SageMaker fills that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Stockouts, markdown losses, and overproduction are addressable without touching the product. Requires the Step 2 data foundation as a hard gate.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C43B4F"/>
                </a:solidFill>
                <a:latin typeface="Calibri"/>
              </a:defRPr>
            </a:pPr>
            <a:r>
              <a:t>TODAY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50292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76272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1. Brand-level judgment drives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centralized inventory visibility.</a:t>
            </a:r>
            <a:br/>
            <a:r>
              <a:t>Dealer sell-through not systematically tracked.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50292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182112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2. Stockouts surface as surprises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5643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Rush shipping absorbs margin.</a:t>
            </a:r>
            <a:br/>
            <a:r>
              <a:t>Markdowns clear overstock at loss.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50292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187952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3. Planners react to problems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6227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Decisions made without model support.</a:t>
            </a:r>
            <a:br/>
            <a:r>
              <a:t>Data exists at brand level, not enterprise level.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7373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D5F8A"/>
                </a:solidFill>
                <a:latin typeface="Calibri"/>
              </a:defRPr>
            </a:pPr>
            <a:r>
              <a:t>WITH SAGEMAKER 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103120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2176272"/>
            <a:ext cx="4846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Month 2</a:t>
            </a:r>
            <a:r>
              <a:rPr lang="en-US" dirty="0"/>
              <a:t>5</a:t>
            </a:r>
            <a:r>
              <a:rPr dirty="0"/>
              <a:t>-27: Model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5059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SageMaker trained on unified lakehouse data.</a:t>
            </a:r>
            <a:br/>
            <a:r>
              <a:t>Back-test validates MAPE target of 15% or less.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108960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3182112"/>
            <a:ext cx="4846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Month 27-3</a:t>
            </a:r>
            <a:r>
              <a:rPr lang="en-US" dirty="0"/>
              <a:t>3</a:t>
            </a:r>
            <a:r>
              <a:rPr dirty="0"/>
              <a:t>: Shadow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45643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Model runs in parallel. Planners receive</a:t>
            </a:r>
            <a:br/>
            <a:r>
              <a:t>recommendations but make decisions as normal.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114800"/>
            <a:ext cx="5212080" cy="8686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4187952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Month 30-36: Active pilot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46227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Planners act on model recommendations</a:t>
            </a:r>
            <a:br/>
            <a:r>
              <a:t>with full override authority. Overrides logged.</a:t>
            </a:r>
          </a:p>
        </p:txBody>
      </p:sp>
      <p:sp>
        <p:nvSpPr>
          <p:cNvPr id="27" name="Isosceles Triangle 26"/>
          <p:cNvSpPr/>
          <p:nvPr/>
        </p:nvSpPr>
        <p:spPr>
          <a:xfrm rot="5400000">
            <a:off x="5806440" y="3017520"/>
            <a:ext cx="320040" cy="32004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BBA263-9099-05D0-F200-5B37376BD926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STEP 3B: FINANCIALS AND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Demand forecasting delivers once data infrastructure is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515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Begins at Month 2</a:t>
            </a:r>
            <a:r>
              <a:rPr lang="en-US" dirty="0"/>
              <a:t>5</a:t>
            </a:r>
            <a:r>
              <a:rPr dirty="0"/>
              <a:t> after the Step 2 data </a:t>
            </a:r>
            <a:r>
              <a:rPr dirty="0" err="1"/>
              <a:t>lakehouse</a:t>
            </a:r>
            <a:r>
              <a:rPr dirty="0"/>
              <a:t> is operational. Shadow mode validates accuracy before planners act on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SETUP INVESTMENT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103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~$500</a:t>
            </a:r>
            <a:r>
              <a:rPr lang="en-US" dirty="0"/>
              <a:t>k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96012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SageMaker + data science lead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0332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ANNUAL GROSS BENEFIT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194560"/>
            <a:ext cx="2103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</a:t>
            </a:r>
            <a:r>
              <a:rPr lang="en-US" dirty="0"/>
              <a:t>4</a:t>
            </a:r>
            <a:r>
              <a:rPr dirty="0"/>
              <a:t>.</a:t>
            </a:r>
            <a:r>
              <a:rPr lang="en-US" dirty="0"/>
              <a:t>8mm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370332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+ markdowns reduction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ANNUAL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94560"/>
            <a:ext cx="2103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~$4.</a:t>
            </a:r>
            <a:r>
              <a:rPr lang="en-US" dirty="0"/>
              <a:t>1mm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644652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After $700K operating cost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8972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ONE-TIME BONUS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194560"/>
            <a:ext cx="2103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2D5F8A"/>
                </a:solidFill>
                <a:latin typeface="Calibri"/>
              </a:defRPr>
            </a:pPr>
            <a:r>
              <a:rPr lang="en-US" dirty="0"/>
              <a:t>WC release</a:t>
            </a:r>
            <a:endParaRPr dirty="0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Success Criteria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630168"/>
            <a:ext cx="5029200" cy="4572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36941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Forecast accuracy (MAPE)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63240" y="3675888"/>
            <a:ext cx="10515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51937"/>
                </a:solidFill>
                <a:latin typeface="Calibri"/>
              </a:defRPr>
            </a:pPr>
            <a:r>
              <a:rPr dirty="0"/>
              <a:t>15% or less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71246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Back-tested before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9709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Stockout reduction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178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51937"/>
                </a:solidFill>
                <a:latin typeface="Calibri"/>
              </a:defRPr>
            </a:pPr>
            <a:r>
              <a:rPr dirty="0"/>
              <a:t>-30%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421538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Measured against 12-month baseline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636008"/>
            <a:ext cx="5029200" cy="4572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470001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Markdown reduction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681728"/>
            <a:ext cx="914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51937"/>
                </a:solidFill>
                <a:latin typeface="Calibri"/>
              </a:defRPr>
            </a:pPr>
            <a:r>
              <a:rPr dirty="0"/>
              <a:t>-2</a:t>
            </a:r>
            <a:r>
              <a:rPr lang="en-US" dirty="0"/>
              <a:t>5</a:t>
            </a:r>
            <a:r>
              <a:rPr dirty="0"/>
              <a:t>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471830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Tracked at SKU level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2029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Planner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184648"/>
            <a:ext cx="914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51937"/>
                </a:solidFill>
                <a:latin typeface="Calibri"/>
              </a:defRPr>
            </a:pPr>
            <a:r>
              <a:rPr dirty="0"/>
              <a:t>&gt;</a:t>
            </a:r>
            <a:r>
              <a:rPr lang="en-US" dirty="0"/>
              <a:t>6</a:t>
            </a:r>
            <a:r>
              <a:rPr dirty="0"/>
              <a:t>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522122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Recommendations reviewed weekly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2461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657600"/>
            <a:ext cx="5212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217920" y="3657600"/>
            <a:ext cx="50800" cy="594360"/>
          </a:xfrm>
          <a:prstGeom prst="rect">
            <a:avLst/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37960" y="36941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D4E4F0"/>
                </a:solidFill>
                <a:latin typeface="Calibri"/>
              </a:defRPr>
            </a:pPr>
            <a:r>
              <a:rPr dirty="0"/>
              <a:t>Month 0-24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3694176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Data foundation (Step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391363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SAP, Salesforce, and lakehouse build.</a:t>
            </a:r>
            <a:br/>
            <a:r>
              <a:t>Hard gate for forecasting launch.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343400"/>
            <a:ext cx="5212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217920" y="4343400"/>
            <a:ext cx="50800" cy="5943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37960" y="4379976"/>
            <a:ext cx="11887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rPr dirty="0"/>
              <a:t>Month 2</a:t>
            </a:r>
            <a:r>
              <a:rPr lang="en-US" dirty="0"/>
              <a:t>5</a:t>
            </a:r>
            <a:r>
              <a:rPr dirty="0"/>
              <a:t>-27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4379976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Model development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459943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SageMaker trained on unified data.</a:t>
            </a:r>
            <a:br/>
            <a:r>
              <a:t>Back-test validates accuracy.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0" y="5029200"/>
            <a:ext cx="5212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217920" y="5029200"/>
            <a:ext cx="50800" cy="5943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37960" y="5065776"/>
            <a:ext cx="11887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rPr dirty="0"/>
              <a:t>Month 27-3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52" name="TextBox 51"/>
          <p:cNvSpPr txBox="1"/>
          <p:nvPr/>
        </p:nvSpPr>
        <p:spPr>
          <a:xfrm>
            <a:off x="7772400" y="5065776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Shadow mode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7960" y="528523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Planners compare model vs. judgment.</a:t>
            </a:r>
            <a:br/>
            <a:r>
              <a:t>No operational changes yet.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17920" y="5715000"/>
            <a:ext cx="5212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217920" y="5715000"/>
            <a:ext cx="50800" cy="5943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537960" y="575157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Month 30-36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5751576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Active pilot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7960" y="597103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Live recommendations with override.</a:t>
            </a:r>
            <a:br/>
            <a:r>
              <a:t>Overrides logged for model retraining.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00E3F4-83D0-4C71-6450-0166FA591563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installed base of connected components becomes a platform, not a one-time sale.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35E637-ADC9-420A-7435-7689E95418D8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installed base of connected components becomes a platform, not a one-time sale.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Per-device monitoring subscription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Premium optimization tier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Dealer analytics license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486399"/>
            <a:ext cx="10698480" cy="43668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1520" y="548640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7280" y="5522976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rPr sz="2000" dirty="0"/>
              <a:t>Hardware sells data access  →  Data improves performance  →  Performance sells hardware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535F142-646D-6566-1F2E-7A8642B71C84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STEP 4: NEW REVENUE STREAMS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Premium AXS, subscription model, and four distinct revenue paths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initiative is viable only after Step 2 data infrastructure is live. Combined, they represent $39M+/yr at maturity.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5212080" cy="508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80136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rider data: AXS drivetrain, RockShox,</a:t>
            </a:r>
            <a:br/>
            <a:r>
              <a:t>Quarq power, Hammerhead GPS in one view.</a:t>
            </a:r>
            <a:br/>
            <a:r>
              <a:t>No competitor has the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6459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rPr dirty="0"/>
              <a:t>$</a:t>
            </a:r>
            <a:r>
              <a:rPr lang="en-US" dirty="0"/>
              <a:t>5mm</a:t>
            </a:r>
            <a:r>
              <a:rPr dirty="0"/>
              <a:t>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063240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~$20</a:t>
            </a:r>
            <a:r>
              <a:rPr lang="en-US" dirty="0"/>
              <a:t>mm</a:t>
            </a:r>
            <a:r>
              <a:rPr dirty="0"/>
              <a:t> ARR at scale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91640"/>
            <a:ext cx="521208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80" y="1691640"/>
            <a:ext cx="5212080" cy="508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180136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Generative Design + R&amp;D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1488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AI-assisted design, digital twin simulation,</a:t>
            </a:r>
            <a:br/>
            <a:r>
              <a:t>automated patent search. Field telemetry trains</a:t>
            </a:r>
            <a:br/>
            <a:r>
              <a:t>AI on actual performance data at scale.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63240"/>
            <a:ext cx="16459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rPr dirty="0"/>
              <a:t>$4</a:t>
            </a:r>
            <a:r>
              <a:rPr lang="en-US" dirty="0"/>
              <a:t>mm</a:t>
            </a:r>
            <a:r>
              <a:rPr dirty="0"/>
              <a:t>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063240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</a:t>
            </a:r>
            <a:r>
              <a:rPr lang="en-US" dirty="0"/>
              <a:t>6mm</a:t>
            </a:r>
            <a:r>
              <a:rPr dirty="0"/>
              <a:t>/yr benefit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94760"/>
            <a:ext cx="521208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3794760"/>
            <a:ext cx="5212080" cy="508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39044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251960"/>
            <a:ext cx="48463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Salesforce </a:t>
            </a:r>
            <a:r>
              <a:rPr dirty="0" err="1"/>
              <a:t>AgentForce</a:t>
            </a:r>
            <a:r>
              <a:rPr dirty="0"/>
              <a:t> + CPQ accelerates</a:t>
            </a:r>
            <a:br>
              <a:rPr dirty="0"/>
            </a:br>
            <a:r>
              <a:rPr dirty="0"/>
              <a:t>spec proposals and automates documentation.</a:t>
            </a:r>
            <a:br>
              <a:rPr dirty="0"/>
            </a:br>
            <a:r>
              <a:rPr dirty="0"/>
              <a:t>1% OEM win rate improvement = $2.5</a:t>
            </a:r>
            <a:r>
              <a:rPr lang="en-US" dirty="0"/>
              <a:t>mm</a:t>
            </a:r>
            <a:r>
              <a:rPr dirty="0"/>
              <a:t>/yr.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66360"/>
            <a:ext cx="16459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rPr dirty="0"/>
              <a:t>$1</a:t>
            </a:r>
            <a:r>
              <a:rPr lang="en-US" dirty="0"/>
              <a:t>mm</a:t>
            </a:r>
            <a:r>
              <a:rPr dirty="0"/>
              <a:t>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166360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~$</a:t>
            </a:r>
            <a:r>
              <a:rPr lang="en-US" dirty="0"/>
              <a:t>2</a:t>
            </a:r>
            <a:r>
              <a:rPr dirty="0"/>
              <a:t>.</a:t>
            </a:r>
            <a:r>
              <a:rPr lang="en-US" dirty="0"/>
              <a:t>5mm</a:t>
            </a:r>
            <a:r>
              <a:rPr dirty="0"/>
              <a:t>/yr benefit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794760"/>
            <a:ext cx="5212080" cy="1920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26480" y="3794760"/>
            <a:ext cx="5212080" cy="508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09360" y="390448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Compatible Upgrade Recs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251960"/>
            <a:ext cx="48463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rPr dirty="0"/>
              <a:t>SageMaker recommendation engine lifts basket</a:t>
            </a:r>
            <a:br>
              <a:rPr dirty="0"/>
            </a:br>
            <a:r>
              <a:rPr lang="en-US" dirty="0"/>
              <a:t>V</a:t>
            </a:r>
            <a:r>
              <a:rPr dirty="0"/>
              <a:t>alue through dealer and DTC channels.</a:t>
            </a:r>
            <a:br>
              <a:rPr dirty="0"/>
            </a:br>
            <a:r>
              <a:rPr dirty="0"/>
              <a:t>Predictive maintenance drives repeat purchases.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166360"/>
            <a:ext cx="16459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rPr dirty="0"/>
              <a:t>$500</a:t>
            </a:r>
            <a:r>
              <a:rPr lang="en-US" dirty="0"/>
              <a:t>k </a:t>
            </a:r>
            <a:r>
              <a:rPr dirty="0"/>
              <a:t>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5166360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$</a:t>
            </a:r>
            <a:r>
              <a:rPr lang="en-US" dirty="0"/>
              <a:t>4mm</a:t>
            </a:r>
            <a:r>
              <a:rPr dirty="0"/>
              <a:t>/yr benefit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806440"/>
            <a:ext cx="106984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50800" cy="50292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97280" y="5861304"/>
            <a:ext cx="10058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Step 4 total: ~$</a:t>
            </a:r>
            <a:r>
              <a:rPr lang="en-US" dirty="0"/>
              <a:t>10.5mm</a:t>
            </a:r>
            <a:r>
              <a:rPr dirty="0"/>
              <a:t> investment  |  $</a:t>
            </a:r>
            <a:r>
              <a:rPr lang="en-US" dirty="0"/>
              <a:t>3</a:t>
            </a:r>
            <a:r>
              <a:rPr dirty="0"/>
              <a:t>2</a:t>
            </a:r>
            <a:r>
              <a:rPr lang="en-US" dirty="0"/>
              <a:t>.5mm</a:t>
            </a:r>
            <a:r>
              <a:rPr dirty="0"/>
              <a:t>/yr at scale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5C5270-3022-B6B6-CEC5-D4D9338BC5D1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TRADE-OFFS AND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dirty="0"/>
              <a:t>Three risks worth naming before the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50800" cy="1371600"/>
          </a:xfrm>
          <a:prstGeom prst="rect">
            <a:avLst/>
          </a:prstGeom>
          <a:solidFill>
            <a:srgbClr val="C43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46304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Dealer trust is fragile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783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One confident wrong answer from the AI reaches a dealer, and the support team loses credibility it spent years building. Human-in-the-loop and weekly quality reviews mitigate this, but they also slow throughput gains.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77440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MITIGATION: Kill criteria trigger rollback at first safety error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2971800"/>
            <a:ext cx="50800" cy="1371600"/>
          </a:xfrm>
          <a:prstGeom prst="rect">
            <a:avLst/>
          </a:prstGeom>
          <a:solidFill>
            <a:srgbClr val="C43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06324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 consolidation has no executive sponsor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383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Weber owns sales and manufacturing but not the CRM, ERP, or inventory systems. Phase 2 requires a unified data layer across those systems. Without a senior sponsor, data integration stalls and the pilot stays isolated.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977640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MITIGATION: CEO assigns cross-functional data owner in parallel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4572000"/>
            <a:ext cx="50800" cy="1371600"/>
          </a:xfrm>
          <a:prstGeom prst="rect">
            <a:avLst/>
          </a:prstGeom>
          <a:solidFill>
            <a:srgbClr val="C43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466344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AI hype creates unrealistic internal expectations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9834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SRAM's engineering culture values precision. If leadership frames AI as a silver bullet rather than a tool, early imperfections will fuel skepticism and internal resistance to future phases.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577840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MITIGATION: Frame pilot as experiment with defined success and failure criteria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87AA26-E63A-A6B2-809B-DED0D8E0CE75}"/>
              </a:ext>
            </a:extLst>
          </p:cNvPr>
          <p:cNvSpPr txBox="1"/>
          <p:nvPr/>
        </p:nvSpPr>
        <p:spPr>
          <a:xfrm>
            <a:off x="0" y="0"/>
            <a:ext cx="2746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W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575A76-1521-DD41-AE4C-75A2D4251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ram_logo.png">
            <a:extLst>
              <a:ext uri="{FF2B5EF4-FFF2-40B4-BE49-F238E27FC236}">
                <a16:creationId xmlns:a16="http://schemas.microsoft.com/office/drawing/2014/main" id="{CF24803A-1CF0-3010-9448-3F263666F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1097280" cy="1413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9A2744D-4CD9-2181-32A5-7572D48D26F0}"/>
              </a:ext>
            </a:extLst>
          </p:cNvPr>
          <p:cNvSpPr txBox="1"/>
          <p:nvPr/>
        </p:nvSpPr>
        <p:spPr>
          <a:xfrm>
            <a:off x="731520" y="5486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rPr lang="en-US" dirty="0"/>
              <a:t>Questions</a:t>
            </a:r>
            <a:endParaRPr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7723D4-B50E-C892-0560-8509AD6E2878}"/>
              </a:ext>
            </a:extLst>
          </p:cNvPr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B9F0245-9E4B-86F7-5CF1-430CD8A457A8}"/>
              </a:ext>
            </a:extLst>
          </p:cNvPr>
          <p:cNvSpPr txBox="1"/>
          <p:nvPr/>
        </p:nvSpPr>
        <p:spPr>
          <a:xfrm>
            <a:off x="10515600" y="6446520"/>
            <a:ext cx="13716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rPr dirty="0"/>
              <a:t>1</a:t>
            </a:r>
            <a:r>
              <a:rPr lang="en-US" dirty="0"/>
              <a:t>7</a:t>
            </a:r>
            <a:endParaRPr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8BD80EF-7163-341D-992E-9C3503E60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030" y="1852402"/>
            <a:ext cx="4909151" cy="342298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89FDBF84-F797-C937-CE5F-3D0AC0B9EA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52401"/>
            <a:ext cx="6284122" cy="3424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70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3186</Words>
  <Application>Microsoft Macintosh PowerPoint</Application>
  <PresentationFormat>Widescreen</PresentationFormat>
  <Paragraphs>539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Donovan Ross Palmer</cp:lastModifiedBy>
  <cp:revision>34</cp:revision>
  <dcterms:created xsi:type="dcterms:W3CDTF">2013-01-27T09:14:16Z</dcterms:created>
  <dcterms:modified xsi:type="dcterms:W3CDTF">2026-03-13T23:25:01Z</dcterms:modified>
  <cp:category/>
</cp:coreProperties>
</file>