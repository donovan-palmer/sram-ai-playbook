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18575D-488F-32FC-2A5C-497681AB74B1}" name="Edward Kreienberg" initials="EK" userId="S::sxv7782@ads.northwestern.edu::535254a2-0a5e-43af-bfa0-f1a29775a1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2743200" cy="3533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2194560"/>
            <a:ext cx="109728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40"/>
              </a:spcAft>
              <a:defRPr sz="4400" b="1">
                <a:solidFill>
                  <a:srgbClr val="1C1C1E"/>
                </a:solidFill>
                <a:latin typeface="Calibri"/>
              </a:defRPr>
            </a:pPr>
            <a:r>
              <a:rPr dirty="0"/>
              <a:t>SRAM LLC</a:t>
            </a:r>
          </a:p>
          <a:p>
            <a:pPr>
              <a:spcAft>
                <a:spcPts val="1560"/>
              </a:spcAft>
              <a:defRPr sz="2600" b="0">
                <a:solidFill>
                  <a:srgbClr val="767676"/>
                </a:solidFill>
                <a:latin typeface="Calibri"/>
              </a:defRPr>
            </a:pPr>
            <a:r>
              <a:rPr dirty="0"/>
              <a:t>AI Adoption Playbook</a:t>
            </a:r>
          </a:p>
          <a:p>
            <a:pPr>
              <a:spcAft>
                <a:spcPts val="6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  <a:endParaRPr dirty="0"/>
          </a:p>
          <a:p>
            <a:pPr>
              <a:spcAft>
                <a:spcPts val="480"/>
              </a:spcAft>
              <a:defRPr sz="800" b="0">
                <a:solidFill>
                  <a:srgbClr val="767676"/>
                </a:solidFill>
                <a:latin typeface="Calibri"/>
              </a:defRPr>
            </a:pPr>
            <a:endParaRPr dirty="0"/>
          </a:p>
          <a:p>
            <a:pPr>
              <a:spcAft>
                <a:spcPts val="78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rPr dirty="0"/>
              <a:t>Prepared for Executive Leadership  |  March 2026</a:t>
            </a:r>
          </a:p>
          <a:p>
            <a:pPr>
              <a:spcAft>
                <a:spcPts val="360"/>
              </a:spcAft>
              <a:defRPr sz="600" b="0">
                <a:solidFill>
                  <a:srgbClr val="767676"/>
                </a:solidFill>
                <a:latin typeface="Calibri"/>
              </a:defRPr>
            </a:pPr>
            <a:endParaRPr dirty="0"/>
          </a:p>
          <a:p>
            <a:pPr>
              <a:spcAft>
                <a:spcPts val="78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rPr dirty="0"/>
              <a:t>Donovan Palmer, Ed Kreienberg, Will Zheng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AIML 950  |  Human and Machine Intelligence  |  Northwestern Kellogg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SRAM makes the parts that make bikes go, stop, and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A $1B+ company headquartered in Chicago, powering bikes from weekend rides to the Tour de France.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SRAM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Drivetrains + Braking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Gears, chains, and disc</a:t>
            </a:r>
            <a:br/>
            <a:r>
              <a:t>brakes for every bike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270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5270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RockShox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700" y="251460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9860" y="310896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Forks and shocks that</a:t>
            </a:r>
            <a:br/>
            <a:r>
              <a:t>absorb trail impacts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388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388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Zipp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3880" y="251460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Wheels + Cockpit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1040" y="310896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Aero wheels, handlebars,</a:t>
            </a:r>
            <a:br/>
            <a:r>
              <a:t>and stems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506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Quarq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5060" y="251460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Power 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2220" y="310896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Sensors that measure</a:t>
            </a:r>
            <a:br/>
            <a:r>
              <a:t>rider output in watts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1624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624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Hammerhead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6240" y="251460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GPS Bike Computer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3400" y="310896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On-bike computer for</a:t>
            </a:r>
            <a:br/>
            <a:r>
              <a:t>navigation and training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3742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3742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7420" y="2514600"/>
            <a:ext cx="15925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Pedals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4580" y="310896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Clip-in pedal systems</a:t>
            </a:r>
            <a:br/>
            <a:r>
              <a:t>for road and mountain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A3A3C"/>
                </a:solidFill>
                <a:latin typeface="Calibri"/>
              </a:defRPr>
            </a:pPr>
            <a:r>
              <a:t>6 brands. 1 connected ecosystem. From weekend riders to Tour de France pros.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SRAM's connected ecosystem is unmatched in cycling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Private, Chicago-founded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Integrated portfolio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59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MTB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Market leader globally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Support-driven churn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SRAM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Drivetrains + Braking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441448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60603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19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RockShox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19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431596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8055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1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Zipp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1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Wheels + Cockpit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619048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35507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3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Quarq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3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Power Meters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806500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6676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Hammerhead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GPS Bike Computer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9939528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10412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Pedals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114800"/>
            <a:ext cx="11064240" cy="32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97280" y="413308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AXS Wireless Ecosystem  |  All 6 brands connect wirelessly and share 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436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Sources: MTB share per Bicycle Retailer industry analysis; Trustpilot rating as of Feb 2026 (n=180+ reviews)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Four steps from early wins to AI-first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step builds the infrastructure and organizational trust the next step requires.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606040" cy="635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9397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Democratize AI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Month 0-12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68359"/>
            <a:ext cx="22402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GitHub Copilot + Claude Code</a:t>
            </a:r>
            <a:br>
              <a:rPr dirty="0"/>
            </a:br>
            <a:r>
              <a:rPr dirty="0"/>
              <a:t>for engineers</a:t>
            </a:r>
            <a:br>
              <a:rPr dirty="0"/>
            </a:br>
            <a:br>
              <a:rPr dirty="0"/>
            </a:br>
            <a:r>
              <a:rPr dirty="0"/>
              <a:t>Microsoft CoPilot for</a:t>
            </a:r>
            <a:br>
              <a:rPr dirty="0"/>
            </a:br>
            <a:r>
              <a:rPr dirty="0"/>
              <a:t>business function staff</a:t>
            </a:r>
            <a:br>
              <a:rPr dirty="0"/>
            </a:br>
            <a:br>
              <a:rPr dirty="0"/>
            </a:br>
            <a:r>
              <a:rPr dirty="0"/>
              <a:t>Quarterly AI innovation forums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754880"/>
            <a:ext cx="2423160" cy="9144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240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3</a:t>
            </a:r>
            <a:r>
              <a:rPr dirty="0"/>
              <a:t>00K</a:t>
            </a:r>
            <a:r>
              <a:rPr lang="en-US" dirty="0"/>
              <a:t> annual cost</a:t>
            </a:r>
            <a:br>
              <a:rPr dirty="0"/>
            </a:br>
            <a:r>
              <a:rPr dirty="0"/>
              <a:t>~$</a:t>
            </a:r>
            <a:r>
              <a:rPr lang="en-US" dirty="0"/>
              <a:t>1mm annual cost savings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3447288" y="169164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47288" y="1691640"/>
            <a:ext cx="2606040" cy="635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30168" y="18562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09397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Enterprise Data Consolidation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668917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Month 0-24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943237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AWS-native data </a:t>
            </a:r>
            <a:r>
              <a:rPr dirty="0" err="1"/>
              <a:t>lakehouse</a:t>
            </a:r>
            <a:br>
              <a:rPr dirty="0"/>
            </a:br>
            <a:r>
              <a:rPr dirty="0"/>
              <a:t>on existing AWS infrastructure</a:t>
            </a:r>
            <a:br>
              <a:rPr dirty="0"/>
            </a:br>
            <a:br>
              <a:rPr dirty="0"/>
            </a:br>
            <a:r>
              <a:rPr dirty="0"/>
              <a:t>SAP ERP + Salesforce CRM</a:t>
            </a:r>
            <a:br>
              <a:rPr dirty="0"/>
            </a:br>
            <a:r>
              <a:rPr dirty="0"/>
              <a:t>connected to central platform</a:t>
            </a:r>
            <a:br>
              <a:rPr dirty="0"/>
            </a:br>
            <a:br>
              <a:rPr dirty="0"/>
            </a:br>
            <a:r>
              <a:rPr dirty="0"/>
              <a:t>Prerequisite for Steps 3B + 4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8728" y="4754880"/>
            <a:ext cx="2423160" cy="9144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4846320"/>
            <a:ext cx="22402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$10</a:t>
            </a:r>
            <a:r>
              <a:rPr lang="en-US" dirty="0"/>
              <a:t>mm</a:t>
            </a:r>
            <a:r>
              <a:rPr dirty="0"/>
              <a:t> investment</a:t>
            </a:r>
            <a:br>
              <a:rPr dirty="0"/>
            </a:br>
            <a:r>
              <a:rPr dirty="0"/>
              <a:t>Unlocks </a:t>
            </a:r>
            <a:r>
              <a:rPr lang="en-US" dirty="0"/>
              <a:t>significant opportunity </a:t>
            </a:r>
            <a:r>
              <a:rPr dirty="0"/>
              <a:t>downstream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169164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63056" y="1691640"/>
            <a:ext cx="2606040" cy="635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45936" y="18562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09397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Deploy AI to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66822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Month 0-36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942541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3A: AI support agent for</a:t>
            </a:r>
            <a:br>
              <a:rPr dirty="0"/>
            </a:br>
            <a:r>
              <a:rPr dirty="0"/>
              <a:t>AXS + Hammerhead dealers</a:t>
            </a:r>
            <a:br>
              <a:rPr dirty="0"/>
            </a:br>
            <a:br>
              <a:rPr dirty="0"/>
            </a:br>
            <a:r>
              <a:rPr dirty="0"/>
              <a:t>3B: SageMaker demand</a:t>
            </a:r>
            <a:br>
              <a:rPr dirty="0"/>
            </a:br>
            <a:r>
              <a:rPr dirty="0"/>
              <a:t>forecasting on pilot SKUs</a:t>
            </a:r>
            <a:br>
              <a:rPr dirty="0"/>
            </a:br>
            <a:br>
              <a:rPr dirty="0"/>
            </a:br>
            <a:r>
              <a:rPr dirty="0"/>
              <a:t>Bounded, measurable pilots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54496" y="4754880"/>
            <a:ext cx="2423160" cy="9144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4846320"/>
            <a:ext cx="2240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3A: ~$</a:t>
            </a:r>
            <a:r>
              <a:rPr lang="en-US" dirty="0"/>
              <a:t>100k</a:t>
            </a:r>
            <a:r>
              <a:rPr dirty="0"/>
              <a:t> net</a:t>
            </a:r>
            <a:r>
              <a:rPr lang="en-US" dirty="0"/>
              <a:t> ongoing annual savings; revenue uplift due to improved customer retention</a:t>
            </a:r>
            <a:br>
              <a:rPr dirty="0"/>
            </a:br>
            <a:r>
              <a:rPr dirty="0"/>
              <a:t>3B: ~$</a:t>
            </a:r>
            <a:r>
              <a:rPr lang="en-US" dirty="0"/>
              <a:t>4.1</a:t>
            </a:r>
            <a:r>
              <a:rPr dirty="0"/>
              <a:t> net</a:t>
            </a:r>
            <a:r>
              <a:rPr lang="en-US" dirty="0"/>
              <a:t> cost savings annually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8878824" y="1691640"/>
            <a:ext cx="260604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878824" y="1691640"/>
            <a:ext cx="2606040" cy="635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61704" y="185623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43B4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209397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Revenue + Innovation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61704" y="251460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Month 36-60+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61704" y="278892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AXS Intelligence Platform</a:t>
            </a:r>
            <a:br/>
            <a:r>
              <a:t>(unified rider data layer)</a:t>
            </a:r>
            <a:br/>
            <a:br/>
            <a:r>
              <a:t>OEM Automation + Upgrade Recs</a:t>
            </a:r>
            <a:br/>
            <a:r>
              <a:t>Generative Design + R&amp;D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0264" y="4754880"/>
            <a:ext cx="2423160" cy="9144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61704" y="4846320"/>
            <a:ext cx="22402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~$20M ARR </a:t>
            </a:r>
            <a:r>
              <a:rPr lang="en-US" dirty="0"/>
              <a:t>new subscription revenue</a:t>
            </a:r>
          </a:p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~$8.5mm annually in revenue uplift at scale</a:t>
            </a:r>
            <a:br>
              <a:rPr dirty="0"/>
            </a:br>
            <a:r>
              <a:rPr dirty="0"/>
              <a:t>~$</a:t>
            </a:r>
            <a:r>
              <a:rPr lang="en-US" dirty="0"/>
              <a:t>4mm cost savings annually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731520" y="60807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Step 2 runs in parallel with Steps 1 and 3A  |  Steps 3B and 4 depend on Step 2 data 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1: DEMOCRATIZE AI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Building AI fluency from the ground up is the prerequisite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No new hires. No infrastructure. Deploy AI into existing tools, build organizational comfort, and identify champions before committing to Steps 3 and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GitHub Copilot + 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5F8A"/>
                </a:solidFill>
                <a:latin typeface="Calibri"/>
              </a:defRPr>
            </a:pPr>
            <a:r>
              <a:rPr dirty="0"/>
              <a:t>SRAM's software engineers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AI pair programming in existing IDEs.</a:t>
            </a:r>
            <a:br/>
            <a:r>
              <a:t>Accelerates the technical work Steps 2-4 require.</a:t>
            </a:r>
            <a:br/>
            <a:r>
              <a:t>Integrates directly into existing GitHub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4663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Annual cost: $1</a:t>
            </a:r>
            <a:r>
              <a:rPr lang="en-US" dirty="0"/>
              <a:t>5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75% of engineers active weekly by Month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51206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9385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Microsoft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86000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D5F8A"/>
                </a:solidFill>
                <a:latin typeface="Calibri"/>
              </a:defRPr>
            </a:pPr>
            <a:r>
              <a:rPr lang="en-US" dirty="0"/>
              <a:t>B</a:t>
            </a:r>
            <a:r>
              <a:rPr dirty="0"/>
              <a:t>usiness function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60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AI-assisted notes, email, and meeting</a:t>
            </a:r>
            <a:br/>
            <a:r>
              <a:t>summarization across all business functions.</a:t>
            </a:r>
            <a:br/>
            <a:r>
              <a:t>Integrates directly into Microsoft 365.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11880"/>
            <a:ext cx="46634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Annual cost: $1</a:t>
            </a:r>
            <a:r>
              <a:rPr lang="en-US" dirty="0"/>
              <a:t>5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60% of staff active weekly by Month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193792"/>
            <a:ext cx="6858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Quarterly AI Innovation Forums</a:t>
            </a:r>
            <a:r>
              <a:rPr lang="en-US" dirty="0"/>
              <a:t> </a:t>
            </a:r>
            <a:r>
              <a:rPr dirty="0"/>
              <a:t>|  Surface grassroots use cases, identify AI champions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1937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5+ champions named by Month 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698480" cy="594360"/>
          </a:xfrm>
          <a:prstGeom prst="roundRect">
            <a:avLst>
              <a:gd name="adj" fmla="val 2000"/>
            </a:avLst>
          </a:prstGeom>
          <a:solidFill>
            <a:srgbClr val="FDF0F2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870448"/>
            <a:ext cx="9601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Total investment: ~$</a:t>
            </a:r>
            <a:r>
              <a:rPr lang="en-US" dirty="0"/>
              <a:t>3</a:t>
            </a:r>
            <a:r>
              <a:rPr dirty="0"/>
              <a:t>00</a:t>
            </a:r>
            <a:r>
              <a:rPr lang="en-US" dirty="0"/>
              <a:t>k</a:t>
            </a:r>
            <a:r>
              <a:rPr dirty="0"/>
              <a:t>/yr  |  Total benefit: ~$</a:t>
            </a:r>
            <a:r>
              <a:rPr lang="en-US" dirty="0"/>
              <a:t>1</a:t>
            </a:r>
            <a:r>
              <a:rPr dirty="0"/>
              <a:t>.0</a:t>
            </a:r>
            <a:r>
              <a:rPr lang="en-US" dirty="0"/>
              <a:t>mm</a:t>
            </a:r>
            <a:r>
              <a:rPr dirty="0"/>
              <a:t>/yr labor-equivalent  |  Net value: ~$</a:t>
            </a:r>
            <a:r>
              <a:rPr lang="en-US" dirty="0"/>
              <a:t>700k/</a:t>
            </a:r>
            <a:r>
              <a:rPr dirty="0"/>
              <a:t>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2: ENTERPRISE DATA CONSOLIDATION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Data infrastructure is the prerequisite, not an optional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SRAM has no centralized ERP, CRM, or data warehouse today. Customer data lives in Shopify. AXS telemetry is siloed from Hammerhead ride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SOURCE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SAP ERP (order + inventory)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34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Salesforce CRM (dealers + warranty)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63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AXS + Hammerhead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93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Shopify (DTC orders)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Quarq power data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4041648" y="3108960"/>
            <a:ext cx="182880" cy="18288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D4E4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9385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AWS DATA LAKEHOUSE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780" y="2459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Unified SKU-level order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780" y="2889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Dealer sell-through 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780" y="3319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PowerBI + Databricks (BI layer)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780" y="3749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Data quality gates enforced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7653528" y="3108960"/>
            <a:ext cx="182880" cy="18288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955280" y="18288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193852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AI / ML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042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Amazon Bedrock (LLM agents)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73405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Amazon SageMaker (forecasting)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163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Amazon Kendra (doc retrieval)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593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Salesforce AgentForce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All Step 3 + 4 tools run here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5488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86375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24-MONTH INVESTMENT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058205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$10</a:t>
            </a:r>
            <a:r>
              <a:rPr lang="en-US" dirty="0"/>
              <a:t>mm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960120" y="5469685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SAP + Salesforce + Lakehouse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0600" y="475488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0" y="486375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DOWNSTREAM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058205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rPr dirty="0"/>
              <a:t>$3</a:t>
            </a:r>
            <a:r>
              <a:rPr lang="en-US" dirty="0"/>
              <a:t>6.6mm</a:t>
            </a:r>
            <a:r>
              <a:rPr dirty="0"/>
              <a:t>/yr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469685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Steps 3B + 4 depend on this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475488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89720" y="486375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DATA READINESS TODAY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5058205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2D5F8A"/>
                </a:solidFill>
                <a:latin typeface="Calibri"/>
              </a:defRPr>
            </a:pPr>
            <a:r>
              <a:rPr dirty="0"/>
              <a:t>60-70%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469685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AXS + Hammerhead pilot-ready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023360"/>
            <a:ext cx="50800" cy="82296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251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7744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4068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Start where domain knowledge is high and outcomes are measurable. Support is the proving ground for everything that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023360"/>
            <a:ext cx="50800" cy="82296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251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7744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4068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2104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074919"/>
            <a:ext cx="50800" cy="82296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" y="5303519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9456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94560" y="5074919"/>
            <a:ext cx="50800" cy="82296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77440" y="5148071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RECOMMENDED PILOT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 Support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70% of dealer questions are repetitive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5780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4068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Warranty Automation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Fraudulent and mis-filed claims cost time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Compatibility Assistant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Riders get wrong parts, return them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5001767"/>
            <a:ext cx="10927080" cy="969264"/>
          </a:xfrm>
          <a:prstGeom prst="rect">
            <a:avLst/>
          </a:prstGeom>
          <a:noFill/>
          <a:ln w="3175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84080" y="478231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START HERE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3A: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Support quality drives churn, not product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Riders love SRAM hardware. They struggle with firmware updates, part compatibility, and warranty resolution.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Warranty friction and support delays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7373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874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AUTOMATABLE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60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Questions follow documented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8745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TOP COMPLAINTS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1031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Firmware + Pairing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6032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Reddit, app stores, Trustpilot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43B4F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74904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1. Dealer emails a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"Which AXS derailleur firmware works with my 2024 Eagle cassette?"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34340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3891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2. Agent searches manually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Opens a 200-page compatibility PDF. Searches wikis and past tickets.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8348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3. Agent writes a response from scratch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578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Types the answer, double-checks part numbers, hopes nothing changed.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59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69279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4. Dealer waits ~4 hours for first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978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70% of questions follow the same documented patterns every time.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337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5F8A"/>
                </a:solidFill>
                <a:latin typeface="Calibri"/>
              </a:defRPr>
            </a:pPr>
            <a:r>
              <a:t>WITH AI PILOT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70332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74904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1. Same question arrives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7764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Dealer submits via Zendesk. Nothing changes for them.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34340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38912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2. AI searches approved docs instantly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1772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Amazon Kendra indexes compatibility tables and firmware notes.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983480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502920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3. AI drafts a response for the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5780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Amazon Bedrock generates an answer. Agent reviews before sending.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623559"/>
            <a:ext cx="5029200" cy="54864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5669279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4. Dealer gets a faster, verified 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897879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Target first response: ~2.5 hours. Human approves every response.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5806440" y="4572000"/>
            <a:ext cx="320040" cy="32004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3A: THE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Four roles, three systems, one bounded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AXS and Hammerhead dealer support tickets only. Every AI-generated response requires human approval before it reaches a dealer.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WHO DOES WHAT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0800" cy="10058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305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Product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488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From the support 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Owns pilot scope and success criteria.</a:t>
            </a:r>
            <a:br/>
            <a:r>
              <a:t>Runs the weekly quality review.</a:t>
            </a:r>
            <a:br/>
            <a:r>
              <a:t>Decides whether to expand, hold, or kill.</a:t>
            </a:r>
            <a:br/>
            <a:r>
              <a:t>Reports to the C-suite AI Sponsor.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72968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172968"/>
            <a:ext cx="50800" cy="10058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Integration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64408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1 engineer (internal or contractor)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Connects Zendesk to Amazon Kendra and Bedrock.</a:t>
            </a:r>
            <a:br/>
            <a:r>
              <a:t>Indexes AXS + Hammerhead docs into Kendra.</a:t>
            </a:r>
            <a:br/>
            <a:r>
              <a:t>Maintains the knowledge base as docs update.</a:t>
            </a:r>
            <a:br/>
            <a:r>
              <a:t>Tunes Bedrock prompts based on agent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88536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288536"/>
            <a:ext cx="50800" cy="10058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3616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Support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3799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Existing AXS + Hammerhead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0857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Review every AI-drafted response before sending.</a:t>
            </a:r>
            <a:br/>
            <a:r>
              <a:t>Edit, approve, or reject each draft.</a:t>
            </a:r>
            <a:br/>
            <a:r>
              <a:t>Flag quality issues for weekly review.</a:t>
            </a:r>
            <a:br/>
            <a:r>
              <a:t>Full authority to override any AI output.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04104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404104"/>
            <a:ext cx="50800" cy="10058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772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Support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49554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Existing role, expanded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24144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Tracks all five SMART goals weekly.</a:t>
            </a:r>
            <a:br/>
            <a:r>
              <a:t>Runs Day-45 and Day-90 gate reviews.</a:t>
            </a:r>
            <a:br/>
            <a:r>
              <a:t>Escalates kill-criteria violations to the PO.</a:t>
            </a:r>
            <a:br/>
            <a:r>
              <a:t>Owns the rollback decision if quality drops.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916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WITH WHAT SYSTEMS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57400"/>
            <a:ext cx="52120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2057400"/>
            <a:ext cx="50800" cy="12344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1305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Zendesk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14884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TICKET INTAKE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404872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Receives dealer support tickets.</a:t>
            </a:r>
            <a:br/>
            <a:r>
              <a:t>Routes AXS + Hammerhead tickets to the AI workflow.</a:t>
            </a:r>
            <a:br/>
            <a:r>
              <a:t>All other tickets follow the existing manual process.</a:t>
            </a:r>
            <a:br/>
            <a:r>
              <a:t>No changes to the dealer-facing experience.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401568"/>
            <a:ext cx="52120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3401568"/>
            <a:ext cx="50800" cy="12344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34747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Amazon Kendra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9300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KNOWLEDGE 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7490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Indexes SRAM compatibility tables, firmware release</a:t>
            </a:r>
            <a:br/>
            <a:r>
              <a:t>notes, and service bulletins.</a:t>
            </a:r>
            <a:br/>
            <a:r>
              <a:t>Searches approved documentation only.</a:t>
            </a:r>
            <a:br/>
            <a:r>
              <a:t>Updated by integration engineer as docs change.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745736"/>
            <a:ext cx="5212080" cy="1234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4745736"/>
            <a:ext cx="50800" cy="123444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48188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Amazon Bedrock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837176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RESPONSE GENERATION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09320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Generates draft responses from Kendra search results.</a:t>
            </a:r>
            <a:br/>
            <a:r>
              <a:t>Cites the source document for every claim.</a:t>
            </a:r>
            <a:br/>
            <a:r>
              <a:t>Flags low-confidence answers for manual handling.</a:t>
            </a:r>
            <a:br/>
            <a:r>
              <a:t>Never sends a response without agent approval.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852160"/>
            <a:ext cx="1645920" cy="50292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9360" y="587959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E51937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A3A3C"/>
                </a:solidFill>
                <a:latin typeface="Calibri"/>
              </a:defRPr>
            </a:pPr>
            <a:r>
              <a:t>AXS + Hammerhead tickets only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5852160"/>
            <a:ext cx="1645920" cy="50292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92440" y="587959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E51937"/>
                </a:solidFill>
                <a:latin typeface="Calibri"/>
              </a:defRPr>
            </a:pPr>
            <a:r>
              <a:t>GUARDRAIL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A3A3C"/>
                </a:solidFill>
                <a:latin typeface="Calibri"/>
              </a:defRPr>
            </a:pPr>
            <a:r>
              <a:t>Human approves every response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84080" y="5852160"/>
            <a:ext cx="1645920" cy="50292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75520" y="587959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E51937"/>
                </a:solidFill>
                <a:latin typeface="Calibri"/>
              </a:defRPr>
            </a:pPr>
            <a:r>
              <a:t>KILL SWITCH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A3A3C"/>
                </a:solidFill>
                <a:latin typeface="Calibri"/>
              </a:defRPr>
            </a:pPr>
            <a:r>
              <a:t>2 weeks quality drop = rollback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3A: WHAT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Five SMART goals define success at the Day-</a:t>
            </a:r>
            <a:r>
              <a:rPr lang="en-US" dirty="0"/>
              <a:t>120</a:t>
            </a:r>
            <a:r>
              <a:rPr dirty="0"/>
              <a:t> go/no-go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Weber set the bar: a 30% reduction in handle time on AXS support tickets with dealer satisfaction scores holding flat or improving.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691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691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916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HOW IT'S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1691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TRIGGER IF OFF 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84248"/>
            <a:ext cx="10698480" cy="658368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084832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06654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Cut first-response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0482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0848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Support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06654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Measured weekly vs. current SLA baseline in Zendesk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066544"/>
            <a:ext cx="228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rPr dirty="0"/>
              <a:t>Below -20% at Day </a:t>
            </a:r>
            <a:r>
              <a:rPr lang="en-US" dirty="0"/>
              <a:t>90 </a:t>
            </a:r>
            <a:r>
              <a:rPr dirty="0"/>
              <a:t>triggers scope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798064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7797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Resolve without escalation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7614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+15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7980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Support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77977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First-contact resolution rate tracked weekly vs.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77977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rPr dirty="0"/>
              <a:t>Flat or declining at Day </a:t>
            </a:r>
            <a:r>
              <a:rPr lang="en-US" dirty="0"/>
              <a:t>90</a:t>
            </a:r>
            <a:r>
              <a:rPr dirty="0"/>
              <a:t> triggers agent retraining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410712"/>
            <a:ext cx="10698480" cy="658368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3511296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49300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 draft acceptance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&gt;70%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5112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Product 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4930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% of AI drafts approved by agents without major edits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49300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rPr dirty="0"/>
              <a:t>Below 50% at Day </a:t>
            </a:r>
            <a:r>
              <a:rPr lang="en-US" dirty="0"/>
              <a:t>90</a:t>
            </a:r>
            <a:r>
              <a:rPr dirty="0"/>
              <a:t> triggers knowledge base rebuild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224528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2062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Agent throughput 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187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+25%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2245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Support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2062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Tickets handled per agent per day, tracked weekly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20624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rPr dirty="0"/>
              <a:t>No improvement by Day </a:t>
            </a:r>
            <a:r>
              <a:rPr lang="en-US" dirty="0"/>
              <a:t>9</a:t>
            </a:r>
            <a:r>
              <a:rPr dirty="0"/>
              <a:t>0 triggers workflow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837176"/>
            <a:ext cx="10698480" cy="658368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22960" y="4937760"/>
            <a:ext cx="411480" cy="29260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9194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Hold customer satisfaction flat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49011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51937"/>
                </a:solidFill>
                <a:latin typeface="Calibri"/>
              </a:defRPr>
            </a:pPr>
            <a:r>
              <a:t>No decline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937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Product Owner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91947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Dealer CSAT survey scores, measured biweekly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9194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C43B4F"/>
                </a:solidFill>
                <a:latin typeface="Calibri"/>
              </a:defRPr>
            </a:pPr>
            <a:r>
              <a:t>Any sustained 2-week drop triggers immediate rollback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669280"/>
            <a:ext cx="10698480" cy="502920"/>
          </a:xfrm>
          <a:prstGeom prst="roundRect">
            <a:avLst>
              <a:gd name="adj" fmla="val 2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31520" y="5669280"/>
            <a:ext cx="50800" cy="50292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7280" y="57150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KILL CRITERIA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8978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2 consecutive weeks of quality decline  |  Any safety error reaching a dealer  |  Dealer opt-out rate above 15%  |  Any of these triggers full rollback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4CFE8885-9096-B08F-2343-57AF169D2D4A}"/>
              </a:ext>
            </a:extLst>
          </p:cNvPr>
          <p:cNvSpPr/>
          <p:nvPr/>
        </p:nvSpPr>
        <p:spPr>
          <a:xfrm>
            <a:off x="1077734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17D58EC-2A7F-B485-6BDF-8CED6FAB36D3}"/>
              </a:ext>
            </a:extLst>
          </p:cNvPr>
          <p:cNvSpPr/>
          <p:nvPr/>
        </p:nvSpPr>
        <p:spPr>
          <a:xfrm>
            <a:off x="11095989" y="2189988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BDADCCF-6EC0-D0E4-70C4-023E8D5517A8}"/>
              </a:ext>
            </a:extLst>
          </p:cNvPr>
          <p:cNvSpPr/>
          <p:nvPr/>
        </p:nvSpPr>
        <p:spPr>
          <a:xfrm>
            <a:off x="1012202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7D8B1C7-6D5F-02E4-36E2-044F0CDB0594}"/>
              </a:ext>
            </a:extLst>
          </p:cNvPr>
          <p:cNvSpPr/>
          <p:nvPr/>
        </p:nvSpPr>
        <p:spPr>
          <a:xfrm>
            <a:off x="946670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7F53E5C-B17E-2A85-DA3A-2EBBEBB7AC31}"/>
              </a:ext>
            </a:extLst>
          </p:cNvPr>
          <p:cNvSpPr/>
          <p:nvPr/>
        </p:nvSpPr>
        <p:spPr>
          <a:xfrm>
            <a:off x="815606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7ED960A-7EC0-E4F8-EC25-3C9577DB749C}"/>
              </a:ext>
            </a:extLst>
          </p:cNvPr>
          <p:cNvSpPr/>
          <p:nvPr/>
        </p:nvSpPr>
        <p:spPr>
          <a:xfrm>
            <a:off x="8811384" y="2194560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3A: FINANCIALS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12</a:t>
            </a:r>
            <a:r>
              <a:rPr dirty="0"/>
              <a:t>-month 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Day-</a:t>
            </a:r>
            <a:r>
              <a:rPr lang="en-US" dirty="0"/>
              <a:t>90</a:t>
            </a:r>
            <a:r>
              <a:rPr dirty="0"/>
              <a:t> scope review, Day-</a:t>
            </a:r>
            <a:r>
              <a:rPr lang="en-US" dirty="0"/>
              <a:t>120</a:t>
            </a:r>
            <a:r>
              <a:rPr dirty="0"/>
              <a:t> go/no-go gate, Month 7-12 scale to full catalog.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Financial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SETUP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Zendesk AI + Kendra + Bedrock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677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$150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05840" y="252374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Knowledge base indexing and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237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$100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277977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Integration engineer (6 months)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797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$150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05840" y="303580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Product owner allocation (6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358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$100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" y="35478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ANNUAL OPERATING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0390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AI platform licensing (Bedrock + Kendra)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80390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20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5993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Knowledge base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0599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5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1596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Quality review and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315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5</a:t>
            </a:r>
            <a:r>
              <a:rPr dirty="0"/>
              <a:t>0</a:t>
            </a:r>
            <a:r>
              <a:rPr lang="en-US" dirty="0"/>
              <a:t>k</a:t>
            </a:r>
            <a:r>
              <a:rPr dirty="0"/>
              <a:t>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280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ANNUAL GROSS BENEFIT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8406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rPr lang="en-US" dirty="0"/>
              <a:t>Warranty claim accuracy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114800" y="50840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400k</a:t>
            </a:r>
            <a:r>
              <a:rPr dirty="0"/>
              <a:t>/yr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4009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Reduced escalations</a:t>
            </a:r>
            <a:r>
              <a:rPr lang="en-US" dirty="0"/>
              <a:t> and handle time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4114800" y="53400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N/Q savings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005840" y="55961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A3A3C"/>
                </a:solidFill>
                <a:latin typeface="Calibri"/>
              </a:defRPr>
            </a:pPr>
            <a:r>
              <a:t>Customer retention 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596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Incremental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6217920" y="169164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rPr lang="en-US" dirty="0"/>
              <a:t>12</a:t>
            </a:r>
            <a:r>
              <a:rPr dirty="0"/>
              <a:t>-Month Timeline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9742" y="2020824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4675" y="2020824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4522" y="2020824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0467" y="2021512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9397" y="2011680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5409" y="2011680"/>
            <a:ext cx="655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938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47470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3002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78534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440669" y="2206823"/>
            <a:ext cx="12700" cy="347472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217920" y="2240280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0" y="2276856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Setup + Integration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8" y="2276856"/>
            <a:ext cx="985645" cy="201168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17920" y="2587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Knowledge Base Indexing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98078" y="2587752"/>
            <a:ext cx="1981325" cy="210312"/>
          </a:xfrm>
          <a:prstGeom prst="roundRect">
            <a:avLst>
              <a:gd name="adj" fmla="val 15000"/>
            </a:avLst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217920" y="2862072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289864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AI Draft Rollout (AXS)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24084" y="2889504"/>
            <a:ext cx="1956945" cy="23105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17920" y="320954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AI Draft Rollout (Hammerhead)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464038" y="3209544"/>
            <a:ext cx="1965961" cy="24688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217920" y="3483864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17920" y="3520440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Response Time Tracking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08719" y="3520440"/>
            <a:ext cx="2621280" cy="237744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17920" y="3831336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Escalation Rate Tracking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93353" y="3831336"/>
            <a:ext cx="2636645" cy="26517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6217920" y="4105656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414223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Throughput Measurement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08719" y="4142232"/>
            <a:ext cx="2621280" cy="201168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17920" y="4453128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CSAT Monitoring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93353" y="4453128"/>
            <a:ext cx="2636646" cy="265176"/>
          </a:xfrm>
          <a:prstGeom prst="roundRect">
            <a:avLst>
              <a:gd name="adj" fmla="val 15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217920" y="4727448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17920" y="476402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t>Weekly Quality Reviews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53399" y="4764024"/>
            <a:ext cx="3276600" cy="201168"/>
          </a:xfrm>
          <a:prstGeom prst="roundRect">
            <a:avLst>
              <a:gd name="adj" fmla="val 15000"/>
            </a:avLst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17920" y="5074920"/>
            <a:ext cx="1234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Day-</a:t>
            </a:r>
            <a:r>
              <a:rPr lang="en-US" dirty="0"/>
              <a:t>90</a:t>
            </a:r>
            <a:r>
              <a:rPr dirty="0"/>
              <a:t> Checkpoint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38260" y="5084064"/>
            <a:ext cx="98298" cy="201168"/>
          </a:xfrm>
          <a:prstGeom prst="roundRect">
            <a:avLst>
              <a:gd name="adj" fmla="val 15000"/>
            </a:avLst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6217920" y="5349240"/>
            <a:ext cx="5212080" cy="310896"/>
          </a:xfrm>
          <a:prstGeom prst="roundRect">
            <a:avLst>
              <a:gd name="adj" fmla="val 1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17920" y="5385816"/>
            <a:ext cx="12344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Day-</a:t>
            </a:r>
            <a:r>
              <a:rPr lang="en-US" dirty="0"/>
              <a:t>120</a:t>
            </a:r>
            <a:r>
              <a:rPr dirty="0"/>
              <a:t> Go/No-Go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759570" y="5385226"/>
            <a:ext cx="98298" cy="201168"/>
          </a:xfrm>
          <a:prstGeom prst="roundRect">
            <a:avLst>
              <a:gd name="adj" fmla="val 15000"/>
            </a:avLst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C7B66D9-A4B6-B4AD-F001-95482DF2AEE5}"/>
              </a:ext>
            </a:extLst>
          </p:cNvPr>
          <p:cNvSpPr txBox="1"/>
          <p:nvPr/>
        </p:nvSpPr>
        <p:spPr>
          <a:xfrm>
            <a:off x="9290716" y="2005311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7CA74C-A625-54C4-8592-FEC8CFBDC08D}"/>
              </a:ext>
            </a:extLst>
          </p:cNvPr>
          <p:cNvSpPr txBox="1"/>
          <p:nvPr/>
        </p:nvSpPr>
        <p:spPr>
          <a:xfrm>
            <a:off x="9655649" y="2005311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DB9DFF1-9133-C72A-CEDE-E01C8CBB2121}"/>
              </a:ext>
            </a:extLst>
          </p:cNvPr>
          <p:cNvSpPr txBox="1"/>
          <p:nvPr/>
        </p:nvSpPr>
        <p:spPr>
          <a:xfrm>
            <a:off x="9985496" y="2005311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30652E9-AC6C-0207-FD7A-B7A474B5016B}"/>
              </a:ext>
            </a:extLst>
          </p:cNvPr>
          <p:cNvSpPr txBox="1"/>
          <p:nvPr/>
        </p:nvSpPr>
        <p:spPr>
          <a:xfrm>
            <a:off x="10291441" y="2005999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42D4686-1928-3AFD-A11B-99DF96B9465A}"/>
              </a:ext>
            </a:extLst>
          </p:cNvPr>
          <p:cNvSpPr txBox="1"/>
          <p:nvPr/>
        </p:nvSpPr>
        <p:spPr>
          <a:xfrm>
            <a:off x="10610371" y="1996167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11</a:t>
            </a:r>
            <a:endParaRPr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57F096D-F9E4-EB7A-4A74-63A08661A58F}"/>
              </a:ext>
            </a:extLst>
          </p:cNvPr>
          <p:cNvSpPr txBox="1"/>
          <p:nvPr/>
        </p:nvSpPr>
        <p:spPr>
          <a:xfrm>
            <a:off x="10936383" y="1996167"/>
            <a:ext cx="655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767676"/>
                </a:solidFill>
                <a:latin typeface="Calibri"/>
              </a:defRPr>
            </a:pPr>
            <a:r>
              <a:rPr dirty="0"/>
              <a:t>M</a:t>
            </a:r>
            <a:r>
              <a:rPr lang="en-US" dirty="0"/>
              <a:t>12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3B: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No forecasting system exists today; SageMaker fills that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Stockouts, markdown losses, and overproduction are addressable without touching the product. Requires the Step 2 data foundation as a hard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43B4F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1. Brand-level judgment drives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No centralized inventory visibility.</a:t>
            </a:r>
            <a:br/>
            <a:r>
              <a:t>Dealer sell-through not systematically tracked.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8211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2. Stockouts surface as surprises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Rush shipping absorbs margin.</a:t>
            </a:r>
            <a:br/>
            <a:r>
              <a:t>Markdowns clear overstock at loss.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0292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8795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3. Planners react to problems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622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Decisions made without model support.</a:t>
            </a:r>
            <a:br/>
            <a:r>
              <a:t>Data exists at brand level, not enterprise level.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5F8A"/>
                </a:solidFill>
                <a:latin typeface="Calibri"/>
              </a:defRPr>
            </a:pPr>
            <a:r>
              <a:t>WITH SAGEMAKER PILOT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0312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176272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Month 2</a:t>
            </a:r>
            <a:r>
              <a:rPr lang="en-US" dirty="0"/>
              <a:t>5</a:t>
            </a:r>
            <a:r>
              <a:rPr dirty="0"/>
              <a:t>-27: Model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505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SageMaker trained on unified lakehouse data.</a:t>
            </a:r>
            <a:br/>
            <a:r>
              <a:t>Back-test validates MAPE target of 15% or less.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10896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182112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Month 27-3</a:t>
            </a:r>
            <a:r>
              <a:rPr lang="en-US" dirty="0"/>
              <a:t>3</a:t>
            </a:r>
            <a:r>
              <a:rPr dirty="0"/>
              <a:t>: Shadow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564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Model runs in parallel. Planners receive</a:t>
            </a:r>
            <a:br/>
            <a:r>
              <a:t>recommendations but make decisions as normal.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14800"/>
            <a:ext cx="5212080" cy="86868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18795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Month 30-36: Active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6227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Planners act on model recommendations</a:t>
            </a:r>
            <a:br/>
            <a:r>
              <a:t>with full override authority. Overrides logged.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5806440" y="3017520"/>
            <a:ext cx="320040" cy="32004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3B: FINANCIALS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Demand forecasting delivers once data infrastructure is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Begins at Month 2</a:t>
            </a:r>
            <a:r>
              <a:rPr lang="en-US" dirty="0"/>
              <a:t>5</a:t>
            </a:r>
            <a:r>
              <a:rPr dirty="0"/>
              <a:t> after the Step 2 data </a:t>
            </a:r>
            <a:r>
              <a:rPr dirty="0" err="1"/>
              <a:t>lakehouse</a:t>
            </a:r>
            <a:r>
              <a:rPr dirty="0"/>
              <a:t> is operational. Shadow mode validates accuracy before planners act on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SETUP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~$500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SageMaker + data science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ANNUAL GROSS BENEFIT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9456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4</a:t>
            </a:r>
            <a:r>
              <a:rPr dirty="0"/>
              <a:t>.</a:t>
            </a:r>
            <a:r>
              <a:rPr lang="en-US" dirty="0"/>
              <a:t>8mm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70332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+ markdowns 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NET ANNUAL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~$4.</a:t>
            </a:r>
            <a:r>
              <a:rPr lang="en-US" dirty="0"/>
              <a:t>1mm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After $700K operating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82880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ONE-TIME BONUS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194560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2D5F8A"/>
                </a:solidFill>
                <a:latin typeface="Calibri"/>
              </a:defRPr>
            </a:pPr>
            <a:r>
              <a:rPr lang="en-US" dirty="0"/>
              <a:t>WC release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3152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Success Criteria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30168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694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Forecast accuracy (MAPE)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3675888"/>
            <a:ext cx="1051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51937"/>
                </a:solidFill>
                <a:latin typeface="Calibri"/>
              </a:defRPr>
            </a:pPr>
            <a:r>
              <a:rPr dirty="0"/>
              <a:t>15% or less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71246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Back-tested before launch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970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Stockout reduction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178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51937"/>
                </a:solidFill>
                <a:latin typeface="Calibri"/>
              </a:defRPr>
            </a:pPr>
            <a:r>
              <a:rPr dirty="0"/>
              <a:t>-30%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21538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Measured against 12-month baseline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636008"/>
            <a:ext cx="5029200" cy="457200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7000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Markdown reduction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681728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51937"/>
                </a:solidFill>
                <a:latin typeface="Calibri"/>
              </a:defRPr>
            </a:pPr>
            <a:r>
              <a:rPr dirty="0"/>
              <a:t>-2</a:t>
            </a:r>
            <a:r>
              <a:rPr lang="en-US" dirty="0"/>
              <a:t>5</a:t>
            </a:r>
            <a:r>
              <a:rPr dirty="0"/>
              <a:t>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47183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Tracked at SKU level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029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Planner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184648"/>
            <a:ext cx="914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51937"/>
                </a:solidFill>
                <a:latin typeface="Calibri"/>
              </a:defRPr>
            </a:pPr>
            <a:r>
              <a:rPr dirty="0"/>
              <a:t>&gt;</a:t>
            </a:r>
            <a:r>
              <a:rPr lang="en-US" dirty="0"/>
              <a:t>6</a:t>
            </a:r>
            <a:r>
              <a:rPr dirty="0"/>
              <a:t>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22122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Recommendations reviewed weekly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2461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657600"/>
            <a:ext cx="5212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3657600"/>
            <a:ext cx="50800" cy="594360"/>
          </a:xfrm>
          <a:prstGeom prst="rect">
            <a:avLst/>
          </a:prstGeom>
          <a:solidFill>
            <a:srgbClr val="D4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369417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D4E4F0"/>
                </a:solidFill>
                <a:latin typeface="Calibri"/>
              </a:defRPr>
            </a:pPr>
            <a:r>
              <a:rPr dirty="0"/>
              <a:t>Month 0-24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369417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Data foundation (Step 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39136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SAP, Salesforce, and lakehouse build.</a:t>
            </a:r>
            <a:br/>
            <a:r>
              <a:t>Hard gate for forecasting launch.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343400"/>
            <a:ext cx="5212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4343400"/>
            <a:ext cx="50800" cy="59436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4379976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rPr dirty="0"/>
              <a:t>Month 2</a:t>
            </a:r>
            <a:r>
              <a:rPr lang="en-US" dirty="0"/>
              <a:t>5</a:t>
            </a:r>
            <a:r>
              <a:rPr dirty="0"/>
              <a:t>-27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37997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Model development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4599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SageMaker trained on unified data.</a:t>
            </a:r>
            <a:br/>
            <a:r>
              <a:t>Back-test validates accuracy.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029200"/>
            <a:ext cx="5212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17920" y="5029200"/>
            <a:ext cx="50800" cy="59436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7960" y="5065776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rPr dirty="0"/>
              <a:t>Month 27-3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7772400" y="506577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Shadow mode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52852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Planners compare model vs. judgment.</a:t>
            </a:r>
            <a:br/>
            <a:r>
              <a:t>No operational changes yet.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5715000"/>
            <a:ext cx="521208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5715000"/>
            <a:ext cx="50800" cy="59436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7960" y="575157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Month 30-36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575157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Active pilot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9710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Live recommendations with override.</a:t>
            </a:r>
            <a:br/>
            <a:r>
              <a:t>Overrides logged for model retraining.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capability creates a new recurring revenue stream. SRAM's installed base of connected components becomes a platform, not a one-time sale.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0800" cy="13716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THE UNLOCK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E51937"/>
                </a:solidFill>
                <a:latin typeface="Calibri"/>
              </a:defRPr>
            </a:pPr>
            <a:r>
              <a:t>NEW REVENUE: Premium subscription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capability creates a new recurring revenue stream. SRAM's installed base of connected components becomes a platform, not a one-time sale.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0800" cy="13716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THE UNLOCK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94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E51937"/>
                </a:solidFill>
                <a:latin typeface="Calibri"/>
              </a:defRPr>
            </a:pPr>
            <a:r>
              <a:t>NEW REVENUE: Premium subscription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Predictive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Connected components predict chain and brake pad replacement before failure. Installed base becomes recurring revenue.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Per-device monitoring subscription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AI-Tuned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Suspension auto-adjusts to terrain. Shifting optimizes for rider power. Products improve continuously after purchase.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Premium optimization tier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Dealer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Telemetry tells dealers which parts approach end-of-life in their area. Proactive ordering replaces reactive.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Dealer analytics license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50800" cy="41148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5229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Hardware sells data access  →  Data improves performance  →  Performance sells 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STEP 4: NEW REVENUE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Premium AXS, subscription model, and four distinct revenue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initiative is viable only after Step 2 data infrastructure is live. Combined, they represent $39M+/yr at maturity.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5212080" cy="508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Unified rider data: AXS drivetrain, RockShox,</a:t>
            </a:r>
            <a:br/>
            <a:r>
              <a:t>Quarq power, Hammerhead GPS in one view.</a:t>
            </a:r>
            <a:br/>
            <a:r>
              <a:t>No competitor has the breadth to build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5mm</a:t>
            </a:r>
            <a:r>
              <a:rPr dirty="0"/>
              <a:t>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06324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~$20</a:t>
            </a:r>
            <a:r>
              <a:rPr lang="en-US" dirty="0"/>
              <a:t>mm</a:t>
            </a:r>
            <a:r>
              <a:rPr dirty="0"/>
              <a:t> ARR at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9164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691640"/>
            <a:ext cx="5212080" cy="508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8013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Generative Design + R&amp;D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AI-assisted design, digital twin simulation,</a:t>
            </a:r>
            <a:br/>
            <a:r>
              <a:t>automated patent search. Field telemetry trains</a:t>
            </a:r>
            <a:br/>
            <a:r>
              <a:t>AI on actual performance data at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6324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$4</a:t>
            </a:r>
            <a:r>
              <a:rPr lang="en-US" dirty="0"/>
              <a:t>mm</a:t>
            </a:r>
            <a:r>
              <a:rPr dirty="0"/>
              <a:t>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6324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6mm</a:t>
            </a:r>
            <a:r>
              <a:rPr dirty="0"/>
              <a:t>/yr benefit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9476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794760"/>
            <a:ext cx="5212080" cy="508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904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4846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Salesforce </a:t>
            </a:r>
            <a:r>
              <a:rPr dirty="0" err="1"/>
              <a:t>AgentForce</a:t>
            </a:r>
            <a:r>
              <a:rPr dirty="0"/>
              <a:t> + CPQ accelerates</a:t>
            </a:r>
            <a:br>
              <a:rPr dirty="0"/>
            </a:br>
            <a:r>
              <a:rPr dirty="0"/>
              <a:t>spec proposals and automates documentation.</a:t>
            </a:r>
            <a:br>
              <a:rPr dirty="0"/>
            </a:br>
            <a:r>
              <a:rPr dirty="0"/>
              <a:t>1% OEM win rate improvement = $2.5</a:t>
            </a:r>
            <a:r>
              <a:rPr lang="en-US" dirty="0"/>
              <a:t>mm</a:t>
            </a:r>
            <a:r>
              <a:rPr dirty="0"/>
              <a:t>/yr.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6636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$1</a:t>
            </a:r>
            <a:r>
              <a:rPr lang="en-US" dirty="0"/>
              <a:t>mm</a:t>
            </a:r>
            <a:r>
              <a:rPr dirty="0"/>
              <a:t>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16636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~$</a:t>
            </a:r>
            <a:r>
              <a:rPr lang="en-US" dirty="0"/>
              <a:t>2</a:t>
            </a:r>
            <a:r>
              <a:rPr dirty="0"/>
              <a:t>.</a:t>
            </a:r>
            <a:r>
              <a:rPr lang="en-US" dirty="0"/>
              <a:t>5mm</a:t>
            </a:r>
            <a:r>
              <a:rPr dirty="0"/>
              <a:t>/yr benefit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794760"/>
            <a:ext cx="521208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3794760"/>
            <a:ext cx="5212080" cy="508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904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Compatible Upgrade Recs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251960"/>
            <a:ext cx="48463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rPr dirty="0"/>
              <a:t>SageMaker recommendation engine lifts basket</a:t>
            </a:r>
            <a:br>
              <a:rPr dirty="0"/>
            </a:br>
            <a:r>
              <a:rPr lang="en-US" dirty="0"/>
              <a:t>V</a:t>
            </a:r>
            <a:r>
              <a:rPr dirty="0"/>
              <a:t>alue through dealer and DTC channels.</a:t>
            </a:r>
            <a:br>
              <a:rPr dirty="0"/>
            </a:br>
            <a:r>
              <a:rPr dirty="0"/>
              <a:t>Predictive maintenance drives repeat purchases.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166360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rPr dirty="0"/>
              <a:t>$500</a:t>
            </a:r>
            <a:r>
              <a:rPr lang="en-US" dirty="0"/>
              <a:t>k </a:t>
            </a:r>
            <a:r>
              <a:rPr dirty="0"/>
              <a:t>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166360"/>
            <a:ext cx="2011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$</a:t>
            </a:r>
            <a:r>
              <a:rPr lang="en-US" dirty="0"/>
              <a:t>4mm</a:t>
            </a:r>
            <a:r>
              <a:rPr dirty="0"/>
              <a:t>/yr benefit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06440"/>
            <a:ext cx="106984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" y="5806440"/>
            <a:ext cx="50800" cy="50292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7280" y="5861304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rPr dirty="0"/>
              <a:t>Step 4 total: ~$</a:t>
            </a:r>
            <a:r>
              <a:rPr lang="en-US" dirty="0"/>
              <a:t>10.5mm</a:t>
            </a:r>
            <a:r>
              <a:rPr dirty="0"/>
              <a:t> investment  |  $</a:t>
            </a:r>
            <a:r>
              <a:rPr lang="en-US" dirty="0"/>
              <a:t>3</a:t>
            </a:r>
            <a:r>
              <a:rPr dirty="0"/>
              <a:t>2</a:t>
            </a:r>
            <a:r>
              <a:rPr lang="en-US" dirty="0"/>
              <a:t>.5mm</a:t>
            </a:r>
            <a:r>
              <a:rPr dirty="0"/>
              <a:t>/yr at 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r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095" y="228600"/>
            <a:ext cx="1097280" cy="1413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TRADE-OFFS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Three risks worth naming before the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Dealer trust is fragile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83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One confident wrong answer from the AI reaches a dealer, and the support team loses credibility it spent years building. Human-in-the-loop and weekly quality reviews mitigate this, but they also slow throughput gains.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Kill criteria trigger rollback at first safety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Data consolidation has no executive sponsor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Weber owns sales and manufacturing but not the CRM, ERP, or inventory systems. Phase 2 requires a unified data layer across those systems. Without a senior sponsor, data integration stalls and the pilot stays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CEO assigns cross-functional data owner in parallel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663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AI hype creates unrealistic internal expectations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983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SRAM's engineering culture values precision. If leadership frames AI as a silver bullet rather than a tool, early imperfections will fuel skepticism and internal resistance to future phases.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5778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Frame pilot as experiment with defined success and failure criteria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3205</Words>
  <Application>Microsoft Office PowerPoint</Application>
  <PresentationFormat>Widescreen</PresentationFormat>
  <Paragraphs>528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Edward Kreienberg</cp:lastModifiedBy>
  <cp:revision>5</cp:revision>
  <dcterms:created xsi:type="dcterms:W3CDTF">2013-01-27T09:14:16Z</dcterms:created>
  <dcterms:modified xsi:type="dcterms:W3CDTF">2026-03-13T22:02:06Z</dcterms:modified>
  <cp:category/>
</cp:coreProperties>
</file>